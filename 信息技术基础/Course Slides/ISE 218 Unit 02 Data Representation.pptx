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550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356" r:id="rId12"/>
    <p:sldId id="336" r:id="rId13"/>
    <p:sldId id="339" r:id="rId14"/>
    <p:sldId id="341" r:id="rId15"/>
    <p:sldId id="340" r:id="rId16"/>
    <p:sldId id="342" r:id="rId17"/>
    <p:sldId id="357" r:id="rId18"/>
    <p:sldId id="274" r:id="rId19"/>
    <p:sldId id="275" r:id="rId20"/>
    <p:sldId id="353" r:id="rId21"/>
    <p:sldId id="354" r:id="rId22"/>
    <p:sldId id="358" r:id="rId23"/>
    <p:sldId id="355" r:id="rId24"/>
    <p:sldId id="276" r:id="rId25"/>
    <p:sldId id="277" r:id="rId26"/>
    <p:sldId id="281" r:id="rId27"/>
    <p:sldId id="338" r:id="rId28"/>
    <p:sldId id="280" r:id="rId29"/>
    <p:sldId id="28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283" r:id="rId41"/>
    <p:sldId id="284" r:id="rId42"/>
    <p:sldId id="28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03431-147E-41C7-B20A-C5FF66517516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CD294-A194-4EDB-AD72-D9264929E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76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C22C-01C9-4F80-BA36-86E64EA46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C2B57-CE92-47DE-8E88-4D4316D3C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15F1-2E4E-42DC-9BFE-66EA9154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5559E-4566-4BA2-A4C0-39B33C974F25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A8B68-CF01-4C86-B21E-007ED346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EE52F-870A-43D1-ABEE-DD9085C1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3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EF29-2BF7-4777-819F-2701405A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CEBB-845C-4FF4-91DE-81D49D0E8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A6830-62F0-4450-94FD-A4930015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D6A3-21E6-4C8F-AF93-561A0AD1F852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B619C-88C8-43EA-81FE-63F5567C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303E-23FD-4F1A-BFA9-101BC7CE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4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320B-537C-4B07-BA9A-4F308ED3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4CAC0-98B0-4057-9530-A87BCF22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11AC-B129-41C4-8831-FE5D6244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F7FD-25EA-45BD-90A7-B76C6B5685AF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56611-67C0-43E4-A5A6-D6866360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1D5C1-EBC8-4017-85AE-96E03CAF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5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E717-07F0-42DB-93FC-FF449A95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F846-997C-4FE4-B87C-051CEB739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2E54D-CE26-4A9A-83E5-EF8F0AEDF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023ED-3F3A-487B-BE53-4E027470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EE4F-3EA4-4421-94C7-27FA9987AA32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90FD-DEBA-4969-A7A9-DA6E1567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92F29-FFA2-454D-BD82-3EC9D09B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3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AEE4-54DA-42E1-A5E7-E5628BCD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83850-D390-4699-9BD3-FA395883B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B3330-E3B2-41B3-8164-6FC4420AE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4EAD3-8124-439F-B428-E2F788FEB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806D3-BC19-48B2-AAE1-B54DEB7C4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3A5FA-345A-4EB6-80FF-72DB54A2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7050-FBC8-4BDA-8FA9-1B62BF6E4272}" type="datetime1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12862-DBA3-4C5C-9C6B-E89970D7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D1A0F-D4B5-4EF0-9F4A-445433FB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4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5FD3-4E84-4CAB-82C9-F3F88FFF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42319-8A06-439A-9900-AC56EFB7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DF02-0106-419D-951F-E4F99E45B050}" type="datetime1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E52DB-D51A-480D-8EEE-AD89D14A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E1A14-A142-490A-B06C-9F95251A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4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839C9-6DBC-42A9-BE4A-AB80BB6D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3A1CD-AB96-4EF8-A7F4-98A3CA06AF67}" type="datetime1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34D52-F433-43E0-AB73-34EDFE8F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39D0B-5D4C-4B2B-A227-EBFA9D83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DFCE-0BC8-4C48-96F1-A15D1A10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D6C2-6ED0-4774-B2DF-CA8B01241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3F1B1-45DF-4EC0-915A-D47CEEFC8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51846-DD58-4C59-9AF9-0C2F0933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EB36-4D56-4DEC-A10E-D17215E428FD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40C34-EE9F-4E88-A933-604E59CD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8A9A2-131D-4BB0-B80B-3C8027D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6532-7D5A-4F24-8F2C-A8158C19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BAF62-BA96-46D4-B922-AB479B859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56514-C236-4590-A2D8-10881ED8E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B2496-8EED-404D-B53C-83277119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92DBE-A30F-43F9-A59A-64A41561BB93}" type="datetime1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67E4B-1DC6-4736-A41B-C8DCBB74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CB01B-DF12-402B-89AC-AF91FEC9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8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B84E-888D-4F9A-85E5-6388C13E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349A5-22B1-47B7-9E1F-04AC87309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F820-453D-44B5-8C71-0365D9F5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7C459-A0BF-4A84-AC0A-2E74414E9743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5CB4D-5ADC-4208-AC35-9FECC85D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19356-4D3A-432C-8826-6BA35117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22666-5FCA-46DF-B40C-B6CE07805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670A1-A92E-4A8B-85D7-97D77FAA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A3513-98CA-4471-9C42-AA8D1667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8B79-559E-4700-8983-E4BD2C4AEFDC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B513-6C57-4B3E-9F31-159197A6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CC601-8B12-429C-9FE3-A9B6E847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2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D82A6-1248-40E8-A285-DBB266BD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83B0B-81ED-44B1-A750-C0CE35131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F51E6-385C-4180-A65A-436D03393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4E95D-0915-40D0-96CA-F61CAE9A3566}" type="datetime1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A666-A842-43EF-991C-2D7837037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SBU - ISE 218 - Fundamentals of Information Technology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A9C91-37CC-438D-9B9A-BB0C12F42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CCBE7-ABD4-48B2-BA38-8FA2BA66B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4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Text, letter&#10;&#10;Description automatically generated">
            <a:extLst>
              <a:ext uri="{FF2B5EF4-FFF2-40B4-BE49-F238E27FC236}">
                <a16:creationId xmlns:a16="http://schemas.microsoft.com/office/drawing/2014/main" id="{E00B5315-1DCF-0FCD-0AF4-436BC7B08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122232"/>
            <a:ext cx="5982803" cy="2213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2E598-3A9F-494B-94CA-04DD070C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3" y="3429000"/>
            <a:ext cx="10080312" cy="1713305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/>
              <a:t>ISE 218: Fundamentals of Information Technology</a:t>
            </a:r>
            <a:br>
              <a:rPr lang="en-US" sz="3800" dirty="0"/>
            </a:br>
            <a:r>
              <a:rPr lang="en-US" sz="3800" dirty="0"/>
              <a:t>Unit 2: Data Representation</a:t>
            </a:r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5D1F46FA-EEFE-B919-8532-82944C1D726A}"/>
              </a:ext>
            </a:extLst>
          </p:cNvPr>
          <p:cNvSpPr txBox="1">
            <a:spLocks/>
          </p:cNvSpPr>
          <p:nvPr/>
        </p:nvSpPr>
        <p:spPr>
          <a:xfrm>
            <a:off x="1289303" y="5142305"/>
            <a:ext cx="7321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900"/>
            </a:pPr>
            <a:r>
              <a:rPr lang="en-US" sz="1800"/>
              <a:t>Spring 2025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/>
              <a:t>Instructor: Abid Malik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/>
              <a:t>co-Instructor: Xinrui Yu</a:t>
            </a:r>
          </a:p>
        </p:txBody>
      </p:sp>
    </p:spTree>
    <p:extLst>
      <p:ext uri="{BB962C8B-B14F-4D97-AF65-F5344CB8AC3E}">
        <p14:creationId xmlns:p14="http://schemas.microsoft.com/office/powerpoint/2010/main" val="325237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Units of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/>
              <a:t>bit</a:t>
            </a:r>
            <a:r>
              <a:rPr lang="en-US" altLang="en-US" dirty="0"/>
              <a:t> is the most basic unit of information in a computer.</a:t>
            </a:r>
          </a:p>
          <a:p>
            <a:pPr lvl="1"/>
            <a:r>
              <a:rPr lang="en-US" altLang="en-US" dirty="0"/>
              <a:t>It is a state of “on” or “off” in a digital circuit.</a:t>
            </a:r>
          </a:p>
          <a:p>
            <a:pPr lvl="1"/>
            <a:r>
              <a:rPr lang="en-US" altLang="en-US" dirty="0"/>
              <a:t>Sometimes these states are “high” or “low” voltage instead of “on” or “off”</a:t>
            </a:r>
          </a:p>
          <a:p>
            <a:r>
              <a:rPr lang="en-US" altLang="en-US" dirty="0"/>
              <a:t>A </a:t>
            </a:r>
            <a:r>
              <a:rPr lang="en-US" altLang="en-US" b="1" dirty="0"/>
              <a:t>byte</a:t>
            </a:r>
            <a:r>
              <a:rPr lang="en-US" altLang="en-US" dirty="0"/>
              <a:t> is a group of eight bits.</a:t>
            </a:r>
          </a:p>
          <a:p>
            <a:pPr lvl="1"/>
            <a:r>
              <a:rPr lang="en-US" altLang="en-US" dirty="0"/>
              <a:t>A byte is the smallest possible </a:t>
            </a:r>
            <a:r>
              <a:rPr lang="en-US" altLang="en-US" b="1" dirty="0"/>
              <a:t>addressable</a:t>
            </a:r>
            <a:r>
              <a:rPr lang="en-US" altLang="en-US" dirty="0"/>
              <a:t> unit of computer storage.</a:t>
            </a:r>
          </a:p>
          <a:p>
            <a:pPr lvl="1"/>
            <a:r>
              <a:rPr lang="en-US" altLang="en-US" dirty="0"/>
              <a:t>The term, “addressable,” means that a particular byte can be retrieved according to its location in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1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Units of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word</a:t>
            </a:r>
            <a:r>
              <a:rPr lang="en-US" dirty="0"/>
              <a:t> is a contiguous group of bytes.</a:t>
            </a:r>
          </a:p>
          <a:p>
            <a:pPr lvl="1"/>
            <a:r>
              <a:rPr lang="en-US" dirty="0"/>
              <a:t>Words can be any number of bits or bytes.</a:t>
            </a:r>
          </a:p>
          <a:p>
            <a:pPr lvl="1"/>
            <a:r>
              <a:rPr lang="en-US" dirty="0"/>
              <a:t>Word sizes of 16, 32, or 64 bits are most common.</a:t>
            </a:r>
          </a:p>
          <a:p>
            <a:pPr lvl="1"/>
            <a:r>
              <a:rPr lang="en-US" dirty="0"/>
              <a:t>In a </a:t>
            </a:r>
            <a:r>
              <a:rPr lang="en-US" b="1" dirty="0"/>
              <a:t>word-addressable system</a:t>
            </a:r>
            <a:r>
              <a:rPr lang="en-US" dirty="0"/>
              <a:t>, a word is the smallest addressable unit of storage.</a:t>
            </a:r>
          </a:p>
          <a:p>
            <a:r>
              <a:rPr lang="en-US" dirty="0"/>
              <a:t>A group of four bits is called a </a:t>
            </a:r>
            <a:r>
              <a:rPr lang="en-US" b="1" dirty="0"/>
              <a:t>nibble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Bytes, therefore, consist of two nibbles: a “high-order nibble,” and a “low-order” nibble.</a:t>
            </a:r>
          </a:p>
          <a:p>
            <a:r>
              <a:rPr lang="en-US" dirty="0"/>
              <a:t>bits </a:t>
            </a:r>
            <a:r>
              <a:rPr lang="en-US" dirty="0">
                <a:sym typeface="Wingdings" panose="05000000000000000000" pitchFamily="2" charset="2"/>
              </a:rPr>
              <a:t> nibbles  bytes  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8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Positional Numbering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Bytes store numbers using the position of each bit to represent a power of 2.</a:t>
                </a:r>
              </a:p>
              <a:p>
                <a:pPr lvl="1"/>
                <a:r>
                  <a:rPr lang="en-US" dirty="0"/>
                  <a:t>The binary system is also called the base-2 system.</a:t>
                </a:r>
              </a:p>
              <a:p>
                <a:pPr lvl="1"/>
                <a:r>
                  <a:rPr lang="en-US" dirty="0"/>
                  <a:t>Our decimal system is the base-10 system.  It uses powers of 10 for each position in a number.</a:t>
                </a:r>
              </a:p>
              <a:p>
                <a:pPr lvl="1"/>
                <a:r>
                  <a:rPr lang="en-US" dirty="0"/>
                  <a:t>Any integer quantity can be represented exactly using any base (or </a:t>
                </a:r>
                <a:r>
                  <a:rPr lang="en-US" b="1" dirty="0"/>
                  <a:t>radix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The decimal number 947 in powers of 10 is:</a:t>
                </a:r>
              </a:p>
              <a:p>
                <a:pPr marL="114300" indent="0">
                  <a:buNone/>
                  <a:tabLst>
                    <a:tab pos="630238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9 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en-US" i="1" dirty="0">
                        <a:latin typeface="Cambria Math" panose="02040503050406030204" pitchFamily="18" charset="0"/>
                      </a:rPr>
                      <m:t>+7 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The decimal number 5836.47 in powers of 10 is:</a:t>
                </a:r>
              </a:p>
              <a:p>
                <a:pPr marL="114300" indent="0">
                  <a:buNone/>
                  <a:tabLst>
                    <a:tab pos="630238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95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Positional Numbering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binary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11001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powers of 2 is: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16+8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0+0+1=25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When the radix of a number is something other than 10, the base is denoted by a subscript.  </a:t>
                </a:r>
              </a:p>
              <a:p>
                <a:r>
                  <a:rPr lang="en-US" dirty="0"/>
                  <a:t>Sometimes, the subscript 10 is added for emphasis: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11001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44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Because binary numbers are the basis for all data representation in digital computer systems, it is important that you become proficient with this radix system.</a:t>
            </a:r>
          </a:p>
          <a:p>
            <a:r>
              <a:rPr lang="en-US" dirty="0"/>
              <a:t>Your knowledge of the binary numbering system will enable you to understand the operation of all computer components, as well as the design of instruction set architectures.</a:t>
            </a:r>
          </a:p>
          <a:p>
            <a:r>
              <a:rPr lang="en-US" dirty="0"/>
              <a:t>Remember that every integer value can be represented exactly using any radix system.</a:t>
            </a:r>
          </a:p>
          <a:p>
            <a:r>
              <a:rPr lang="en-US" dirty="0"/>
              <a:t>There are two methods for radix conversion: the subtraction method and the division/remainder method.</a:t>
            </a:r>
          </a:p>
          <a:p>
            <a:r>
              <a:rPr lang="en-US" dirty="0"/>
              <a:t>The subtraction method is perhaps more intuitive, but cumbersome, so we will used the division/remainder method.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52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Bases: Example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we want to convert the decimal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190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to base 3.</a:t>
                </a:r>
              </a:p>
              <a:p>
                <a:r>
                  <a:rPr lang="en-US" dirty="0"/>
                  <a:t>First we take the number that we wish to convert and divide it by the radix in which we want to express our result.</a:t>
                </a:r>
              </a:p>
              <a:p>
                <a:r>
                  <a:rPr lang="en-US" dirty="0"/>
                  <a:t>In this case, 3 divides 190 63 times, with a remainder of 1.</a:t>
                </a:r>
              </a:p>
              <a:p>
                <a:r>
                  <a:rPr lang="en-US" dirty="0"/>
                  <a:t>Record the quotient (63) and the remainder (1).</a:t>
                </a:r>
              </a:p>
              <a:p>
                <a:r>
                  <a:rPr lang="en-US" dirty="0"/>
                  <a:t>Now divide 63 by 3. The quotient is 21, and the remainder is 0.</a:t>
                </a:r>
              </a:p>
              <a:p>
                <a:r>
                  <a:rPr lang="en-US" dirty="0"/>
                  <a:t>Divide 21 by 3. The quotient is 7, and the remainder is 0.</a:t>
                </a:r>
              </a:p>
              <a:p>
                <a:r>
                  <a:rPr lang="en-US" dirty="0"/>
                  <a:t>Divide 7 by 3. The quotient is 2, and the remainder is 1.</a:t>
                </a:r>
              </a:p>
              <a:p>
                <a:r>
                  <a:rPr lang="en-US" dirty="0"/>
                  <a:t>Divide 2 by 3. The quotient is 0, and the remainder is 2.</a:t>
                </a:r>
              </a:p>
              <a:p>
                <a:r>
                  <a:rPr lang="en-US" dirty="0"/>
                  <a:t>When the quotient becomes 0, stop dividing. Read the remainders in the </a:t>
                </a:r>
                <a:r>
                  <a:rPr lang="en-US" i="1" dirty="0"/>
                  <a:t>reverse order that you generated them</a:t>
                </a:r>
                <a:r>
                  <a:rPr lang="en-US" dirty="0"/>
                  <a:t> to get the 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21001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45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Bases: Example #2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123</a:t>
            </a:r>
            <a:r>
              <a:rPr lang="en-US" baseline="-25000" dirty="0"/>
              <a:t>10</a:t>
            </a:r>
            <a:r>
              <a:rPr lang="en-US" dirty="0"/>
              <a:t> to binary (base 2)</a:t>
            </a:r>
          </a:p>
          <a:p>
            <a:r>
              <a:rPr lang="en-US" dirty="0"/>
              <a:t>123 / 2 = 61 rem.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  <a:p>
            <a:r>
              <a:rPr lang="en-US" dirty="0"/>
              <a:t>61 / 2 = 30 rem. </a:t>
            </a:r>
            <a:r>
              <a:rPr lang="en-US" dirty="0">
                <a:solidFill>
                  <a:srgbClr val="D6A300"/>
                </a:solidFill>
              </a:rPr>
              <a:t>1</a:t>
            </a:r>
          </a:p>
          <a:p>
            <a:r>
              <a:rPr lang="en-US" dirty="0"/>
              <a:t>30 / 2 = 15 rem. </a:t>
            </a:r>
            <a:r>
              <a:rPr lang="en-US" dirty="0">
                <a:solidFill>
                  <a:srgbClr val="4FD14F"/>
                </a:solidFill>
              </a:rPr>
              <a:t>0</a:t>
            </a:r>
          </a:p>
          <a:p>
            <a:r>
              <a:rPr lang="en-US" dirty="0"/>
              <a:t>15 / 2 = 7 rem. </a:t>
            </a:r>
            <a:r>
              <a:rPr lang="en-US" dirty="0">
                <a:solidFill>
                  <a:srgbClr val="00B0F0"/>
                </a:solidFill>
              </a:rPr>
              <a:t>1</a:t>
            </a:r>
          </a:p>
          <a:p>
            <a:r>
              <a:rPr lang="en-US" dirty="0"/>
              <a:t>7 / 2 = 3 rem. </a:t>
            </a:r>
            <a:r>
              <a:rPr lang="en-US" dirty="0">
                <a:solidFill>
                  <a:srgbClr val="0000C0"/>
                </a:solidFill>
              </a:rPr>
              <a:t>1</a:t>
            </a:r>
          </a:p>
          <a:p>
            <a:r>
              <a:rPr lang="en-US" dirty="0"/>
              <a:t>3 / 2 = 1 rem. </a:t>
            </a:r>
            <a:r>
              <a:rPr lang="en-US" dirty="0">
                <a:solidFill>
                  <a:srgbClr val="BB3CD0"/>
                </a:solidFill>
              </a:rPr>
              <a:t>1</a:t>
            </a:r>
          </a:p>
          <a:p>
            <a:r>
              <a:rPr lang="en-US" dirty="0"/>
              <a:t>1 / 2 = 0 rem. </a:t>
            </a:r>
            <a:r>
              <a:rPr lang="en-US" dirty="0">
                <a:solidFill>
                  <a:srgbClr val="808080"/>
                </a:solidFill>
              </a:rPr>
              <a:t>1</a:t>
            </a:r>
          </a:p>
          <a:p>
            <a:r>
              <a:rPr lang="en-US" dirty="0"/>
              <a:t>Answer: </a:t>
            </a:r>
            <a:r>
              <a:rPr lang="en-US" dirty="0">
                <a:solidFill>
                  <a:srgbClr val="808080"/>
                </a:solidFill>
              </a:rPr>
              <a:t>1</a:t>
            </a:r>
            <a:r>
              <a:rPr lang="en-US" dirty="0">
                <a:solidFill>
                  <a:srgbClr val="BB3CD0"/>
                </a:solidFill>
              </a:rPr>
              <a:t>1</a:t>
            </a:r>
            <a:r>
              <a:rPr lang="en-US" dirty="0">
                <a:solidFill>
                  <a:srgbClr val="0000C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4FD14F"/>
                </a:solidFill>
              </a:rPr>
              <a:t>0</a:t>
            </a:r>
            <a:r>
              <a:rPr lang="en-US" dirty="0">
                <a:solidFill>
                  <a:srgbClr val="D6A3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1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Between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binary numbering system is the most important radix system for digital computers.</a:t>
                </a:r>
              </a:p>
              <a:p>
                <a:r>
                  <a:rPr lang="en-US" dirty="0"/>
                  <a:t>However, it is difficult to read long strings of binary numbers – and even a modestly-sized decimal number becomes a very long binary number.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11010100011011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13595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compactness and ease of reading, binary values are usually expressed using the hexadecimal, or base-16, numbering system.</a:t>
                </a:r>
              </a:p>
              <a:p>
                <a:r>
                  <a:rPr lang="en-US" dirty="0"/>
                  <a:t>The hexadecimal numbering system uses the numerals 0 through 9 and the letters A through F.</a:t>
                </a:r>
              </a:p>
              <a:p>
                <a:pPr lvl="1"/>
                <a:r>
                  <a:rPr lang="en-US" dirty="0"/>
                  <a:t>The decimal number 12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decimal number 26 is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79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Between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It is easy to convert between base 16 and base 2,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to convert from binary to hexadecimal, all we need to do is group the binary digits into groups of four.</a:t>
                </a:r>
              </a:p>
              <a:p>
                <a:r>
                  <a:rPr lang="en-US" dirty="0"/>
                  <a:t>Binary </a:t>
                </a:r>
                <a:r>
                  <a:rPr lang="en-US" dirty="0">
                    <a:sym typeface="Wingdings" panose="05000000000000000000" pitchFamily="2" charset="2"/>
                  </a:rPr>
                  <a:t> Hexadecimal 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Working </a:t>
                </a:r>
                <a:r>
                  <a:rPr lang="en-US" i="1" dirty="0">
                    <a:sym typeface="Wingdings" panose="05000000000000000000" pitchFamily="2" charset="2"/>
                  </a:rPr>
                  <a:t>right-to-left</a:t>
                </a:r>
                <a:r>
                  <a:rPr lang="en-US" dirty="0">
                    <a:sym typeface="Wingdings" panose="05000000000000000000" pitchFamily="2" charset="2"/>
                  </a:rPr>
                  <a:t>, take bits in groups of 4 (a </a:t>
                </a:r>
                <a:r>
                  <a:rPr lang="en-US" b="1" dirty="0">
                    <a:sym typeface="Wingdings" panose="05000000000000000000" pitchFamily="2" charset="2"/>
                  </a:rPr>
                  <a:t>nibble</a:t>
                </a:r>
                <a:r>
                  <a:rPr lang="en-US" dirty="0">
                    <a:sym typeface="Wingdings" panose="05000000000000000000" pitchFamily="2" charset="2"/>
                  </a:rPr>
                  <a:t>), converting the groups into hexadecimal digits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=16)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10110111101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101 1011 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1101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BD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16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>
                    <a:sym typeface="Wingdings" panose="05000000000000000000" pitchFamily="2" charset="2"/>
                  </a:rPr>
                  <a:t>Hexadecimal  Binary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Working </a:t>
                </a:r>
                <a:r>
                  <a:rPr lang="en-US" i="1" dirty="0">
                    <a:sym typeface="Wingdings" panose="05000000000000000000" pitchFamily="2" charset="2"/>
                  </a:rPr>
                  <a:t>left-to-right</a:t>
                </a:r>
                <a:r>
                  <a:rPr lang="en-US" dirty="0">
                    <a:sym typeface="Wingdings" panose="05000000000000000000" pitchFamily="2" charset="2"/>
                  </a:rPr>
                  <a:t>, replace each hexadecimal digit with its 4-bit binary equivalent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FE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0011 1111 1110 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0101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11111111100101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37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Between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It is just as easy to convert between base 8 (</a:t>
                </a:r>
                <a:r>
                  <a:rPr lang="en-US" b="1" dirty="0"/>
                  <a:t>octal</a:t>
                </a:r>
                <a:r>
                  <a:rPr lang="en-US" dirty="0"/>
                  <a:t>) and base 2, because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convert from binary to octal, all we need to do is group the binary digits into groups of three.</a:t>
                </a:r>
              </a:p>
              <a:p>
                <a:r>
                  <a:rPr lang="en-US" dirty="0"/>
                  <a:t>Binary </a:t>
                </a:r>
                <a:r>
                  <a:rPr lang="en-US" dirty="0">
                    <a:sym typeface="Wingdings" panose="05000000000000000000" pitchFamily="2" charset="2"/>
                  </a:rPr>
                  <a:t> Octal 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Working </a:t>
                </a:r>
                <a:r>
                  <a:rPr lang="en-US" i="1" dirty="0">
                    <a:sym typeface="Wingdings" panose="05000000000000000000" pitchFamily="2" charset="2"/>
                  </a:rPr>
                  <a:t>right-to-left</a:t>
                </a:r>
                <a:r>
                  <a:rPr lang="en-US" dirty="0">
                    <a:sym typeface="Wingdings" panose="05000000000000000000" pitchFamily="2" charset="2"/>
                  </a:rPr>
                  <a:t>, take bits in groups of 3, converting the groups into octal digits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10110111101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11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101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2675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>
                    <a:sym typeface="Wingdings" panose="05000000000000000000" pitchFamily="2" charset="2"/>
                  </a:rPr>
                  <a:t>Octal  Binary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Working </a:t>
                </a:r>
                <a:r>
                  <a:rPr lang="en-US" i="1" dirty="0">
                    <a:sym typeface="Wingdings" panose="05000000000000000000" pitchFamily="2" charset="2"/>
                  </a:rPr>
                  <a:t>left-to-right</a:t>
                </a:r>
                <a:r>
                  <a:rPr lang="en-US" dirty="0">
                    <a:sym typeface="Wingdings" panose="05000000000000000000" pitchFamily="2" charset="2"/>
                  </a:rPr>
                  <a:t>, replace each octal digit with its 3-bit binary equivalent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=011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010 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011010101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754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5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5327"/>
            <a:ext cx="10515600" cy="1325563"/>
          </a:xfrm>
        </p:spPr>
        <p:txBody>
          <a:bodyPr/>
          <a:lstStyle/>
          <a:p>
            <a:r>
              <a:rPr lang="en-US" dirty="0"/>
              <a:t>Converting Between Bases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1143000"/>
          <a:ext cx="4754880" cy="493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33786321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146283089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b="1" dirty="0">
                          <a:latin typeface="+mj-lt"/>
                          <a:sym typeface="American Typewriter"/>
                        </a:rPr>
                        <a:t>Base </a:t>
                      </a:r>
                      <a:r>
                        <a:rPr lang="en-US" sz="2400" b="1" dirty="0">
                          <a:latin typeface="+mj-lt"/>
                          <a:sym typeface="American Typewriter"/>
                        </a:rPr>
                        <a:t>10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Base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 2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Base 8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b="1" dirty="0">
                          <a:latin typeface="+mj-lt"/>
                          <a:sym typeface="American Typewriter"/>
                        </a:rPr>
                        <a:t>Base </a:t>
                      </a:r>
                      <a:r>
                        <a:rPr lang="en-US" sz="2400" b="1" dirty="0">
                          <a:latin typeface="+mj-lt"/>
                          <a:sym typeface="American Typewriter"/>
                        </a:rPr>
                        <a:t>16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000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000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2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2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2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3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3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3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4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100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4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4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5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101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5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5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+mj-lt"/>
                          <a:sym typeface="American Typewriter"/>
                        </a:rPr>
                        <a:t>6</a:t>
                      </a:r>
                      <a:endParaRPr sz="240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110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6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6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7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latin typeface="+mj-lt"/>
                          <a:sym typeface="American Typewriter"/>
                        </a:rPr>
                        <a:t>0</a:t>
                      </a:r>
                      <a:r>
                        <a:rPr sz="2400" dirty="0">
                          <a:latin typeface="+mj-lt"/>
                          <a:sym typeface="American Typewriter"/>
                        </a:rPr>
                        <a:t>111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7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7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08320" y="1143000"/>
          <a:ext cx="4754880" cy="493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16184043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91284641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b="1" dirty="0">
                          <a:latin typeface="+mj-lt"/>
                          <a:sym typeface="American Typewriter"/>
                        </a:rPr>
                        <a:t>Base </a:t>
                      </a:r>
                      <a:r>
                        <a:rPr lang="en-US" sz="2400" b="1" dirty="0">
                          <a:latin typeface="+mj-lt"/>
                          <a:sym typeface="American Typewriter"/>
                        </a:rPr>
                        <a:t>10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Base</a:t>
                      </a:r>
                      <a:r>
                        <a:rPr lang="en-US" sz="2400" b="1" kern="1200" baseline="0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 2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Base 8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j-lt"/>
                          <a:ea typeface="American Typewriter"/>
                          <a:cs typeface="American Typewriter"/>
                          <a:sym typeface="American Typewriter"/>
                        </a:rPr>
                        <a:t>Base 16</a:t>
                      </a:r>
                      <a:endParaRPr sz="2400" b="1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8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1000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9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1001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1010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A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1011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B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12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1100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C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13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1101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D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14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>
                          <a:latin typeface="+mj-lt"/>
                          <a:sym typeface="American Typewriter"/>
                        </a:rPr>
                        <a:t>1110</a:t>
                      </a:r>
                      <a:endParaRPr sz="240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E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15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</a:pPr>
                      <a:r>
                        <a:rPr sz="2400" dirty="0">
                          <a:latin typeface="+mj-lt"/>
                          <a:sym typeface="American Typewriter"/>
                        </a:rPr>
                        <a:t>1111</a:t>
                      </a:r>
                      <a:endParaRPr sz="2400" dirty="0">
                        <a:solidFill>
                          <a:schemeClr val="tx1"/>
                        </a:solidFill>
                        <a:latin typeface="+mj-lt"/>
                        <a:ea typeface="American Typewriter"/>
                        <a:cs typeface="American Typewriter"/>
                        <a:sym typeface="American Typewriter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17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F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00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Fractional values can be approximated in all base systems.</a:t>
                </a:r>
              </a:p>
              <a:p>
                <a:r>
                  <a:rPr lang="en-US" dirty="0"/>
                  <a:t>Unlike integer values, fractions do not necessarily have exact representations under all radices.</a:t>
                </a:r>
              </a:p>
              <a:p>
                <a:r>
                  <a:rPr lang="en-US" dirty="0"/>
                  <a:t>For example, the quantity ½ is exactly representable in the binary and decimal systems, but is not in the ternary (base 3) numbering system.</a:t>
                </a:r>
              </a:p>
              <a:p>
                <a:r>
                  <a:rPr lang="en-US" dirty="0"/>
                  <a:t>Fractional decimal values have nonzero digits to the right of the decimal point.</a:t>
                </a:r>
              </a:p>
              <a:p>
                <a:r>
                  <a:rPr lang="en-US" dirty="0"/>
                  <a:t>Fractional values of other radix systems have nonzero digits to the right of the </a:t>
                </a:r>
                <a:r>
                  <a:rPr lang="en-US" b="1" dirty="0"/>
                  <a:t>radix point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Numerals to the right of a radix point represent negative powers of the radix: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0.47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0.11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½+¼=0.5+0.25=0.75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15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Fractions </a:t>
            </a:r>
            <a:r>
              <a:rPr lang="en-US" dirty="0">
                <a:sym typeface="Wingdings" panose="05000000000000000000" pitchFamily="2" charset="2"/>
              </a:rPr>
              <a:t>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We’ve seen how to convert base-10 integers to binary representation, but what about real numbers?</a:t>
            </a:r>
          </a:p>
          <a:p>
            <a:r>
              <a:rPr lang="en-US" dirty="0"/>
              <a:t>Let’s see an algorithm for converting fractional decimal values to binary</a:t>
            </a:r>
          </a:p>
          <a:p>
            <a:r>
              <a:rPr lang="en-US" dirty="0"/>
              <a:t>Generate the bits in </a:t>
            </a:r>
            <a:r>
              <a:rPr lang="en-US" i="1" dirty="0"/>
              <a:t>left-to-right order</a:t>
            </a:r>
            <a:r>
              <a:rPr lang="en-US" dirty="0"/>
              <a:t>, starting from the radix point:</a:t>
            </a:r>
          </a:p>
          <a:p>
            <a:pPr lvl="1"/>
            <a:r>
              <a:rPr lang="en-US" dirty="0"/>
              <a:t>Multiply the decimal value by 2. If the product is greater than or equal to 1, the next bit is 1. Otherwise, the next bit is 0.</a:t>
            </a:r>
          </a:p>
          <a:p>
            <a:pPr lvl="1"/>
            <a:r>
              <a:rPr lang="en-US" dirty="0"/>
              <a:t>Drop the integer part to get a value less than 1.</a:t>
            </a:r>
          </a:p>
          <a:p>
            <a:pPr lvl="1"/>
            <a:r>
              <a:rPr lang="en-US" dirty="0"/>
              <a:t>Continue until 0 is reached (a terminating expansion) or a pattern of digits repeats (a non-terminating expansion).</a:t>
            </a:r>
          </a:p>
          <a:p>
            <a:r>
              <a:rPr lang="en-US" dirty="0"/>
              <a:t>The resulting representation is called </a:t>
            </a:r>
            <a:r>
              <a:rPr lang="en-US" b="1" dirty="0"/>
              <a:t>fixed-point format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1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Bases: Example #3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It’s fairly easy to use this multiplication method to convert from base 10.</a:t>
                </a:r>
              </a:p>
              <a:p>
                <a:r>
                  <a:rPr lang="en-US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to binary: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0.4×2=0.8</m:t>
                    </m:r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0.8&lt;1</m:t>
                    </m:r>
                  </m:oMath>
                </a14:m>
                <a:r>
                  <a:rPr lang="en-US" dirty="0"/>
                  <a:t>, so write a </a:t>
                </a:r>
                <a:r>
                  <a:rPr lang="en-US" dirty="0">
                    <a:solidFill>
                      <a:srgbClr val="C00000"/>
                    </a:solidFill>
                  </a:rPr>
                  <a:t>0</a:t>
                </a:r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0.8×2=1.6</m:t>
                    </m:r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1.6≥1</m:t>
                    </m:r>
                  </m:oMath>
                </a14:m>
                <a:r>
                  <a:rPr lang="en-US" dirty="0"/>
                  <a:t>, so write a </a:t>
                </a:r>
                <a:r>
                  <a:rPr lang="en-US" dirty="0">
                    <a:solidFill>
                      <a:srgbClr val="0070C0"/>
                    </a:solidFill>
                  </a:rPr>
                  <a:t>1</a:t>
                </a:r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 </m:t>
                    </m:r>
                  </m:oMath>
                </a14:m>
                <a:r>
                  <a:rPr lang="en-US" dirty="0"/>
                  <a:t>0.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1</a:t>
                </a:r>
              </a:p>
              <a:p>
                <a:pPr lvl="2"/>
                <a:r>
                  <a:rPr lang="en-US" dirty="0"/>
                  <a:t>Drop the integer part of 1.6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0.6×2=1.2</m:t>
                    </m:r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1.2≥1</m:t>
                    </m:r>
                  </m:oMath>
                </a14:m>
                <a:r>
                  <a:rPr lang="en-US" dirty="0"/>
                  <a:t>, so write 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0070C0"/>
                        </a:solidFill>
                      </a:rPr>
                      <m:t>1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Drop the integer part of 1.2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0.2×2=0.4</m:t>
                    </m:r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0.4&lt;1</m:t>
                    </m:r>
                  </m:oMath>
                </a14:m>
                <a:r>
                  <a:rPr lang="en-US" dirty="0"/>
                  <a:t>, so write a </a:t>
                </a:r>
                <a:r>
                  <a:rPr lang="en-US" dirty="0">
                    <a:solidFill>
                      <a:srgbClr val="BB3CD0"/>
                    </a:solidFill>
                  </a:rPr>
                  <a:t>0</a:t>
                </a:r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0070C0"/>
                        </a:solidFill>
                      </a:rPr>
                      <m:t>1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BB3CD0"/>
                        </a:solidFill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Since we arrived at a decimal fraction we have already seen, the pattern will repeat</a:t>
                </a:r>
              </a:p>
              <a:p>
                <a:r>
                  <a:rPr lang="en-US" dirty="0"/>
                  <a:t>Final answer: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0110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02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Bases: Example #4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13.85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to binary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0.85×2=1.7</m:t>
                    </m:r>
                  </m:oMath>
                </a14:m>
                <a:r>
                  <a:rPr lang="en-US" dirty="0"/>
                  <a:t>   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1.7≥1</m:t>
                    </m:r>
                  </m:oMath>
                </a14:m>
                <a:r>
                  <a:rPr lang="en-US" dirty="0"/>
                  <a:t>, so write a 1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≅0.1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0.7×2=1.4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1.4≥1</m:t>
                    </m:r>
                  </m:oMath>
                </a14:m>
                <a:r>
                  <a:rPr lang="en-US" dirty="0"/>
                  <a:t>, so write a 1	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≅0.1</m:t>
                    </m:r>
                  </m:oMath>
                </a14:m>
                <a:r>
                  <a:rPr lang="en-US" dirty="0"/>
                  <a:t>1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0.4×2=0.8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0.8&lt;1</m:t>
                    </m:r>
                  </m:oMath>
                </a14:m>
                <a:r>
                  <a:rPr lang="en-US" dirty="0"/>
                  <a:t>, so write a 0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≅0.110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0.8×2=1.6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1.6≥1</m:t>
                    </m:r>
                  </m:oMath>
                </a14:m>
                <a:r>
                  <a:rPr lang="en-US" dirty="0"/>
                  <a:t>, so write a 1 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≅0.1101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0.6×2=1.2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1.2≥1</m:t>
                    </m:r>
                  </m:oMath>
                </a14:m>
                <a:r>
                  <a:rPr lang="en-US" dirty="0"/>
                  <a:t>, so write a 1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≅0.11011</m:t>
                    </m:r>
                  </m:oMath>
                </a14:m>
                <a:r>
                  <a:rPr lang="en-US" dirty="0"/>
                  <a:t>	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0.2×2=0.4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0.4&lt;1</m:t>
                    </m:r>
                  </m:oMath>
                </a14:m>
                <a:r>
                  <a:rPr lang="en-US" dirty="0"/>
                  <a:t>, so write a 0	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≅0.1101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We will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≅0.1101100110…=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0.11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0110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Final answer: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1101.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11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0110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57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Converting Between Bases: Example #5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1100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101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decimal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8+4+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=8+4+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8+4+0.5+0.125</m:t>
                    </m:r>
                  </m:oMath>
                </a14:m>
                <a:endParaRPr lang="en-US" dirty="0"/>
              </a:p>
              <a:p>
                <a:pPr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12.625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8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conversions we have so far presented have involved only </a:t>
            </a:r>
            <a:r>
              <a:rPr lang="en-US" b="1" dirty="0"/>
              <a:t>unsigned </a:t>
            </a:r>
            <a:r>
              <a:rPr lang="en-US" dirty="0"/>
              <a:t>numbers (zero and positive numbers).</a:t>
            </a:r>
          </a:p>
          <a:p>
            <a:r>
              <a:rPr lang="en-US" dirty="0"/>
              <a:t>To represent signed integers, computer systems allocate the leftmost bit to indicate the sign of a number.</a:t>
            </a:r>
          </a:p>
          <a:p>
            <a:pPr lvl="1"/>
            <a:r>
              <a:rPr lang="en-US" dirty="0"/>
              <a:t>The leftmost bit is also called the </a:t>
            </a:r>
            <a:r>
              <a:rPr lang="en-US" b="1" dirty="0"/>
              <a:t>most significant bit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0 is used to indicate a positive number; 1 indicates a negative number.</a:t>
            </a:r>
          </a:p>
          <a:p>
            <a:r>
              <a:rPr lang="en-US" dirty="0"/>
              <a:t>The remaining bits contain the value of the number (but this can be interpreted different ways)</a:t>
            </a:r>
          </a:p>
          <a:p>
            <a:r>
              <a:rPr lang="en-US" dirty="0"/>
              <a:t>We will look at two ways for expressing signed binary integers: </a:t>
            </a:r>
            <a:r>
              <a:rPr lang="en-US" b="1" dirty="0"/>
              <a:t>sign/magnitude</a:t>
            </a:r>
            <a:r>
              <a:rPr lang="en-US" dirty="0"/>
              <a:t> and </a:t>
            </a:r>
            <a:r>
              <a:rPr lang="en-US" b="1" dirty="0"/>
              <a:t>two’s complement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27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57" y="223082"/>
            <a:ext cx="10515600" cy="1325563"/>
          </a:xfrm>
        </p:spPr>
        <p:txBody>
          <a:bodyPr/>
          <a:lstStyle/>
          <a:p>
            <a:r>
              <a:rPr lang="en-US" altLang="en-US" dirty="0"/>
              <a:t>Signed Integer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43000"/>
                <a:ext cx="11125200" cy="5257800"/>
              </a:xfrm>
            </p:spPr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i="1" dirty="0"/>
                  <a:t>N</a:t>
                </a:r>
                <a:r>
                  <a:rPr lang="en-US" dirty="0"/>
                  <a:t>-bit </a:t>
                </a:r>
                <a:r>
                  <a:rPr lang="en-US" b="1" dirty="0"/>
                  <a:t>sign/magnitude encoding</a:t>
                </a:r>
                <a:r>
                  <a:rPr lang="en-US" dirty="0"/>
                  <a:t>, the range of values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Examples with 8-bit precision: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+75⇒</m:t>
                    </m:r>
                  </m:oMath>
                </a14:m>
                <a:r>
                  <a:rPr lang="en-US" i="0" dirty="0">
                    <a:latin typeface="+mj-lt"/>
                  </a:rPr>
                  <a:t> </a:t>
                </a:r>
                <a:r>
                  <a:rPr lang="en-US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01001011</a:t>
                </a: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−15⇒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10001111</a:t>
                </a: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/>
                  <a:t>The leftmost bit indicates the sign, and the other 7 bits indicate the magnitude</a:t>
                </a:r>
              </a:p>
              <a:p>
                <a:r>
                  <a:rPr lang="en-US" dirty="0"/>
                  <a:t>Question: how is zero represented?</a:t>
                </a:r>
              </a:p>
              <a:p>
                <a:pPr lvl="1"/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000…0</a:t>
                </a:r>
                <a:r>
                  <a:rPr lang="en-US" dirty="0"/>
                  <a:t> and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100…0</a:t>
                </a:r>
                <a:r>
                  <a:rPr lang="en-US" dirty="0"/>
                  <a:t>. “Positive zero” and “negative zero”.</a:t>
                </a:r>
              </a:p>
              <a:p>
                <a:endParaRPr lang="en-US" dirty="0"/>
              </a:p>
              <a:p>
                <a:r>
                  <a:rPr lang="en-US" dirty="0"/>
                  <a:t>Now let’s do a few more examples together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43000"/>
                <a:ext cx="11125200" cy="5257800"/>
              </a:xfrm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70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Sign/magnitude representation is easy for people to understand, but it requires complicated computer hardware.</a:t>
                </a:r>
              </a:p>
              <a:p>
                <a:r>
                  <a:rPr lang="en-US" dirty="0"/>
                  <a:t>Another disadvantage of sign/magnitude is that it allows two different representations for zero: positive zero and negative zero.</a:t>
                </a:r>
              </a:p>
              <a:p>
                <a:r>
                  <a:rPr lang="en-US" dirty="0"/>
                  <a:t>For these reasons (among others) computers systems employ </a:t>
                </a:r>
                <a:r>
                  <a:rPr lang="en-US" b="1" dirty="0"/>
                  <a:t>complement systems</a:t>
                </a:r>
                <a:r>
                  <a:rPr lang="en-US" dirty="0"/>
                  <a:t> for numeric value representation.</a:t>
                </a:r>
              </a:p>
              <a:p>
                <a:r>
                  <a:rPr lang="en-US" dirty="0"/>
                  <a:t>We will study </a:t>
                </a:r>
                <a:r>
                  <a:rPr lang="en-US" b="1" dirty="0"/>
                  <a:t>two’s complement representation</a:t>
                </a:r>
              </a:p>
              <a:p>
                <a:r>
                  <a:rPr lang="en-US" dirty="0"/>
                  <a:t>To express a value in two’s complement representation:</a:t>
                </a:r>
              </a:p>
              <a:p>
                <a:pPr lvl="1"/>
                <a:r>
                  <a:rPr lang="en-US" dirty="0"/>
                  <a:t>If the number is positive, just convert it to binary and you’re done.</a:t>
                </a:r>
              </a:p>
              <a:p>
                <a:pPr lvl="1"/>
                <a:r>
                  <a:rPr lang="en-US" dirty="0"/>
                  <a:t>If the number is negative, convert it to binary, complement (flip) the bits, and then add 1.</a:t>
                </a:r>
              </a:p>
              <a:p>
                <a:r>
                  <a:rPr lang="en-US" dirty="0"/>
                  <a:t>Range of values in </a:t>
                </a:r>
                <a:r>
                  <a:rPr lang="en-US" i="1" dirty="0"/>
                  <a:t>N</a:t>
                </a:r>
                <a:r>
                  <a:rPr lang="en-US" dirty="0"/>
                  <a:t>-bit two’s complement: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30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Representation: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 8-bit binary,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00000011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using 8-bit two’s complement representation:</a:t>
                </a:r>
              </a:p>
              <a:p>
                <a:pPr lvl="1"/>
                <a:r>
                  <a:rPr lang="en-US" dirty="0"/>
                  <a:t>Complement (flip) all the bits for the representation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11111100</a:t>
                </a:r>
              </a:p>
              <a:p>
                <a:pPr lvl="1"/>
                <a:r>
                  <a:rPr lang="en-US" dirty="0"/>
                  <a:t>Add 1 to 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dirty="0"/>
                  <a:t> in two’s complement form: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11111101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little trick to finding the two’s complement representation of a negative number:</a:t>
                </a:r>
              </a:p>
              <a:p>
                <a:pPr lvl="1"/>
                <a:r>
                  <a:rPr lang="en-US" dirty="0"/>
                  <a:t>First, find the representation of the positive value</a:t>
                </a:r>
              </a:p>
              <a:p>
                <a:pPr lvl="1"/>
                <a:r>
                  <a:rPr lang="en-US" dirty="0"/>
                  <a:t>Then complement all of the bits to the left of the rightmost 1</a:t>
                </a:r>
              </a:p>
              <a:p>
                <a:r>
                  <a:rPr lang="en-US" dirty="0"/>
                  <a:t>What is the 8-bit two’s complement representation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18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10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 </m:t>
                    </m:r>
                  </m:oMath>
                </a14:m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00010010</a:t>
                </a:r>
              </a:p>
              <a:p>
                <a:pPr lvl="1"/>
                <a:r>
                  <a:rPr lang="en-US" dirty="0"/>
                  <a:t>Flip all bits to left of the rightmost 1</a:t>
                </a:r>
              </a:p>
              <a:p>
                <a:pPr lvl="1"/>
                <a:r>
                  <a:rPr lang="en-US" dirty="0"/>
                  <a:t>Answer: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11101110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181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Representation: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8-bit two’s complement representation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99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99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10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 </m:t>
                    </m:r>
                  </m:oMath>
                </a14:m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01100011</a:t>
                </a:r>
              </a:p>
              <a:p>
                <a:pPr lvl="1"/>
                <a:r>
                  <a:rPr lang="en-US" dirty="0"/>
                  <a:t>Flip all bits to left of the rightmost 1</a:t>
                </a:r>
              </a:p>
              <a:p>
                <a:pPr lvl="1"/>
                <a:r>
                  <a:rPr lang="en-US" dirty="0"/>
                  <a:t>Answer: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10011101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268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Representation: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What is the decimal equivalent of  the two’s complement number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11001010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A 1 at the </a:t>
                </a:r>
                <a:r>
                  <a:rPr lang="en-US" dirty="0" err="1"/>
                  <a:t>msb</a:t>
                </a:r>
                <a:r>
                  <a:rPr lang="en-US" dirty="0"/>
                  <a:t> indicates a negative number</a:t>
                </a:r>
              </a:p>
              <a:p>
                <a:pPr lvl="1"/>
                <a:r>
                  <a:rPr lang="en-US" dirty="0"/>
                  <a:t>Flip all bits to and add 1</a:t>
                </a:r>
              </a:p>
              <a:p>
                <a:pPr lvl="1"/>
                <a:r>
                  <a:rPr lang="en-US" dirty="0"/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00110110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Answer: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−54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about arithmetical operations like addition, subtraction, etc.?</a:t>
                </a:r>
              </a:p>
              <a:p>
                <a:r>
                  <a:rPr lang="en-US" dirty="0"/>
                  <a:t>Binary addition is as easy as it gets. You need to know only four rules:	</a:t>
                </a:r>
              </a:p>
              <a:p>
                <a:pPr marL="11430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0+0=0</m:t>
                    </m:r>
                  </m:oMath>
                </a14:m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0+1=1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1+0=1</m:t>
                    </m:r>
                  </m:oMath>
                </a14:m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1+1=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simplicity of this system makes it possible for digital circuits to carry out arithmetic operations.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14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Binary Arithmetic: Example #1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Binary arithmetic with positive integers (particularly, addition), is done in the usual way</a:t>
            </a:r>
          </a:p>
          <a:p>
            <a:r>
              <a:rPr lang="en-US" dirty="0"/>
              <a:t>With decimal addition we can have </a:t>
            </a:r>
            <a:r>
              <a:rPr lang="en-US" i="1" dirty="0"/>
              <a:t>carried </a:t>
            </a:r>
            <a:r>
              <a:rPr lang="en-US" dirty="0"/>
              <a:t>values:</a:t>
            </a:r>
          </a:p>
          <a:p>
            <a:pPr marL="347663" indent="0">
              <a:buNone/>
            </a:pPr>
            <a:r>
              <a:rPr lang="en-US" i="1" dirty="0"/>
              <a:t>Carry</a:t>
            </a:r>
            <a:r>
              <a:rPr lang="en-US" dirty="0"/>
              <a:t> values:        	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</a:p>
          <a:p>
            <a:pPr marL="34766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 74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		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+89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347663" indent="0">
              <a:buNone/>
            </a:pPr>
            <a:r>
              <a:rPr lang="en-US" i="1" dirty="0">
                <a:cs typeface="Courier New" panose="02070309020205020404" pitchFamily="49" charset="0"/>
              </a:rPr>
              <a:t>Sum</a:t>
            </a:r>
            <a:r>
              <a:rPr lang="en-US" dirty="0"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			163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same thing can happen with binary addition (below: unsigned numbers):</a:t>
            </a:r>
          </a:p>
          <a:p>
            <a:pPr marL="347663" indent="0">
              <a:buNone/>
            </a:pPr>
            <a:r>
              <a:rPr lang="en-US" i="1" dirty="0"/>
              <a:t>Carry </a:t>
            </a:r>
            <a:r>
              <a:rPr lang="en-US" dirty="0"/>
              <a:t>values: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   1   1 1 	</a:t>
            </a:r>
            <a:endParaRPr lang="en-US" dirty="0">
              <a:solidFill>
                <a:srgbClr val="C00000"/>
              </a:solidFill>
              <a:cs typeface="Courier New" panose="02070309020205020404" pitchFamily="49" charset="0"/>
            </a:endParaRP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0 1 0 0 1 0 1 0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+ 0 1 0 1 1 0 0 1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7663" indent="0">
              <a:buNone/>
            </a:pPr>
            <a:r>
              <a:rPr lang="en-US" i="1" dirty="0">
                <a:cs typeface="Courier New" panose="02070309020205020404" pitchFamily="49" charset="0"/>
              </a:rPr>
              <a:t>Sum</a:t>
            </a:r>
            <a:r>
              <a:rPr lang="en-US" dirty="0"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		   1 0 1 0 0 0 1 1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1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Binary Arithmetic: Example #2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7663"/>
            <a:r>
              <a:rPr lang="en-US" dirty="0"/>
              <a:t>Now add the following two 8-bit, unsigned binary numbers:</a:t>
            </a:r>
          </a:p>
          <a:p>
            <a:pPr marL="347663" indent="0"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1 1   1   1 1 1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1 1 0 1 0 1 1 1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+ 0 1 0 1 0 0 0 1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 1 0 0 1 0 1 0 0 0</a:t>
            </a:r>
            <a:r>
              <a:rPr 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We had an </a:t>
            </a:r>
            <a:r>
              <a:rPr lang="en-US" b="1" dirty="0"/>
              <a:t>overflow</a:t>
            </a:r>
            <a:r>
              <a:rPr lang="en-US" dirty="0"/>
              <a:t>. </a:t>
            </a:r>
          </a:p>
          <a:p>
            <a:r>
              <a:rPr lang="en-US" dirty="0"/>
              <a:t>In </a:t>
            </a:r>
            <a:r>
              <a:rPr lang="en-US" b="1" dirty="0"/>
              <a:t>fixed-precision</a:t>
            </a:r>
            <a:r>
              <a:rPr lang="en-US" dirty="0"/>
              <a:t> integer arithmetic, it is possible for an arithmetic operation, such as addition, to result in an overflow. The leftmost carry value is dropped, resulting in an incorrect sum.</a:t>
            </a:r>
          </a:p>
          <a:p>
            <a:r>
              <a:rPr lang="en-US" dirty="0"/>
              <a:t>Computer programmers must be aware of the range of representable values to avoid overflow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31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Binary Arithmetic: Example #3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carry-out of the leftmost column does not necessarily indicate an overflow in two’s complement addition</a:t>
                </a:r>
              </a:p>
              <a:p>
                <a:r>
                  <a:rPr lang="en-US" dirty="0"/>
                  <a:t>Suppose we perform the addition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two’s complement numbers:</a:t>
                </a:r>
              </a:p>
              <a:p>
                <a:pPr marL="11430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</a:t>
                </a:r>
                <a:r>
                  <a:rPr lang="en-US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b="1" dirty="0">
                    <a:solidFill>
                      <a:srgbClr val="000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1 1 1 1</a:t>
                </a:r>
              </a:p>
              <a:p>
                <a:pPr marL="114300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	   1 1 1 1 1 1 0 0		 -4</a:t>
                </a:r>
                <a:endParaRPr lang="en-US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7663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</a:t>
                </a:r>
                <a:r>
                  <a:rPr lang="en-US" b="1" u="sng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+ 1 1 1 1 1 0 0 1 	    + -7</a:t>
                </a:r>
              </a:p>
              <a:p>
                <a:pPr marL="347663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1 1 1 1 0 1 0 1	     -11	</a:t>
                </a:r>
              </a:p>
              <a:p>
                <a:r>
                  <a:rPr lang="en-US" dirty="0"/>
                  <a:t>What do we do with the carry-out shown in red?</a:t>
                </a:r>
              </a:p>
              <a:p>
                <a:pPr lvl="1"/>
                <a:r>
                  <a:rPr lang="en-US" dirty="0"/>
                  <a:t>Answer: discard 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52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Binary Arithmetic: Example #4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dirty="0"/>
                  <a:t> using two’s complement numbers:</a:t>
                </a:r>
              </a:p>
              <a:p>
                <a:pPr marL="11430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</a:t>
                </a:r>
                <a:r>
                  <a:rPr lang="en-US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b="1" dirty="0">
                    <a:solidFill>
                      <a:srgbClr val="000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1 1 1   1 1 1</a:t>
                </a:r>
              </a:p>
              <a:p>
                <a:pPr marL="114300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	   0 0 0 1 0 1 1 1		 23</a:t>
                </a:r>
                <a:endParaRPr lang="en-US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347663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</a:t>
                </a:r>
                <a:r>
                  <a:rPr lang="en-US" b="1" u="sng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+ 1 1 1 1 0 1 1 1 	    + -9</a:t>
                </a:r>
              </a:p>
              <a:p>
                <a:pPr marL="347663" indent="0">
                  <a:buNone/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0 0 0 0 1 1 1 0	      14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23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Binary Arithmetic: Example #5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signed arithmetic using two’s complement encoding, there is a possibility of overflow when the correct result is “too large” or “too small” to be represented.</a:t>
            </a:r>
          </a:p>
          <a:p>
            <a:r>
              <a:rPr lang="en-US" dirty="0"/>
              <a:t>Overflow cannot occur when adding numbers of opposite sign.</a:t>
            </a:r>
          </a:p>
          <a:p>
            <a:r>
              <a:rPr lang="en-US" dirty="0"/>
              <a:t>Overflow can occur when adding numbers of the same sign (or subtracting numbers of opposite sign).</a:t>
            </a: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	0 1 1 1 1 1 1 0		126</a:t>
            </a:r>
            <a:endParaRPr lang="en-US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+ 	0 0 0 0 0 0 1 1 	    +  3</a:t>
            </a:r>
          </a:p>
          <a:p>
            <a:pPr marL="347663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1 0 0 0 0 0 0 1	    -127	</a:t>
            </a:r>
          </a:p>
          <a:p>
            <a:r>
              <a:rPr lang="en-US" dirty="0"/>
              <a:t>The overflow can be detected by noticing that the sum has opposite sign from the addends.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1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Signed Integer Representations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Signed and unsigned numbers are both useful.</a:t>
                </a:r>
              </a:p>
              <a:p>
                <a:pPr lvl="1"/>
                <a:r>
                  <a:rPr lang="en-US" dirty="0"/>
                  <a:t>For example, memory addresses are always unsigned. There is no such thing as a negative memory address.</a:t>
                </a:r>
              </a:p>
              <a:p>
                <a:r>
                  <a:rPr lang="en-US" dirty="0"/>
                  <a:t>Using the same number of bits, unsigned integers can express twice as many “positive” values as signed numbers.</a:t>
                </a:r>
              </a:p>
              <a:p>
                <a:r>
                  <a:rPr lang="en-US" dirty="0"/>
                  <a:t>Trouble arises if an unsigned value “wraps around.”</a:t>
                </a:r>
              </a:p>
              <a:p>
                <a:pPr lvl="1"/>
                <a:r>
                  <a:rPr lang="en-US" dirty="0"/>
                  <a:t>In four bits: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1111+1=0000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Good programmers stay alert for this kind of problem.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94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Real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We did some base conversions involving real numbers but haven’t seen yet how they can be represented in a computer</a:t>
                </a:r>
              </a:p>
              <a:p>
                <a:r>
                  <a:rPr lang="en-US" dirty="0"/>
                  <a:t>A big disadvantage of the so-called </a:t>
                </a:r>
                <a:r>
                  <a:rPr lang="en-US" b="1" dirty="0"/>
                  <a:t>fixed-point format</a:t>
                </a:r>
                <a:r>
                  <a:rPr lang="en-US" dirty="0"/>
                  <a:t> or </a:t>
                </a:r>
                <a:r>
                  <a:rPr lang="en-US" b="1" dirty="0"/>
                  <a:t>fixed-precision encoding</a:t>
                </a:r>
                <a:r>
                  <a:rPr lang="en-US" dirty="0"/>
                  <a:t> of such numbers is that they have a very limited “dynamic range”</a:t>
                </a:r>
              </a:p>
              <a:p>
                <a:pPr lvl="1"/>
                <a:r>
                  <a:rPr lang="en-US" dirty="0"/>
                  <a:t>This format can’t represent very large numbers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70</m:t>
                        </m:r>
                      </m:sup>
                    </m:sSup>
                  </m:oMath>
                </a14:m>
                <a:r>
                  <a:rPr lang="en-US" dirty="0"/>
                  <a:t>) or very small numbers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−17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These numbers are called “fixed point” because the decimal point (or </a:t>
                </a:r>
                <a:r>
                  <a:rPr lang="en-US" b="1" dirty="0"/>
                  <a:t>binary point</a:t>
                </a:r>
                <a:r>
                  <a:rPr lang="en-US" dirty="0"/>
                  <a:t>) is fixed, which limits the range of values that </a:t>
                </a:r>
                <a:r>
                  <a:rPr lang="en-US"/>
                  <a:t>can be </a:t>
                </a:r>
                <a:r>
                  <a:rPr lang="en-US" dirty="0"/>
                  <a:t>represented</a:t>
                </a:r>
              </a:p>
              <a:p>
                <a:r>
                  <a:rPr lang="en-US" dirty="0"/>
                  <a:t>On the other hand, they give </a:t>
                </a:r>
                <a:r>
                  <a:rPr lang="en-US" i="1" dirty="0"/>
                  <a:t>exact</a:t>
                </a:r>
                <a:r>
                  <a:rPr lang="en-US" dirty="0"/>
                  <a:t> answers during computations (i.e., no rounding errors) as long as there is no overflow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928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97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fractions can have non-terminating representations and/or might require many digits to be represented exactly, usually real numbers can only be approximately represented in a computer</a:t>
            </a:r>
          </a:p>
          <a:p>
            <a:pPr lvl="1"/>
            <a:r>
              <a:rPr lang="en-US" dirty="0"/>
              <a:t>We have to tolerate a certain amount of </a:t>
            </a:r>
            <a:r>
              <a:rPr lang="en-US" b="1" dirty="0"/>
              <a:t>representational error</a:t>
            </a:r>
          </a:p>
          <a:p>
            <a:r>
              <a:rPr lang="en-US" dirty="0"/>
              <a:t>The industry standard way used to approximate real numbers is called </a:t>
            </a:r>
            <a:r>
              <a:rPr lang="en-US" b="1" dirty="0"/>
              <a:t>floating-point format</a:t>
            </a:r>
          </a:p>
          <a:p>
            <a:pPr lvl="1"/>
            <a:r>
              <a:rPr lang="en-US" b="1" dirty="0"/>
              <a:t>IEEE 754 floating-point standard</a:t>
            </a:r>
          </a:p>
          <a:p>
            <a:r>
              <a:rPr lang="en-US" dirty="0"/>
              <a:t>In this scheme the binary point is allowed to “float” (i.e., be repositioned) in order to give as accurate an approximation as 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3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Floating-Point Standard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IEEE 754 standard specifies floating-point representations of numbers and also arithmetic operations on these representations</a:t>
                </a:r>
              </a:p>
              <a:p>
                <a:r>
                  <a:rPr lang="en-US" dirty="0"/>
                  <a:t>IEEE 754 is essentially a form of </a:t>
                </a:r>
                <a:r>
                  <a:rPr lang="en-US" b="1" dirty="0"/>
                  <a:t>scientific notation</a:t>
                </a:r>
                <a:r>
                  <a:rPr lang="en-US" dirty="0"/>
                  <a:t>, but written in binary: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×1.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𝑓𝑟𝑎𝑐𝑡𝑖𝑜𝑛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This format can be encoded using three fields: a </a:t>
                </a:r>
                <a:r>
                  <a:rPr lang="en-US" b="1" dirty="0"/>
                  <a:t>sign bit</a:t>
                </a:r>
                <a:r>
                  <a:rPr lang="en-US" dirty="0"/>
                  <a:t> (</a:t>
                </a:r>
                <a:r>
                  <a:rPr lang="en-US" i="1" dirty="0"/>
                  <a:t>s</a:t>
                </a:r>
                <a:r>
                  <a:rPr lang="en-US" dirty="0"/>
                  <a:t>), an </a:t>
                </a:r>
                <a:r>
                  <a:rPr lang="en-US" b="1" dirty="0"/>
                  <a:t>exponent</a:t>
                </a:r>
                <a:r>
                  <a:rPr lang="en-US" dirty="0"/>
                  <a:t> (</a:t>
                </a:r>
                <a:r>
                  <a:rPr lang="en-US" i="1" dirty="0"/>
                  <a:t>e</a:t>
                </a:r>
                <a:r>
                  <a:rPr lang="en-US" dirty="0"/>
                  <a:t>) and a </a:t>
                </a:r>
                <a:r>
                  <a:rPr lang="en-US" b="1" dirty="0"/>
                  <a:t>fraction</a:t>
                </a:r>
                <a:r>
                  <a:rPr lang="en-US" dirty="0"/>
                  <a:t> (</a:t>
                </a:r>
                <a:r>
                  <a:rPr lang="en-US" i="1" dirty="0"/>
                  <a:t>f </a:t>
                </a:r>
                <a:r>
                  <a:rPr lang="en-US" dirty="0"/>
                  <a:t>), sometimes called the </a:t>
                </a:r>
                <a:r>
                  <a:rPr lang="en-US" b="1" dirty="0"/>
                  <a:t>mantissa</a:t>
                </a:r>
                <a:endParaRPr lang="en-US" dirty="0"/>
              </a:p>
              <a:p>
                <a:r>
                  <a:rPr lang="en-US" dirty="0"/>
                  <a:t>IEEE 754 </a:t>
                </a:r>
                <a:r>
                  <a:rPr lang="en-US" b="1" dirty="0"/>
                  <a:t>single-precision format</a:t>
                </a:r>
                <a:r>
                  <a:rPr lang="en-US" dirty="0"/>
                  <a:t> requires 32 bits and provides about 7 decimal digits of accuracy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99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Floating-Point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endParaRPr lang="en-US" dirty="0"/>
          </a:p>
          <a:p>
            <a:pPr>
              <a:spcBef>
                <a:spcPts val="18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Sign bit: 0  (positive) or 1 (negative)</a:t>
            </a:r>
          </a:p>
          <a:p>
            <a:r>
              <a:rPr lang="en-US" dirty="0"/>
              <a:t>Exponent: stored in </a:t>
            </a:r>
            <a:r>
              <a:rPr lang="en-US" b="1" dirty="0"/>
              <a:t>excess-127</a:t>
            </a:r>
            <a:r>
              <a:rPr lang="en-US" dirty="0"/>
              <a:t> for the 32-bit version</a:t>
            </a:r>
          </a:p>
          <a:p>
            <a:pPr lvl="1"/>
            <a:r>
              <a:rPr lang="en-US" dirty="0"/>
              <a:t>This means that instead of storing the exponent directly in the exponent field, we first add 127 to the exponent before storing it. More on this in a moment.</a:t>
            </a:r>
          </a:p>
          <a:p>
            <a:r>
              <a:rPr lang="en-US" dirty="0"/>
              <a:t>Fraction: contains the digits to the right of the binary point</a:t>
            </a:r>
          </a:p>
          <a:p>
            <a:pPr lvl="1"/>
            <a:r>
              <a:rPr lang="en-US" b="1" dirty="0"/>
              <a:t>Normalized</a:t>
            </a:r>
            <a:r>
              <a:rPr lang="en-US" dirty="0"/>
              <a:t>: the digit to the left of the point is always 1, and is not represented, giving us one bit of precision “for free”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13376" y="1219200"/>
          <a:ext cx="504850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1 bit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8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23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exponent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fraction (mantissa)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44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Decimal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decimal value of a IEEE 754 floating point encoding is given by the formula: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𝑏𝑖𝑎𝑠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where:</a:t>
                </a:r>
              </a:p>
              <a:p>
                <a:pPr lvl="1"/>
                <a:r>
                  <a:rPr lang="en-US" i="1" dirty="0"/>
                  <a:t>s</a:t>
                </a:r>
                <a:r>
                  <a:rPr lang="en-US" dirty="0"/>
                  <a:t> is the sign bit (0/1).</a:t>
                </a:r>
              </a:p>
              <a:p>
                <a:pPr lvl="1"/>
                <a:r>
                  <a:rPr lang="en-US" i="1" dirty="0"/>
                  <a:t>e</a:t>
                </a:r>
                <a:r>
                  <a:rPr lang="en-US" dirty="0"/>
                  <a:t> is the decimal value of the exponent field</a:t>
                </a:r>
              </a:p>
              <a:p>
                <a:pPr lvl="1"/>
                <a:r>
                  <a:rPr lang="en-US" i="1" dirty="0"/>
                  <a:t>bias</a:t>
                </a:r>
                <a:r>
                  <a:rPr lang="en-US" dirty="0"/>
                  <a:t> is 127</a:t>
                </a:r>
              </a:p>
              <a:p>
                <a:pPr lvl="1"/>
                <a:r>
                  <a:rPr lang="en-US" i="1" dirty="0"/>
                  <a:t>f</a:t>
                </a:r>
                <a:r>
                  <a:rPr lang="en-US" dirty="0"/>
                  <a:t> is the decimal value of the fraction field (regarded as a binary fraction)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7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Floating-point: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dirty="0"/>
                  <a:t>Convert the fixed-point binary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101011.1011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floating-point notation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=5+127=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10000100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=010111011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Answer: 0 10000100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010111011</m:t>
                    </m:r>
                  </m:oMath>
                </a14:m>
                <a:r>
                  <a:rPr lang="en-US" dirty="0"/>
                  <a:t>00000000000000</a:t>
                </a:r>
              </a:p>
              <a:p>
                <a:pPr>
                  <a:spcBef>
                    <a:spcPts val="12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72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Format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Decimal: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decimal value has the following IEEE 754 encoding?</a:t>
                </a:r>
                <a:br>
                  <a:rPr lang="en-US" dirty="0"/>
                </a:br>
                <a:r>
                  <a:rPr lang="en-US" dirty="0"/>
                  <a:t>10111110011000000000000000000000</a:t>
                </a:r>
              </a:p>
              <a:p>
                <a:pPr marL="339725" indent="0">
                  <a:buNone/>
                </a:pPr>
                <a:r>
                  <a:rPr lang="en-US" dirty="0"/>
                  <a:t>1   01111100   11000000000000000000000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64+32+16+8+4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127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=0.5+0.25=0.75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Answer: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1.75×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0.21875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58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IEEE 754 Format: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Encode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13.4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/>
                  <a:t> in 32-bit IEEE 754 floating-point format</a:t>
                </a:r>
              </a:p>
              <a:p>
                <a:r>
                  <a:rPr lang="en-US" dirty="0"/>
                  <a:t>Positive number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→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From earlier in this Unit: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0110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1101.011001100110011001100110…</a:t>
                </a:r>
              </a:p>
              <a:p>
                <a:r>
                  <a:rPr lang="en-US" dirty="0"/>
                  <a:t>Normalize: move binary point 3 places to left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b="0" dirty="0"/>
                  <a:t>	Add 127: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3+127=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10000010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C0"/>
                    </a:solidFill>
                  </a:rPr>
                  <a:t>101</a:t>
                </a:r>
                <a:r>
                  <a:rPr lang="en-US" dirty="0">
                    <a:solidFill>
                      <a:srgbClr val="C00000"/>
                    </a:solidFill>
                  </a:rPr>
                  <a:t>0110</a:t>
                </a:r>
                <a:r>
                  <a:rPr lang="en-US" dirty="0">
                    <a:solidFill>
                      <a:srgbClr val="0000C0"/>
                    </a:solidFill>
                  </a:rPr>
                  <a:t>0110</a:t>
                </a:r>
                <a:r>
                  <a:rPr lang="en-US" dirty="0">
                    <a:solidFill>
                      <a:srgbClr val="C00000"/>
                    </a:solidFill>
                  </a:rPr>
                  <a:t>0110</a:t>
                </a:r>
                <a:r>
                  <a:rPr lang="en-US" dirty="0">
                    <a:solidFill>
                      <a:srgbClr val="0000C0"/>
                    </a:solidFill>
                  </a:rPr>
                  <a:t>0110</a:t>
                </a:r>
                <a:r>
                  <a:rPr lang="en-US" dirty="0">
                    <a:solidFill>
                      <a:srgbClr val="C00000"/>
                    </a:solidFill>
                  </a:rPr>
                  <a:t>0110</a:t>
                </a:r>
                <a:r>
                  <a:rPr lang="en-US" dirty="0">
                    <a:solidFill>
                      <a:srgbClr val="0000C0"/>
                    </a:solidFill>
                  </a:rPr>
                  <a:t>0110</a:t>
                </a:r>
                <a:r>
                  <a:rPr lang="en-US" dirty="0">
                    <a:solidFill>
                      <a:schemeClr val="tx1"/>
                    </a:solidFill>
                  </a:rPr>
                  <a:t>…  (dropped leading 1)</a:t>
                </a:r>
              </a:p>
              <a:p>
                <a:r>
                  <a:rPr lang="en-US" dirty="0"/>
                  <a:t>Take 23 bits: 1010 1100 1100 1100 1100 110</a:t>
                </a:r>
              </a:p>
              <a:p>
                <a:r>
                  <a:rPr lang="en-US" dirty="0"/>
                  <a:t>Answer: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3964"/>
              </p:ext>
            </p:extLst>
          </p:nvPr>
        </p:nvGraphicFramePr>
        <p:xfrm>
          <a:off x="2570086" y="5262563"/>
          <a:ext cx="608711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latin typeface="+mj-lt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latin typeface="+mj-lt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latin typeface="+mj-lt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10000010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j-lt"/>
                        </a:rPr>
                        <a:t>10101100110011001100110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03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Special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smallest 000…0 and largest 111…1 exponents are reserved for the encoding of special values:</a:t>
                </a:r>
              </a:p>
              <a:p>
                <a:pPr lvl="1"/>
                <a:r>
                  <a:rPr lang="en-US" dirty="0"/>
                  <a:t>Zero (two encodings):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=000…0,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=000…0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Infinity: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=111…1,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=000…0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=111…1,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=000…0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 err="1"/>
                  <a:t>NaN</a:t>
                </a:r>
                <a:r>
                  <a:rPr lang="en-US" b="0" dirty="0"/>
                  <a:t> (not a number):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=111…1,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non-zero </a:t>
                </a:r>
              </a:p>
              <a:p>
                <a:pPr lvl="2"/>
                <a:r>
                  <a:rPr lang="en-US" dirty="0"/>
                  <a:t>Can result from division by zero,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⁡(−5)</m:t>
                    </m:r>
                  </m:oMath>
                </a14:m>
                <a:r>
                  <a:rPr lang="en-US" b="0" dirty="0"/>
                  <a:t>, etc.</a:t>
                </a:r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74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Format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762000" y="1295400"/>
              <a:ext cx="5688013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448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 in 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 in Exponent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</a:t>
                          </a:r>
                          <a:r>
                            <a:rPr lang="en-US" sz="2400" b="1" baseline="0" dirty="0">
                              <a:latin typeface="+mj-lt"/>
                            </a:rPr>
                            <a:t> in Fraction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>
                              <a:latin typeface="+mj-lt"/>
                            </a:rPr>
                            <a:t>Total</a:t>
                          </a:r>
                          <a:r>
                            <a:rPr lang="en-US" sz="2400" b="1" baseline="0">
                              <a:latin typeface="+mj-lt"/>
                            </a:rPr>
                            <a:t> Bits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Exponent</a:t>
                          </a:r>
                          <a:r>
                            <a:rPr lang="en-US" sz="2400" b="1" baseline="0" dirty="0">
                              <a:latin typeface="+mj-lt"/>
                            </a:rPr>
                            <a:t> Encoding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excess-127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Exponent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−126</m:t>
                              </m:r>
                            </m:oMath>
                          </a14:m>
                          <a:r>
                            <a:rPr lang="en-US" sz="2400" dirty="0">
                              <a:latin typeface="+mj-lt"/>
                            </a:rPr>
                            <a:t> to 127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Decimal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≅</m:t>
                              </m:r>
                              <m:sSup>
                                <m:sSup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  <m:t>−38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latin typeface="+mj-lt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latin typeface="+mj-lt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762857"/>
                  </p:ext>
                </p:extLst>
              </p:nvPr>
            </p:nvGraphicFramePr>
            <p:xfrm>
              <a:off x="762000" y="1295400"/>
              <a:ext cx="5688013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4481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 in 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 in Exponent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Bits</a:t>
                          </a:r>
                          <a:r>
                            <a:rPr lang="en-US" sz="2400" b="1" baseline="0" dirty="0">
                              <a:latin typeface="+mj-lt"/>
                            </a:rPr>
                            <a:t> in Fraction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>
                              <a:latin typeface="+mj-lt"/>
                            </a:rPr>
                            <a:t>Total</a:t>
                          </a:r>
                          <a:r>
                            <a:rPr lang="en-US" sz="2400" b="1" baseline="0">
                              <a:latin typeface="+mj-lt"/>
                            </a:rPr>
                            <a:t> Bits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32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Exponent</a:t>
                          </a:r>
                          <a:r>
                            <a:rPr lang="en-US" sz="2400" b="1" baseline="0" dirty="0">
                              <a:latin typeface="+mj-lt"/>
                            </a:rPr>
                            <a:t> Encoding</a:t>
                          </a:r>
                          <a:endParaRPr lang="en-US" sz="2400" b="1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+mj-lt"/>
                            </a:rPr>
                            <a:t>excess-127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Exponent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8000" t="-510667" r="-444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+mj-lt"/>
                            </a:rPr>
                            <a:t>Decimal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8000" t="-610667" r="-444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31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Codes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Calculations aren’t useful until their results can be displayed in a manner that is meaningful to people.</a:t>
            </a:r>
          </a:p>
          <a:p>
            <a:r>
              <a:rPr lang="en-US" dirty="0"/>
              <a:t>We also need to store the results of calculations, and provide a means for data input.</a:t>
            </a:r>
          </a:p>
          <a:p>
            <a:r>
              <a:rPr lang="en-US" dirty="0"/>
              <a:t>Thus, human-understandable characters must be converted to computer-understandable bit patterns using some sort of character encoding scheme.</a:t>
            </a:r>
          </a:p>
          <a:p>
            <a:r>
              <a:rPr lang="en-US" dirty="0"/>
              <a:t>As computers have evolved, character codes have evolved.</a:t>
            </a:r>
          </a:p>
          <a:p>
            <a:r>
              <a:rPr lang="en-US" dirty="0"/>
              <a:t>Larger computer memories and storage devices permit richer character codes.</a:t>
            </a:r>
          </a:p>
          <a:p>
            <a:r>
              <a:rPr lang="en-US" dirty="0"/>
              <a:t>The earliest computer coding systems used six bits.</a:t>
            </a:r>
          </a:p>
          <a:p>
            <a:r>
              <a:rPr lang="en-US" dirty="0"/>
              <a:t>Binary-coded decimal (BCD) was one of these early codes. It was used by IBM mainframes in the 1950s and 1960s.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103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Codes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Other computer manufacturers chose the 7-bit </a:t>
            </a:r>
            <a:r>
              <a:rPr lang="en-US" b="1" dirty="0"/>
              <a:t>ASCII</a:t>
            </a:r>
            <a:r>
              <a:rPr lang="en-US" dirty="0"/>
              <a:t> (American Standard Code for Information Interchange) as a replacement for 6-bit codes.</a:t>
            </a:r>
          </a:p>
          <a:p>
            <a:r>
              <a:rPr lang="en-US" dirty="0"/>
              <a:t>Until recently, ASCII was the dominant character code outside the IBM mainframe world.</a:t>
            </a:r>
          </a:p>
          <a:p>
            <a:pPr lvl="1"/>
            <a:r>
              <a:rPr lang="en-US" dirty="0"/>
              <a:t>IBM mainframes still use </a:t>
            </a:r>
            <a:r>
              <a:rPr lang="en-US" b="1" dirty="0"/>
              <a:t>EBCDIC</a:t>
            </a:r>
            <a:r>
              <a:rPr lang="en-US" dirty="0"/>
              <a:t> (Extended Binary Coded Decimal Interchange Code)</a:t>
            </a:r>
          </a:p>
          <a:p>
            <a:r>
              <a:rPr lang="en-US" dirty="0"/>
              <a:t>Many of today’s systems embrace Unicode, a 16-bit system that can encode the characters of every language in the world.</a:t>
            </a:r>
          </a:p>
          <a:p>
            <a:pPr lvl="1"/>
            <a:r>
              <a:rPr lang="en-US" dirty="0"/>
              <a:t>The Java programming language, and some operating systems now use Unicode as their default character code.</a:t>
            </a:r>
          </a:p>
          <a:p>
            <a:r>
              <a:rPr lang="en-US" dirty="0"/>
              <a:t>The Unicode </a:t>
            </a:r>
            <a:r>
              <a:rPr lang="en-US" b="1" dirty="0" err="1"/>
              <a:t>codespace</a:t>
            </a:r>
            <a:r>
              <a:rPr lang="en-US" dirty="0"/>
              <a:t> is divided into six parts.  The first part is for Western alphabet codes, including English, Greek, and Russian.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1344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Codes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4572000" cy="5257800"/>
          </a:xfrm>
        </p:spPr>
        <p:txBody>
          <a:bodyPr/>
          <a:lstStyle/>
          <a:p>
            <a:r>
              <a:rPr lang="en-US" dirty="0"/>
              <a:t>The Unicode </a:t>
            </a:r>
            <a:r>
              <a:rPr lang="en-US" dirty="0" err="1"/>
              <a:t>codespace</a:t>
            </a:r>
            <a:r>
              <a:rPr lang="en-US" dirty="0"/>
              <a:t> allocation is shown at the right.</a:t>
            </a:r>
          </a:p>
          <a:p>
            <a:r>
              <a:rPr lang="en-US" dirty="0"/>
              <a:t>The lowest-numbered Unicode characters comprise the ASCII code.</a:t>
            </a:r>
          </a:p>
          <a:p>
            <a:r>
              <a:rPr lang="en-US" dirty="0"/>
              <a:t>The highest provide for user-defined codes.</a:t>
            </a:r>
          </a:p>
          <a:p>
            <a:r>
              <a:rPr lang="en-US" dirty="0"/>
              <a:t>unicode-table.com/</a:t>
            </a:r>
            <a:r>
              <a:rPr lang="en-US" dirty="0" err="1"/>
              <a:t>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66899" y="1219200"/>
          <a:ext cx="6355080" cy="476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j-lt"/>
                        </a:rPr>
                        <a:t>Character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j-lt"/>
                        </a:rPr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j-lt"/>
                        </a:rPr>
                        <a:t>Number of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j-lt"/>
                        </a:rPr>
                        <a:t>Hexadecimal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Alphabets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Latin, Greek, Cyrillic,</a:t>
                      </a:r>
                      <a:r>
                        <a:rPr lang="en-US" baseline="0" dirty="0">
                          <a:latin typeface="+mj-lt"/>
                        </a:rPr>
                        <a:t> etc.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8192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0000 – 1FFF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Symbols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Dingbats, Mathematical,</a:t>
                      </a:r>
                      <a:r>
                        <a:rPr lang="en-US" baseline="0" dirty="0">
                          <a:latin typeface="+mj-lt"/>
                        </a:rPr>
                        <a:t> etc.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2000 – 2FFF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CJK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Chinese, Japanese and Korean symbols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3000 – 3FFF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Unified Chinese, Japanese and Korean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40,960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4000 – DFFF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Han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E000 – EFFF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User-defined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4095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F000 – FFFE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29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396D4F3FBE81459556FDCA3F477A03" ma:contentTypeVersion="0" ma:contentTypeDescription="Create a new document." ma:contentTypeScope="" ma:versionID="334a8fdf6c6ee46c68b27e6e3280445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7E6918-0CCF-496E-867D-1F5D0560FBF7}"/>
</file>

<file path=customXml/itemProps2.xml><?xml version="1.0" encoding="utf-8"?>
<ds:datastoreItem xmlns:ds="http://schemas.openxmlformats.org/officeDocument/2006/customXml" ds:itemID="{105AAF01-2839-4EBD-919F-C9F51FA5B627}"/>
</file>

<file path=customXml/itemProps3.xml><?xml version="1.0" encoding="utf-8"?>
<ds:datastoreItem xmlns:ds="http://schemas.openxmlformats.org/officeDocument/2006/customXml" ds:itemID="{7576CE32-0ABE-4F3F-9E1F-874B4AD2C881}"/>
</file>

<file path=docProps/app.xml><?xml version="1.0" encoding="utf-8"?>
<Properties xmlns="http://schemas.openxmlformats.org/officeDocument/2006/extended-properties" xmlns:vt="http://schemas.openxmlformats.org/officeDocument/2006/docPropsVTypes">
  <TotalTime>20449</TotalTime>
  <Words>3883</Words>
  <Application>Microsoft Office PowerPoint</Application>
  <PresentationFormat>Widescreen</PresentationFormat>
  <Paragraphs>445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ISE 218: Fundamentals of Information Technology Unit 2: Data Representation</vt:lpstr>
      <vt:lpstr>Units of Storage</vt:lpstr>
      <vt:lpstr>Units of Storage</vt:lpstr>
      <vt:lpstr>Positional Numbering Systems</vt:lpstr>
      <vt:lpstr>Positional Numbering Systems</vt:lpstr>
      <vt:lpstr>Converting Between Bases</vt:lpstr>
      <vt:lpstr>Converting Between Bases: Example #1</vt:lpstr>
      <vt:lpstr>Converting Between Bases: Example #2</vt:lpstr>
      <vt:lpstr>Converting Between Bases</vt:lpstr>
      <vt:lpstr>Converting Between Bases</vt:lpstr>
      <vt:lpstr>Converting Between Bases</vt:lpstr>
      <vt:lpstr>Converting Between Bases</vt:lpstr>
      <vt:lpstr>Converting Between Bases</vt:lpstr>
      <vt:lpstr>Decimal Fractions  Binary</vt:lpstr>
      <vt:lpstr>Converting Between Bases: Example #3</vt:lpstr>
      <vt:lpstr>Converting Between Bases: Example #4</vt:lpstr>
      <vt:lpstr>Converting Between Bases: Example #5</vt:lpstr>
      <vt:lpstr>Signed Integer Representation</vt:lpstr>
      <vt:lpstr>Signed Integer Representation</vt:lpstr>
      <vt:lpstr>Signed Integer Representation</vt:lpstr>
      <vt:lpstr>Signed Integer Representation: Examples</vt:lpstr>
      <vt:lpstr>Signed Integer Representation: Examples</vt:lpstr>
      <vt:lpstr>Signed Integer Representation: Examples</vt:lpstr>
      <vt:lpstr>Binary Arithmetic: Example #1</vt:lpstr>
      <vt:lpstr>Binary Arithmetic: Example #2</vt:lpstr>
      <vt:lpstr>Binary Arithmetic: Example #3</vt:lpstr>
      <vt:lpstr>Binary Arithmetic: Example #4</vt:lpstr>
      <vt:lpstr>Binary Arithmetic: Example #5</vt:lpstr>
      <vt:lpstr>Signed Integer Representations</vt:lpstr>
      <vt:lpstr>Representing Real Numbers</vt:lpstr>
      <vt:lpstr>Floating-Point Format</vt:lpstr>
      <vt:lpstr>IEEE 754 Floating-Point Standard</vt:lpstr>
      <vt:lpstr>IEEE 754 Floating-Point Standard</vt:lpstr>
      <vt:lpstr>IEEE 754  Decimal Conversion</vt:lpstr>
      <vt:lpstr>Fixed-point  Floating-point: Example</vt:lpstr>
      <vt:lpstr>IEEE 754 Format  Decimal: Example</vt:lpstr>
      <vt:lpstr>Decimal  IEEE 754 Format: Example</vt:lpstr>
      <vt:lpstr>IEEE 754 Special Values</vt:lpstr>
      <vt:lpstr>IEEE 754 Format Summary</vt:lpstr>
      <vt:lpstr>Character Codes</vt:lpstr>
      <vt:lpstr>Character Codes</vt:lpstr>
      <vt:lpstr>Character Codes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Raza, Ali x58396</dc:creator>
  <cp:lastModifiedBy>XINRUI YU</cp:lastModifiedBy>
  <cp:revision>9</cp:revision>
  <dcterms:created xsi:type="dcterms:W3CDTF">2019-08-30T03:29:21Z</dcterms:created>
  <dcterms:modified xsi:type="dcterms:W3CDTF">2025-02-21T12:17:25Z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0x010100AC396D4F3FBE81459556FDCA3F477A03</vt:lpwstr>
  </property>
</Properties>
</file>