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50.xml" ContentType="application/vnd.openxmlformats-officedocument.presentationml.slide+xml"/>
  <Override PartName="/ppt/slides/slide48.xml" ContentType="application/vnd.openxmlformats-officedocument.presentationml.slide+xml"/>
  <Override PartName="/ppt/slides/slide82.xml" ContentType="application/vnd.openxmlformats-officedocument.presentationml.slide+xml"/>
  <Override PartName="/ppt/slides/slide81.xml" ContentType="application/vnd.openxmlformats-officedocument.presentationml.slide+xml"/>
  <Override PartName="/ppt/slides/slide80.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67.xml" ContentType="application/vnd.openxmlformats-officedocument.presentationml.slide+xml"/>
  <Override PartName="/ppt/slides/slide66.xml" ContentType="application/vnd.openxmlformats-officedocument.presentationml.slide+xml"/>
  <Override PartName="/ppt/slides/slide65.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49.xml" ContentType="application/vnd.openxmlformats-officedocument.presentationml.slide+xml"/>
  <Override PartName="/ppt/slides/slide3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6.xml" ContentType="application/vnd.openxmlformats-officedocument.presentationml.slide+xml"/>
  <Override PartName="/ppt/slides/slide10.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2.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5.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sldIdLst>
    <p:sldId id="550" r:id="rId2"/>
    <p:sldId id="262" r:id="rId3"/>
    <p:sldId id="263" r:id="rId4"/>
    <p:sldId id="264" r:id="rId5"/>
    <p:sldId id="265" r:id="rId6"/>
    <p:sldId id="266" r:id="rId7"/>
    <p:sldId id="267" r:id="rId8"/>
    <p:sldId id="269" r:id="rId9"/>
    <p:sldId id="268" r:id="rId10"/>
    <p:sldId id="270" r:id="rId11"/>
    <p:sldId id="301" r:id="rId12"/>
    <p:sldId id="302" r:id="rId13"/>
    <p:sldId id="271" r:id="rId14"/>
    <p:sldId id="272" r:id="rId15"/>
    <p:sldId id="304" r:id="rId16"/>
    <p:sldId id="303" r:id="rId17"/>
    <p:sldId id="305" r:id="rId18"/>
    <p:sldId id="273" r:id="rId19"/>
    <p:sldId id="274" r:id="rId20"/>
    <p:sldId id="275" r:id="rId21"/>
    <p:sldId id="276" r:id="rId22"/>
    <p:sldId id="277" r:id="rId23"/>
    <p:sldId id="306" r:id="rId24"/>
    <p:sldId id="307" r:id="rId25"/>
    <p:sldId id="308" r:id="rId26"/>
    <p:sldId id="309" r:id="rId27"/>
    <p:sldId id="278" r:id="rId28"/>
    <p:sldId id="279" r:id="rId29"/>
    <p:sldId id="280" r:id="rId30"/>
    <p:sldId id="281" r:id="rId31"/>
    <p:sldId id="282" r:id="rId32"/>
    <p:sldId id="283" r:id="rId33"/>
    <p:sldId id="284" r:id="rId34"/>
    <p:sldId id="285" r:id="rId35"/>
    <p:sldId id="286" r:id="rId36"/>
    <p:sldId id="338" r:id="rId37"/>
    <p:sldId id="340" r:id="rId38"/>
    <p:sldId id="341" r:id="rId39"/>
    <p:sldId id="335" r:id="rId40"/>
    <p:sldId id="336" r:id="rId41"/>
    <p:sldId id="287" r:id="rId42"/>
    <p:sldId id="288" r:id="rId43"/>
    <p:sldId id="337" r:id="rId44"/>
    <p:sldId id="342" r:id="rId45"/>
    <p:sldId id="289" r:id="rId46"/>
    <p:sldId id="290" r:id="rId47"/>
    <p:sldId id="291" r:id="rId48"/>
    <p:sldId id="292" r:id="rId49"/>
    <p:sldId id="310" r:id="rId50"/>
    <p:sldId id="293" r:id="rId51"/>
    <p:sldId id="294" r:id="rId52"/>
    <p:sldId id="295" r:id="rId53"/>
    <p:sldId id="296" r:id="rId54"/>
    <p:sldId id="297" r:id="rId55"/>
    <p:sldId id="311" r:id="rId56"/>
    <p:sldId id="312" r:id="rId57"/>
    <p:sldId id="298" r:id="rId58"/>
    <p:sldId id="313" r:id="rId59"/>
    <p:sldId id="314" r:id="rId60"/>
    <p:sldId id="315" r:id="rId61"/>
    <p:sldId id="316" r:id="rId62"/>
    <p:sldId id="317" r:id="rId63"/>
    <p:sldId id="318" r:id="rId64"/>
    <p:sldId id="319" r:id="rId65"/>
    <p:sldId id="320" r:id="rId66"/>
    <p:sldId id="323" r:id="rId67"/>
    <p:sldId id="324" r:id="rId68"/>
    <p:sldId id="321" r:id="rId69"/>
    <p:sldId id="322" r:id="rId70"/>
    <p:sldId id="325" r:id="rId71"/>
    <p:sldId id="326" r:id="rId72"/>
    <p:sldId id="327" r:id="rId73"/>
    <p:sldId id="300" r:id="rId74"/>
    <p:sldId id="328" r:id="rId75"/>
    <p:sldId id="329" r:id="rId76"/>
    <p:sldId id="331" r:id="rId77"/>
    <p:sldId id="333" r:id="rId78"/>
    <p:sldId id="343" r:id="rId79"/>
    <p:sldId id="344" r:id="rId80"/>
    <p:sldId id="345" r:id="rId81"/>
    <p:sldId id="347" r:id="rId82"/>
    <p:sldId id="346"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31" autoAdjust="0"/>
    <p:restoredTop sz="87547" autoAdjust="0"/>
  </p:normalViewPr>
  <p:slideViewPr>
    <p:cSldViewPr snapToGrid="0">
      <p:cViewPr varScale="1">
        <p:scale>
          <a:sx n="88" d="100"/>
          <a:sy n="88" d="100"/>
        </p:scale>
        <p:origin x="96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customXml" Target="../customXml/item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customXml" Target="../customXml/item2.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9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B4D0BB-5522-4C10-8135-53B21677EA29}" type="datetimeFigureOut">
              <a:rPr lang="en-US" smtClean="0"/>
              <a:t>5/26/2025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299D46-16F3-4057-B356-6BA1F3AC74E9}" type="slidenum">
              <a:rPr lang="en-US" smtClean="0"/>
              <a:t>‹#›</a:t>
            </a:fld>
            <a:endParaRPr lang="en-US"/>
          </a:p>
        </p:txBody>
      </p:sp>
    </p:spTree>
    <p:extLst>
      <p:ext uri="{BB962C8B-B14F-4D97-AF65-F5344CB8AC3E}">
        <p14:creationId xmlns:p14="http://schemas.microsoft.com/office/powerpoint/2010/main" val="3516992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10</a:t>
            </a:fld>
            <a:endParaRPr lang="en-US"/>
          </a:p>
        </p:txBody>
      </p:sp>
    </p:spTree>
    <p:extLst>
      <p:ext uri="{BB962C8B-B14F-4D97-AF65-F5344CB8AC3E}">
        <p14:creationId xmlns:p14="http://schemas.microsoft.com/office/powerpoint/2010/main" val="1740653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11</a:t>
            </a:fld>
            <a:endParaRPr lang="en-US"/>
          </a:p>
        </p:txBody>
      </p:sp>
    </p:spTree>
    <p:extLst>
      <p:ext uri="{BB962C8B-B14F-4D97-AF65-F5344CB8AC3E}">
        <p14:creationId xmlns:p14="http://schemas.microsoft.com/office/powerpoint/2010/main" val="1199667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D552B-82FF-4AB4-9609-C7A7D3BD15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AACFFC-15DD-45C9-8591-64FB971AF4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250A81-BD6A-4705-B1A1-53C59C7A7855}"/>
              </a:ext>
            </a:extLst>
          </p:cNvPr>
          <p:cNvSpPr>
            <a:spLocks noGrp="1"/>
          </p:cNvSpPr>
          <p:nvPr>
            <p:ph type="dt" sz="half" idx="10"/>
          </p:nvPr>
        </p:nvSpPr>
        <p:spPr/>
        <p:txBody>
          <a:bodyPr/>
          <a:lstStyle/>
          <a:p>
            <a:fld id="{92CC8182-8A53-4BCE-8F74-6947BE705CD4}" type="datetimeFigureOut">
              <a:rPr lang="en-US" smtClean="0"/>
              <a:t>5/26/2025</a:t>
            </a:fld>
            <a:endParaRPr lang="en-US"/>
          </a:p>
        </p:txBody>
      </p:sp>
      <p:sp>
        <p:nvSpPr>
          <p:cNvPr id="5" name="Footer Placeholder 4">
            <a:extLst>
              <a:ext uri="{FF2B5EF4-FFF2-40B4-BE49-F238E27FC236}">
                <a16:creationId xmlns:a16="http://schemas.microsoft.com/office/drawing/2014/main" id="{9AC757A9-5704-449B-95E2-D0CCC051E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D94D6D-FCEB-4AB3-A5AF-D02DB65DB745}"/>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476077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FBB47-85D7-4C03-AFE8-AE56293CEB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2069EB-CBF3-4983-BD1A-BE58482CA1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77482-8B8C-4ECB-BD8F-227C120E4857}"/>
              </a:ext>
            </a:extLst>
          </p:cNvPr>
          <p:cNvSpPr>
            <a:spLocks noGrp="1"/>
          </p:cNvSpPr>
          <p:nvPr>
            <p:ph type="dt" sz="half" idx="10"/>
          </p:nvPr>
        </p:nvSpPr>
        <p:spPr/>
        <p:txBody>
          <a:bodyPr/>
          <a:lstStyle/>
          <a:p>
            <a:fld id="{92CC8182-8A53-4BCE-8F74-6947BE705CD4}" type="datetimeFigureOut">
              <a:rPr lang="en-US" smtClean="0"/>
              <a:t>5/26/2025</a:t>
            </a:fld>
            <a:endParaRPr lang="en-US"/>
          </a:p>
        </p:txBody>
      </p:sp>
      <p:sp>
        <p:nvSpPr>
          <p:cNvPr id="5" name="Footer Placeholder 4">
            <a:extLst>
              <a:ext uri="{FF2B5EF4-FFF2-40B4-BE49-F238E27FC236}">
                <a16:creationId xmlns:a16="http://schemas.microsoft.com/office/drawing/2014/main" id="{8F589392-4818-4C89-9DFA-A27DAB760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93950-D55E-4C81-B644-450FE394640D}"/>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111142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1DB90-BB39-4756-8952-3A1C2DB83A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B32473-D10D-42DD-BA3D-583595F89D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CA9556-2CB1-48A8-B892-A9C6196400E4}"/>
              </a:ext>
            </a:extLst>
          </p:cNvPr>
          <p:cNvSpPr>
            <a:spLocks noGrp="1"/>
          </p:cNvSpPr>
          <p:nvPr>
            <p:ph type="dt" sz="half" idx="10"/>
          </p:nvPr>
        </p:nvSpPr>
        <p:spPr/>
        <p:txBody>
          <a:bodyPr/>
          <a:lstStyle/>
          <a:p>
            <a:fld id="{92CC8182-8A53-4BCE-8F74-6947BE705CD4}" type="datetimeFigureOut">
              <a:rPr lang="en-US" smtClean="0"/>
              <a:t>5/26/2025</a:t>
            </a:fld>
            <a:endParaRPr lang="en-US"/>
          </a:p>
        </p:txBody>
      </p:sp>
      <p:sp>
        <p:nvSpPr>
          <p:cNvPr id="5" name="Footer Placeholder 4">
            <a:extLst>
              <a:ext uri="{FF2B5EF4-FFF2-40B4-BE49-F238E27FC236}">
                <a16:creationId xmlns:a16="http://schemas.microsoft.com/office/drawing/2014/main" id="{E24C7B00-C4F2-4A0E-94EE-D6A849306D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89A8A-E754-4481-87DD-5324EE60DAB8}"/>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97071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AC46B-657D-4B96-AF11-2F595FCF31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E23D2-5632-40CB-8093-37AFF79E26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FF951-8D8F-459D-8863-B8A35EF88E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E4D493-34D8-43AD-8A01-CE212CE9D558}"/>
              </a:ext>
            </a:extLst>
          </p:cNvPr>
          <p:cNvSpPr>
            <a:spLocks noGrp="1"/>
          </p:cNvSpPr>
          <p:nvPr>
            <p:ph type="dt" sz="half" idx="10"/>
          </p:nvPr>
        </p:nvSpPr>
        <p:spPr/>
        <p:txBody>
          <a:bodyPr/>
          <a:lstStyle/>
          <a:p>
            <a:fld id="{92CC8182-8A53-4BCE-8F74-6947BE705CD4}" type="datetimeFigureOut">
              <a:rPr lang="en-US" smtClean="0"/>
              <a:t>5/26/2025</a:t>
            </a:fld>
            <a:endParaRPr lang="en-US"/>
          </a:p>
        </p:txBody>
      </p:sp>
      <p:sp>
        <p:nvSpPr>
          <p:cNvPr id="6" name="Footer Placeholder 5">
            <a:extLst>
              <a:ext uri="{FF2B5EF4-FFF2-40B4-BE49-F238E27FC236}">
                <a16:creationId xmlns:a16="http://schemas.microsoft.com/office/drawing/2014/main" id="{30BFC614-C652-4266-8E09-E7370A0CC2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7BA22F-6DAB-4A37-91AA-96D2E04F1B17}"/>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760558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51189-EB22-47FF-B37D-14AADFFD0A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C39329-89A8-40CC-B8D1-C0D2D34634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947A9D-9C23-42EF-8B31-98A681808C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596BC8-4529-4594-A62A-B0490D8B91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69B1F9-831C-4959-9FAC-00D6420CAC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17478D-9499-493E-87D6-4D06F7A00298}"/>
              </a:ext>
            </a:extLst>
          </p:cNvPr>
          <p:cNvSpPr>
            <a:spLocks noGrp="1"/>
          </p:cNvSpPr>
          <p:nvPr>
            <p:ph type="dt" sz="half" idx="10"/>
          </p:nvPr>
        </p:nvSpPr>
        <p:spPr/>
        <p:txBody>
          <a:bodyPr/>
          <a:lstStyle/>
          <a:p>
            <a:fld id="{92CC8182-8A53-4BCE-8F74-6947BE705CD4}" type="datetimeFigureOut">
              <a:rPr lang="en-US" smtClean="0"/>
              <a:t>5/26/2025</a:t>
            </a:fld>
            <a:endParaRPr lang="en-US"/>
          </a:p>
        </p:txBody>
      </p:sp>
      <p:sp>
        <p:nvSpPr>
          <p:cNvPr id="8" name="Footer Placeholder 7">
            <a:extLst>
              <a:ext uri="{FF2B5EF4-FFF2-40B4-BE49-F238E27FC236}">
                <a16:creationId xmlns:a16="http://schemas.microsoft.com/office/drawing/2014/main" id="{55F3CEA6-3C43-4928-97C7-2D92EACADA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04DCCD-B828-4CFA-B830-C481107BEDB8}"/>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343412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E580-3584-400F-82B4-86B1D3BA11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F27705-C5F9-457F-BFEC-F13A44823CB5}"/>
              </a:ext>
            </a:extLst>
          </p:cNvPr>
          <p:cNvSpPr>
            <a:spLocks noGrp="1"/>
          </p:cNvSpPr>
          <p:nvPr>
            <p:ph type="dt" sz="half" idx="10"/>
          </p:nvPr>
        </p:nvSpPr>
        <p:spPr/>
        <p:txBody>
          <a:bodyPr/>
          <a:lstStyle/>
          <a:p>
            <a:fld id="{92CC8182-8A53-4BCE-8F74-6947BE705CD4}" type="datetimeFigureOut">
              <a:rPr lang="en-US" smtClean="0"/>
              <a:t>5/26/2025</a:t>
            </a:fld>
            <a:endParaRPr lang="en-US"/>
          </a:p>
        </p:txBody>
      </p:sp>
      <p:sp>
        <p:nvSpPr>
          <p:cNvPr id="4" name="Footer Placeholder 3">
            <a:extLst>
              <a:ext uri="{FF2B5EF4-FFF2-40B4-BE49-F238E27FC236}">
                <a16:creationId xmlns:a16="http://schemas.microsoft.com/office/drawing/2014/main" id="{B7D4B83A-7635-4D97-B096-219D7DB7CD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472993-E0E3-4A12-8240-710606F6CCDF}"/>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552738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34D6E1-7F80-40E1-BF2F-B05F1E975988}"/>
              </a:ext>
            </a:extLst>
          </p:cNvPr>
          <p:cNvSpPr>
            <a:spLocks noGrp="1"/>
          </p:cNvSpPr>
          <p:nvPr>
            <p:ph type="dt" sz="half" idx="10"/>
          </p:nvPr>
        </p:nvSpPr>
        <p:spPr/>
        <p:txBody>
          <a:bodyPr/>
          <a:lstStyle/>
          <a:p>
            <a:fld id="{92CC8182-8A53-4BCE-8F74-6947BE705CD4}" type="datetimeFigureOut">
              <a:rPr lang="en-US" smtClean="0"/>
              <a:t>5/26/2025</a:t>
            </a:fld>
            <a:endParaRPr lang="en-US"/>
          </a:p>
        </p:txBody>
      </p:sp>
      <p:sp>
        <p:nvSpPr>
          <p:cNvPr id="3" name="Footer Placeholder 2">
            <a:extLst>
              <a:ext uri="{FF2B5EF4-FFF2-40B4-BE49-F238E27FC236}">
                <a16:creationId xmlns:a16="http://schemas.microsoft.com/office/drawing/2014/main" id="{6F612BDF-9915-4950-ACA4-33E3BB3BB3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86EA4C-F843-4446-A7B6-4A4B85783716}"/>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688443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D886-60B2-4DD3-8E28-4E27ADA5EC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7BCEA3-FD12-4E89-8543-AD44DB0432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91A5EA-5B38-48D1-878E-F4B7E54CD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9C3C98-0E0F-4D52-B760-26791C9289AF}"/>
              </a:ext>
            </a:extLst>
          </p:cNvPr>
          <p:cNvSpPr>
            <a:spLocks noGrp="1"/>
          </p:cNvSpPr>
          <p:nvPr>
            <p:ph type="dt" sz="half" idx="10"/>
          </p:nvPr>
        </p:nvSpPr>
        <p:spPr/>
        <p:txBody>
          <a:bodyPr/>
          <a:lstStyle/>
          <a:p>
            <a:fld id="{92CC8182-8A53-4BCE-8F74-6947BE705CD4}" type="datetimeFigureOut">
              <a:rPr lang="en-US" smtClean="0"/>
              <a:t>5/26/2025</a:t>
            </a:fld>
            <a:endParaRPr lang="en-US"/>
          </a:p>
        </p:txBody>
      </p:sp>
      <p:sp>
        <p:nvSpPr>
          <p:cNvPr id="6" name="Footer Placeholder 5">
            <a:extLst>
              <a:ext uri="{FF2B5EF4-FFF2-40B4-BE49-F238E27FC236}">
                <a16:creationId xmlns:a16="http://schemas.microsoft.com/office/drawing/2014/main" id="{ED522735-0599-4C70-AF7B-5A867BE6A3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CA1B80-CA4F-418D-B784-E06AD1677909}"/>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184477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E478-4348-499F-93A8-209D59372F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211465-A55C-43F8-BC8B-65C908BBC1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4AA8CF-35C7-4E7A-8CF2-DD1B31289F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EA830D-05B3-4113-A934-CE046200FF41}"/>
              </a:ext>
            </a:extLst>
          </p:cNvPr>
          <p:cNvSpPr>
            <a:spLocks noGrp="1"/>
          </p:cNvSpPr>
          <p:nvPr>
            <p:ph type="dt" sz="half" idx="10"/>
          </p:nvPr>
        </p:nvSpPr>
        <p:spPr/>
        <p:txBody>
          <a:bodyPr/>
          <a:lstStyle/>
          <a:p>
            <a:fld id="{92CC8182-8A53-4BCE-8F74-6947BE705CD4}" type="datetimeFigureOut">
              <a:rPr lang="en-US" smtClean="0"/>
              <a:t>5/26/2025</a:t>
            </a:fld>
            <a:endParaRPr lang="en-US"/>
          </a:p>
        </p:txBody>
      </p:sp>
      <p:sp>
        <p:nvSpPr>
          <p:cNvPr id="6" name="Footer Placeholder 5">
            <a:extLst>
              <a:ext uri="{FF2B5EF4-FFF2-40B4-BE49-F238E27FC236}">
                <a16:creationId xmlns:a16="http://schemas.microsoft.com/office/drawing/2014/main" id="{1AFE2548-ED48-4FDD-9329-54769D0AB9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DCEB7C-F788-43DF-85B5-0DBA7C07CE44}"/>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607691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F941-46EF-4311-AED7-D0BB663691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FD0C78-72E8-42D8-A8A3-0BD58C4C3B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4E8BB-B3FA-45D6-98E9-9C11F14E2DF8}"/>
              </a:ext>
            </a:extLst>
          </p:cNvPr>
          <p:cNvSpPr>
            <a:spLocks noGrp="1"/>
          </p:cNvSpPr>
          <p:nvPr>
            <p:ph type="dt" sz="half" idx="10"/>
          </p:nvPr>
        </p:nvSpPr>
        <p:spPr/>
        <p:txBody>
          <a:bodyPr/>
          <a:lstStyle/>
          <a:p>
            <a:fld id="{92CC8182-8A53-4BCE-8F74-6947BE705CD4}" type="datetimeFigureOut">
              <a:rPr lang="en-US" smtClean="0"/>
              <a:t>5/26/2025</a:t>
            </a:fld>
            <a:endParaRPr lang="en-US"/>
          </a:p>
        </p:txBody>
      </p:sp>
      <p:sp>
        <p:nvSpPr>
          <p:cNvPr id="5" name="Footer Placeholder 4">
            <a:extLst>
              <a:ext uri="{FF2B5EF4-FFF2-40B4-BE49-F238E27FC236}">
                <a16:creationId xmlns:a16="http://schemas.microsoft.com/office/drawing/2014/main" id="{DA8EC78D-3294-4990-8C81-80D15BB97E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4B28C-5C64-478B-A901-757A858E5D35}"/>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1498725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86A487-2590-4615-B417-E2168DE65D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C70FE8-B807-4A10-88EE-5557BDB62C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BCCCA-6C6B-4B0E-BBAD-24322C9E264F}"/>
              </a:ext>
            </a:extLst>
          </p:cNvPr>
          <p:cNvSpPr>
            <a:spLocks noGrp="1"/>
          </p:cNvSpPr>
          <p:nvPr>
            <p:ph type="dt" sz="half" idx="10"/>
          </p:nvPr>
        </p:nvSpPr>
        <p:spPr/>
        <p:txBody>
          <a:bodyPr/>
          <a:lstStyle/>
          <a:p>
            <a:fld id="{92CC8182-8A53-4BCE-8F74-6947BE705CD4}" type="datetimeFigureOut">
              <a:rPr lang="en-US" smtClean="0"/>
              <a:t>5/26/2025</a:t>
            </a:fld>
            <a:endParaRPr lang="en-US"/>
          </a:p>
        </p:txBody>
      </p:sp>
      <p:sp>
        <p:nvSpPr>
          <p:cNvPr id="5" name="Footer Placeholder 4">
            <a:extLst>
              <a:ext uri="{FF2B5EF4-FFF2-40B4-BE49-F238E27FC236}">
                <a16:creationId xmlns:a16="http://schemas.microsoft.com/office/drawing/2014/main" id="{777A20AF-9B80-4FBF-9840-ACF1BF231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992727-D5B7-4EF1-B44C-581A9DA0903B}"/>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863292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B331-D111-4B58-8269-2659FD6786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A94232-12F2-4F6F-8D85-CA6F567087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DCF1BF-9115-4CA0-9F58-D0A6743476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CC8182-8A53-4BCE-8F74-6947BE705CD4}" type="datetimeFigureOut">
              <a:rPr lang="en-US" smtClean="0"/>
              <a:t>5/26/2025</a:t>
            </a:fld>
            <a:endParaRPr lang="en-US"/>
          </a:p>
        </p:txBody>
      </p:sp>
      <p:sp>
        <p:nvSpPr>
          <p:cNvPr id="5" name="Footer Placeholder 4">
            <a:extLst>
              <a:ext uri="{FF2B5EF4-FFF2-40B4-BE49-F238E27FC236}">
                <a16:creationId xmlns:a16="http://schemas.microsoft.com/office/drawing/2014/main" id="{BFF3B8B1-D0DD-4F6A-9A0C-E4BAD55617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8C3B089-E9D4-4D61-92EB-9C11EA5008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023CDD-6085-4522-82B4-4228FE4EDFFA}" type="slidenum">
              <a:rPr lang="en-US" smtClean="0"/>
              <a:t>‹#›</a:t>
            </a:fld>
            <a:endParaRPr lang="en-US"/>
          </a:p>
        </p:txBody>
      </p:sp>
    </p:spTree>
    <p:extLst>
      <p:ext uri="{BB962C8B-B14F-4D97-AF65-F5344CB8AC3E}">
        <p14:creationId xmlns:p14="http://schemas.microsoft.com/office/powerpoint/2010/main" val="1742187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1" descr="Text, letter&#10;&#10;Description automatically generated">
            <a:extLst>
              <a:ext uri="{FF2B5EF4-FFF2-40B4-BE49-F238E27FC236}">
                <a16:creationId xmlns:a16="http://schemas.microsoft.com/office/drawing/2014/main" id="{E00B5315-1DCF-0FCD-0AF4-436BC7B08E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303" y="1122232"/>
            <a:ext cx="5982803" cy="2213635"/>
          </a:xfrm>
          <a:prstGeom prst="rect">
            <a:avLst/>
          </a:prstGeom>
        </p:spPr>
      </p:pic>
      <p:sp>
        <p:nvSpPr>
          <p:cNvPr id="2" name="Title 1">
            <a:extLst>
              <a:ext uri="{FF2B5EF4-FFF2-40B4-BE49-F238E27FC236}">
                <a16:creationId xmlns:a16="http://schemas.microsoft.com/office/drawing/2014/main" id="{F472E598-3A9F-494B-94CA-04DD070C9E1E}"/>
              </a:ext>
            </a:extLst>
          </p:cNvPr>
          <p:cNvSpPr>
            <a:spLocks noGrp="1"/>
          </p:cNvSpPr>
          <p:nvPr>
            <p:ph type="ctrTitle"/>
          </p:nvPr>
        </p:nvSpPr>
        <p:spPr>
          <a:xfrm>
            <a:off x="1289303" y="3429000"/>
            <a:ext cx="10080312" cy="1713305"/>
          </a:xfrm>
        </p:spPr>
        <p:txBody>
          <a:bodyPr anchor="b">
            <a:normAutofit/>
          </a:bodyPr>
          <a:lstStyle/>
          <a:p>
            <a:pPr algn="l"/>
            <a:r>
              <a:rPr lang="en-US" sz="3800" dirty="0"/>
              <a:t>ISE 218: Fundamentals of Information Technology</a:t>
            </a:r>
            <a:br>
              <a:rPr lang="en-US" sz="3800" dirty="0"/>
            </a:br>
            <a:r>
              <a:rPr lang="en-US" sz="3800" dirty="0"/>
              <a:t>Unit 8: Network Organization and Architecture</a:t>
            </a:r>
          </a:p>
        </p:txBody>
      </p:sp>
      <p:sp>
        <p:nvSpPr>
          <p:cNvPr id="5" name="副标题 4"/>
          <p:cNvSpPr>
            <a:spLocks noGrp="1"/>
          </p:cNvSpPr>
          <p:nvPr>
            <p:ph type="subTitle" idx="1"/>
          </p:nvPr>
        </p:nvSpPr>
        <p:spPr/>
        <p:txBody>
          <a:bodyPr/>
          <a:lstStyle/>
          <a:p>
            <a:endParaRPr lang="zh-CN" altLang="en-US"/>
          </a:p>
        </p:txBody>
      </p:sp>
      <p:sp>
        <p:nvSpPr>
          <p:cNvPr id="6" name="Google Shape;90;p1">
            <a:extLst>
              <a:ext uri="{FF2B5EF4-FFF2-40B4-BE49-F238E27FC236}">
                <a16:creationId xmlns:a16="http://schemas.microsoft.com/office/drawing/2014/main" id="{883A5DE1-0824-6D12-D38B-9B67966E7321}"/>
              </a:ext>
            </a:extLst>
          </p:cNvPr>
          <p:cNvSpPr txBox="1">
            <a:spLocks/>
          </p:cNvSpPr>
          <p:nvPr/>
        </p:nvSpPr>
        <p:spPr>
          <a:xfrm>
            <a:off x="1289303" y="5142305"/>
            <a:ext cx="7321200" cy="1096800"/>
          </a:xfrm>
          <a:prstGeom prst="rect">
            <a:avLst/>
          </a:prstGeom>
          <a:noFill/>
          <a:ln>
            <a:noFill/>
          </a:ln>
        </p:spPr>
        <p:txBody>
          <a:bodyPr spcFirstLastPara="1" vert="horz" wrap="square" lIns="91425" tIns="45700" rIns="91425" bIns="45700" rtlCol="0" anchor="t" anchorCtr="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buClr>
                <a:schemeClr val="dk1"/>
              </a:buClr>
              <a:buSzPts val="1900"/>
            </a:pPr>
            <a:r>
              <a:rPr lang="en-US" sz="1800" dirty="0"/>
              <a:t>Spring 2025</a:t>
            </a:r>
          </a:p>
          <a:p>
            <a:pPr algn="l">
              <a:buClr>
                <a:schemeClr val="dk1"/>
              </a:buClr>
              <a:buSzPts val="1900"/>
            </a:pPr>
            <a:r>
              <a:rPr lang="en-US" sz="1800" dirty="0"/>
              <a:t>Instructor: Abid Malik</a:t>
            </a:r>
          </a:p>
          <a:p>
            <a:pPr algn="l">
              <a:buClr>
                <a:schemeClr val="dk1"/>
              </a:buClr>
              <a:buSzPts val="1900"/>
            </a:pPr>
            <a:r>
              <a:rPr lang="en-US" sz="1800" dirty="0"/>
              <a:t>co-Instructor: Xinrui Yu</a:t>
            </a:r>
          </a:p>
        </p:txBody>
      </p:sp>
    </p:spTree>
    <p:extLst>
      <p:ext uri="{BB962C8B-B14F-4D97-AF65-F5344CB8AC3E}">
        <p14:creationId xmlns:p14="http://schemas.microsoft.com/office/powerpoint/2010/main" val="3252378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network is a crucial component of today’s computing systems.</a:t>
            </a:r>
          </a:p>
          <a:p>
            <a:r>
              <a:rPr lang="en-US" dirty="0"/>
              <a:t>Resource sharing across networks has taken the form of multitier architectures having numerous disparate servers, sometimes far removed from the users of the system.</a:t>
            </a:r>
          </a:p>
          <a:p>
            <a:r>
              <a:rPr lang="en-US" dirty="0"/>
              <a:t>If you think of a computing system as collection of workstations and servers, then surely the network is the system bus of this configuration.</a:t>
            </a:r>
          </a:p>
          <a:p>
            <a:endParaRPr lang="en-US" dirty="0"/>
          </a:p>
        </p:txBody>
      </p:sp>
    </p:spTree>
    <p:extLst>
      <p:ext uri="{BB962C8B-B14F-4D97-AF65-F5344CB8AC3E}">
        <p14:creationId xmlns:p14="http://schemas.microsoft.com/office/powerpoint/2010/main" val="782218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Early Business Computer Networks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6477000" cy="5257800"/>
          </a:xfrm>
        </p:spPr>
        <p:txBody>
          <a:bodyPr>
            <a:normAutofit lnSpcReduction="10000"/>
          </a:bodyPr>
          <a:lstStyle/>
          <a:p>
            <a:r>
              <a:rPr lang="en-US" dirty="0"/>
              <a:t>The first computer networks consisted of a mainframe host that was connected to one or more front-end processors.</a:t>
            </a:r>
          </a:p>
          <a:p>
            <a:r>
              <a:rPr lang="en-US" dirty="0"/>
              <a:t>Front-end processors received input over dedicated lines from remote communications controllers connected to several dumb terminals.</a:t>
            </a:r>
          </a:p>
          <a:p>
            <a:r>
              <a:rPr lang="en-US" dirty="0"/>
              <a:t>The protocols employed by this configuration were proprietary to each vendor’s system.</a:t>
            </a:r>
          </a:p>
          <a:p>
            <a:r>
              <a:rPr lang="en-US" dirty="0"/>
              <a:t>One of these, IBM’s </a:t>
            </a:r>
            <a:r>
              <a:rPr lang="en-US" b="1" dirty="0"/>
              <a:t>Systems Network Architecture</a:t>
            </a:r>
            <a:r>
              <a:rPr lang="en-US" dirty="0"/>
              <a:t>, became the model for an international communications standard, the </a:t>
            </a:r>
            <a:r>
              <a:rPr lang="en-US" b="1" dirty="0"/>
              <a:t>ISO/OSI Reference Model</a:t>
            </a:r>
            <a:r>
              <a:rPr lang="en-US" dirty="0"/>
              <a:t>.</a:t>
            </a:r>
          </a:p>
          <a:p>
            <a:endParaRPr lang="en-US" dirty="0"/>
          </a:p>
        </p:txBody>
      </p:sp>
      <p:pic>
        <p:nvPicPr>
          <p:cNvPr id="4" name="Picture 5" descr="9781284033144_CH12_FIG01.jpg">
            <a:extLst>
              <a:ext uri="{FF2B5EF4-FFF2-40B4-BE49-F238E27FC236}">
                <a16:creationId xmlns:a16="http://schemas.microsoft.com/office/drawing/2014/main" id="{1A4DB0DC-EAC7-4C27-98CA-A87327C57F4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00900" y="1143000"/>
            <a:ext cx="43815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8376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Early Academic and Scientific Networks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838200" y="1253331"/>
            <a:ext cx="10515600" cy="4351338"/>
          </a:xfrm>
        </p:spPr>
        <p:txBody>
          <a:bodyPr>
            <a:normAutofit fontScale="92500" lnSpcReduction="20000"/>
          </a:bodyPr>
          <a:lstStyle/>
          <a:p>
            <a:r>
              <a:rPr lang="en-US" dirty="0"/>
              <a:t>In the 1960s, the Advanced Research Projects Agency funded research under the auspices of the U.S. Department of Defense.</a:t>
            </a:r>
          </a:p>
          <a:p>
            <a:r>
              <a:rPr lang="en-US" dirty="0"/>
              <a:t>Computers at that time were few and costly. In 1968, the Defense Department funded an interconnecting network to make the most of these precious resources. </a:t>
            </a:r>
          </a:p>
          <a:p>
            <a:r>
              <a:rPr lang="en-US" dirty="0"/>
              <a:t>The network, </a:t>
            </a:r>
            <a:r>
              <a:rPr lang="en-US" b="1" dirty="0" err="1"/>
              <a:t>ARPANet</a:t>
            </a:r>
            <a:r>
              <a:rPr lang="en-US" dirty="0"/>
              <a:t>, had sufficient redundancy to withstand the loss of a good portion of the network.</a:t>
            </a:r>
          </a:p>
          <a:p>
            <a:r>
              <a:rPr lang="en-US" dirty="0" err="1"/>
              <a:t>ARPANet</a:t>
            </a:r>
            <a:r>
              <a:rPr lang="en-US" dirty="0"/>
              <a:t>, later turned over to the public domain, eventually evolved to become today’s Internet.</a:t>
            </a:r>
          </a:p>
          <a:p>
            <a:r>
              <a:rPr lang="en-US" dirty="0"/>
              <a:t>In 1985, the National Science Foundation launched </a:t>
            </a:r>
            <a:r>
              <a:rPr lang="en-US" dirty="0" err="1"/>
              <a:t>NSFnet</a:t>
            </a:r>
            <a:r>
              <a:rPr lang="en-US" dirty="0"/>
              <a:t> to support scientific and academic research</a:t>
            </a:r>
          </a:p>
          <a:p>
            <a:r>
              <a:rPr lang="en-US" dirty="0"/>
              <a:t>It absorbed </a:t>
            </a:r>
            <a:r>
              <a:rPr lang="en-US" dirty="0" err="1"/>
              <a:t>ARPANet</a:t>
            </a:r>
            <a:r>
              <a:rPr lang="en-US" dirty="0"/>
              <a:t>, thereby creating the Internet, which is an </a:t>
            </a:r>
            <a:r>
              <a:rPr lang="en-US" b="1" dirty="0"/>
              <a:t>internetwork</a:t>
            </a:r>
            <a:r>
              <a:rPr lang="en-US" dirty="0"/>
              <a:t> (a network of networks)</a:t>
            </a:r>
          </a:p>
          <a:p>
            <a:endParaRPr lang="en-US" dirty="0"/>
          </a:p>
        </p:txBody>
      </p:sp>
    </p:spTree>
    <p:extLst>
      <p:ext uri="{BB962C8B-B14F-4D97-AF65-F5344CB8AC3E}">
        <p14:creationId xmlns:p14="http://schemas.microsoft.com/office/powerpoint/2010/main" val="2868594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Early Academic and Scientific Networks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5181600" cy="5257800"/>
          </a:xfrm>
        </p:spPr>
        <p:txBody>
          <a:bodyPr>
            <a:normAutofit fontScale="92500"/>
          </a:bodyPr>
          <a:lstStyle/>
          <a:p>
            <a:r>
              <a:rPr lang="en-US" dirty="0"/>
              <a:t>The figure on the right shows an example of an internetwork</a:t>
            </a:r>
          </a:p>
          <a:p>
            <a:r>
              <a:rPr lang="en-US" dirty="0"/>
              <a:t>The </a:t>
            </a:r>
            <a:r>
              <a:rPr lang="en-US" dirty="0" err="1"/>
              <a:t>ARPANet’s</a:t>
            </a:r>
            <a:r>
              <a:rPr lang="en-US" dirty="0"/>
              <a:t> communication methods were designed to withstand a nuclear attack by sending data in independently-routed datagram message packets, not streams (more on this later)</a:t>
            </a:r>
          </a:p>
          <a:p>
            <a:r>
              <a:rPr lang="en-US" dirty="0"/>
              <a:t>In the 1990s, telecom companies bought the high-speed backbone lines of the Internet and made (and make) money selling capacity to Internet Service Providers</a:t>
            </a:r>
          </a:p>
          <a:p>
            <a:endParaRPr lang="en-US" dirty="0"/>
          </a:p>
        </p:txBody>
      </p:sp>
      <p:pic>
        <p:nvPicPr>
          <p:cNvPr id="4" name="Picture 5" descr="9781284033144_CH12_FIG02.jpg">
            <a:extLst>
              <a:ext uri="{FF2B5EF4-FFF2-40B4-BE49-F238E27FC236}">
                <a16:creationId xmlns:a16="http://schemas.microsoft.com/office/drawing/2014/main" id="{67949EFB-8B1A-4EB1-B818-3252C02AED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18310" y="1966586"/>
            <a:ext cx="4611690" cy="4363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3165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Reference Model</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To address the growing tangle of incompatible </a:t>
            </a:r>
            <a:r>
              <a:rPr lang="en-US" b="1" dirty="0"/>
              <a:t>proprietary</a:t>
            </a:r>
            <a:r>
              <a:rPr lang="en-US" dirty="0"/>
              <a:t> network protocols, in 1984 the ISO formed a committee to devise a unified, </a:t>
            </a:r>
            <a:r>
              <a:rPr lang="en-US" b="1" dirty="0"/>
              <a:t>open</a:t>
            </a:r>
            <a:r>
              <a:rPr lang="en-US" dirty="0"/>
              <a:t> (non-proprietary) protocol standard.</a:t>
            </a:r>
          </a:p>
          <a:p>
            <a:r>
              <a:rPr lang="en-US" dirty="0"/>
              <a:t>The result of this effort is the ISO </a:t>
            </a:r>
            <a:r>
              <a:rPr lang="en-US" b="1" dirty="0"/>
              <a:t>Open</a:t>
            </a:r>
            <a:r>
              <a:rPr lang="en-US" dirty="0"/>
              <a:t> </a:t>
            </a:r>
            <a:r>
              <a:rPr lang="en-US" b="1" dirty="0"/>
              <a:t>Systems Interconnect Reference Model (ISO/OSI RM)</a:t>
            </a:r>
            <a:r>
              <a:rPr lang="en-US" dirty="0"/>
              <a:t>.</a:t>
            </a:r>
          </a:p>
          <a:p>
            <a:r>
              <a:rPr lang="en-US" dirty="0"/>
              <a:t>The ISO’s work is called a reference model because virtually no commercial system uses all of the features precisely as specified in the model. </a:t>
            </a:r>
          </a:p>
          <a:p>
            <a:r>
              <a:rPr lang="en-US" dirty="0"/>
              <a:t>The ISO/OSI model does, however, lend itself to understanding the concept of a unified communications architecture.</a:t>
            </a:r>
          </a:p>
        </p:txBody>
      </p:sp>
    </p:spTree>
    <p:extLst>
      <p:ext uri="{BB962C8B-B14F-4D97-AF65-F5344CB8AC3E}">
        <p14:creationId xmlns:p14="http://schemas.microsoft.com/office/powerpoint/2010/main" val="3548262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Reference Model</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The OSI </a:t>
            </a:r>
            <a:r>
              <a:rPr lang="en-US" b="1" dirty="0"/>
              <a:t>protocol stack</a:t>
            </a:r>
            <a:r>
              <a:rPr lang="en-US" dirty="0"/>
              <a:t> defines seven layers of responsibility of the network communication scheme</a:t>
            </a:r>
          </a:p>
          <a:p>
            <a:pPr lvl="1"/>
            <a:r>
              <a:rPr lang="en-US" dirty="0"/>
              <a:t>From top-to-bottom, the layers are named as follows:</a:t>
            </a:r>
          </a:p>
          <a:p>
            <a:pPr lvl="2"/>
            <a:r>
              <a:rPr lang="en-US" dirty="0"/>
              <a:t>Application, Presentation, Session, Transport, Network, Data Link, Physical</a:t>
            </a:r>
          </a:p>
          <a:p>
            <a:r>
              <a:rPr lang="en-US" dirty="0"/>
              <a:t>Each layer is allowed to communicate only with the layer immediately above and/or below it</a:t>
            </a:r>
          </a:p>
          <a:p>
            <a:r>
              <a:rPr lang="en-US" dirty="0"/>
              <a:t>This separation of the protocols into layers helps to clearly define and modularize the specific functions and responsibilities that are required in network communication</a:t>
            </a:r>
          </a:p>
          <a:p>
            <a:r>
              <a:rPr lang="en-US" dirty="0"/>
              <a:t>The OSI model defines only the functions of each of the seven layers and the interfaces between them. </a:t>
            </a:r>
          </a:p>
          <a:p>
            <a:r>
              <a:rPr lang="en-US" dirty="0"/>
              <a:t>Implementation details are not part of the model. </a:t>
            </a:r>
          </a:p>
        </p:txBody>
      </p:sp>
    </p:spTree>
    <p:extLst>
      <p:ext uri="{BB962C8B-B14F-4D97-AF65-F5344CB8AC3E}">
        <p14:creationId xmlns:p14="http://schemas.microsoft.com/office/powerpoint/2010/main" val="1142460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Reference Model (top 4 layers)</a:t>
            </a:r>
          </a:p>
        </p:txBody>
      </p:sp>
      <p:pic>
        <p:nvPicPr>
          <p:cNvPr id="4" name="Picture 5" descr="9781284033144_CH12_FIG03.jpg">
            <a:extLst>
              <a:ext uri="{FF2B5EF4-FFF2-40B4-BE49-F238E27FC236}">
                <a16:creationId xmlns:a16="http://schemas.microsoft.com/office/drawing/2014/main" id="{2B418553-F20C-40FB-B984-C7E8CAD58D6C}"/>
              </a:ext>
            </a:extLst>
          </p:cNvPr>
          <p:cNvPicPr>
            <a:picLocks noChangeAspect="1"/>
          </p:cNvPicPr>
          <p:nvPr/>
        </p:nvPicPr>
        <p:blipFill rotWithShape="1">
          <a:blip r:embed="rId2">
            <a:extLst>
              <a:ext uri="{28A0092B-C50C-407E-A947-70E740481C1C}">
                <a14:useLocalDpi xmlns:a14="http://schemas.microsoft.com/office/drawing/2010/main" val="0"/>
              </a:ext>
            </a:extLst>
          </a:blip>
          <a:srcRect b="45512"/>
          <a:stretch/>
        </p:blipFill>
        <p:spPr bwMode="auto">
          <a:xfrm>
            <a:off x="3801718" y="1565753"/>
            <a:ext cx="4961281" cy="493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2046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Reference Model (bottom 3 layers)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endParaRPr lang="en-US" dirty="0"/>
          </a:p>
        </p:txBody>
      </p:sp>
      <p:pic>
        <p:nvPicPr>
          <p:cNvPr id="4" name="Picture 3" descr="9781284033144_CH12_FIG03.jpg">
            <a:extLst>
              <a:ext uri="{FF2B5EF4-FFF2-40B4-BE49-F238E27FC236}">
                <a16:creationId xmlns:a16="http://schemas.microsoft.com/office/drawing/2014/main" id="{C78C594A-90EA-43D3-BB7C-0E7AEA8CC5A1}"/>
              </a:ext>
            </a:extLst>
          </p:cNvPr>
          <p:cNvPicPr>
            <a:picLocks noChangeAspect="1"/>
          </p:cNvPicPr>
          <p:nvPr/>
        </p:nvPicPr>
        <p:blipFill rotWithShape="1">
          <a:blip r:embed="rId2">
            <a:extLst>
              <a:ext uri="{28A0092B-C50C-407E-A947-70E740481C1C}">
                <a14:useLocalDpi xmlns:a14="http://schemas.microsoft.com/office/drawing/2010/main" val="0"/>
              </a:ext>
            </a:extLst>
          </a:blip>
          <a:srcRect t="52876" b="1"/>
          <a:stretch/>
        </p:blipFill>
        <p:spPr bwMode="auto">
          <a:xfrm>
            <a:off x="2971800" y="1248455"/>
            <a:ext cx="5867400" cy="504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9208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Reference Model</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basic unit of data in the OSI model is the </a:t>
            </a:r>
            <a:r>
              <a:rPr lang="en-US" b="1" dirty="0"/>
              <a:t>protocol data unit (PDU)</a:t>
            </a:r>
          </a:p>
          <a:p>
            <a:r>
              <a:rPr lang="en-US" dirty="0"/>
              <a:t>Each layer communicates to the next through a clearly defined </a:t>
            </a:r>
            <a:r>
              <a:rPr lang="en-US" b="1" dirty="0"/>
              <a:t>service access point (SAP)</a:t>
            </a:r>
          </a:p>
          <a:p>
            <a:r>
              <a:rPr lang="en-US" dirty="0"/>
              <a:t>Each layer adds its own data to the PDU before passing it up to the next higher layer</a:t>
            </a:r>
          </a:p>
          <a:p>
            <a:r>
              <a:rPr lang="en-US" dirty="0"/>
              <a:t>Likewise, as a PDU travels down the protocol stack, each layer strips off its layer-dependent data and passes the now-smaller PDU down to the next layer</a:t>
            </a:r>
          </a:p>
          <a:p>
            <a:endParaRPr lang="en-US" dirty="0"/>
          </a:p>
        </p:txBody>
      </p:sp>
    </p:spTree>
    <p:extLst>
      <p:ext uri="{BB962C8B-B14F-4D97-AF65-F5344CB8AC3E}">
        <p14:creationId xmlns:p14="http://schemas.microsoft.com/office/powerpoint/2010/main" val="4009958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Physical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86800" cy="5257800"/>
          </a:xfrm>
        </p:spPr>
        <p:txBody>
          <a:bodyPr/>
          <a:lstStyle/>
          <a:p>
            <a:r>
              <a:rPr lang="en-US" dirty="0"/>
              <a:t>The Physical layer receives a stream of bits from the Data Link layer above it, encodes them, and places them on the communications medium.</a:t>
            </a:r>
          </a:p>
          <a:p>
            <a:r>
              <a:rPr lang="en-US" dirty="0"/>
              <a:t>The Physical layer conveys </a:t>
            </a:r>
            <a:r>
              <a:rPr lang="en-US" b="1" dirty="0"/>
              <a:t>transmission frames</a:t>
            </a:r>
            <a:r>
              <a:rPr lang="en-US" dirty="0"/>
              <a:t>, called </a:t>
            </a:r>
            <a:r>
              <a:rPr lang="en-US" b="1" dirty="0"/>
              <a:t>Physical Protocol Data Units</a:t>
            </a:r>
            <a:r>
              <a:rPr lang="en-US" dirty="0"/>
              <a:t>, or </a:t>
            </a:r>
            <a:r>
              <a:rPr lang="en-US" b="1" dirty="0"/>
              <a:t>Physical PDUs</a:t>
            </a:r>
            <a:r>
              <a:rPr lang="en-US" dirty="0"/>
              <a:t>.  </a:t>
            </a:r>
          </a:p>
          <a:p>
            <a:r>
              <a:rPr lang="en-US" dirty="0"/>
              <a:t>Each physical PDU carries an address and has delimiter signal patterns that surround the </a:t>
            </a:r>
            <a:r>
              <a:rPr lang="en-US" b="1" dirty="0"/>
              <a:t>payload</a:t>
            </a:r>
            <a:r>
              <a:rPr lang="en-US" dirty="0"/>
              <a:t>, or contents, of the PDU.</a:t>
            </a:r>
          </a:p>
          <a:p>
            <a:r>
              <a:rPr lang="en-US" dirty="0"/>
              <a:t>Examples of physical transmission media could include wireless, copper, satellite and optical fiber</a:t>
            </a:r>
          </a:p>
          <a:p>
            <a:r>
              <a:rPr lang="en-US" dirty="0"/>
              <a:t>This layer is concerned primarily with the transmission of raw bits over the communication medium</a:t>
            </a:r>
          </a:p>
          <a:p>
            <a:endParaRPr lang="en-US" dirty="0"/>
          </a:p>
        </p:txBody>
      </p:sp>
      <p:pic>
        <p:nvPicPr>
          <p:cNvPr id="4" name="Picture 4" descr="C:\wpdocs\Julie\Org&amp;Arch\Ch11\PPT\Osi_p.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9641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Data Link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59812" cy="5257800"/>
          </a:xfrm>
        </p:spPr>
        <p:txBody>
          <a:bodyPr/>
          <a:lstStyle/>
          <a:p>
            <a:r>
              <a:rPr lang="en-US" dirty="0"/>
              <a:t>The Data Link layer negotiates </a:t>
            </a:r>
            <a:r>
              <a:rPr lang="en-US" b="1" dirty="0"/>
              <a:t>frame</a:t>
            </a:r>
            <a:r>
              <a:rPr lang="en-US" dirty="0"/>
              <a:t> sizes and the speed at which they are sent with the Data Link layer at the other end.  </a:t>
            </a:r>
          </a:p>
          <a:p>
            <a:r>
              <a:rPr lang="en-US" dirty="0"/>
              <a:t>The timing of frame transmission is called </a:t>
            </a:r>
            <a:r>
              <a:rPr lang="en-US" b="1" dirty="0"/>
              <a:t>flow control</a:t>
            </a:r>
            <a:r>
              <a:rPr lang="en-US" dirty="0"/>
              <a:t>.</a:t>
            </a:r>
          </a:p>
          <a:p>
            <a:r>
              <a:rPr lang="en-US" dirty="0"/>
              <a:t>Data Link layers at both ends acknowledge packets as they are exchanged. The sender retransmits the packet if no acknowledgement is received within a given time interval.</a:t>
            </a:r>
          </a:p>
          <a:p>
            <a:endParaRPr lang="en-US" dirty="0"/>
          </a:p>
          <a:p>
            <a:endParaRPr lang="en-US" dirty="0"/>
          </a:p>
        </p:txBody>
      </p:sp>
      <p:pic>
        <p:nvPicPr>
          <p:cNvPr id="4" name="Picture 1029" descr="C:\wpdocs\Julie\Org&amp;Arch\Ch11\PPT\Osi_d.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1045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Network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10600" cy="5257800"/>
          </a:xfrm>
        </p:spPr>
        <p:txBody>
          <a:bodyPr/>
          <a:lstStyle/>
          <a:p>
            <a:r>
              <a:rPr lang="en-US" dirty="0"/>
              <a:t>At the originating computers, the Network layer adds addressing information to the Transport layer PDUs.  </a:t>
            </a:r>
          </a:p>
          <a:p>
            <a:r>
              <a:rPr lang="en-US" dirty="0"/>
              <a:t>The Network layer establishes the </a:t>
            </a:r>
            <a:r>
              <a:rPr lang="en-US" b="1" dirty="0"/>
              <a:t>route</a:t>
            </a:r>
            <a:r>
              <a:rPr lang="en-US" dirty="0"/>
              <a:t> and ensures that the PDU size is compatible with all of the equipment between the source and the destination.</a:t>
            </a:r>
          </a:p>
          <a:p>
            <a:r>
              <a:rPr lang="en-US" dirty="0"/>
              <a:t>Its most important job is in moving (</a:t>
            </a:r>
            <a:r>
              <a:rPr lang="en-US" b="1" dirty="0"/>
              <a:t>routing</a:t>
            </a:r>
            <a:r>
              <a:rPr lang="en-US" dirty="0"/>
              <a:t>) PDUs across </a:t>
            </a:r>
            <a:r>
              <a:rPr lang="en-US" b="1" dirty="0"/>
              <a:t>intermediate nodes</a:t>
            </a:r>
            <a:r>
              <a:rPr lang="en-US" dirty="0"/>
              <a:t>.</a:t>
            </a:r>
          </a:p>
          <a:p>
            <a:endParaRPr lang="en-US" dirty="0"/>
          </a:p>
        </p:txBody>
      </p:sp>
      <p:pic>
        <p:nvPicPr>
          <p:cNvPr id="4" name="Picture 5" descr="C:\wpdocs\Julie\Org&amp;Arch\Ch11\PPT\Osi_n.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6752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Transport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10600" cy="5257800"/>
          </a:xfrm>
        </p:spPr>
        <p:txBody>
          <a:bodyPr/>
          <a:lstStyle/>
          <a:p>
            <a:r>
              <a:rPr lang="en-US" dirty="0"/>
              <a:t>The OSI Transport layer provides end-to-end acknowledgement and error correction through its handshaking with the Transport layer at the other end of the conversation.  </a:t>
            </a:r>
          </a:p>
          <a:p>
            <a:r>
              <a:rPr lang="en-US" dirty="0"/>
              <a:t>The Transport layer is the lowest layer of the OSI model at which there is any awareness of the network or its protocols.  </a:t>
            </a:r>
          </a:p>
          <a:p>
            <a:r>
              <a:rPr lang="en-US" dirty="0"/>
              <a:t>The Transport layer assures the Session layer that there are no network-induced errors in the PDU.</a:t>
            </a:r>
          </a:p>
          <a:p>
            <a:r>
              <a:rPr lang="en-US" dirty="0"/>
              <a:t>The Transport layer must break the messages into smaller units (frames), prepending a </a:t>
            </a:r>
            <a:r>
              <a:rPr lang="en-US" b="1" dirty="0"/>
              <a:t>header</a:t>
            </a:r>
            <a:r>
              <a:rPr lang="en-US" dirty="0"/>
              <a:t> to each frame to form the Transport layer PDU</a:t>
            </a:r>
          </a:p>
          <a:p>
            <a:endParaRPr lang="en-US" dirty="0"/>
          </a:p>
        </p:txBody>
      </p:sp>
      <p:pic>
        <p:nvPicPr>
          <p:cNvPr id="4" name="Picture 5" descr="C:\wpdocs\Julie\Org&amp;Arch\Ch11\PPT\Osi_t.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0161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Transport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10600" cy="5257800"/>
          </a:xfrm>
        </p:spPr>
        <p:txBody>
          <a:bodyPr/>
          <a:lstStyle/>
          <a:p>
            <a:r>
              <a:rPr lang="en-US" dirty="0"/>
              <a:t>The Session layer above the Transport layer can thereby (1) send/receive large messages of whatever size it wants and (2) do so without worry about data loss</a:t>
            </a:r>
          </a:p>
          <a:p>
            <a:pPr lvl="1"/>
            <a:r>
              <a:rPr lang="en-US" dirty="0"/>
              <a:t>The Transport layer handles both issues</a:t>
            </a:r>
          </a:p>
          <a:p>
            <a:endParaRPr lang="en-US" dirty="0"/>
          </a:p>
        </p:txBody>
      </p:sp>
      <p:pic>
        <p:nvPicPr>
          <p:cNvPr id="4" name="Picture 5" descr="C:\wpdocs\Julie\Org&amp;Arch\Ch11\PPT\Osi_t.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6750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Session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10600" cy="5257800"/>
          </a:xfrm>
        </p:spPr>
        <p:txBody>
          <a:bodyPr>
            <a:normAutofit fontScale="92500"/>
          </a:bodyPr>
          <a:lstStyle/>
          <a:p>
            <a:r>
              <a:rPr lang="en-US" dirty="0"/>
              <a:t>The Session layer arbitrates the dialogue between two communicating nodes, opening and closing that dialogue as necessary.  </a:t>
            </a:r>
          </a:p>
          <a:p>
            <a:r>
              <a:rPr lang="en-US" dirty="0"/>
              <a:t>It controls the direction and mode (</a:t>
            </a:r>
            <a:r>
              <a:rPr lang="en-US" b="1" dirty="0"/>
              <a:t>half-duplex</a:t>
            </a:r>
            <a:r>
              <a:rPr lang="en-US" dirty="0"/>
              <a:t> or </a:t>
            </a:r>
            <a:r>
              <a:rPr lang="en-US" b="1" dirty="0"/>
              <a:t>full-duplex</a:t>
            </a:r>
            <a:r>
              <a:rPr lang="en-US" dirty="0"/>
              <a:t>). </a:t>
            </a:r>
          </a:p>
          <a:p>
            <a:r>
              <a:rPr lang="en-US" dirty="0"/>
              <a:t>Half-duplex: communication travels only in one direction</a:t>
            </a:r>
          </a:p>
          <a:p>
            <a:r>
              <a:rPr lang="en-US" dirty="0"/>
              <a:t>Full-duplex: communication travels in both directions</a:t>
            </a:r>
          </a:p>
          <a:p>
            <a:r>
              <a:rPr lang="en-US" dirty="0"/>
              <a:t>It also supplies recovery </a:t>
            </a:r>
            <a:r>
              <a:rPr lang="en-US" b="1" dirty="0"/>
              <a:t>checkpoints</a:t>
            </a:r>
            <a:r>
              <a:rPr lang="en-US" dirty="0"/>
              <a:t> during file transfers.  </a:t>
            </a:r>
          </a:p>
          <a:p>
            <a:r>
              <a:rPr lang="en-US" dirty="0"/>
              <a:t>Checkpoints are issued each time a block of data is acknowledged as being received in good condition. </a:t>
            </a:r>
          </a:p>
          <a:p>
            <a:r>
              <a:rPr lang="en-US" dirty="0"/>
              <a:t>In this way, if the connection is completely lost, it can be resumed</a:t>
            </a:r>
          </a:p>
          <a:p>
            <a:endParaRPr lang="en-US" dirty="0"/>
          </a:p>
        </p:txBody>
      </p:sp>
      <p:pic>
        <p:nvPicPr>
          <p:cNvPr id="6" name="Picture 5" descr="C:\wpdocs\Julie\Org&amp;Arch\Ch11\PPT\Osi_s.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1804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Presentation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10600" cy="5257800"/>
          </a:xfrm>
        </p:spPr>
        <p:txBody>
          <a:bodyPr/>
          <a:lstStyle/>
          <a:p>
            <a:r>
              <a:rPr lang="en-US" dirty="0"/>
              <a:t>The Presentation layer provides high-level data interpretation services for the Application layer above it, such as EBCDIC-to-ASCII translation. </a:t>
            </a:r>
          </a:p>
          <a:p>
            <a:r>
              <a:rPr lang="en-US" dirty="0"/>
              <a:t>Presentation layer services are also called into play if we use encryption or certain types of data compression. </a:t>
            </a:r>
          </a:p>
          <a:p>
            <a:endParaRPr lang="en-US" dirty="0"/>
          </a:p>
        </p:txBody>
      </p:sp>
      <p:pic>
        <p:nvPicPr>
          <p:cNvPr id="5" name="Picture 7" descr="C:\wpdocs\Julie\Org&amp;Arch\Ch11\PPT\Osi_pr.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8557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Application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10600" cy="5257800"/>
          </a:xfrm>
        </p:spPr>
        <p:txBody>
          <a:bodyPr/>
          <a:lstStyle/>
          <a:p>
            <a:r>
              <a:rPr lang="en-US" dirty="0"/>
              <a:t>The Application layer supplies meaningful information and services to users at one end of the communication and interfaces with system resources (programs and data files) at the other end of the communication. </a:t>
            </a:r>
          </a:p>
          <a:p>
            <a:r>
              <a:rPr lang="en-US" dirty="0"/>
              <a:t>All that applications need to do is to send messages to the Presentation layer, and the lower layers take care of the hard part. </a:t>
            </a:r>
          </a:p>
          <a:p>
            <a:endParaRPr lang="en-US" dirty="0"/>
          </a:p>
        </p:txBody>
      </p:sp>
      <p:pic>
        <p:nvPicPr>
          <p:cNvPr id="4" name="Picture 1029" descr="C:\wpdocs\Julie\Org&amp;Arch\Ch11\PPT\Osi_a.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5002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Reference Model</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“All people seem to need data processing.”</a:t>
            </a:r>
          </a:p>
          <a:p>
            <a:pPr lvl="1"/>
            <a:r>
              <a:rPr lang="en-US" dirty="0"/>
              <a:t>Application</a:t>
            </a:r>
          </a:p>
          <a:p>
            <a:pPr lvl="1"/>
            <a:r>
              <a:rPr lang="en-US" dirty="0"/>
              <a:t>Presentation</a:t>
            </a:r>
          </a:p>
          <a:p>
            <a:pPr lvl="1"/>
            <a:r>
              <a:rPr lang="en-US" dirty="0"/>
              <a:t>Session</a:t>
            </a:r>
          </a:p>
          <a:p>
            <a:pPr lvl="1"/>
            <a:r>
              <a:rPr lang="en-US" dirty="0"/>
              <a:t>Transport</a:t>
            </a:r>
          </a:p>
          <a:p>
            <a:pPr lvl="1"/>
            <a:r>
              <a:rPr lang="en-US" dirty="0"/>
              <a:t>Network</a:t>
            </a:r>
          </a:p>
          <a:p>
            <a:pPr lvl="1"/>
            <a:r>
              <a:rPr lang="en-US" dirty="0"/>
              <a:t>Data Link</a:t>
            </a:r>
          </a:p>
          <a:p>
            <a:pPr lvl="1"/>
            <a:r>
              <a:rPr lang="en-US" dirty="0"/>
              <a:t>Physical</a:t>
            </a:r>
          </a:p>
          <a:p>
            <a:endParaRPr lang="en-US" dirty="0"/>
          </a:p>
        </p:txBody>
      </p:sp>
    </p:spTree>
    <p:extLst>
      <p:ext uri="{BB962C8B-B14F-4D97-AF65-F5344CB8AC3E}">
        <p14:creationId xmlns:p14="http://schemas.microsoft.com/office/powerpoint/2010/main" val="2461626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TCP/IP Network Architecture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599" y="1143000"/>
            <a:ext cx="5738211" cy="5257800"/>
          </a:xfrm>
        </p:spPr>
        <p:txBody>
          <a:bodyPr/>
          <a:lstStyle/>
          <a:p>
            <a:r>
              <a:rPr lang="en-US" dirty="0"/>
              <a:t> TCP/IP is the de facto global data communications standard.</a:t>
            </a:r>
          </a:p>
          <a:p>
            <a:r>
              <a:rPr lang="en-US" dirty="0"/>
              <a:t>It has a lean 3-layer protocol stack that can be mapped to five of the seven in the OSI model.  </a:t>
            </a:r>
          </a:p>
          <a:p>
            <a:r>
              <a:rPr lang="en-US" dirty="0"/>
              <a:t>TCP/IP can be used with any type of network, even different types of networks within a single session. </a:t>
            </a:r>
          </a:p>
        </p:txBody>
      </p:sp>
      <p:pic>
        <p:nvPicPr>
          <p:cNvPr id="4" name="Picture 5" descr="9781284033144_CH12_FIG04.jpg">
            <a:extLst>
              <a:ext uri="{FF2B5EF4-FFF2-40B4-BE49-F238E27FC236}">
                <a16:creationId xmlns:a16="http://schemas.microsoft.com/office/drawing/2014/main" id="{679167F4-AA29-48B2-9EAE-AC539599724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47811" y="1295399"/>
            <a:ext cx="5231143" cy="3754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1882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TCP/IP Network Architecture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229600" cy="5257800"/>
          </a:xfrm>
        </p:spPr>
        <p:txBody>
          <a:bodyPr/>
          <a:lstStyle/>
          <a:p>
            <a:r>
              <a:rPr lang="en-US" dirty="0"/>
              <a:t>The IP Layer of the TCP/IP protocol stack provides essentially the same services as the Network and Data Link layers of the OSI Reference Model. </a:t>
            </a:r>
          </a:p>
          <a:p>
            <a:r>
              <a:rPr lang="en-US" dirty="0"/>
              <a:t>It divides TCP packets into protocol data units called </a:t>
            </a:r>
            <a:r>
              <a:rPr lang="en-US" b="1" dirty="0"/>
              <a:t>datagrams</a:t>
            </a:r>
            <a:r>
              <a:rPr lang="en-US" dirty="0"/>
              <a:t>, and then attaches routing information. </a:t>
            </a:r>
          </a:p>
        </p:txBody>
      </p:sp>
      <p:pic>
        <p:nvPicPr>
          <p:cNvPr id="4" name="Picture 3" descr="9781284033144_CH12_FIG04.jpg">
            <a:extLst>
              <a:ext uri="{FF2B5EF4-FFF2-40B4-BE49-F238E27FC236}">
                <a16:creationId xmlns:a16="http://schemas.microsoft.com/office/drawing/2014/main" id="{46071C4E-D3F9-4477-BAFF-ACEAA9A2C1C2}"/>
              </a:ext>
            </a:extLst>
          </p:cNvPr>
          <p:cNvPicPr>
            <a:picLocks noChangeAspect="1"/>
          </p:cNvPicPr>
          <p:nvPr/>
        </p:nvPicPr>
        <p:blipFill rotWithShape="1">
          <a:blip r:embed="rId2">
            <a:extLst>
              <a:ext uri="{28A0092B-C50C-407E-A947-70E740481C1C}">
                <a14:useLocalDpi xmlns:a14="http://schemas.microsoft.com/office/drawing/2010/main" val="0"/>
              </a:ext>
            </a:extLst>
          </a:blip>
          <a:srcRect l="59670" b="28428"/>
          <a:stretch/>
        </p:blipFill>
        <p:spPr bwMode="auto">
          <a:xfrm>
            <a:off x="8895872" y="1143001"/>
            <a:ext cx="2686528" cy="3421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17606_02_0258A">
            <a:extLst>
              <a:ext uri="{FF2B5EF4-FFF2-40B4-BE49-F238E27FC236}">
                <a16:creationId xmlns:a16="http://schemas.microsoft.com/office/drawing/2014/main" id="{51980A08-EDEA-4CDC-8F30-069E5FDDF192}"/>
              </a:ext>
            </a:extLst>
          </p:cNvPr>
          <p:cNvPicPr>
            <a:picLocks noChangeAspect="1" noChangeArrowheads="1"/>
          </p:cNvPicPr>
          <p:nvPr/>
        </p:nvPicPr>
        <p:blipFill>
          <a:blip r:embed="rId3" cstate="print"/>
          <a:srcRect/>
          <a:stretch>
            <a:fillRect/>
          </a:stretch>
        </p:blipFill>
        <p:spPr bwMode="auto">
          <a:xfrm>
            <a:off x="524025" y="3276600"/>
            <a:ext cx="8205355" cy="2971800"/>
          </a:xfrm>
          <a:prstGeom prst="rect">
            <a:avLst/>
          </a:prstGeom>
          <a:noFill/>
        </p:spPr>
      </p:pic>
    </p:spTree>
    <p:extLst>
      <p:ext uri="{BB962C8B-B14F-4D97-AF65-F5344CB8AC3E}">
        <p14:creationId xmlns:p14="http://schemas.microsoft.com/office/powerpoint/2010/main" val="285910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TCP/IP Network Architecture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1056640" y="1544320"/>
            <a:ext cx="4274345" cy="4856480"/>
          </a:xfrm>
        </p:spPr>
        <p:txBody>
          <a:bodyPr/>
          <a:lstStyle/>
          <a:p>
            <a:r>
              <a:rPr lang="en-US" dirty="0"/>
              <a:t>The concept of the datagram was fundamental to the robustness of </a:t>
            </a:r>
            <a:r>
              <a:rPr lang="en-US" dirty="0" err="1"/>
              <a:t>ARPAnet</a:t>
            </a:r>
            <a:r>
              <a:rPr lang="en-US" dirty="0"/>
              <a:t>, and now, the Internet.</a:t>
            </a:r>
          </a:p>
          <a:p>
            <a:r>
              <a:rPr lang="en-US" dirty="0"/>
              <a:t>Datagrams can take any route available to them without human intervention.</a:t>
            </a:r>
          </a:p>
        </p:txBody>
      </p:sp>
      <p:pic>
        <p:nvPicPr>
          <p:cNvPr id="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30985" y="1219200"/>
            <a:ext cx="6257925" cy="419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3985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TCP/IP Network Architecture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85000" lnSpcReduction="20000"/>
          </a:bodyPr>
          <a:lstStyle/>
          <a:p>
            <a:r>
              <a:rPr lang="en-US" dirty="0"/>
              <a:t>The older version of IP, IPv4, was never designed to serve millions of network components scattered across the globe.  </a:t>
            </a:r>
          </a:p>
          <a:p>
            <a:r>
              <a:rPr lang="en-US" dirty="0"/>
              <a:t>It limitations include 32-bit addresses, a packet length limited to 65,635 bytes, and that all security measures are optional.</a:t>
            </a:r>
          </a:p>
          <a:p>
            <a:r>
              <a:rPr lang="en-US" dirty="0"/>
              <a:t>Furthermore, network addresses have been assigned with little planning, which has resulted in slow and cumbersome routing hardware and software.</a:t>
            </a:r>
          </a:p>
          <a:p>
            <a:r>
              <a:rPr lang="en-US" dirty="0"/>
              <a:t>We will see later how these problems have been addressed by IPv6.</a:t>
            </a:r>
          </a:p>
          <a:p>
            <a:r>
              <a:rPr lang="en-US" dirty="0"/>
              <a:t>A 32-bit IPv4 network address is given in dotted notation consisting of four integers in the range 0 through 255, separated by spaces.</a:t>
            </a:r>
          </a:p>
          <a:p>
            <a:r>
              <a:rPr lang="en-US" dirty="0"/>
              <a:t>Examples: 192.16.4.99 and 244.22.3.155</a:t>
            </a:r>
          </a:p>
          <a:p>
            <a:r>
              <a:rPr lang="en-US" dirty="0"/>
              <a:t>Each integer can be expressed using 8 bits, or 1 byte</a:t>
            </a:r>
          </a:p>
          <a:p>
            <a:r>
              <a:rPr lang="en-US" dirty="0"/>
              <a:t>Since we have four of these numbers, we have 4 x 8 = 32 bits of the IP address</a:t>
            </a:r>
          </a:p>
          <a:p>
            <a:endParaRPr lang="en-US" dirty="0"/>
          </a:p>
        </p:txBody>
      </p:sp>
    </p:spTree>
    <p:extLst>
      <p:ext uri="{BB962C8B-B14F-4D97-AF65-F5344CB8AC3E}">
        <p14:creationId xmlns:p14="http://schemas.microsoft.com/office/powerpoint/2010/main" val="3582339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IPv4 Address Space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4572000"/>
            <a:ext cx="10972800" cy="1828800"/>
          </a:xfrm>
        </p:spPr>
        <p:txBody>
          <a:bodyPr/>
          <a:lstStyle/>
          <a:p>
            <a:r>
              <a:rPr lang="en-US" dirty="0"/>
              <a:t>The IPv4 Address Space is divided into five different classes (only three shown here)</a:t>
            </a:r>
          </a:p>
          <a:p>
            <a:r>
              <a:rPr lang="en-US" dirty="0"/>
              <a:t>A network’s class determines the maximum number computers that could be on that network</a:t>
            </a:r>
          </a:p>
          <a:p>
            <a:endParaRPr lang="en-US" dirty="0"/>
          </a:p>
        </p:txBody>
      </p:sp>
      <p:pic>
        <p:nvPicPr>
          <p:cNvPr id="5" name="Picture 4" descr="9781284033144_CH12_FIG06.jpg">
            <a:extLst>
              <a:ext uri="{FF2B5EF4-FFF2-40B4-BE49-F238E27FC236}">
                <a16:creationId xmlns:a16="http://schemas.microsoft.com/office/drawing/2014/main" id="{B43C93DC-DC5A-4264-BC3E-AD5B71A616BF}"/>
              </a:ext>
            </a:extLst>
          </p:cNvPr>
          <p:cNvPicPr>
            <a:picLocks noChangeAspect="1"/>
          </p:cNvPicPr>
          <p:nvPr/>
        </p:nvPicPr>
        <p:blipFill rotWithShape="1">
          <a:blip r:embed="rId2">
            <a:extLst>
              <a:ext uri="{28A0092B-C50C-407E-A947-70E740481C1C}">
                <a14:useLocalDpi xmlns:a14="http://schemas.microsoft.com/office/drawing/2010/main" val="0"/>
              </a:ext>
            </a:extLst>
          </a:blip>
          <a:srcRect r="11481" b="35886"/>
          <a:stretch/>
        </p:blipFill>
        <p:spPr bwMode="auto">
          <a:xfrm>
            <a:off x="1268385" y="1405746"/>
            <a:ext cx="7446621" cy="2948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06424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IPv4 Address Space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4572000"/>
            <a:ext cx="10972800" cy="1828800"/>
          </a:xfrm>
        </p:spPr>
        <p:txBody>
          <a:bodyPr/>
          <a:lstStyle/>
          <a:p>
            <a:r>
              <a:rPr lang="en-US" dirty="0"/>
              <a:t>What is the maximum number of hosts that can be defined in a class A network?</a:t>
            </a:r>
          </a:p>
          <a:p>
            <a:r>
              <a:rPr lang="en-US" dirty="0"/>
              <a:t>Answer: 2</a:t>
            </a:r>
            <a:r>
              <a:rPr lang="en-US" baseline="30000" dirty="0"/>
              <a:t>24</a:t>
            </a:r>
          </a:p>
        </p:txBody>
      </p:sp>
      <p:pic>
        <p:nvPicPr>
          <p:cNvPr id="5" name="Picture 4" descr="9781284033144_CH12_FIG06.jpg">
            <a:extLst>
              <a:ext uri="{FF2B5EF4-FFF2-40B4-BE49-F238E27FC236}">
                <a16:creationId xmlns:a16="http://schemas.microsoft.com/office/drawing/2014/main" id="{B43C93DC-DC5A-4264-BC3E-AD5B71A616BF}"/>
              </a:ext>
            </a:extLst>
          </p:cNvPr>
          <p:cNvPicPr>
            <a:picLocks noChangeAspect="1"/>
          </p:cNvPicPr>
          <p:nvPr/>
        </p:nvPicPr>
        <p:blipFill rotWithShape="1">
          <a:blip r:embed="rId2">
            <a:extLst>
              <a:ext uri="{28A0092B-C50C-407E-A947-70E740481C1C}">
                <a14:useLocalDpi xmlns:a14="http://schemas.microsoft.com/office/drawing/2010/main" val="0"/>
              </a:ext>
            </a:extLst>
          </a:blip>
          <a:srcRect r="11481" b="35886"/>
          <a:stretch/>
        </p:blipFill>
        <p:spPr bwMode="auto">
          <a:xfrm>
            <a:off x="706119" y="1219199"/>
            <a:ext cx="8293367" cy="328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2510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IPv4 Address Space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4572000"/>
            <a:ext cx="10972800" cy="1828800"/>
          </a:xfrm>
        </p:spPr>
        <p:txBody>
          <a:bodyPr/>
          <a:lstStyle/>
          <a:p>
            <a:r>
              <a:rPr lang="en-US" dirty="0"/>
              <a:t>A computer has the IP address 221.15.220.192</a:t>
            </a:r>
            <a:endParaRPr lang="en-US" baseline="30000" dirty="0"/>
          </a:p>
          <a:p>
            <a:r>
              <a:rPr lang="en-US" dirty="0"/>
              <a:t>What network class does it belong to?</a:t>
            </a:r>
          </a:p>
          <a:p>
            <a:r>
              <a:rPr lang="en-US" dirty="0"/>
              <a:t>Answer: 221</a:t>
            </a:r>
            <a:r>
              <a:rPr lang="en-US" baseline="-25000" dirty="0"/>
              <a:t>10</a:t>
            </a:r>
            <a:r>
              <a:rPr lang="en-US" dirty="0"/>
              <a:t> = 11011101</a:t>
            </a:r>
            <a:r>
              <a:rPr lang="en-US" baseline="-25000" dirty="0"/>
              <a:t>2</a:t>
            </a:r>
            <a:r>
              <a:rPr lang="en-US" dirty="0"/>
              <a:t>, so class C</a:t>
            </a:r>
          </a:p>
        </p:txBody>
      </p:sp>
      <p:pic>
        <p:nvPicPr>
          <p:cNvPr id="5" name="Picture 4" descr="9781284033144_CH12_FIG06.jpg">
            <a:extLst>
              <a:ext uri="{FF2B5EF4-FFF2-40B4-BE49-F238E27FC236}">
                <a16:creationId xmlns:a16="http://schemas.microsoft.com/office/drawing/2014/main" id="{B43C93DC-DC5A-4264-BC3E-AD5B71A616BF}"/>
              </a:ext>
            </a:extLst>
          </p:cNvPr>
          <p:cNvPicPr>
            <a:picLocks noChangeAspect="1"/>
          </p:cNvPicPr>
          <p:nvPr/>
        </p:nvPicPr>
        <p:blipFill rotWithShape="1">
          <a:blip r:embed="rId2">
            <a:extLst>
              <a:ext uri="{28A0092B-C50C-407E-A947-70E740481C1C}">
                <a14:useLocalDpi xmlns:a14="http://schemas.microsoft.com/office/drawing/2010/main" val="0"/>
              </a:ext>
            </a:extLst>
          </a:blip>
          <a:srcRect r="11481" b="35886"/>
          <a:stretch/>
        </p:blipFill>
        <p:spPr bwMode="auto">
          <a:xfrm>
            <a:off x="706119" y="1219199"/>
            <a:ext cx="8293367" cy="328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9743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TCP/IP Network Architecture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229600" cy="5257800"/>
          </a:xfrm>
        </p:spPr>
        <p:txBody>
          <a:bodyPr/>
          <a:lstStyle/>
          <a:p>
            <a:r>
              <a:rPr lang="en-US" altLang="en-US" b="1" dirty="0">
                <a:cs typeface="Arial" charset="0"/>
              </a:rPr>
              <a:t>Transmission Control Protocol </a:t>
            </a:r>
            <a:r>
              <a:rPr lang="en-US" altLang="en-US" dirty="0">
                <a:cs typeface="Arial" charset="0"/>
              </a:rPr>
              <a:t>(</a:t>
            </a:r>
            <a:r>
              <a:rPr lang="en-US" altLang="en-US" b="1" dirty="0">
                <a:cs typeface="Arial" charset="0"/>
              </a:rPr>
              <a:t>TCP</a:t>
            </a:r>
            <a:r>
              <a:rPr lang="en-US" altLang="en-US" dirty="0">
                <a:cs typeface="Arial" charset="0"/>
              </a:rPr>
              <a:t>) is the consumer of IP services.</a:t>
            </a:r>
          </a:p>
          <a:p>
            <a:r>
              <a:rPr lang="en-US" altLang="en-US" dirty="0">
                <a:cs typeface="Arial" charset="0"/>
              </a:rPr>
              <a:t>It engages in a conversation –  a </a:t>
            </a:r>
            <a:r>
              <a:rPr lang="en-US" altLang="en-US" b="1" dirty="0">
                <a:cs typeface="Arial" charset="0"/>
              </a:rPr>
              <a:t>connection </a:t>
            </a:r>
            <a:r>
              <a:rPr lang="en-US" altLang="en-US" dirty="0">
                <a:cs typeface="Arial" charset="0"/>
              </a:rPr>
              <a:t>– with the TCP process running on the remote system.</a:t>
            </a:r>
          </a:p>
          <a:p>
            <a:r>
              <a:rPr lang="en-US" altLang="en-US" dirty="0">
                <a:cs typeface="Arial" charset="0"/>
              </a:rPr>
              <a:t>A TCP connection is analogous to a telephone conversation, with its own protocol “etiquette.” </a:t>
            </a:r>
          </a:p>
          <a:p>
            <a:r>
              <a:rPr lang="en-US" dirty="0"/>
              <a:t>As part of initiating a connection, TCP also opens a service access point (SAP) in the application running above it.  </a:t>
            </a:r>
          </a:p>
          <a:p>
            <a:r>
              <a:rPr lang="en-US" dirty="0"/>
              <a:t>In TCP, this SAP is a numerical value called a </a:t>
            </a:r>
            <a:r>
              <a:rPr lang="en-US" b="1" dirty="0"/>
              <a:t>port</a:t>
            </a:r>
            <a:r>
              <a:rPr lang="en-US" dirty="0"/>
              <a:t>. </a:t>
            </a:r>
          </a:p>
          <a:p>
            <a:endParaRPr lang="en-US" dirty="0"/>
          </a:p>
        </p:txBody>
      </p:sp>
      <p:pic>
        <p:nvPicPr>
          <p:cNvPr id="4" name="Picture 3" descr="9781284033144_CH12_FIG04.jpg">
            <a:extLst>
              <a:ext uri="{FF2B5EF4-FFF2-40B4-BE49-F238E27FC236}">
                <a16:creationId xmlns:a16="http://schemas.microsoft.com/office/drawing/2014/main" id="{46071C4E-D3F9-4477-BAFF-ACEAA9A2C1C2}"/>
              </a:ext>
            </a:extLst>
          </p:cNvPr>
          <p:cNvPicPr>
            <a:picLocks noChangeAspect="1"/>
          </p:cNvPicPr>
          <p:nvPr/>
        </p:nvPicPr>
        <p:blipFill rotWithShape="1">
          <a:blip r:embed="rId2">
            <a:extLst>
              <a:ext uri="{28A0092B-C50C-407E-A947-70E740481C1C}">
                <a14:useLocalDpi xmlns:a14="http://schemas.microsoft.com/office/drawing/2010/main" val="0"/>
              </a:ext>
            </a:extLst>
          </a:blip>
          <a:srcRect l="59670" b="28428"/>
          <a:stretch/>
        </p:blipFill>
        <p:spPr bwMode="auto">
          <a:xfrm>
            <a:off x="8895872" y="1143001"/>
            <a:ext cx="2686528" cy="3421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9194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TCP/IP Network Architecture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The combination of the port number, the host ID, and the protocol designation becomes a </a:t>
            </a:r>
            <a:r>
              <a:rPr lang="en-US" b="1" dirty="0"/>
              <a:t>socket</a:t>
            </a:r>
            <a:r>
              <a:rPr lang="en-US" dirty="0"/>
              <a:t>.</a:t>
            </a:r>
          </a:p>
          <a:p>
            <a:r>
              <a:rPr lang="en-US" dirty="0"/>
              <a:t>The program can “read” data from and “write” data to the socket as though it were reading or writing data to a file on disk. </a:t>
            </a:r>
          </a:p>
          <a:p>
            <a:r>
              <a:rPr lang="en-US" dirty="0"/>
              <a:t>Port numbers 0 through 1023 are called “well-known” port numbers because they are reserved for particular TCP applications. </a:t>
            </a:r>
          </a:p>
          <a:p>
            <a:r>
              <a:rPr lang="en-US" dirty="0"/>
              <a:t>The two computers negotiate a </a:t>
            </a:r>
            <a:r>
              <a:rPr lang="en-US" b="1" dirty="0"/>
              <a:t>congestion window size</a:t>
            </a:r>
            <a:r>
              <a:rPr lang="en-US" dirty="0"/>
              <a:t>, which is the number of bytes to send between </a:t>
            </a:r>
            <a:r>
              <a:rPr lang="en-US" b="1" dirty="0"/>
              <a:t>acknowledgments</a:t>
            </a:r>
            <a:r>
              <a:rPr lang="en-US" dirty="0"/>
              <a:t>.</a:t>
            </a:r>
            <a:endParaRPr lang="en-US" b="1" dirty="0"/>
          </a:p>
          <a:p>
            <a:r>
              <a:rPr lang="en-US" dirty="0"/>
              <a:t>When the recipient receives a TCP </a:t>
            </a:r>
            <a:r>
              <a:rPr lang="en-US" b="1" dirty="0"/>
              <a:t>segment</a:t>
            </a:r>
            <a:r>
              <a:rPr lang="en-US" dirty="0"/>
              <a:t>, it sends back an acknowledgment to the sender</a:t>
            </a:r>
          </a:p>
          <a:p>
            <a:r>
              <a:rPr lang="en-US" dirty="0"/>
              <a:t>If the sender of a message does not receive an acknowledgement for a segment, it retransmits the segment </a:t>
            </a:r>
          </a:p>
          <a:p>
            <a:endParaRPr lang="en-US" dirty="0"/>
          </a:p>
        </p:txBody>
      </p:sp>
    </p:spTree>
    <p:extLst>
      <p:ext uri="{BB962C8B-B14F-4D97-AF65-F5344CB8AC3E}">
        <p14:creationId xmlns:p14="http://schemas.microsoft.com/office/powerpoint/2010/main" val="1239868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Communication via TCP</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6019800" cy="5257800"/>
          </a:xfrm>
        </p:spPr>
        <p:txBody>
          <a:bodyPr/>
          <a:lstStyle/>
          <a:p>
            <a:r>
              <a:rPr lang="en-US" dirty="0"/>
              <a:t>TCP initiates a communication session using a </a:t>
            </a:r>
            <a:r>
              <a:rPr lang="en-US" b="1" dirty="0"/>
              <a:t>handshake</a:t>
            </a:r>
          </a:p>
          <a:p>
            <a:r>
              <a:rPr lang="en-US" dirty="0"/>
              <a:t>The figure shows an example of a </a:t>
            </a:r>
            <a:r>
              <a:rPr lang="en-US" b="1" dirty="0"/>
              <a:t>three-way handshake</a:t>
            </a:r>
          </a:p>
          <a:p>
            <a:r>
              <a:rPr lang="en-US" dirty="0"/>
              <a:t>The two starting sequence numbers ( </a:t>
            </a:r>
            <a:r>
              <a:rPr lang="en-US" i="1" dirty="0"/>
              <a:t>j</a:t>
            </a:r>
            <a:r>
              <a:rPr lang="en-US" dirty="0"/>
              <a:t> and </a:t>
            </a:r>
            <a:r>
              <a:rPr lang="en-US" i="1" dirty="0"/>
              <a:t>t</a:t>
            </a:r>
            <a:r>
              <a:rPr lang="en-US" dirty="0"/>
              <a:t> in the figure) are typically chosen at random by the two systems (for sake of security)</a:t>
            </a:r>
          </a:p>
          <a:p>
            <a:endParaRPr lang="en-US" dirty="0"/>
          </a:p>
        </p:txBody>
      </p:sp>
      <p:pic>
        <p:nvPicPr>
          <p:cNvPr id="4" name="Picture 3" descr="9781284033144_CH12_FIG07.jpg">
            <a:extLst>
              <a:ext uri="{FF2B5EF4-FFF2-40B4-BE49-F238E27FC236}">
                <a16:creationId xmlns:a16="http://schemas.microsoft.com/office/drawing/2014/main" id="{7A57FCD4-083E-4433-A405-A6BB8633208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75455" y="1143000"/>
            <a:ext cx="4706945" cy="4063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8147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Communication via TCP: Example #1</a:t>
            </a:r>
          </a:p>
        </p:txBody>
      </p:sp>
      <p:pic>
        <p:nvPicPr>
          <p:cNvPr id="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599" y="1115430"/>
            <a:ext cx="8791719" cy="533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705600" y="3810000"/>
            <a:ext cx="4876800" cy="2590800"/>
          </a:xfrm>
        </p:spPr>
        <p:txBody>
          <a:bodyPr/>
          <a:lstStyle/>
          <a:p>
            <a:r>
              <a:rPr lang="en-US" dirty="0"/>
              <a:t>TCP data exchange</a:t>
            </a:r>
          </a:p>
          <a:p>
            <a:r>
              <a:rPr lang="en-US" dirty="0"/>
              <a:t>100-byte payloads with 500-byte windows</a:t>
            </a:r>
          </a:p>
          <a:p>
            <a:endParaRPr lang="en-US" dirty="0"/>
          </a:p>
        </p:txBody>
      </p:sp>
    </p:spTree>
    <p:extLst>
      <p:ext uri="{BB962C8B-B14F-4D97-AF65-F5344CB8AC3E}">
        <p14:creationId xmlns:p14="http://schemas.microsoft.com/office/powerpoint/2010/main" val="2030734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Communication via TCP: Example #2</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5410200"/>
            <a:ext cx="10972800" cy="990600"/>
          </a:xfrm>
        </p:spPr>
        <p:txBody>
          <a:bodyPr/>
          <a:lstStyle/>
          <a:p>
            <a:r>
              <a:rPr lang="en-US" dirty="0"/>
              <a:t>TCP data exchange with lost acknowledgement</a:t>
            </a:r>
          </a:p>
          <a:p>
            <a:r>
              <a:rPr lang="en-US" dirty="0"/>
              <a:t>A later ACK prevents retransmission of lost one</a:t>
            </a:r>
          </a:p>
          <a:p>
            <a:endParaRPr lang="en-US" dirty="0"/>
          </a:p>
        </p:txBody>
      </p:sp>
      <p:pic>
        <p:nvPicPr>
          <p:cNvPr id="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4062" y="1066800"/>
            <a:ext cx="10172509" cy="438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3981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Communication via TCP: Example #3</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5486400"/>
            <a:ext cx="10972800" cy="914400"/>
          </a:xfrm>
        </p:spPr>
        <p:txBody>
          <a:bodyPr>
            <a:normAutofit/>
          </a:bodyPr>
          <a:lstStyle/>
          <a:p>
            <a:r>
              <a:rPr lang="en-US" dirty="0"/>
              <a:t>TCP flow control example. Flow control is performed using acknowledgment numbers.</a:t>
            </a:r>
          </a:p>
        </p:txBody>
      </p:sp>
      <p:pic>
        <p:nvPicPr>
          <p:cNvPr id="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599" y="1117727"/>
            <a:ext cx="9738283" cy="436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9858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TCP Windows: Example #1</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Two stations running TCP/IP are engaged in transferring a file. This file is 100K long, the payload size is 100 bytes, and the negotiated congestion window size is 300 bytes. The sender receives an ACK 1500 from the receiver.</a:t>
            </a:r>
          </a:p>
          <a:p>
            <a:r>
              <a:rPr lang="en-US" dirty="0"/>
              <a:t>Which bytes will be sent next?</a:t>
            </a:r>
          </a:p>
          <a:p>
            <a:r>
              <a:rPr lang="en-US" dirty="0"/>
              <a:t>Answer: bytes 1500 through 1599</a:t>
            </a:r>
          </a:p>
          <a:p>
            <a:endParaRPr lang="en-US" dirty="0"/>
          </a:p>
        </p:txBody>
      </p:sp>
    </p:spTree>
    <p:extLst>
      <p:ext uri="{BB962C8B-B14F-4D97-AF65-F5344CB8AC3E}">
        <p14:creationId xmlns:p14="http://schemas.microsoft.com/office/powerpoint/2010/main" val="11027664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TCP Windows: Example #2</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Two stations running TCP/IP are engaged in transferring a file. This file is 100KB long, the payload size is 100 bytes, and the negotiated congestion window size is 300 bytes. The sender receives an ACK 1500 from the receiver.</a:t>
            </a:r>
          </a:p>
          <a:p>
            <a:r>
              <a:rPr lang="en-US" dirty="0"/>
              <a:t>What is the last byte number that can be sent without an ACK being sent by the receiver?</a:t>
            </a:r>
          </a:p>
          <a:p>
            <a:r>
              <a:rPr lang="en-US" dirty="0"/>
              <a:t>Answer: byte 1799</a:t>
            </a:r>
          </a:p>
          <a:p>
            <a:endParaRPr lang="en-US" dirty="0"/>
          </a:p>
        </p:txBody>
      </p:sp>
    </p:spTree>
    <p:extLst>
      <p:ext uri="{BB962C8B-B14F-4D97-AF65-F5344CB8AC3E}">
        <p14:creationId xmlns:p14="http://schemas.microsoft.com/office/powerpoint/2010/main" val="34383209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TCP/IP Network Architecture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To terminate a connection, one of the parties sends a segment with a FIN message</a:t>
            </a:r>
          </a:p>
          <a:p>
            <a:r>
              <a:rPr lang="en-US" dirty="0"/>
              <a:t>If the recipient acknowledges the FIN, the connection is closed</a:t>
            </a:r>
          </a:p>
          <a:p>
            <a:r>
              <a:rPr lang="en-US" dirty="0"/>
              <a:t>Otherwise, the sender waits until a negotiated timeout period elapses and closes the connection on its own</a:t>
            </a:r>
          </a:p>
          <a:p>
            <a:endParaRPr lang="en-US" dirty="0"/>
          </a:p>
        </p:txBody>
      </p:sp>
    </p:spTree>
    <p:extLst>
      <p:ext uri="{BB962C8B-B14F-4D97-AF65-F5344CB8AC3E}">
        <p14:creationId xmlns:p14="http://schemas.microsoft.com/office/powerpoint/2010/main" val="5905159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Congestion Control</a:t>
            </a:r>
          </a:p>
        </p:txBody>
      </p:sp>
      <p:sp>
        <p:nvSpPr>
          <p:cNvPr id="3" name="Content Placeholder 2"/>
          <p:cNvSpPr>
            <a:spLocks noGrp="1"/>
          </p:cNvSpPr>
          <p:nvPr>
            <p:ph idx="1"/>
          </p:nvPr>
        </p:nvSpPr>
        <p:spPr/>
        <p:txBody>
          <a:bodyPr>
            <a:normAutofit fontScale="92500" lnSpcReduction="20000"/>
          </a:bodyPr>
          <a:lstStyle/>
          <a:p>
            <a:r>
              <a:rPr lang="en-US" dirty="0"/>
              <a:t>The TCP window size can be adjusted dynamically, over time (during exchange of messages) to help with </a:t>
            </a:r>
            <a:r>
              <a:rPr lang="en-US" b="1" dirty="0"/>
              <a:t>congestion control</a:t>
            </a:r>
            <a:endParaRPr lang="en-US" dirty="0"/>
          </a:p>
          <a:p>
            <a:pPr lvl="1"/>
            <a:r>
              <a:rPr lang="en-US" dirty="0"/>
              <a:t>If the sender is transmitting data faster than the receiver can process it, packets will be dropped (lost)</a:t>
            </a:r>
          </a:p>
          <a:p>
            <a:pPr lvl="1"/>
            <a:r>
              <a:rPr lang="en-US" dirty="0"/>
              <a:t>The congestion window size can then be decreased so that fewer bytes are sent at a time</a:t>
            </a:r>
          </a:p>
          <a:p>
            <a:r>
              <a:rPr lang="en-US" dirty="0"/>
              <a:t>TCP uses the congestion control scheme known as </a:t>
            </a:r>
            <a:r>
              <a:rPr lang="en-US" b="1" dirty="0"/>
              <a:t>additive-increase/multiplicative-decrease</a:t>
            </a:r>
            <a:r>
              <a:rPr lang="en-US" dirty="0"/>
              <a:t> (</a:t>
            </a:r>
            <a:r>
              <a:rPr lang="en-US" b="1" dirty="0"/>
              <a:t>AIMD</a:t>
            </a:r>
            <a:r>
              <a:rPr lang="en-US" dirty="0"/>
              <a:t>)</a:t>
            </a:r>
            <a:endParaRPr lang="en-US" b="1" dirty="0"/>
          </a:p>
          <a:p>
            <a:r>
              <a:rPr lang="en-US" dirty="0"/>
              <a:t>The idea is simple, yet effective: if no packets are lost during one round-trip between the sender and receiver, the window size can be increased by some small, fixed amount (“additive increase”)</a:t>
            </a:r>
          </a:p>
          <a:p>
            <a:r>
              <a:rPr lang="en-US" dirty="0"/>
              <a:t>But if packets are lost, the window size can be reduced by a large fraction, such as one-half (“multiplicative decrease”)</a:t>
            </a:r>
          </a:p>
          <a:p>
            <a:endParaRPr lang="en-US" dirty="0"/>
          </a:p>
        </p:txBody>
      </p:sp>
    </p:spTree>
    <p:extLst>
      <p:ext uri="{BB962C8B-B14F-4D97-AF65-F5344CB8AC3E}">
        <p14:creationId xmlns:p14="http://schemas.microsoft.com/office/powerpoint/2010/main" val="24535582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Congestion Control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This algorithm can be expressed succinctly with a formula:</a:t>
                </a:r>
              </a:p>
              <a:p>
                <a14:m>
                  <m:oMath xmlns:m="http://schemas.openxmlformats.org/officeDocument/2006/math">
                    <m:r>
                      <a:rPr lang="en-US" b="0" i="1" smtClean="0">
                        <a:latin typeface="Cambria Math" panose="02040503050406030204" pitchFamily="18" charset="0"/>
                      </a:rPr>
                      <m:t>𝑤</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𝑤</m:t>
                              </m:r>
                              <m:d>
                                <m:dPr>
                                  <m:ctrlPr>
                                    <a:rPr lang="en-US" b="0" i="1" smtClean="0">
                                      <a:latin typeface="Cambria Math" panose="02040503050406030204" pitchFamily="18" charset="0"/>
                                    </a:rPr>
                                  </m:ctrlPr>
                                </m:dPr>
                                <m:e>
                                  <m:r>
                                    <m:rPr>
                                      <m:brk m:alnAt="7"/>
                                    </m:rPr>
                                    <a:rPr lang="en-US" b="0" i="1" smtClean="0">
                                      <a:latin typeface="Cambria Math" panose="02040503050406030204" pitchFamily="18" charset="0"/>
                                    </a:rPr>
                                    <m:t>𝑡</m:t>
                                  </m:r>
                                </m:e>
                              </m:d>
                              <m:r>
                                <m:rPr>
                                  <m:brk m:alnAt="7"/>
                                </m:rPr>
                                <a:rPr lang="en-US" b="0" i="1" smtClean="0">
                                  <a:latin typeface="Cambria Math" panose="02040503050406030204" pitchFamily="18" charset="0"/>
                                </a:rPr>
                                <m:t>+</m:t>
                              </m:r>
                              <m:r>
                                <a:rPr lang="en-US" b="0" i="1" smtClean="0">
                                  <a:latin typeface="Cambria Math" panose="02040503050406030204" pitchFamily="18" charset="0"/>
                                </a:rPr>
                                <m:t>𝑎</m:t>
                              </m:r>
                            </m:e>
                            <m:e>
                              <m:r>
                                <m:rPr>
                                  <m:sty m:val="p"/>
                                </m:rPr>
                                <a:rPr lang="en-US" b="0" i="0" smtClean="0">
                                  <a:latin typeface="Cambria Math" panose="02040503050406030204" pitchFamily="18" charset="0"/>
                                </a:rPr>
                                <m:t>if</m:t>
                              </m:r>
                              <m:r>
                                <a:rPr lang="en-US" b="0" i="0" smtClean="0">
                                  <a:latin typeface="Cambria Math" panose="02040503050406030204" pitchFamily="18" charset="0"/>
                                </a:rPr>
                                <m:t> </m:t>
                              </m:r>
                              <m:r>
                                <m:rPr>
                                  <m:sty m:val="p"/>
                                </m:rPr>
                                <a:rPr lang="en-US" b="0" i="0" smtClean="0">
                                  <a:latin typeface="Cambria Math" panose="02040503050406030204" pitchFamily="18" charset="0"/>
                                </a:rPr>
                                <m:t>congestion</m:t>
                              </m:r>
                              <m:r>
                                <a:rPr lang="en-US" b="0" i="0" smtClean="0">
                                  <a:latin typeface="Cambria Math" panose="02040503050406030204" pitchFamily="18" charset="0"/>
                                </a:rPr>
                                <m:t> </m:t>
                              </m:r>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not</m:t>
                              </m:r>
                              <m:r>
                                <a:rPr lang="en-US" b="0" i="0" smtClean="0">
                                  <a:latin typeface="Cambria Math" panose="02040503050406030204" pitchFamily="18" charset="0"/>
                                </a:rPr>
                                <m:t> </m:t>
                              </m:r>
                              <m:r>
                                <m:rPr>
                                  <m:sty m:val="p"/>
                                </m:rPr>
                                <a:rPr lang="en-US" b="0" i="0" smtClean="0">
                                  <a:latin typeface="Cambria Math" panose="02040503050406030204" pitchFamily="18" charset="0"/>
                                </a:rPr>
                                <m:t>detected</m:t>
                              </m:r>
                            </m:e>
                          </m:mr>
                          <m:mr>
                            <m:e>
                              <m:r>
                                <a:rPr lang="en-US" b="0" i="1" smtClean="0">
                                  <a:latin typeface="Cambria Math" panose="02040503050406030204" pitchFamily="18" charset="0"/>
                                </a:rPr>
                                <m:t>𝑤</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𝑏</m:t>
                              </m:r>
                            </m:e>
                            <m:e>
                              <m:r>
                                <m:rPr>
                                  <m:sty m:val="p"/>
                                </m:rPr>
                                <a:rPr lang="en-US" b="0" i="0" smtClean="0">
                                  <a:latin typeface="Cambria Math" panose="02040503050406030204" pitchFamily="18" charset="0"/>
                                </a:rPr>
                                <m:t>if</m:t>
                              </m:r>
                              <m:r>
                                <a:rPr lang="en-US" b="0" i="0" smtClean="0">
                                  <a:latin typeface="Cambria Math" panose="02040503050406030204" pitchFamily="18" charset="0"/>
                                </a:rPr>
                                <m:t> </m:t>
                              </m:r>
                              <m:r>
                                <m:rPr>
                                  <m:sty m:val="p"/>
                                </m:rPr>
                                <a:rPr lang="en-US" b="0" i="0" smtClean="0">
                                  <a:latin typeface="Cambria Math" panose="02040503050406030204" pitchFamily="18" charset="0"/>
                                </a:rPr>
                                <m:t>congestion</m:t>
                              </m:r>
                              <m:r>
                                <a:rPr lang="en-US" b="0" i="0" smtClean="0">
                                  <a:latin typeface="Cambria Math" panose="02040503050406030204" pitchFamily="18" charset="0"/>
                                </a:rPr>
                                <m:t> </m:t>
                              </m:r>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detected</m:t>
                              </m:r>
                              <m:r>
                                <a:rPr lang="en-US" b="0" i="1" smtClean="0">
                                  <a:latin typeface="Cambria Math" panose="02040503050406030204" pitchFamily="18" charset="0"/>
                                </a:rPr>
                                <m:t>        </m:t>
                              </m:r>
                            </m:e>
                          </m:mr>
                        </m:m>
                      </m:e>
                    </m:d>
                  </m:oMath>
                </a14:m>
                <a:endParaRPr lang="en-US" dirty="0"/>
              </a:p>
              <a:p>
                <a14:m>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is the </a:t>
                </a:r>
                <a:r>
                  <a:rPr lang="en-US" b="1" dirty="0"/>
                  <a:t>sending rate</a:t>
                </a:r>
                <a:r>
                  <a:rPr lang="en-US" dirty="0"/>
                  <a:t>, the size of the window in bytes</a:t>
                </a:r>
              </a:p>
              <a:p>
                <a14:m>
                  <m:oMath xmlns:m="http://schemas.openxmlformats.org/officeDocument/2006/math">
                    <m:r>
                      <a:rPr lang="en-US" b="0" i="1" smtClean="0">
                        <a:latin typeface="Cambria Math" panose="02040503050406030204" pitchFamily="18" charset="0"/>
                      </a:rPr>
                      <m:t>𝑎</m:t>
                    </m:r>
                  </m:oMath>
                </a14:m>
                <a:r>
                  <a:rPr lang="en-US" dirty="0"/>
                  <a:t> is the </a:t>
                </a:r>
                <a:r>
                  <a:rPr lang="en-US" b="1" dirty="0"/>
                  <a:t>additive increase parameter</a:t>
                </a:r>
                <a:endParaRPr lang="en-US" dirty="0"/>
              </a:p>
              <a:p>
                <a14:m>
                  <m:oMath xmlns:m="http://schemas.openxmlformats.org/officeDocument/2006/math">
                    <m:r>
                      <a:rPr lang="en-US" b="0" i="1" smtClean="0">
                        <a:latin typeface="Cambria Math" panose="02040503050406030204" pitchFamily="18" charset="0"/>
                      </a:rPr>
                      <m:t>𝑏</m:t>
                    </m:r>
                  </m:oMath>
                </a14:m>
                <a:r>
                  <a:rPr lang="en-US" dirty="0"/>
                  <a:t> is the </a:t>
                </a:r>
                <a:r>
                  <a:rPr lang="en-US" b="1" dirty="0"/>
                  <a:t>multiplicative decrease factor</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928"/>
                </a:stretch>
              </a:blipFill>
            </p:spPr>
            <p:txBody>
              <a:bodyPr/>
              <a:lstStyle/>
              <a:p>
                <a:r>
                  <a:rPr lang="en-US">
                    <a:noFill/>
                  </a:rPr>
                  <a:t> </a:t>
                </a:r>
              </a:p>
            </p:txBody>
          </p:sp>
        </mc:Fallback>
      </mc:AlternateContent>
    </p:spTree>
    <p:extLst>
      <p:ext uri="{BB962C8B-B14F-4D97-AF65-F5344CB8AC3E}">
        <p14:creationId xmlns:p14="http://schemas.microsoft.com/office/powerpoint/2010/main" val="23732776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Congestion Control: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Suppose the TCP congestion window size for on-going communication between two hosts is currently 1000 bytes. AIMD is being used with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=2, </m:t>
                    </m:r>
                    <m:r>
                      <a:rPr lang="en-US" b="0" i="1" smtClean="0">
                        <a:latin typeface="Cambria Math" panose="02040503050406030204" pitchFamily="18" charset="0"/>
                      </a:rPr>
                      <m:t>𝑏</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r>
                  <a:rPr lang="en-US" dirty="0"/>
                  <a:t>.</a:t>
                </a:r>
              </a:p>
              <a:p>
                <a:r>
                  <a:rPr lang="en-US" dirty="0"/>
                  <a:t>The next four round-trips complete successfully with no lost packets. What is the congestion window size after those four round trips?</a:t>
                </a:r>
              </a:p>
              <a:p>
                <a:r>
                  <a:rPr lang="en-US" dirty="0"/>
                  <a:t>Answer: </a:t>
                </a:r>
                <a14:m>
                  <m:oMath xmlns:m="http://schemas.openxmlformats.org/officeDocument/2006/math">
                    <m:r>
                      <a:rPr lang="en-US" b="0" i="1" smtClean="0">
                        <a:latin typeface="Cambria Math" panose="02040503050406030204" pitchFamily="18" charset="0"/>
                      </a:rPr>
                      <m:t>1000+2+2+2+2=1008</m:t>
                    </m:r>
                  </m:oMath>
                </a14:m>
                <a:endParaRPr lang="en-US" b="0" dirty="0"/>
              </a:p>
              <a:p>
                <a:r>
                  <a:rPr lang="en-US" dirty="0"/>
                  <a:t>Suppose that packets are lost during the next two round-trips. What will the congestion window size become?</a:t>
                </a:r>
              </a:p>
              <a:p>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1008</m:t>
                        </m:r>
                      </m:num>
                      <m:den>
                        <m:r>
                          <a:rPr lang="en-US" b="0" i="1" smtClean="0">
                            <a:latin typeface="Cambria Math" panose="02040503050406030204" pitchFamily="18" charset="0"/>
                          </a:rPr>
                          <m:t>2</m:t>
                        </m:r>
                      </m:den>
                    </m:f>
                    <m:r>
                      <a:rPr lang="en-US" b="0" i="1" smtClean="0">
                        <a:latin typeface="Cambria Math" panose="02040503050406030204" pitchFamily="18" charset="0"/>
                      </a:rPr>
                      <m:t>=504</m:t>
                    </m:r>
                  </m:oMath>
                </a14:m>
                <a:r>
                  <a:rPr lang="en-US" dirty="0"/>
                  <a:t>	 </a:t>
                </a:r>
                <a:r>
                  <a:rPr lang="en-US" dirty="0">
                    <a:sym typeface="Wingdings" panose="05000000000000000000" pitchFamily="2" charset="2"/>
                  </a:rPr>
                  <a:t>   </a:t>
                </a:r>
                <a14:m>
                  <m:oMath xmlns:m="http://schemas.openxmlformats.org/officeDocument/2006/math">
                    <m:f>
                      <m:fPr>
                        <m:ctrlPr>
                          <a:rPr lang="en-US" b="0" i="1" smtClean="0">
                            <a:latin typeface="Cambria Math" panose="02040503050406030204" pitchFamily="18" charset="0"/>
                            <a:sym typeface="Wingdings" panose="05000000000000000000" pitchFamily="2" charset="2"/>
                          </a:rPr>
                        </m:ctrlPr>
                      </m:fPr>
                      <m:num>
                        <m:r>
                          <a:rPr lang="en-US" b="0" i="1" smtClean="0">
                            <a:latin typeface="Cambria Math" panose="02040503050406030204" pitchFamily="18" charset="0"/>
                            <a:sym typeface="Wingdings" panose="05000000000000000000" pitchFamily="2" charset="2"/>
                          </a:rPr>
                          <m:t>504</m:t>
                        </m:r>
                      </m:num>
                      <m:den>
                        <m:r>
                          <a:rPr lang="en-US" b="0" i="1" smtClean="0">
                            <a:latin typeface="Cambria Math" panose="02040503050406030204" pitchFamily="18" charset="0"/>
                            <a:sym typeface="Wingdings" panose="05000000000000000000" pitchFamily="2" charset="2"/>
                          </a:rPr>
                          <m:t>2</m:t>
                        </m:r>
                      </m:den>
                    </m:f>
                    <m:r>
                      <a:rPr lang="en-US" b="0" i="1" smtClean="0">
                        <a:latin typeface="Cambria Math" panose="02040503050406030204" pitchFamily="18" charset="0"/>
                        <a:sym typeface="Wingdings" panose="05000000000000000000" pitchFamily="2" charset="2"/>
                      </a:rPr>
                      <m:t>=252</m:t>
                    </m:r>
                  </m:oMath>
                </a14:m>
                <a:endParaRPr lang="en-US" dirty="0"/>
              </a:p>
              <a:p>
                <a:r>
                  <a:rPr lang="en-US" dirty="0"/>
                  <a:t>Answer: 252 bytes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28" t="-2801" r="-638"/>
                </a:stretch>
              </a:blipFill>
            </p:spPr>
            <p:txBody>
              <a:bodyPr/>
              <a:lstStyle/>
              <a:p>
                <a:r>
                  <a:rPr lang="en-US">
                    <a:noFill/>
                  </a:rPr>
                  <a:t> </a:t>
                </a:r>
              </a:p>
            </p:txBody>
          </p:sp>
        </mc:Fallback>
      </mc:AlternateContent>
    </p:spTree>
    <p:extLst>
      <p:ext uri="{BB962C8B-B14F-4D97-AF65-F5344CB8AC3E}">
        <p14:creationId xmlns:p14="http://schemas.microsoft.com/office/powerpoint/2010/main" val="13764793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AA701-3014-4281-8ED2-4B4BE4B4A9FD}"/>
              </a:ext>
            </a:extLst>
          </p:cNvPr>
          <p:cNvSpPr>
            <a:spLocks noGrp="1"/>
          </p:cNvSpPr>
          <p:nvPr>
            <p:ph type="title"/>
          </p:nvPr>
        </p:nvSpPr>
        <p:spPr/>
        <p:txBody>
          <a:bodyPr/>
          <a:lstStyle/>
          <a:p>
            <a:r>
              <a:rPr lang="en-US" dirty="0"/>
              <a:t>Protocol Overhead: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307223-B690-492E-BCE0-4A594DE11934}"/>
                  </a:ext>
                </a:extLst>
              </p:cNvPr>
              <p:cNvSpPr>
                <a:spLocks noGrp="1"/>
              </p:cNvSpPr>
              <p:nvPr>
                <p:ph idx="1"/>
              </p:nvPr>
            </p:nvSpPr>
            <p:spPr/>
            <p:txBody>
              <a:bodyPr>
                <a:normAutofit lnSpcReduction="10000"/>
              </a:bodyPr>
              <a:lstStyle/>
              <a:p>
                <a:r>
                  <a:rPr lang="en-US" dirty="0"/>
                  <a:t>Each layer in a protocol stack adds overhead in the form of </a:t>
                </a:r>
                <a:r>
                  <a:rPr lang="en-US" b="1" dirty="0"/>
                  <a:t>headers</a:t>
                </a:r>
                <a:endParaRPr lang="en-US" dirty="0"/>
              </a:p>
              <a:p>
                <a:r>
                  <a:rPr lang="en-US" dirty="0"/>
                  <a:t>For example, there are 20 bytes each in the TCP header and the IP header (for IPv4)</a:t>
                </a:r>
              </a:p>
              <a:p>
                <a:r>
                  <a:rPr lang="en-US" dirty="0"/>
                  <a:t>Suppose a computer running TCP/IP needs to transfer a file to a host. The file contains 1024 bytes.</a:t>
                </a:r>
              </a:p>
              <a:p>
                <a:r>
                  <a:rPr lang="en-US" dirty="0"/>
                  <a:t>How many bytes, including all of the TCP/IP overhead, would be sent assuming a payload size of 128 bytes?</a:t>
                </a:r>
              </a:p>
              <a:p>
                <a:r>
                  <a:rPr lang="en-US" dirty="0"/>
                  <a:t>We will need 1024 / 128 = 8 packets</a:t>
                </a:r>
              </a:p>
              <a:p>
                <a:r>
                  <a:rPr lang="en-US" dirty="0"/>
                  <a:t>8 packets </a:t>
                </a:r>
                <a14:m>
                  <m:oMath xmlns:m="http://schemas.openxmlformats.org/officeDocument/2006/math">
                    <m:r>
                      <a:rPr lang="en-US" b="0" i="1" smtClean="0">
                        <a:latin typeface="Cambria Math" panose="02040503050406030204" pitchFamily="18" charset="0"/>
                      </a:rPr>
                      <m:t>×</m:t>
                    </m:r>
                  </m:oMath>
                </a14:m>
                <a:r>
                  <a:rPr lang="en-US" dirty="0"/>
                  <a:t> 40 bytes per packet = 320 bytes of overhead</a:t>
                </a:r>
              </a:p>
              <a:p>
                <a14:m>
                  <m:oMath xmlns:m="http://schemas.openxmlformats.org/officeDocument/2006/math">
                    <m:r>
                      <a:rPr lang="en-US" b="0" i="1" smtClean="0">
                        <a:latin typeface="Cambria Math" panose="02040503050406030204" pitchFamily="18" charset="0"/>
                      </a:rPr>
                      <m:t>1024+320=1344</m:t>
                    </m:r>
                  </m:oMath>
                </a14:m>
                <a:r>
                  <a:rPr lang="en-US" dirty="0"/>
                  <a:t> bytes total</a:t>
                </a:r>
              </a:p>
            </p:txBody>
          </p:sp>
        </mc:Choice>
        <mc:Fallback xmlns="">
          <p:sp>
            <p:nvSpPr>
              <p:cNvPr id="3" name="Content Placeholder 2">
                <a:extLst>
                  <a:ext uri="{FF2B5EF4-FFF2-40B4-BE49-F238E27FC236}">
                    <a16:creationId xmlns:a16="http://schemas.microsoft.com/office/drawing/2014/main" id="{26307223-B690-492E-BCE0-4A594DE11934}"/>
                  </a:ext>
                </a:extLst>
              </p:cNvPr>
              <p:cNvSpPr>
                <a:spLocks noGrp="1" noRot="1" noChangeAspect="1" noMove="1" noResize="1" noEditPoints="1" noAdjustHandles="1" noChangeArrowheads="1" noChangeShapeType="1" noTextEdit="1"/>
              </p:cNvSpPr>
              <p:nvPr>
                <p:ph idx="1"/>
              </p:nvPr>
            </p:nvSpPr>
            <p:spPr>
              <a:blipFill>
                <a:blip r:embed="rId2"/>
                <a:stretch>
                  <a:fillRect l="-1043" t="-3081" r="-406" b="-2241"/>
                </a:stretch>
              </a:blipFill>
            </p:spPr>
            <p:txBody>
              <a:bodyPr/>
              <a:lstStyle/>
              <a:p>
                <a:r>
                  <a:rPr lang="en-US">
                    <a:noFill/>
                  </a:rPr>
                  <a:t> </a:t>
                </a:r>
              </a:p>
            </p:txBody>
          </p:sp>
        </mc:Fallback>
      </mc:AlternateContent>
    </p:spTree>
    <p:extLst>
      <p:ext uri="{BB962C8B-B14F-4D97-AF65-F5344CB8AC3E}">
        <p14:creationId xmlns:p14="http://schemas.microsoft.com/office/powerpoint/2010/main" val="26846945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AA701-3014-4281-8ED2-4B4BE4B4A9FD}"/>
              </a:ext>
            </a:extLst>
          </p:cNvPr>
          <p:cNvSpPr>
            <a:spLocks noGrp="1"/>
          </p:cNvSpPr>
          <p:nvPr>
            <p:ph type="title"/>
          </p:nvPr>
        </p:nvSpPr>
        <p:spPr/>
        <p:txBody>
          <a:bodyPr/>
          <a:lstStyle/>
          <a:p>
            <a:r>
              <a:rPr lang="en-US" dirty="0"/>
              <a:t>Protocol Overhead: Example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307223-B690-492E-BCE0-4A594DE11934}"/>
                  </a:ext>
                </a:extLst>
              </p:cNvPr>
              <p:cNvSpPr>
                <a:spLocks noGrp="1"/>
              </p:cNvSpPr>
              <p:nvPr>
                <p:ph idx="1"/>
              </p:nvPr>
            </p:nvSpPr>
            <p:spPr/>
            <p:txBody>
              <a:bodyPr/>
              <a:lstStyle/>
              <a:p>
                <a:r>
                  <a:rPr lang="en-US" dirty="0"/>
                  <a:t>Suppose a computer running TCP/IP needs to transfer a file to a host. The file contains 1024 bytes. Each packet carries 128 bytes of payload.</a:t>
                </a:r>
              </a:p>
              <a:p>
                <a:r>
                  <a:rPr lang="en-US" b="0" dirty="0"/>
                  <a:t>Recall that </a:t>
                </a:r>
                <a14:m>
                  <m:oMath xmlns:m="http://schemas.openxmlformats.org/officeDocument/2006/math">
                    <m:r>
                      <a:rPr lang="en-US" b="0" i="1" smtClean="0">
                        <a:latin typeface="Cambria Math" panose="02040503050406030204" pitchFamily="18" charset="0"/>
                      </a:rPr>
                      <m:t>1024+320=1344</m:t>
                    </m:r>
                  </m:oMath>
                </a14:m>
                <a:r>
                  <a:rPr lang="en-US" dirty="0"/>
                  <a:t> bytes total will be sent</a:t>
                </a:r>
              </a:p>
              <a:p>
                <a:r>
                  <a:rPr lang="en-US" dirty="0"/>
                  <a:t>What is the protocol overhead, stated as a percentage?</a:t>
                </a:r>
              </a:p>
              <a:p>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320÷1344</m:t>
                        </m:r>
                      </m:e>
                    </m:d>
                    <m:r>
                      <a:rPr lang="en-US" b="0" i="1" smtClean="0">
                        <a:latin typeface="Cambria Math" panose="02040503050406030204" pitchFamily="18" charset="0"/>
                      </a:rPr>
                      <m:t>×100=23.8%</m:t>
                    </m:r>
                  </m:oMath>
                </a14:m>
                <a:endParaRPr lang="en-US" b="0" dirty="0"/>
              </a:p>
              <a:p>
                <a:endParaRPr lang="en-US" dirty="0"/>
              </a:p>
            </p:txBody>
          </p:sp>
        </mc:Choice>
        <mc:Fallback xmlns="">
          <p:sp>
            <p:nvSpPr>
              <p:cNvPr id="3" name="Content Placeholder 2">
                <a:extLst>
                  <a:ext uri="{FF2B5EF4-FFF2-40B4-BE49-F238E27FC236}">
                    <a16:creationId xmlns:a16="http://schemas.microsoft.com/office/drawing/2014/main" id="{26307223-B690-492E-BCE0-4A594DE11934}"/>
                  </a:ext>
                </a:extLst>
              </p:cNvPr>
              <p:cNvSpPr>
                <a:spLocks noGrp="1" noRot="1" noChangeAspect="1" noMove="1" noResize="1" noEditPoints="1" noAdjustHandles="1" noChangeArrowheads="1" noChangeShapeType="1" noTextEdit="1"/>
              </p:cNvSpPr>
              <p:nvPr>
                <p:ph idx="1"/>
              </p:nvPr>
            </p:nvSpPr>
            <p:spPr>
              <a:blipFill>
                <a:blip r:embed="rId2"/>
                <a:stretch>
                  <a:fillRect t="-928"/>
                </a:stretch>
              </a:blipFill>
            </p:spPr>
            <p:txBody>
              <a:bodyPr/>
              <a:lstStyle/>
              <a:p>
                <a:r>
                  <a:rPr lang="en-US">
                    <a:noFill/>
                  </a:rPr>
                  <a:t> </a:t>
                </a:r>
              </a:p>
            </p:txBody>
          </p:sp>
        </mc:Fallback>
      </mc:AlternateContent>
    </p:spTree>
    <p:extLst>
      <p:ext uri="{BB962C8B-B14F-4D97-AF65-F5344CB8AC3E}">
        <p14:creationId xmlns:p14="http://schemas.microsoft.com/office/powerpoint/2010/main" val="3591484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cs typeface="Arial" charset="0"/>
              </a:rPr>
              <a:t>IP Version 6</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pPr>
              <a:spcBef>
                <a:spcPts val="600"/>
              </a:spcBef>
            </a:pPr>
            <a:r>
              <a:rPr lang="en-US" altLang="en-US" dirty="0">
                <a:cs typeface="Arial" charset="0"/>
              </a:rPr>
              <a:t>In 1994, the Internet Engineering Task Force began work on what is now IP Version 6.</a:t>
            </a:r>
          </a:p>
          <a:p>
            <a:pPr>
              <a:spcBef>
                <a:spcPts val="600"/>
              </a:spcBef>
            </a:pPr>
            <a:r>
              <a:rPr lang="en-US" altLang="en-US" dirty="0">
                <a:cs typeface="Arial" charset="0"/>
              </a:rPr>
              <a:t>The IETF’s primary motivation in designing a successor to IPv4 was to extend IP's address space beyond its current 32-bit limit to 128 bits for both the source and destination host addresses.  </a:t>
            </a:r>
          </a:p>
          <a:p>
            <a:pPr lvl="1">
              <a:spcBef>
                <a:spcPts val="600"/>
              </a:spcBef>
            </a:pPr>
            <a:r>
              <a:rPr lang="en-US" altLang="en-US" dirty="0"/>
              <a:t>This is a seemingly inexhaustible address space, giving 2</a:t>
            </a:r>
            <a:r>
              <a:rPr lang="en-US" altLang="en-US" baseline="30000" dirty="0"/>
              <a:t>128</a:t>
            </a:r>
            <a:r>
              <a:rPr lang="en-US" altLang="en-US" dirty="0"/>
              <a:t> possible host addresses. </a:t>
            </a:r>
          </a:p>
          <a:p>
            <a:pPr>
              <a:spcBef>
                <a:spcPts val="600"/>
              </a:spcBef>
            </a:pPr>
            <a:r>
              <a:rPr lang="en-US" altLang="en-US" dirty="0"/>
              <a:t>IPv6 packets can be tagged as being part of real-time transmission (e.g., voice) and thereby be given higher priority on the network</a:t>
            </a:r>
          </a:p>
          <a:p>
            <a:r>
              <a:rPr lang="en-US" altLang="en-US" dirty="0"/>
              <a:t>IPv4 is very insecure. IPv6 supports encryption and other security features (e.g., prevents </a:t>
            </a:r>
            <a:r>
              <a:rPr lang="en-US" altLang="en-US" b="1" dirty="0"/>
              <a:t>address spoofing</a:t>
            </a:r>
            <a:r>
              <a:rPr lang="en-US" altLang="en-US" dirty="0"/>
              <a:t>)</a:t>
            </a:r>
          </a:p>
          <a:p>
            <a:endParaRPr lang="en-US" dirty="0"/>
          </a:p>
        </p:txBody>
      </p:sp>
    </p:spTree>
    <p:extLst>
      <p:ext uri="{BB962C8B-B14F-4D97-AF65-F5344CB8AC3E}">
        <p14:creationId xmlns:p14="http://schemas.microsoft.com/office/powerpoint/2010/main" val="34290012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cs typeface="Arial" charset="0"/>
              </a:rPr>
              <a:t>IP Version 6</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600"/>
              </a:spcBef>
            </a:pPr>
            <a:r>
              <a:rPr lang="en-US" altLang="en-US" dirty="0"/>
              <a:t>Most modern Internet routers are </a:t>
            </a:r>
            <a:r>
              <a:rPr lang="en-US" altLang="en-US" b="1" dirty="0"/>
              <a:t>dual stack</a:t>
            </a:r>
            <a:r>
              <a:rPr lang="en-US" altLang="en-US" dirty="0"/>
              <a:t>, supporting both IPv4 and IPv6 communication, which is helping the transition to IPv6</a:t>
            </a:r>
          </a:p>
          <a:p>
            <a:pPr>
              <a:spcBef>
                <a:spcPts val="600"/>
              </a:spcBef>
            </a:pPr>
            <a:r>
              <a:rPr lang="en-US" altLang="en-US" dirty="0"/>
              <a:t>IPv6 also incorporates better geographic assignment of IP address ranges </a:t>
            </a:r>
          </a:p>
          <a:p>
            <a:pPr lvl="1">
              <a:spcBef>
                <a:spcPts val="600"/>
              </a:spcBef>
            </a:pPr>
            <a:r>
              <a:rPr lang="en-US" altLang="en-US" dirty="0"/>
              <a:t>The IPv4 address space is distributed haphazardly, which complicates traffic routing</a:t>
            </a:r>
          </a:p>
          <a:p>
            <a:endParaRPr lang="en-US" dirty="0"/>
          </a:p>
        </p:txBody>
      </p:sp>
    </p:spTree>
    <p:extLst>
      <p:ext uri="{BB962C8B-B14F-4D97-AF65-F5344CB8AC3E}">
        <p14:creationId xmlns:p14="http://schemas.microsoft.com/office/powerpoint/2010/main" val="25004043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Domain Name System</a:t>
            </a:r>
          </a:p>
        </p:txBody>
      </p:sp>
      <p:sp>
        <p:nvSpPr>
          <p:cNvPr id="3" name="Content Placeholder 2"/>
          <p:cNvSpPr>
            <a:spLocks noGrp="1"/>
          </p:cNvSpPr>
          <p:nvPr>
            <p:ph idx="1"/>
          </p:nvPr>
        </p:nvSpPr>
        <p:spPr/>
        <p:txBody>
          <a:bodyPr>
            <a:normAutofit fontScale="92500" lnSpcReduction="20000"/>
          </a:bodyPr>
          <a:lstStyle/>
          <a:p>
            <a:r>
              <a:rPr lang="en-US" dirty="0"/>
              <a:t>IP addresses are needed for two computers on the Internet to communicate</a:t>
            </a:r>
          </a:p>
          <a:p>
            <a:r>
              <a:rPr lang="en-US" dirty="0"/>
              <a:t>But, </a:t>
            </a:r>
            <a:r>
              <a:rPr lang="en-US" b="1" dirty="0"/>
              <a:t>host names</a:t>
            </a:r>
            <a:r>
              <a:rPr lang="en-US" dirty="0"/>
              <a:t> like www.stonybrook.edu are easier to work with</a:t>
            </a:r>
          </a:p>
          <a:p>
            <a:r>
              <a:rPr lang="en-US" b="1" dirty="0"/>
              <a:t>Domain Name System</a:t>
            </a:r>
            <a:r>
              <a:rPr lang="en-US" dirty="0"/>
              <a:t> (</a:t>
            </a:r>
            <a:r>
              <a:rPr lang="en-US" b="1" dirty="0"/>
              <a:t>DNS</a:t>
            </a:r>
            <a:r>
              <a:rPr lang="en-US" dirty="0"/>
              <a:t>) is the system used on the Internet to map host names to IP addresses</a:t>
            </a:r>
          </a:p>
          <a:p>
            <a:r>
              <a:rPr lang="en-US" dirty="0"/>
              <a:t>When your computer wants to contact another computer by host name, your computer will contact a nearby DNS server and ask it to </a:t>
            </a:r>
            <a:r>
              <a:rPr lang="en-US" b="1" dirty="0"/>
              <a:t>resolve</a:t>
            </a:r>
            <a:r>
              <a:rPr lang="en-US" dirty="0"/>
              <a:t> (translate) the name</a:t>
            </a:r>
          </a:p>
          <a:p>
            <a:r>
              <a:rPr lang="en-US" dirty="0"/>
              <a:t>If that server doesn’t know the mapping, it in turn will ask another DNS server, and so on, until the host name can be resolved into an IP address</a:t>
            </a:r>
          </a:p>
          <a:p>
            <a:r>
              <a:rPr lang="en-US" dirty="0"/>
              <a:t>That IP address is sent to your computer to help it initiate communication with the remote host</a:t>
            </a:r>
          </a:p>
        </p:txBody>
      </p:sp>
    </p:spTree>
    <p:extLst>
      <p:ext uri="{BB962C8B-B14F-4D97-AF65-F5344CB8AC3E}">
        <p14:creationId xmlns:p14="http://schemas.microsoft.com/office/powerpoint/2010/main" val="37150601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D215F-C66B-4BDD-BFEB-2AB43291A0F1}"/>
              </a:ext>
            </a:extLst>
          </p:cNvPr>
          <p:cNvSpPr>
            <a:spLocks noGrp="1"/>
          </p:cNvSpPr>
          <p:nvPr>
            <p:ph type="title"/>
          </p:nvPr>
        </p:nvSpPr>
        <p:spPr/>
        <p:txBody>
          <a:bodyPr/>
          <a:lstStyle/>
          <a:p>
            <a:r>
              <a:rPr lang="en-US" dirty="0"/>
              <a:t>Domain Name System: Example</a:t>
            </a:r>
          </a:p>
        </p:txBody>
      </p:sp>
      <p:pic>
        <p:nvPicPr>
          <p:cNvPr id="4" name="Picture 4" descr="Figure_3">
            <a:extLst>
              <a:ext uri="{FF2B5EF4-FFF2-40B4-BE49-F238E27FC236}">
                <a16:creationId xmlns:a16="http://schemas.microsoft.com/office/drawing/2014/main" id="{B37CD87D-516F-44EF-B655-1FCBF43681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779"/>
          <a:stretch/>
        </p:blipFill>
        <p:spPr bwMode="auto">
          <a:xfrm>
            <a:off x="1435688" y="1615440"/>
            <a:ext cx="8002601" cy="4699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62563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Network Organization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Computer networks are often classified according to their geographic service areas.  </a:t>
            </a:r>
          </a:p>
          <a:p>
            <a:r>
              <a:rPr lang="en-US" dirty="0"/>
              <a:t>The smallest networks are </a:t>
            </a:r>
            <a:r>
              <a:rPr lang="en-US" b="1" dirty="0"/>
              <a:t>local area networks (LANs)</a:t>
            </a:r>
            <a:r>
              <a:rPr lang="en-US" dirty="0"/>
              <a:t>. LANs are typically used in a single building, or a group of buildings that are near each other.  </a:t>
            </a:r>
          </a:p>
          <a:p>
            <a:r>
              <a:rPr lang="en-US" b="1" dirty="0"/>
              <a:t>Metropolitan area networks (MANs)</a:t>
            </a:r>
            <a:r>
              <a:rPr lang="en-US" dirty="0"/>
              <a:t> are networks that cover a city and its environs.  </a:t>
            </a:r>
          </a:p>
          <a:p>
            <a:pPr lvl="1"/>
            <a:r>
              <a:rPr lang="en-US" dirty="0"/>
              <a:t>LANs are becoming faster and more easily integrated with WAN technology, it is conceivable that someday the concept of a MAN may disappear entirely.</a:t>
            </a:r>
          </a:p>
          <a:p>
            <a:r>
              <a:rPr lang="en-US" b="1" dirty="0"/>
              <a:t>Wide area networks (WANs)</a:t>
            </a:r>
            <a:r>
              <a:rPr lang="en-US" dirty="0"/>
              <a:t> can cover multiple cities, or span the entire world. </a:t>
            </a:r>
          </a:p>
          <a:p>
            <a:endParaRPr lang="en-US" dirty="0"/>
          </a:p>
        </p:txBody>
      </p:sp>
    </p:spTree>
    <p:extLst>
      <p:ext uri="{BB962C8B-B14F-4D97-AF65-F5344CB8AC3E}">
        <p14:creationId xmlns:p14="http://schemas.microsoft.com/office/powerpoint/2010/main" val="12026673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Physical Network Organization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Now we’ll consider the physical network components common to LANs, MANs and WANs.</a:t>
            </a:r>
          </a:p>
          <a:p>
            <a:r>
              <a:rPr lang="en-US" dirty="0"/>
              <a:t>We start at the lowest level of network organization, the physical medium level.</a:t>
            </a:r>
          </a:p>
          <a:p>
            <a:r>
              <a:rPr lang="en-US" dirty="0"/>
              <a:t>There are two general types of communications media: </a:t>
            </a:r>
            <a:r>
              <a:rPr lang="en-US" b="1" dirty="0"/>
              <a:t>guided</a:t>
            </a:r>
            <a:r>
              <a:rPr lang="en-US" dirty="0"/>
              <a:t> transmission media and </a:t>
            </a:r>
            <a:r>
              <a:rPr lang="en-US" b="1" dirty="0"/>
              <a:t>unguided</a:t>
            </a:r>
            <a:r>
              <a:rPr lang="en-US" dirty="0"/>
              <a:t> transmission media. </a:t>
            </a:r>
          </a:p>
          <a:p>
            <a:pPr lvl="1"/>
            <a:r>
              <a:rPr lang="en-US" dirty="0"/>
              <a:t>Unguided media broadcast data over the airwaves using infrared, microwave, satellite, or broadcast radio carrier signals. </a:t>
            </a:r>
          </a:p>
          <a:p>
            <a:pPr lvl="1"/>
            <a:r>
              <a:rPr lang="en-US" dirty="0"/>
              <a:t>Guided media are physical connectors such as copper wire or fiber optic cable that directly connect to each network node.</a:t>
            </a:r>
          </a:p>
          <a:p>
            <a:r>
              <a:rPr lang="en-US" dirty="0"/>
              <a:t>The electrical phenomena that work against the accurate transmission of signals are called </a:t>
            </a:r>
            <a:r>
              <a:rPr lang="en-US" b="1" dirty="0"/>
              <a:t>noise</a:t>
            </a:r>
            <a:r>
              <a:rPr lang="en-US" dirty="0"/>
              <a:t>.  </a:t>
            </a:r>
          </a:p>
          <a:p>
            <a:endParaRPr lang="en-US" dirty="0"/>
          </a:p>
        </p:txBody>
      </p:sp>
    </p:spTree>
    <p:extLst>
      <p:ext uri="{BB962C8B-B14F-4D97-AF65-F5344CB8AC3E}">
        <p14:creationId xmlns:p14="http://schemas.microsoft.com/office/powerpoint/2010/main" val="27648566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Physical Network Organization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Signal and noise strengths are both measured in decibels (dB).  </a:t>
            </a:r>
          </a:p>
          <a:p>
            <a:r>
              <a:rPr lang="en-US" dirty="0"/>
              <a:t>Cables are rated according to how well they convey signals at different frequencies in the presence of noise. </a:t>
            </a:r>
          </a:p>
          <a:p>
            <a:r>
              <a:rPr lang="en-US" dirty="0"/>
              <a:t>The </a:t>
            </a:r>
            <a:r>
              <a:rPr lang="en-US" b="1" dirty="0"/>
              <a:t>signal-to-noise</a:t>
            </a:r>
            <a:r>
              <a:rPr lang="en-US" dirty="0"/>
              <a:t> rating, measured in decibels, quantifies the quality of the communications channel.</a:t>
            </a:r>
          </a:p>
          <a:p>
            <a:r>
              <a:rPr lang="en-US" dirty="0"/>
              <a:t>The </a:t>
            </a:r>
            <a:r>
              <a:rPr lang="en-US" b="1" dirty="0"/>
              <a:t>bandwidth</a:t>
            </a:r>
            <a:r>
              <a:rPr lang="en-US" dirty="0"/>
              <a:t> of a medium is technically the range of frequencies that it can carry, measured in Hertz. </a:t>
            </a:r>
          </a:p>
          <a:p>
            <a:r>
              <a:rPr lang="en-US" dirty="0"/>
              <a:t>In digital communications, bandwidth is the general term for the information-carrying capacity of a medium, measured in bits per second (bps). </a:t>
            </a:r>
          </a:p>
          <a:p>
            <a:r>
              <a:rPr lang="en-US" dirty="0"/>
              <a:t>Another important measure is </a:t>
            </a:r>
            <a:r>
              <a:rPr lang="en-US" b="1" dirty="0"/>
              <a:t>bit error rate (BER)</a:t>
            </a:r>
            <a:r>
              <a:rPr lang="en-US" dirty="0"/>
              <a:t>, which is the ratio of the number of bits received in error to the total number of bits received. </a:t>
            </a:r>
          </a:p>
          <a:p>
            <a:endParaRPr lang="en-US" dirty="0"/>
          </a:p>
        </p:txBody>
      </p:sp>
    </p:spTree>
    <p:extLst>
      <p:ext uri="{BB962C8B-B14F-4D97-AF65-F5344CB8AC3E}">
        <p14:creationId xmlns:p14="http://schemas.microsoft.com/office/powerpoint/2010/main" val="6710568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Network Cabling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5177872" cy="5257800"/>
          </a:xfrm>
        </p:spPr>
        <p:txBody>
          <a:bodyPr>
            <a:normAutofit/>
          </a:bodyPr>
          <a:lstStyle/>
          <a:p>
            <a:r>
              <a:rPr lang="en-US" dirty="0"/>
              <a:t>Coaxial cable was once the medium of choice for data communications.  </a:t>
            </a:r>
          </a:p>
          <a:p>
            <a:r>
              <a:rPr lang="en-US" dirty="0"/>
              <a:t>It can carry signals up to trillions of cycles per second with low </a:t>
            </a:r>
            <a:r>
              <a:rPr lang="en-US" b="1" dirty="0"/>
              <a:t>attenuation</a:t>
            </a:r>
            <a:r>
              <a:rPr lang="en-US" dirty="0"/>
              <a:t> (loss of signal strength). </a:t>
            </a:r>
          </a:p>
          <a:p>
            <a:r>
              <a:rPr lang="en-US" dirty="0"/>
              <a:t>Today, it is used mostly for broadcast and closed circuit television applications.  </a:t>
            </a:r>
          </a:p>
          <a:p>
            <a:endParaRPr lang="en-US" dirty="0"/>
          </a:p>
          <a:p>
            <a:endParaRPr lang="en-US" dirty="0"/>
          </a:p>
        </p:txBody>
      </p:sp>
      <p:pic>
        <p:nvPicPr>
          <p:cNvPr id="4" name="Picture 5" descr="9781284033144_CH12_FIG12.jpg">
            <a:extLst>
              <a:ext uri="{FF2B5EF4-FFF2-40B4-BE49-F238E27FC236}">
                <a16:creationId xmlns:a16="http://schemas.microsoft.com/office/drawing/2014/main" id="{9969FEA6-F4D3-48FF-83C6-1E54C9414C8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87472" y="1219200"/>
            <a:ext cx="579492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24026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Network Cabling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5177872" cy="5257800"/>
          </a:xfrm>
        </p:spPr>
        <p:txBody>
          <a:bodyPr>
            <a:normAutofit/>
          </a:bodyPr>
          <a:lstStyle/>
          <a:p>
            <a:r>
              <a:rPr lang="en-US" dirty="0"/>
              <a:t>Coaxial cable also carries signals for residential Internet services </a:t>
            </a:r>
            <a:br>
              <a:rPr lang="en-US" dirty="0"/>
            </a:br>
            <a:r>
              <a:rPr lang="en-US" dirty="0"/>
              <a:t>that piggyback on cable television lines.</a:t>
            </a:r>
          </a:p>
          <a:p>
            <a:r>
              <a:rPr lang="en-US" dirty="0"/>
              <a:t>The </a:t>
            </a:r>
            <a:r>
              <a:rPr lang="en-US" b="1" dirty="0" err="1"/>
              <a:t>dialectric</a:t>
            </a:r>
            <a:r>
              <a:rPr lang="en-US" dirty="0"/>
              <a:t> insulates the conductor, while the metallic shield and braid form two layers of protection from external electromagnetic interference</a:t>
            </a:r>
          </a:p>
          <a:p>
            <a:endParaRPr lang="en-US" dirty="0"/>
          </a:p>
        </p:txBody>
      </p:sp>
      <p:pic>
        <p:nvPicPr>
          <p:cNvPr id="4" name="Picture 5" descr="9781284033144_CH12_FIG12.jpg">
            <a:extLst>
              <a:ext uri="{FF2B5EF4-FFF2-40B4-BE49-F238E27FC236}">
                <a16:creationId xmlns:a16="http://schemas.microsoft.com/office/drawing/2014/main" id="{9969FEA6-F4D3-48FF-83C6-1E54C9414C8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87472" y="1219200"/>
            <a:ext cx="579492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25287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Network Cabling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4876800" cy="5257800"/>
          </a:xfrm>
        </p:spPr>
        <p:txBody>
          <a:bodyPr>
            <a:normAutofit lnSpcReduction="10000"/>
          </a:bodyPr>
          <a:lstStyle/>
          <a:p>
            <a:pPr>
              <a:spcBef>
                <a:spcPts val="600"/>
              </a:spcBef>
            </a:pPr>
            <a:r>
              <a:rPr lang="en-US" altLang="en-US" b="1" dirty="0">
                <a:cs typeface="Arial" charset="0"/>
              </a:rPr>
              <a:t>Twisted pair</a:t>
            </a:r>
            <a:r>
              <a:rPr lang="en-US" altLang="en-US" dirty="0">
                <a:cs typeface="Arial" charset="0"/>
              </a:rPr>
              <a:t> cabling, containing two twisted wire pairs, is found in most local area network installations today.</a:t>
            </a:r>
          </a:p>
          <a:p>
            <a:pPr>
              <a:spcBef>
                <a:spcPts val="600"/>
              </a:spcBef>
            </a:pPr>
            <a:r>
              <a:rPr lang="en-US" altLang="en-US" dirty="0">
                <a:cs typeface="Arial" charset="0"/>
              </a:rPr>
              <a:t>It comes in two varieties: shielded and unshielded.  Unshielded twisted pair is the most popular.</a:t>
            </a:r>
          </a:p>
          <a:p>
            <a:pPr>
              <a:spcBef>
                <a:spcPts val="600"/>
              </a:spcBef>
            </a:pPr>
            <a:r>
              <a:rPr lang="en-US" altLang="en-US" dirty="0"/>
              <a:t>The twists in the cable help to cancel out </a:t>
            </a:r>
            <a:r>
              <a:rPr lang="en-US" altLang="en-US" b="1" dirty="0"/>
              <a:t>inductance</a:t>
            </a:r>
            <a:r>
              <a:rPr lang="en-US" altLang="en-US" dirty="0"/>
              <a:t>, electromagnetic interference caused by the current in the wires themselves</a:t>
            </a:r>
          </a:p>
          <a:p>
            <a:pPr>
              <a:spcBef>
                <a:spcPts val="600"/>
              </a:spcBef>
            </a:pPr>
            <a:endParaRPr lang="en-US" altLang="en-US" dirty="0">
              <a:cs typeface="Arial" charset="0"/>
            </a:endParaRPr>
          </a:p>
          <a:p>
            <a:endParaRPr lang="en-US" dirty="0"/>
          </a:p>
        </p:txBody>
      </p:sp>
      <p:pic>
        <p:nvPicPr>
          <p:cNvPr id="4" name="Picture 5" descr="9781284033144_CH12_FIG13.jpg">
            <a:extLst>
              <a:ext uri="{FF2B5EF4-FFF2-40B4-BE49-F238E27FC236}">
                <a16:creationId xmlns:a16="http://schemas.microsoft.com/office/drawing/2014/main" id="{4F9C8FF4-B349-4D41-9393-D310FAAE48B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21104" y="1319400"/>
            <a:ext cx="5961296" cy="19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22827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Optical Fiber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Optical fiber network media can carry signals faster and farther than either or twisted pair or coaxial cable.  </a:t>
                </a:r>
              </a:p>
              <a:p>
                <a:r>
                  <a:rPr lang="en-US" dirty="0"/>
                  <a:t>Fiber optic cable is theoretically able to support frequencies in the THz range, but transmission speeds are more commonly in the range of about </a:t>
                </a:r>
                <a:br>
                  <a:rPr lang="en-US" dirty="0"/>
                </a:br>
                <a:r>
                  <a:rPr lang="en-US" dirty="0"/>
                  <a:t>2 GHz, carried over runs of 10 to 100 km (without repeaters).  </a:t>
                </a:r>
              </a:p>
              <a:p>
                <a:r>
                  <a:rPr lang="en-US" dirty="0"/>
                  <a:t>Optical cable consists of bundles of  thin (1.5 to 125 </a:t>
                </a:r>
                <a14:m>
                  <m:oMath xmlns:m="http://schemas.openxmlformats.org/officeDocument/2006/math">
                    <m:r>
                      <m:rPr>
                        <m:sty m:val="p"/>
                      </m:rPr>
                      <a:rPr lang="en-US" b="0" i="0" smtClean="0">
                        <a:latin typeface="Cambria Math" panose="02040503050406030204" pitchFamily="18" charset="0"/>
                      </a:rPr>
                      <m:t>μ</m:t>
                    </m:r>
                  </m:oMath>
                </a14:m>
                <a:r>
                  <a:rPr lang="en-US" dirty="0"/>
                  <a:t>m) glass or plastic strands surrounded by a protective plastic sheath.</a:t>
                </a:r>
              </a:p>
            </p:txBody>
          </p:sp>
        </mc:Choice>
        <mc:Fallback xmlns="">
          <p:sp>
            <p:nvSpPr>
              <p:cNvPr id="3" name="Content Placeholder 2">
                <a:extLst>
                  <a:ext uri="{FF2B5EF4-FFF2-40B4-BE49-F238E27FC236}">
                    <a16:creationId xmlns=""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r="-111"/>
                </a:stretch>
              </a:blipFill>
            </p:spPr>
            <p:txBody>
              <a:bodyPr/>
              <a:lstStyle/>
              <a:p>
                <a:r>
                  <a:rPr lang="en-US">
                    <a:noFill/>
                  </a:rPr>
                  <a:t> </a:t>
                </a:r>
              </a:p>
            </p:txBody>
          </p:sp>
        </mc:Fallback>
      </mc:AlternateContent>
    </p:spTree>
    <p:extLst>
      <p:ext uri="{BB962C8B-B14F-4D97-AF65-F5344CB8AC3E}">
        <p14:creationId xmlns:p14="http://schemas.microsoft.com/office/powerpoint/2010/main" val="7196049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Optical Fiber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a:bodyPr>
          <a:lstStyle/>
          <a:p>
            <a:r>
              <a:rPr lang="en-US" dirty="0"/>
              <a:t>Optical fiber supports three different transmission modes depending on the type of fiber used. </a:t>
            </a:r>
          </a:p>
          <a:p>
            <a:r>
              <a:rPr lang="en-US" b="1" dirty="0"/>
              <a:t>Single-mode</a:t>
            </a:r>
            <a:r>
              <a:rPr lang="en-US" dirty="0"/>
              <a:t> fiber provides the fastest data rates over the longest distances. It passes light at only one wavelength, typically, 850, 1300 or 1500 nanometers. </a:t>
            </a:r>
          </a:p>
          <a:p>
            <a:endParaRPr lang="en-US" dirty="0"/>
          </a:p>
          <a:p>
            <a:pPr marL="0" indent="0">
              <a:buNone/>
            </a:pPr>
            <a:endParaRPr lang="en-US" dirty="0"/>
          </a:p>
          <a:p>
            <a:r>
              <a:rPr lang="en-US" dirty="0"/>
              <a:t>Multimode fiber can carry several different light wavelengths simultaneously through a larger fiber core.</a:t>
            </a:r>
          </a:p>
          <a:p>
            <a:endParaRPr lang="en-US" dirty="0"/>
          </a:p>
        </p:txBody>
      </p:sp>
      <p:pic>
        <p:nvPicPr>
          <p:cNvPr id="4" name="Picture 5" descr="9781284033144_CH12_FIG15.jpg">
            <a:extLst>
              <a:ext uri="{FF2B5EF4-FFF2-40B4-BE49-F238E27FC236}">
                <a16:creationId xmlns:a16="http://schemas.microsoft.com/office/drawing/2014/main" id="{FEDF874A-9FDA-4945-BB2E-0113EF0F2DCA}"/>
              </a:ext>
            </a:extLst>
          </p:cNvPr>
          <p:cNvPicPr>
            <a:picLocks noChangeAspect="1"/>
          </p:cNvPicPr>
          <p:nvPr/>
        </p:nvPicPr>
        <p:blipFill rotWithShape="1">
          <a:blip r:embed="rId2">
            <a:extLst>
              <a:ext uri="{28A0092B-C50C-407E-A947-70E740481C1C}">
                <a14:useLocalDpi xmlns:a14="http://schemas.microsoft.com/office/drawing/2010/main" val="0"/>
              </a:ext>
            </a:extLst>
          </a:blip>
          <a:srcRect l="5734" b="76375"/>
          <a:stretch/>
        </p:blipFill>
        <p:spPr bwMode="auto">
          <a:xfrm>
            <a:off x="1346449" y="3813295"/>
            <a:ext cx="7322457" cy="887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9781284033144_CH12_FIG15.jpg">
            <a:extLst>
              <a:ext uri="{FF2B5EF4-FFF2-40B4-BE49-F238E27FC236}">
                <a16:creationId xmlns:a16="http://schemas.microsoft.com/office/drawing/2014/main" id="{A1F9A82A-C590-48AB-A97C-7AB6444CB338}"/>
              </a:ext>
            </a:extLst>
          </p:cNvPr>
          <p:cNvPicPr>
            <a:picLocks noChangeAspect="1"/>
          </p:cNvPicPr>
          <p:nvPr/>
        </p:nvPicPr>
        <p:blipFill rotWithShape="1">
          <a:blip r:embed="rId2">
            <a:extLst>
              <a:ext uri="{28A0092B-C50C-407E-A947-70E740481C1C}">
                <a14:useLocalDpi xmlns:a14="http://schemas.microsoft.com/office/drawing/2010/main" val="0"/>
              </a:ext>
            </a:extLst>
          </a:blip>
          <a:srcRect l="6170" t="37785" b="38021"/>
          <a:stretch/>
        </p:blipFill>
        <p:spPr bwMode="auto">
          <a:xfrm>
            <a:off x="1244309" y="5811813"/>
            <a:ext cx="8017468" cy="1000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3293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Optical Fiber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Fiber optic media offer many advantages over copper, the most obvious being its enormous signal-carrying capacity.  </a:t>
            </a:r>
          </a:p>
          <a:p>
            <a:r>
              <a:rPr lang="en-US" dirty="0"/>
              <a:t>It is also immune to electro-magnetic interference and radio frequency interference, making it ideal for deployment in industrial facilities.  </a:t>
            </a:r>
          </a:p>
          <a:p>
            <a:r>
              <a:rPr lang="en-US" dirty="0"/>
              <a:t>Fiber optic is small and lightweight, one fiber being capable of replacing 100s of pairs of copper wires</a:t>
            </a:r>
          </a:p>
          <a:p>
            <a:r>
              <a:rPr lang="en-US" dirty="0"/>
              <a:t>But optical cable is fragile and costly to purchase and install. Because of this, fiber is most often used as network </a:t>
            </a:r>
            <a:r>
              <a:rPr lang="en-US" b="1" dirty="0"/>
              <a:t>backbone cable</a:t>
            </a:r>
            <a:r>
              <a:rPr lang="en-US" dirty="0"/>
              <a:t>, which bears the traffic of hundreds or thousands of users.</a:t>
            </a:r>
          </a:p>
          <a:p>
            <a:pPr lvl="1"/>
            <a:r>
              <a:rPr lang="en-US" dirty="0"/>
              <a:t>The Internet backbone consists of high-speed optical fiber, for examples</a:t>
            </a:r>
          </a:p>
        </p:txBody>
      </p:sp>
    </p:spTree>
    <p:extLst>
      <p:ext uri="{BB962C8B-B14F-4D97-AF65-F5344CB8AC3E}">
        <p14:creationId xmlns:p14="http://schemas.microsoft.com/office/powerpoint/2010/main" val="1642349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Wireless Networks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Unguided data communications media transmit bytes over carrier waves such as those provided by cellular telephone networks, Bluetooth, and wireless LANs.</a:t>
            </a:r>
          </a:p>
          <a:p>
            <a:pPr lvl="1"/>
            <a:r>
              <a:rPr lang="en-US" dirty="0"/>
              <a:t>There are others, including free space optical lasers, microwaves, and satellite communications, to name a few.</a:t>
            </a:r>
          </a:p>
          <a:p>
            <a:r>
              <a:rPr lang="en-US" dirty="0"/>
              <a:t>Cellular wireless networks use a cellular telephone network to transmit data.</a:t>
            </a:r>
          </a:p>
          <a:p>
            <a:r>
              <a:rPr lang="en-US" dirty="0"/>
              <a:t>First generation technology allowed a maximum transmission rate of around 1 Mbps.</a:t>
            </a:r>
          </a:p>
          <a:p>
            <a:r>
              <a:rPr lang="en-US" dirty="0"/>
              <a:t>Current generation wireless communication protocols can support transmission speeds of well over 1 </a:t>
            </a:r>
            <a:r>
              <a:rPr lang="en-US" dirty="0" err="1"/>
              <a:t>Gbps</a:t>
            </a:r>
            <a:endParaRPr lang="en-US" dirty="0"/>
          </a:p>
        </p:txBody>
      </p:sp>
    </p:spTree>
    <p:extLst>
      <p:ext uri="{BB962C8B-B14F-4D97-AF65-F5344CB8AC3E}">
        <p14:creationId xmlns:p14="http://schemas.microsoft.com/office/powerpoint/2010/main" val="10665203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Cell Networks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10972800" cy="5257800"/>
          </a:xfrm>
        </p:spPr>
        <p:txBody>
          <a:bodyPr/>
          <a:lstStyle/>
          <a:p>
            <a:r>
              <a:rPr lang="en-US" dirty="0"/>
              <a:t>Cell network data technology in its third generation (3G) supports transmission rates up to 2.048 Mbps</a:t>
            </a:r>
          </a:p>
          <a:p>
            <a:r>
              <a:rPr lang="en-US" dirty="0"/>
              <a:t>3G also supports a wide array of equipment, including the seamless integration of low-Earth-orbiting (LEO) satellites.</a:t>
            </a:r>
          </a:p>
          <a:p>
            <a:r>
              <a:rPr lang="en-US" dirty="0"/>
              <a:t>This technology standard is intended to possible for the entire world to have mobile web access</a:t>
            </a:r>
          </a:p>
          <a:p>
            <a:r>
              <a:rPr lang="en-US" dirty="0"/>
              <a:t>4G cell phone networks come in several forms, LTE (Long Term Evolution) being the most common</a:t>
            </a:r>
          </a:p>
          <a:p>
            <a:r>
              <a:rPr lang="en-US" dirty="0"/>
              <a:t>It supports download speeds of up to 10 times that that of 3G</a:t>
            </a:r>
          </a:p>
          <a:p>
            <a:endParaRPr lang="en-US" dirty="0"/>
          </a:p>
        </p:txBody>
      </p:sp>
    </p:spTree>
    <p:extLst>
      <p:ext uri="{BB962C8B-B14F-4D97-AF65-F5344CB8AC3E}">
        <p14:creationId xmlns:p14="http://schemas.microsoft.com/office/powerpoint/2010/main" val="14043223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Cell Networks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920406" cy="5257800"/>
          </a:xfrm>
        </p:spPr>
        <p:txBody>
          <a:bodyPr/>
          <a:lstStyle/>
          <a:p>
            <a:r>
              <a:rPr lang="en-US" dirty="0"/>
              <a:t>Each base station uses a different set of frequencies</a:t>
            </a:r>
          </a:p>
          <a:p>
            <a:r>
              <a:rPr lang="en-US" dirty="0"/>
              <a:t>Multiple base stations covering a device can provide geolocation</a:t>
            </a:r>
          </a:p>
          <a:p>
            <a:r>
              <a:rPr lang="en-US" dirty="0"/>
              <a:t>Cell towers can re-use frequencies if they are assigned properly, as shown below</a:t>
            </a:r>
          </a:p>
          <a:p>
            <a:pPr>
              <a:spcBef>
                <a:spcPts val="600"/>
              </a:spcBef>
            </a:pPr>
            <a:endParaRPr lang="en-US" altLang="en-US" dirty="0">
              <a:latin typeface="Arial" charset="0"/>
              <a:cs typeface="Arial" charset="0"/>
            </a:endParaRPr>
          </a:p>
          <a:p>
            <a:endParaRPr lang="en-US" dirty="0"/>
          </a:p>
        </p:txBody>
      </p:sp>
      <p:pic>
        <p:nvPicPr>
          <p:cNvPr id="4" name="Picture 2" descr="https://upload.wikimedia.org/wikipedia/commons/thumb/e/ee/Frequency_reuse.svg/400px-Frequency_reuse.svg.png">
            <a:extLst>
              <a:ext uri="{FF2B5EF4-FFF2-40B4-BE49-F238E27FC236}">
                <a16:creationId xmlns:a16="http://schemas.microsoft.com/office/drawing/2014/main" id="{4EB7F5C0-4823-4D89-AB5E-24B884BEC0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0360" y="3312160"/>
            <a:ext cx="3508089" cy="283278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blogs-images.forbes.com/afontevecchia/files/2011/03/cell_tower.png">
            <a:extLst>
              <a:ext uri="{FF2B5EF4-FFF2-40B4-BE49-F238E27FC236}">
                <a16:creationId xmlns:a16="http://schemas.microsoft.com/office/drawing/2014/main" id="{2107E9F5-5E2E-4FE1-AE89-3CDE24DAD1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0006" y="1079874"/>
            <a:ext cx="2052394" cy="5355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99255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Bluetooth</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Bluetooth was first conceived by Ericsson in 1994.</a:t>
            </a:r>
          </a:p>
          <a:p>
            <a:r>
              <a:rPr lang="en-US" dirty="0"/>
              <a:t>Bluetooth’s original purpose was to connect up to seven small </a:t>
            </a:r>
            <a:br>
              <a:rPr lang="en-US" dirty="0"/>
            </a:br>
            <a:r>
              <a:rPr lang="en-US" dirty="0"/>
              <a:t>peripheral devices with a nearby host. </a:t>
            </a:r>
          </a:p>
          <a:p>
            <a:pPr lvl="1"/>
            <a:r>
              <a:rPr lang="en-US" dirty="0"/>
              <a:t>Examples include mice, keyboards, printers, cameras, mobile phone headsets</a:t>
            </a:r>
          </a:p>
          <a:p>
            <a:r>
              <a:rPr lang="en-US" dirty="0"/>
              <a:t>The collection of these devices forms a </a:t>
            </a:r>
            <a:r>
              <a:rPr lang="en-US" b="1" dirty="0"/>
              <a:t>personal area network</a:t>
            </a:r>
            <a:r>
              <a:rPr lang="en-US" dirty="0"/>
              <a:t>, or </a:t>
            </a:r>
            <a:r>
              <a:rPr lang="en-US" b="1" dirty="0" err="1"/>
              <a:t>piconet</a:t>
            </a:r>
            <a:r>
              <a:rPr lang="en-US" dirty="0"/>
              <a:t>.</a:t>
            </a:r>
          </a:p>
          <a:p>
            <a:r>
              <a:rPr lang="en-US" dirty="0"/>
              <a:t>Transmission at 720 Kbps occurs over an unregulated 2.45 GHz frequency using power no greater than 100 </a:t>
            </a:r>
            <a:r>
              <a:rPr lang="en-US" dirty="0" err="1"/>
              <a:t>milliwatts</a:t>
            </a:r>
            <a:r>
              <a:rPr lang="en-US" dirty="0"/>
              <a:t>.</a:t>
            </a:r>
          </a:p>
          <a:p>
            <a:r>
              <a:rPr lang="en-US" dirty="0"/>
              <a:t>Recent versions of Bluetooth support very low energy modes to conserve power and different transmission modes to increase the transmission range of devices (but at the cost of transmission speed)</a:t>
            </a:r>
          </a:p>
          <a:p>
            <a:pPr lvl="1"/>
            <a:r>
              <a:rPr lang="en-US" dirty="0"/>
              <a:t>Bluetooth 5 (the latest version) is especially targeted to support the Internet of Things so that many devices in a small area can communicate easily</a:t>
            </a:r>
          </a:p>
        </p:txBody>
      </p:sp>
      <p:pic>
        <p:nvPicPr>
          <p:cNvPr id="1028" name="Picture 4" descr="https://www.pcmech.com/wp-content/uploads/2017/03/bluetooth-logo-300x223.png"/>
          <p:cNvPicPr>
            <a:picLocks noChangeAspect="1" noChangeArrowheads="1"/>
          </p:cNvPicPr>
          <p:nvPr/>
        </p:nvPicPr>
        <p:blipFill rotWithShape="1">
          <a:blip r:embed="rId2">
            <a:extLst>
              <a:ext uri="{28A0092B-C50C-407E-A947-70E740481C1C}">
                <a14:useLocalDpi xmlns:a14="http://schemas.microsoft.com/office/drawing/2010/main" val="0"/>
              </a:ext>
            </a:extLst>
          </a:blip>
          <a:srcRect l="29001" r="19666"/>
          <a:stretch/>
        </p:blipFill>
        <p:spPr bwMode="auto">
          <a:xfrm>
            <a:off x="10115549" y="274638"/>
            <a:ext cx="1466851"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68624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Wireless LANs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Wireless local area networks (WLANs) are generally slower than their wired counterparts, but they make up for this in their versatility.</a:t>
            </a:r>
          </a:p>
          <a:p>
            <a:pPr lvl="1"/>
            <a:r>
              <a:rPr lang="en-US" dirty="0"/>
              <a:t>A WLAN can be set up just about anywhere.</a:t>
            </a:r>
          </a:p>
          <a:p>
            <a:r>
              <a:rPr lang="en-US" dirty="0"/>
              <a:t>Several WLAN specifications are dominant in the US:</a:t>
            </a:r>
          </a:p>
          <a:p>
            <a:pPr lvl="1"/>
            <a:r>
              <a:rPr lang="en-US" dirty="0"/>
              <a:t>802.11g: up to 54 Mbps</a:t>
            </a:r>
          </a:p>
          <a:p>
            <a:pPr lvl="1"/>
            <a:r>
              <a:rPr lang="en-US" dirty="0"/>
              <a:t>802.11n: over 54 Mbps and up to 600 Mbps</a:t>
            </a:r>
          </a:p>
          <a:p>
            <a:pPr lvl="1"/>
            <a:r>
              <a:rPr lang="en-US" dirty="0"/>
              <a:t>802.11ac: speeds of 2 </a:t>
            </a:r>
            <a:r>
              <a:rPr lang="en-US" dirty="0" err="1"/>
              <a:t>Gbps</a:t>
            </a:r>
            <a:r>
              <a:rPr lang="en-US" dirty="0"/>
              <a:t> and higher are possible</a:t>
            </a:r>
          </a:p>
          <a:p>
            <a:r>
              <a:rPr lang="en-US" dirty="0"/>
              <a:t>The IEEE 802.11 series of standards also includes provisions for fast roaming, cellular integration, and management. </a:t>
            </a:r>
          </a:p>
          <a:p>
            <a:r>
              <a:rPr lang="en-US" altLang="en-US" dirty="0">
                <a:cs typeface="Arial" charset="0"/>
              </a:rPr>
              <a:t>WLANs consist of a collection of </a:t>
            </a:r>
            <a:r>
              <a:rPr lang="en-US" altLang="en-US" b="1" dirty="0">
                <a:cs typeface="Arial" charset="0"/>
              </a:rPr>
              <a:t>wireless access points</a:t>
            </a:r>
            <a:r>
              <a:rPr lang="en-US" altLang="en-US" dirty="0">
                <a:cs typeface="Arial" charset="0"/>
              </a:rPr>
              <a:t> (WAPs) that broadcast to nearby computer nodes.</a:t>
            </a:r>
          </a:p>
          <a:p>
            <a:endParaRPr lang="en-US" dirty="0"/>
          </a:p>
        </p:txBody>
      </p:sp>
    </p:spTree>
    <p:extLst>
      <p:ext uri="{BB962C8B-B14F-4D97-AF65-F5344CB8AC3E}">
        <p14:creationId xmlns:p14="http://schemas.microsoft.com/office/powerpoint/2010/main" val="36340680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Wireless LANs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600"/>
              </a:spcBef>
            </a:pPr>
            <a:r>
              <a:rPr lang="en-US" altLang="en-US" dirty="0">
                <a:cs typeface="Arial" charset="0"/>
              </a:rPr>
              <a:t>Communication distances in WLANs are limited by ambient interference and obstructions such as walls.</a:t>
            </a:r>
          </a:p>
          <a:p>
            <a:pPr lvl="1">
              <a:spcBef>
                <a:spcPts val="600"/>
              </a:spcBef>
            </a:pPr>
            <a:r>
              <a:rPr lang="en-US" altLang="en-US" dirty="0">
                <a:cs typeface="Arial" charset="0"/>
              </a:rPr>
              <a:t>Connection speeds decrease as distance and obstructions increase.</a:t>
            </a:r>
          </a:p>
          <a:p>
            <a:pPr>
              <a:spcBef>
                <a:spcPts val="600"/>
              </a:spcBef>
            </a:pPr>
            <a:r>
              <a:rPr lang="en-US" altLang="en-US" dirty="0">
                <a:cs typeface="Arial" charset="0"/>
              </a:rPr>
              <a:t>Security continues to be a concern even when encrypted connections to the WAP are employed.</a:t>
            </a:r>
          </a:p>
          <a:p>
            <a:pPr lvl="1">
              <a:spcBef>
                <a:spcPts val="600"/>
              </a:spcBef>
            </a:pPr>
            <a:r>
              <a:rPr lang="en-US" altLang="en-US" dirty="0"/>
              <a:t>Some security experts believe that it is impossible to make a WLAN as secure as a wired LAN.</a:t>
            </a:r>
          </a:p>
          <a:p>
            <a:endParaRPr lang="en-US" dirty="0"/>
          </a:p>
        </p:txBody>
      </p:sp>
    </p:spTree>
    <p:extLst>
      <p:ext uri="{BB962C8B-B14F-4D97-AF65-F5344CB8AC3E}">
        <p14:creationId xmlns:p14="http://schemas.microsoft.com/office/powerpoint/2010/main" val="31770892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Wired Networks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a:bodyPr>
          <a:lstStyle/>
          <a:p>
            <a:r>
              <a:rPr lang="en-US" dirty="0"/>
              <a:t>Transmission media are connected to clients, hosts and other network devices through network interfaces.  </a:t>
            </a:r>
          </a:p>
          <a:p>
            <a:r>
              <a:rPr lang="en-US" dirty="0"/>
              <a:t>Because these interfaces are often implemented on removable circuit boards, they are commonly called </a:t>
            </a:r>
            <a:r>
              <a:rPr lang="en-US" b="1" dirty="0"/>
              <a:t>network interface cards</a:t>
            </a:r>
            <a:r>
              <a:rPr lang="en-US" dirty="0"/>
              <a:t>, or simply </a:t>
            </a:r>
            <a:r>
              <a:rPr lang="en-US" b="1" dirty="0"/>
              <a:t>NICs</a:t>
            </a:r>
            <a:r>
              <a:rPr lang="en-US" dirty="0"/>
              <a:t>. </a:t>
            </a:r>
          </a:p>
          <a:p>
            <a:r>
              <a:rPr lang="en-US" dirty="0"/>
              <a:t>A NIC usually embodies the lowest three layers of the OSI protocol stack.  </a:t>
            </a:r>
          </a:p>
          <a:p>
            <a:r>
              <a:rPr lang="en-US" dirty="0"/>
              <a:t>NICs attach directly to a system’s main bus </a:t>
            </a:r>
            <a:br>
              <a:rPr lang="en-US" dirty="0"/>
            </a:br>
            <a:r>
              <a:rPr lang="en-US" dirty="0"/>
              <a:t>or a dedicated I/O bus.</a:t>
            </a:r>
          </a:p>
          <a:p>
            <a:r>
              <a:rPr lang="en-US" dirty="0"/>
              <a:t>Every network card has a unique 6-byte</a:t>
            </a:r>
            <a:br>
              <a:rPr lang="en-US" dirty="0"/>
            </a:br>
            <a:r>
              <a:rPr lang="en-US" dirty="0"/>
              <a:t>MAC (Media Access Control) address burned</a:t>
            </a:r>
            <a:br>
              <a:rPr lang="en-US" dirty="0"/>
            </a:br>
            <a:r>
              <a:rPr lang="en-US" dirty="0"/>
              <a:t>into its circuits.  </a:t>
            </a:r>
          </a:p>
        </p:txBody>
      </p:sp>
      <p:pic>
        <p:nvPicPr>
          <p:cNvPr id="4" name="Picture 2" descr="Image result for Network interface controller">
            <a:extLst>
              <a:ext uri="{FF2B5EF4-FFF2-40B4-BE49-F238E27FC236}">
                <a16:creationId xmlns:a16="http://schemas.microsoft.com/office/drawing/2014/main" id="{80E3F806-AFF3-4EB0-835D-9B63AA8098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11839" y="4099389"/>
            <a:ext cx="3487621" cy="2324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6081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Wired Networks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Network protocol layers map this physical MAC address to at least one l</a:t>
            </a:r>
            <a:r>
              <a:rPr lang="en-US" b="1" dirty="0"/>
              <a:t>ogical address</a:t>
            </a:r>
            <a:r>
              <a:rPr lang="en-US" dirty="0"/>
              <a:t> on the network (such as an IP address).</a:t>
            </a:r>
          </a:p>
          <a:p>
            <a:r>
              <a:rPr lang="en-US" dirty="0"/>
              <a:t>It is possible for one computer (logical address) to have two or more NICs, but each NIC will have a distinct MAC address.</a:t>
            </a:r>
          </a:p>
          <a:p>
            <a:r>
              <a:rPr lang="en-US" dirty="0"/>
              <a:t>One of the new aspects of IPv6 is to allow </a:t>
            </a:r>
            <a:r>
              <a:rPr lang="en-US" dirty="0" err="1"/>
              <a:t>autoconfiguration</a:t>
            </a:r>
            <a:r>
              <a:rPr lang="en-US" dirty="0"/>
              <a:t> of computers on the network by using their MAC addresses</a:t>
            </a:r>
          </a:p>
          <a:p>
            <a:r>
              <a:rPr lang="en-US" dirty="0"/>
              <a:t>This will make it easier for network administrators to permit new machines to enter the network without having to assign new IP addresses</a:t>
            </a:r>
          </a:p>
          <a:p>
            <a:r>
              <a:rPr lang="en-US" dirty="0"/>
              <a:t>Or likewise, it will make it easier to move machines to different networks – the computer does not need to be assigned a new IP address because address assignment will happen automatically using the MAC address</a:t>
            </a:r>
          </a:p>
          <a:p>
            <a:endParaRPr lang="en-US" dirty="0"/>
          </a:p>
        </p:txBody>
      </p:sp>
    </p:spTree>
    <p:extLst>
      <p:ext uri="{BB962C8B-B14F-4D97-AF65-F5344CB8AC3E}">
        <p14:creationId xmlns:p14="http://schemas.microsoft.com/office/powerpoint/2010/main" val="14976929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Ethernet</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Ethernet is the dominant technology for building wireless local area networks</a:t>
            </a:r>
          </a:p>
          <a:p>
            <a:r>
              <a:rPr lang="en-US" dirty="0"/>
              <a:t>Ethernet works at the Data Link layer (layer 2)</a:t>
            </a:r>
          </a:p>
          <a:p>
            <a:r>
              <a:rPr lang="en-US" dirty="0"/>
              <a:t>Older version of Ethernet use a </a:t>
            </a:r>
            <a:r>
              <a:rPr lang="en-US" b="1" dirty="0"/>
              <a:t>Carrier Sense Multiple Access / Collision Detection</a:t>
            </a:r>
            <a:r>
              <a:rPr lang="en-US" dirty="0"/>
              <a:t> (</a:t>
            </a:r>
            <a:r>
              <a:rPr lang="en-US" b="1" dirty="0"/>
              <a:t>CSMA/CD</a:t>
            </a:r>
            <a:r>
              <a:rPr lang="en-US" dirty="0"/>
              <a:t>) medium access control</a:t>
            </a:r>
          </a:p>
          <a:p>
            <a:r>
              <a:rPr lang="en-US" dirty="0"/>
              <a:t>Before attempting to transmit, the network interface checks if the communication medium is available</a:t>
            </a:r>
          </a:p>
          <a:p>
            <a:r>
              <a:rPr lang="en-US" dirty="0"/>
              <a:t>If not, it waits for a period of time and tries again</a:t>
            </a:r>
          </a:p>
          <a:p>
            <a:r>
              <a:rPr lang="en-US" dirty="0"/>
              <a:t>If two parties attempt to communicate simultaneously, a collision occurs, which is detected by both stations</a:t>
            </a:r>
          </a:p>
          <a:p>
            <a:endParaRPr lang="en-US" dirty="0"/>
          </a:p>
          <a:p>
            <a:endParaRPr lang="en-US" dirty="0"/>
          </a:p>
        </p:txBody>
      </p:sp>
    </p:spTree>
    <p:extLst>
      <p:ext uri="{BB962C8B-B14F-4D97-AF65-F5344CB8AC3E}">
        <p14:creationId xmlns:p14="http://schemas.microsoft.com/office/powerpoint/2010/main" val="27532558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Ethernet</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Older Ethernet networks were configured in a bus-style fashion and supported 10 Mbps:</a:t>
            </a:r>
          </a:p>
          <a:p>
            <a:endParaRPr lang="en-US" dirty="0"/>
          </a:p>
        </p:txBody>
      </p:sp>
      <p:pic>
        <p:nvPicPr>
          <p:cNvPr id="4" name="Picture 3">
            <a:extLst>
              <a:ext uri="{FF2B5EF4-FFF2-40B4-BE49-F238E27FC236}">
                <a16:creationId xmlns:a16="http://schemas.microsoft.com/office/drawing/2014/main" id="{27F9B606-2396-4484-A399-9A39C726B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0320" y="2712164"/>
            <a:ext cx="7348897" cy="3065387"/>
          </a:xfrm>
          <a:prstGeom prst="rect">
            <a:avLst/>
          </a:prstGeom>
        </p:spPr>
      </p:pic>
    </p:spTree>
    <p:extLst>
      <p:ext uri="{BB962C8B-B14F-4D97-AF65-F5344CB8AC3E}">
        <p14:creationId xmlns:p14="http://schemas.microsoft.com/office/powerpoint/2010/main" val="20893928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Ethernet</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A collision is detected by a higher-than-normal voltage on the bus</a:t>
            </a:r>
          </a:p>
          <a:p>
            <a:r>
              <a:rPr lang="en-US" dirty="0"/>
              <a:t>All stations see all communication across the bus and so look for their own addresses in frames, ignoring frames </a:t>
            </a:r>
            <a:br>
              <a:rPr lang="en-US" dirty="0"/>
            </a:br>
            <a:r>
              <a:rPr lang="en-US" dirty="0"/>
              <a:t>intended for other machines</a:t>
            </a:r>
          </a:p>
          <a:p>
            <a:pPr lvl="1"/>
            <a:r>
              <a:rPr lang="en-US" dirty="0"/>
              <a:t>This is all “old-style” Ethernet</a:t>
            </a:r>
          </a:p>
          <a:p>
            <a:r>
              <a:rPr lang="en-US" dirty="0"/>
              <a:t>Modern Ethernet networks use </a:t>
            </a:r>
            <a:br>
              <a:rPr lang="en-US" dirty="0"/>
            </a:br>
            <a:r>
              <a:rPr lang="en-US" b="1" dirty="0"/>
              <a:t>switches</a:t>
            </a:r>
            <a:r>
              <a:rPr lang="en-US" dirty="0"/>
              <a:t> to route traffic across the LAN </a:t>
            </a:r>
            <a:br>
              <a:rPr lang="en-US" dirty="0"/>
            </a:br>
            <a:r>
              <a:rPr lang="en-US" dirty="0"/>
              <a:t>and support (in theory) transmission </a:t>
            </a:r>
            <a:br>
              <a:rPr lang="en-US" dirty="0"/>
            </a:br>
            <a:r>
              <a:rPr lang="en-US" dirty="0"/>
              <a:t>rates up to 1 </a:t>
            </a:r>
            <a:r>
              <a:rPr lang="en-US" dirty="0" err="1"/>
              <a:t>Gbps</a:t>
            </a:r>
            <a:endParaRPr lang="en-US" dirty="0"/>
          </a:p>
          <a:p>
            <a:r>
              <a:rPr lang="en-US" dirty="0"/>
              <a:t>The switches control the medium, so </a:t>
            </a:r>
            <a:br>
              <a:rPr lang="en-US" dirty="0"/>
            </a:br>
            <a:r>
              <a:rPr lang="en-US" dirty="0"/>
              <a:t>collision detection across a shared bus </a:t>
            </a:r>
            <a:br>
              <a:rPr lang="en-US" dirty="0"/>
            </a:br>
            <a:r>
              <a:rPr lang="en-US" dirty="0"/>
              <a:t>is no longer required</a:t>
            </a:r>
          </a:p>
          <a:p>
            <a:endParaRPr lang="en-US" dirty="0"/>
          </a:p>
          <a:p>
            <a:endParaRPr lang="en-US" dirty="0"/>
          </a:p>
        </p:txBody>
      </p:sp>
      <p:pic>
        <p:nvPicPr>
          <p:cNvPr id="5" name="Picture 4">
            <a:extLst>
              <a:ext uri="{FF2B5EF4-FFF2-40B4-BE49-F238E27FC236}">
                <a16:creationId xmlns:a16="http://schemas.microsoft.com/office/drawing/2014/main" id="{2930FC3B-9D42-4BC3-8729-15B7B9F59A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3078" y="3088640"/>
            <a:ext cx="3999321" cy="3159607"/>
          </a:xfrm>
          <a:prstGeom prst="rect">
            <a:avLst/>
          </a:prstGeom>
        </p:spPr>
      </p:pic>
    </p:spTree>
    <p:extLst>
      <p:ext uri="{BB962C8B-B14F-4D97-AF65-F5344CB8AC3E}">
        <p14:creationId xmlns:p14="http://schemas.microsoft.com/office/powerpoint/2010/main" val="37789835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Other Networking Hardware: Repeaters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Signal attenuation in wireless and wired networks is corrected by </a:t>
            </a:r>
            <a:r>
              <a:rPr lang="en-US" b="1" dirty="0"/>
              <a:t>repeaters</a:t>
            </a:r>
            <a:r>
              <a:rPr lang="en-US" dirty="0"/>
              <a:t> that amplify signals in physical cabling.</a:t>
            </a:r>
          </a:p>
          <a:p>
            <a:pPr lvl="1"/>
            <a:r>
              <a:rPr lang="en-US" dirty="0"/>
              <a:t>Repeaters are part of the network medium (Layer 1).  </a:t>
            </a:r>
          </a:p>
          <a:p>
            <a:r>
              <a:rPr lang="en-US" dirty="0"/>
              <a:t>In theory, they are dumb devices functioning entirely without human intervention. However, some repeaters now offer higher-level services to assist with network management and troubleshooting. </a:t>
            </a:r>
          </a:p>
          <a:p>
            <a:endParaRPr lang="en-US" dirty="0"/>
          </a:p>
        </p:txBody>
      </p:sp>
      <p:pic>
        <p:nvPicPr>
          <p:cNvPr id="4" name="Picture 8" descr="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3120" y="4310083"/>
            <a:ext cx="6068769" cy="192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7225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Other Networking Hardware: Hubs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b="1" dirty="0"/>
              <a:t>Hubs</a:t>
            </a:r>
            <a:r>
              <a:rPr lang="en-US" dirty="0"/>
              <a:t> are also Physical layer devices, but they can have many ports for input and output.  </a:t>
            </a:r>
          </a:p>
          <a:p>
            <a:r>
              <a:rPr lang="en-US" dirty="0"/>
              <a:t>They receive incoming packets from one or more locations and broadcast the packets to one or more devices on the network.  </a:t>
            </a:r>
          </a:p>
          <a:p>
            <a:r>
              <a:rPr lang="en-US" dirty="0"/>
              <a:t>Hubs allow computers to be joined to form </a:t>
            </a:r>
            <a:r>
              <a:rPr lang="en-US" b="1" dirty="0"/>
              <a:t>network segments</a:t>
            </a:r>
            <a:r>
              <a:rPr lang="en-US" dirty="0"/>
              <a:t>. </a:t>
            </a:r>
          </a:p>
          <a:p>
            <a:endParaRPr lang="en-US" dirty="0"/>
          </a:p>
        </p:txBody>
      </p:sp>
      <p:pic>
        <p:nvPicPr>
          <p:cNvPr id="4" name="Picture 8" descr="44"/>
          <p:cNvPicPr>
            <a:picLocks noChangeAspect="1" noChangeArrowheads="1"/>
          </p:cNvPicPr>
          <p:nvPr/>
        </p:nvPicPr>
        <p:blipFill rotWithShape="1">
          <a:blip r:embed="rId2">
            <a:extLst>
              <a:ext uri="{28A0092B-C50C-407E-A947-70E740481C1C}">
                <a14:useLocalDpi xmlns:a14="http://schemas.microsoft.com/office/drawing/2010/main" val="0"/>
              </a:ext>
            </a:extLst>
          </a:blip>
          <a:srcRect b="8129"/>
          <a:stretch/>
        </p:blipFill>
        <p:spPr bwMode="auto">
          <a:xfrm>
            <a:off x="3718560" y="4220936"/>
            <a:ext cx="4592811" cy="1718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6103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Other Networking Hardware: Switches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A </a:t>
            </a:r>
            <a:r>
              <a:rPr lang="en-US" b="1" dirty="0"/>
              <a:t>switch</a:t>
            </a:r>
            <a:r>
              <a:rPr lang="en-US" dirty="0"/>
              <a:t> is a Data Link layer device that creates a point-to-point connection between one of its input ports and one of its output ports.</a:t>
            </a:r>
          </a:p>
          <a:p>
            <a:r>
              <a:rPr lang="en-US" dirty="0"/>
              <a:t>Switches contain buffered input ports, an equal number of output ports, a </a:t>
            </a:r>
            <a:r>
              <a:rPr lang="en-US" b="1" dirty="0"/>
              <a:t>switching fabric</a:t>
            </a:r>
            <a:r>
              <a:rPr lang="en-US" dirty="0"/>
              <a:t> and digital hardware that interprets address information encoded on network frames as they arrive in the input buffers. </a:t>
            </a:r>
          </a:p>
          <a:p>
            <a:r>
              <a:rPr lang="en-US" dirty="0"/>
              <a:t>Because all switching functions are carried out in hardware, switches are the preferred devices for interconnecting high-performance network components. </a:t>
            </a:r>
          </a:p>
          <a:p>
            <a:endParaRPr lang="en-US" dirty="0"/>
          </a:p>
        </p:txBody>
      </p:sp>
      <p:pic>
        <p:nvPicPr>
          <p:cNvPr id="1026" name="Picture 2" descr="https://upload.wikimedia.org/wikipedia/commons/b/b9/2550T-PWR-Fron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9024" y="5656203"/>
            <a:ext cx="4079947" cy="836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062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Other Networking Hardware: Bridges</a:t>
            </a:r>
          </a:p>
        </p:txBody>
      </p:sp>
      <p:pic>
        <p:nvPicPr>
          <p:cNvPr id="4" name="Picture 8" descr="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4546610"/>
            <a:ext cx="4343400" cy="190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838200" y="1825625"/>
            <a:ext cx="10515600" cy="4351338"/>
          </a:xfrm>
        </p:spPr>
        <p:txBody>
          <a:bodyPr/>
          <a:lstStyle/>
          <a:p>
            <a:r>
              <a:rPr lang="en-US" b="1" dirty="0"/>
              <a:t>Bridges</a:t>
            </a:r>
            <a:r>
              <a:rPr lang="en-US" dirty="0"/>
              <a:t> are Data Link layer devices that join two similar types of networks so they look like one network. </a:t>
            </a:r>
          </a:p>
          <a:p>
            <a:r>
              <a:rPr lang="en-US" dirty="0"/>
              <a:t>Bridges are “store and forward” devices – they hold an entire frame before forwarding it to the destination</a:t>
            </a:r>
          </a:p>
          <a:p>
            <a:r>
              <a:rPr lang="en-US" dirty="0"/>
              <a:t>Bridges also validate addresses so that only data being sent to a valid address is able to cross the bridge </a:t>
            </a:r>
          </a:p>
          <a:p>
            <a:endParaRPr lang="en-US" dirty="0"/>
          </a:p>
        </p:txBody>
      </p:sp>
    </p:spTree>
    <p:extLst>
      <p:ext uri="{BB962C8B-B14F-4D97-AF65-F5344CB8AC3E}">
        <p14:creationId xmlns:p14="http://schemas.microsoft.com/office/powerpoint/2010/main" val="394327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Other Networking Hardware: Gateways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Related to bridges are </a:t>
            </a:r>
            <a:r>
              <a:rPr lang="en-US" b="1" dirty="0"/>
              <a:t>gateways</a:t>
            </a:r>
          </a:p>
          <a:p>
            <a:r>
              <a:rPr lang="en-US" dirty="0"/>
              <a:t>Unlike a bridge, a gateway can connect two networks that use different protocols</a:t>
            </a:r>
          </a:p>
          <a:p>
            <a:r>
              <a:rPr lang="en-US" dirty="0"/>
              <a:t>A gateway could be a fully functional computer that can convert data types, provide encryption and decryption, and operate at any of the 7 OSI layers</a:t>
            </a:r>
          </a:p>
          <a:p>
            <a:r>
              <a:rPr lang="en-US" dirty="0"/>
              <a:t>On home networks, a </a:t>
            </a:r>
            <a:r>
              <a:rPr lang="en-US" b="1" dirty="0"/>
              <a:t>residential gateway</a:t>
            </a:r>
            <a:r>
              <a:rPr lang="en-US" dirty="0"/>
              <a:t> typically serves as the network gateway</a:t>
            </a:r>
          </a:p>
          <a:p>
            <a:pPr lvl="1"/>
            <a:r>
              <a:rPr lang="en-US" dirty="0"/>
              <a:t>A cable/DSL modem or wireless access point (or some combination thereof) could serve this purpose</a:t>
            </a:r>
          </a:p>
          <a:p>
            <a:endParaRPr lang="en-US" dirty="0"/>
          </a:p>
        </p:txBody>
      </p:sp>
    </p:spTree>
    <p:extLst>
      <p:ext uri="{BB962C8B-B14F-4D97-AF65-F5344CB8AC3E}">
        <p14:creationId xmlns:p14="http://schemas.microsoft.com/office/powerpoint/2010/main" val="25662246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Other Networking Hardware: Routers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A </a:t>
            </a:r>
            <a:r>
              <a:rPr lang="en-US" b="1" dirty="0"/>
              <a:t>router</a:t>
            </a:r>
            <a:r>
              <a:rPr lang="en-US" dirty="0"/>
              <a:t> is a device connected to at least two networks that determines the destination to which a packet should be forwarded.  </a:t>
            </a:r>
          </a:p>
          <a:p>
            <a:r>
              <a:rPr lang="en-US" dirty="0"/>
              <a:t>Routers are designed specifically to connect two networks together, typically a LAN to a WAN. </a:t>
            </a:r>
          </a:p>
          <a:p>
            <a:r>
              <a:rPr lang="en-US" dirty="0"/>
              <a:t>Routers are Network layer devices. They can bridge different network media types and connect different network protocols running at Layer 3 and below.  </a:t>
            </a:r>
          </a:p>
          <a:p>
            <a:r>
              <a:rPr lang="en-US" dirty="0"/>
              <a:t>Routers are sometimes referred to as “intermediate systems” in Internet standards literature. </a:t>
            </a:r>
          </a:p>
          <a:p>
            <a:r>
              <a:rPr lang="en-US" dirty="0"/>
              <a:t>Routers are complex devices because they contain buffers, switching logic, memory, and processing power to calculate the best way to send a packet to its destination. </a:t>
            </a:r>
          </a:p>
          <a:p>
            <a:endParaRPr lang="en-US" dirty="0"/>
          </a:p>
        </p:txBody>
      </p:sp>
    </p:spTree>
    <p:extLst>
      <p:ext uri="{BB962C8B-B14F-4D97-AF65-F5344CB8AC3E}">
        <p14:creationId xmlns:p14="http://schemas.microsoft.com/office/powerpoint/2010/main" val="40591123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Other Networking Hardware: Routers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endParaRPr lang="en-US" dirty="0"/>
          </a:p>
        </p:txBody>
      </p:sp>
      <p:pic>
        <p:nvPicPr>
          <p:cNvPr id="4" name="Picture 7" descr="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370" y="1145275"/>
            <a:ext cx="10897830" cy="517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92947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Other Networking Hardware: Routers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Small networks might employ </a:t>
            </a:r>
            <a:r>
              <a:rPr lang="en-US" b="1" dirty="0"/>
              <a:t>static routing</a:t>
            </a:r>
            <a:r>
              <a:rPr lang="en-US" dirty="0"/>
              <a:t>, wherein each router is manually programmed to route packets across a network</a:t>
            </a:r>
          </a:p>
          <a:p>
            <a:pPr lvl="1"/>
            <a:r>
              <a:rPr lang="en-US" dirty="0"/>
              <a:t>If a router fails, the network becomes disconnected, requiring human intervention</a:t>
            </a:r>
          </a:p>
          <a:p>
            <a:r>
              <a:rPr lang="en-US" b="1" dirty="0"/>
              <a:t>Dynamic routers</a:t>
            </a:r>
            <a:r>
              <a:rPr lang="en-US" dirty="0"/>
              <a:t> automatically set up routes and respond to the changes in the network.  </a:t>
            </a:r>
          </a:p>
          <a:p>
            <a:r>
              <a:rPr lang="en-US" dirty="0"/>
              <a:t>They explore their networks through information exchanges with other routers on the network.  </a:t>
            </a:r>
          </a:p>
          <a:p>
            <a:r>
              <a:rPr lang="en-US" dirty="0"/>
              <a:t>The information packets exchanged by the routers reveal their addresses and costs of getting from one point to another.  </a:t>
            </a:r>
          </a:p>
          <a:p>
            <a:r>
              <a:rPr lang="en-US" dirty="0"/>
              <a:t>Using this information, each router assembles a table of values in memory called a </a:t>
            </a:r>
            <a:r>
              <a:rPr lang="en-US" b="1" dirty="0"/>
              <a:t>routing table</a:t>
            </a:r>
            <a:r>
              <a:rPr lang="en-US" dirty="0"/>
              <a:t>.  </a:t>
            </a:r>
          </a:p>
          <a:p>
            <a:endParaRPr lang="en-US" dirty="0"/>
          </a:p>
          <a:p>
            <a:endParaRPr lang="en-US" dirty="0"/>
          </a:p>
          <a:p>
            <a:endParaRPr lang="en-US" dirty="0"/>
          </a:p>
        </p:txBody>
      </p:sp>
    </p:spTree>
    <p:extLst>
      <p:ext uri="{BB962C8B-B14F-4D97-AF65-F5344CB8AC3E}">
        <p14:creationId xmlns:p14="http://schemas.microsoft.com/office/powerpoint/2010/main" val="15829820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Other Networking Hardware: Routers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Typically, each destination node is listed along with the neighboring, or </a:t>
            </a:r>
            <a:r>
              <a:rPr lang="en-US" b="1" dirty="0"/>
              <a:t>next-hop</a:t>
            </a:r>
            <a:r>
              <a:rPr lang="en-US" dirty="0"/>
              <a:t>, router to which it is connected. </a:t>
            </a:r>
          </a:p>
          <a:p>
            <a:r>
              <a:rPr lang="en-US" dirty="0"/>
              <a:t>When creating their routing tables, dynamic routers consider one of two metrics:</a:t>
            </a:r>
          </a:p>
          <a:p>
            <a:pPr lvl="1"/>
            <a:r>
              <a:rPr lang="en-US" dirty="0"/>
              <a:t>They can use either the distance to travel between two nodes in terms of number of hops, or</a:t>
            </a:r>
          </a:p>
          <a:p>
            <a:pPr lvl="1"/>
            <a:r>
              <a:rPr lang="en-US" dirty="0"/>
              <a:t>They can use the condition of the network in terms of measured latency.</a:t>
            </a:r>
          </a:p>
          <a:p>
            <a:r>
              <a:rPr lang="en-US" dirty="0"/>
              <a:t>The algorithms using the first metric are </a:t>
            </a:r>
            <a:r>
              <a:rPr lang="en-US" b="1" dirty="0"/>
              <a:t>distance vector routing</a:t>
            </a:r>
            <a:r>
              <a:rPr lang="en-US" dirty="0"/>
              <a:t> algorithms. </a:t>
            </a:r>
            <a:r>
              <a:rPr lang="en-US" b="1" dirty="0"/>
              <a:t>Link-state routing</a:t>
            </a:r>
            <a:r>
              <a:rPr lang="en-US" dirty="0"/>
              <a:t> algorithms use the second metric. </a:t>
            </a:r>
          </a:p>
          <a:p>
            <a:endParaRPr lang="en-US" dirty="0"/>
          </a:p>
        </p:txBody>
      </p:sp>
    </p:spTree>
    <p:extLst>
      <p:ext uri="{BB962C8B-B14F-4D97-AF65-F5344CB8AC3E}">
        <p14:creationId xmlns:p14="http://schemas.microsoft.com/office/powerpoint/2010/main" val="20922931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Network Address Translation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b="1" dirty="0"/>
              <a:t>Network Address Translation (NAT)</a:t>
            </a:r>
            <a:r>
              <a:rPr lang="en-US" dirty="0"/>
              <a:t> is a scheme for sharing a single IP address among several devices connected to the same router (like the router in your home/dorm)</a:t>
            </a:r>
          </a:p>
          <a:p>
            <a:r>
              <a:rPr lang="en-US" dirty="0"/>
              <a:t>The devices have private IP addresses in the LAN, with the router having a public IP address assigned by the Internet Service Provider (ISP)</a:t>
            </a:r>
          </a:p>
          <a:p>
            <a:r>
              <a:rPr lang="en-US" dirty="0"/>
              <a:t>NAT is accomplished by having the router modify the IP packets themselves</a:t>
            </a:r>
          </a:p>
          <a:p>
            <a:r>
              <a:rPr lang="en-US" dirty="0"/>
              <a:t>The source IP addresses of outgoing packets are changed from the private addresses to the public address</a:t>
            </a:r>
          </a:p>
          <a:p>
            <a:r>
              <a:rPr lang="en-US" dirty="0"/>
              <a:t>The destination IP addresses of incoming packets are changed from the public address to the correct private addresses</a:t>
            </a:r>
          </a:p>
          <a:p>
            <a:r>
              <a:rPr lang="en-US" dirty="0"/>
              <a:t>The NAT router tracks information about each active connection (including ports, which might be modified also) so it knows how to perform the public/private mappings</a:t>
            </a:r>
          </a:p>
          <a:p>
            <a:endParaRPr lang="en-US" dirty="0"/>
          </a:p>
        </p:txBody>
      </p:sp>
    </p:spTree>
    <p:extLst>
      <p:ext uri="{BB962C8B-B14F-4D97-AF65-F5344CB8AC3E}">
        <p14:creationId xmlns:p14="http://schemas.microsoft.com/office/powerpoint/2010/main" val="41916476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Firewalls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b="1" dirty="0"/>
              <a:t>Firewalls</a:t>
            </a:r>
            <a:r>
              <a:rPr lang="en-US" dirty="0"/>
              <a:t> are systems (software or hardware) that seek to protect networks from harmful traffic</a:t>
            </a:r>
          </a:p>
          <a:p>
            <a:pPr lvl="1"/>
            <a:r>
              <a:rPr lang="en-US" dirty="0"/>
              <a:t>They can be </a:t>
            </a:r>
            <a:r>
              <a:rPr lang="en-US" b="1" dirty="0"/>
              <a:t>host-based</a:t>
            </a:r>
            <a:r>
              <a:rPr lang="en-US" dirty="0"/>
              <a:t> (on your computer) or installed on the router (hardware-based, and therefore, faster than host-based)</a:t>
            </a:r>
          </a:p>
          <a:p>
            <a:r>
              <a:rPr lang="en-US" dirty="0"/>
              <a:t>A firewall is programmed with a </a:t>
            </a:r>
            <a:r>
              <a:rPr lang="en-US" b="1" dirty="0"/>
              <a:t>policy</a:t>
            </a:r>
            <a:r>
              <a:rPr lang="en-US" dirty="0"/>
              <a:t>, which contains rules that state which network addresses have access to which services</a:t>
            </a:r>
          </a:p>
          <a:p>
            <a:r>
              <a:rPr lang="en-US" dirty="0"/>
              <a:t>For example, a firewall installed at a library might have a policy to block access to objectionable content on the Internet</a:t>
            </a:r>
          </a:p>
          <a:p>
            <a:r>
              <a:rPr lang="en-US" dirty="0"/>
              <a:t>Most people think of firewalls as protecting a network from outside attacks, such as by using </a:t>
            </a:r>
            <a:r>
              <a:rPr lang="en-US" b="1" dirty="0"/>
              <a:t>blacklists</a:t>
            </a:r>
            <a:r>
              <a:rPr lang="en-US" dirty="0"/>
              <a:t> to prevent content from identified external hosts from reaching the network</a:t>
            </a:r>
          </a:p>
          <a:p>
            <a:r>
              <a:rPr lang="en-US" dirty="0"/>
              <a:t>Can you think of reasons why a firewall might be programmed to prevent certain </a:t>
            </a:r>
            <a:r>
              <a:rPr lang="en-US" i="1" dirty="0"/>
              <a:t>outgoing</a:t>
            </a:r>
            <a:r>
              <a:rPr lang="en-US" dirty="0"/>
              <a:t> traffic?</a:t>
            </a:r>
          </a:p>
          <a:p>
            <a:endParaRPr lang="en-US" dirty="0"/>
          </a:p>
          <a:p>
            <a:endParaRPr lang="en-US" dirty="0"/>
          </a:p>
        </p:txBody>
      </p:sp>
    </p:spTree>
    <p:extLst>
      <p:ext uri="{BB962C8B-B14F-4D97-AF65-F5344CB8AC3E}">
        <p14:creationId xmlns:p14="http://schemas.microsoft.com/office/powerpoint/2010/main" val="40274530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The Fragility of the Internet</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Practically everyone understands that the Internet is crucial to global commerce.</a:t>
            </a:r>
          </a:p>
          <a:p>
            <a:r>
              <a:rPr lang="en-US" dirty="0"/>
              <a:t>What is less clear is the importance of the Internet to the health and safety of the modern world. </a:t>
            </a:r>
          </a:p>
          <a:p>
            <a:r>
              <a:rPr lang="en-US" b="1" dirty="0"/>
              <a:t>SCADA (supervisory control and data acquisition)</a:t>
            </a:r>
            <a:r>
              <a:rPr lang="en-US" dirty="0"/>
              <a:t> systems operate vital portions of our physical infrastructure including power generation, transportation networks, sewage systems, oil and gas pipelines</a:t>
            </a:r>
          </a:p>
          <a:p>
            <a:r>
              <a:rPr lang="en-US" dirty="0"/>
              <a:t>These systems are increasingly the targets in </a:t>
            </a:r>
            <a:r>
              <a:rPr lang="en-US" b="1" dirty="0"/>
              <a:t>cyber warfare</a:t>
            </a:r>
            <a:endParaRPr lang="en-US" dirty="0"/>
          </a:p>
          <a:p>
            <a:r>
              <a:rPr lang="en-US" dirty="0"/>
              <a:t>Reliance on the Internet as a physical infrastructure is only going to increase with the </a:t>
            </a:r>
            <a:r>
              <a:rPr lang="en-US" b="1" dirty="0"/>
              <a:t>Internet of Things (</a:t>
            </a:r>
            <a:r>
              <a:rPr lang="en-US" b="1" dirty="0" err="1"/>
              <a:t>IoT</a:t>
            </a:r>
            <a:r>
              <a:rPr lang="en-US" b="1" dirty="0"/>
              <a:t>)</a:t>
            </a:r>
            <a:r>
              <a:rPr lang="en-US" dirty="0"/>
              <a:t> communication (e.g., smart appliances, home security systems, etc.)</a:t>
            </a:r>
          </a:p>
          <a:p>
            <a:pPr lvl="1"/>
            <a:r>
              <a:rPr lang="en-US" dirty="0"/>
              <a:t>Cisco estimates 50 billion sensor nodes by 2020</a:t>
            </a:r>
          </a:p>
          <a:p>
            <a:endParaRPr lang="en-US" dirty="0"/>
          </a:p>
          <a:p>
            <a:endParaRPr lang="en-US" dirty="0"/>
          </a:p>
        </p:txBody>
      </p:sp>
    </p:spTree>
    <p:extLst>
      <p:ext uri="{BB962C8B-B14F-4D97-AF65-F5344CB8AC3E}">
        <p14:creationId xmlns:p14="http://schemas.microsoft.com/office/powerpoint/2010/main" val="40685734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The Fragility of the Internet</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Can the Internet deal with this traffic? </a:t>
            </a:r>
            <a:r>
              <a:rPr lang="en-US" b="1" dirty="0"/>
              <a:t>Congestion collapse</a:t>
            </a:r>
            <a:r>
              <a:rPr lang="en-US" dirty="0"/>
              <a:t> is a concern: routers become overwhelmed (congested), reroute packets to other routers which then become overwhelmed in cascading fashion.</a:t>
            </a:r>
          </a:p>
          <a:p>
            <a:pPr lvl="1"/>
            <a:r>
              <a:rPr lang="en-US" dirty="0"/>
              <a:t>The ultimate fix is to make the Internet “smarter” by improving the routing algorithms.</a:t>
            </a:r>
          </a:p>
          <a:p>
            <a:pPr lvl="1"/>
            <a:r>
              <a:rPr lang="en-US" dirty="0"/>
              <a:t>TCP does its best with its congestion control algorithms to avoid congestive collapse, but it can do only so much.</a:t>
            </a:r>
          </a:p>
          <a:p>
            <a:endParaRPr lang="en-US" dirty="0"/>
          </a:p>
        </p:txBody>
      </p:sp>
    </p:spTree>
    <p:extLst>
      <p:ext uri="{BB962C8B-B14F-4D97-AF65-F5344CB8AC3E}">
        <p14:creationId xmlns:p14="http://schemas.microsoft.com/office/powerpoint/2010/main" val="42525776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World Wide Web</a:t>
            </a:r>
          </a:p>
        </p:txBody>
      </p:sp>
      <p:sp>
        <p:nvSpPr>
          <p:cNvPr id="3" name="Content Placeholder 2"/>
          <p:cNvSpPr>
            <a:spLocks noGrp="1"/>
          </p:cNvSpPr>
          <p:nvPr>
            <p:ph idx="1"/>
          </p:nvPr>
        </p:nvSpPr>
        <p:spPr/>
        <p:txBody>
          <a:bodyPr/>
          <a:lstStyle/>
          <a:p>
            <a:r>
              <a:rPr lang="en-US" dirty="0"/>
              <a:t>Invented by Tim Berners-Lee in late 1980s</a:t>
            </a:r>
          </a:p>
          <a:p>
            <a:pPr lvl="1"/>
            <a:r>
              <a:rPr lang="en-US" dirty="0"/>
              <a:t>Wanted an easy way of sharing documents over the Internet</a:t>
            </a:r>
          </a:p>
          <a:p>
            <a:pPr lvl="1"/>
            <a:r>
              <a:rPr lang="en-US" dirty="0"/>
              <a:t>Combined the idea of </a:t>
            </a:r>
            <a:r>
              <a:rPr lang="en-US" b="1" dirty="0"/>
              <a:t>hypertext</a:t>
            </a:r>
            <a:r>
              <a:rPr lang="en-US" dirty="0"/>
              <a:t> (text with links to other text) with the Internet</a:t>
            </a:r>
          </a:p>
          <a:p>
            <a:pPr lvl="1"/>
            <a:r>
              <a:rPr lang="en-US" dirty="0"/>
              <a:t>Created initial designs of web servers and web browsers</a:t>
            </a:r>
          </a:p>
          <a:p>
            <a:r>
              <a:rPr lang="en-US" dirty="0"/>
              <a:t>The Web is essentially an application of the Internet – the Web relies on the underlying hardware and software infrastructure of the Internet to move data between web browsers (clients) and web servers</a:t>
            </a:r>
          </a:p>
          <a:p>
            <a:endParaRPr lang="en-US" dirty="0"/>
          </a:p>
        </p:txBody>
      </p:sp>
    </p:spTree>
    <p:extLst>
      <p:ext uri="{BB962C8B-B14F-4D97-AF65-F5344CB8AC3E}">
        <p14:creationId xmlns:p14="http://schemas.microsoft.com/office/powerpoint/2010/main" val="9058903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World Wide Web</a:t>
            </a:r>
          </a:p>
        </p:txBody>
      </p:sp>
      <p:sp>
        <p:nvSpPr>
          <p:cNvPr id="3" name="Content Placeholder 2"/>
          <p:cNvSpPr>
            <a:spLocks noGrp="1"/>
          </p:cNvSpPr>
          <p:nvPr>
            <p:ph idx="1"/>
          </p:nvPr>
        </p:nvSpPr>
        <p:spPr/>
        <p:txBody>
          <a:bodyPr>
            <a:normAutofit lnSpcReduction="10000"/>
          </a:bodyPr>
          <a:lstStyle/>
          <a:p>
            <a:r>
              <a:rPr lang="en-US" altLang="en-US" b="1" dirty="0" err="1"/>
              <a:t>HyperText</a:t>
            </a:r>
            <a:r>
              <a:rPr lang="en-US" altLang="en-US" b="1" dirty="0"/>
              <a:t> Transfer Protocol</a:t>
            </a:r>
            <a:r>
              <a:rPr lang="en-US" altLang="en-US" dirty="0"/>
              <a:t> is used to communicate between Web browsers and servers</a:t>
            </a:r>
          </a:p>
          <a:p>
            <a:pPr lvl="1"/>
            <a:r>
              <a:rPr lang="en-US" altLang="en-US" dirty="0"/>
              <a:t>The web browser formats its message according to HTTP</a:t>
            </a:r>
          </a:p>
          <a:p>
            <a:pPr lvl="1"/>
            <a:r>
              <a:rPr lang="en-US" altLang="en-US" dirty="0"/>
              <a:t>The web server sends back the web page  in HTTP format</a:t>
            </a:r>
          </a:p>
          <a:p>
            <a:pPr lvl="1"/>
            <a:r>
              <a:rPr lang="en-US" altLang="en-US" dirty="0"/>
              <a:t>The web browser </a:t>
            </a:r>
            <a:r>
              <a:rPr lang="en-US" altLang="en-US" b="1" dirty="0"/>
              <a:t>renders</a:t>
            </a:r>
            <a:r>
              <a:rPr lang="en-US" altLang="en-US" dirty="0"/>
              <a:t> the web page for viewing</a:t>
            </a:r>
          </a:p>
          <a:p>
            <a:r>
              <a:rPr lang="en-US" altLang="en-US" dirty="0"/>
              <a:t>Some important computer languages of the web include:</a:t>
            </a:r>
          </a:p>
          <a:p>
            <a:pPr lvl="1"/>
            <a:r>
              <a:rPr lang="en-US" altLang="en-US" b="1" dirty="0" err="1"/>
              <a:t>HyperText</a:t>
            </a:r>
            <a:r>
              <a:rPr lang="en-US" altLang="en-US" b="1" dirty="0"/>
              <a:t> Markup Language</a:t>
            </a:r>
            <a:r>
              <a:rPr lang="en-US" altLang="en-US" dirty="0"/>
              <a:t> (</a:t>
            </a:r>
            <a:r>
              <a:rPr lang="en-US" altLang="en-US" b="1" dirty="0"/>
              <a:t>HTML</a:t>
            </a:r>
            <a:r>
              <a:rPr lang="en-US" altLang="en-US" dirty="0"/>
              <a:t>): used to provide the general structure and content of a web page (text, paragraphs, lists, images, tables, etc.)</a:t>
            </a:r>
          </a:p>
          <a:p>
            <a:pPr lvl="1"/>
            <a:r>
              <a:rPr lang="en-US" altLang="en-US" b="1" dirty="0"/>
              <a:t>Cascading Style Sheets</a:t>
            </a:r>
            <a:r>
              <a:rPr lang="en-US" altLang="en-US" dirty="0"/>
              <a:t> (</a:t>
            </a:r>
            <a:r>
              <a:rPr lang="en-US" altLang="en-US" b="1" dirty="0"/>
              <a:t>CSS</a:t>
            </a:r>
            <a:r>
              <a:rPr lang="en-US" altLang="en-US" dirty="0"/>
              <a:t>): used to provide the layout and styling of the web page (colors, fonts, etc.)</a:t>
            </a:r>
            <a:endParaRPr lang="en-US" altLang="en-US" b="1" dirty="0"/>
          </a:p>
          <a:p>
            <a:pPr lvl="1"/>
            <a:r>
              <a:rPr lang="en-US" dirty="0"/>
              <a:t>Neither is a programming language</a:t>
            </a:r>
          </a:p>
        </p:txBody>
      </p:sp>
    </p:spTree>
    <p:extLst>
      <p:ext uri="{BB962C8B-B14F-4D97-AF65-F5344CB8AC3E}">
        <p14:creationId xmlns:p14="http://schemas.microsoft.com/office/powerpoint/2010/main" val="183198706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World Wide Web</a:t>
            </a:r>
          </a:p>
        </p:txBody>
      </p:sp>
      <p:sp>
        <p:nvSpPr>
          <p:cNvPr id="3" name="Content Placeholder 2"/>
          <p:cNvSpPr>
            <a:spLocks noGrp="1"/>
          </p:cNvSpPr>
          <p:nvPr>
            <p:ph idx="1"/>
          </p:nvPr>
        </p:nvSpPr>
        <p:spPr/>
        <p:txBody>
          <a:bodyPr>
            <a:normAutofit lnSpcReduction="10000"/>
          </a:bodyPr>
          <a:lstStyle/>
          <a:p>
            <a:r>
              <a:rPr lang="en-US" dirty="0"/>
              <a:t>When a web browser makes a request to a web server for a web page via a </a:t>
            </a:r>
            <a:r>
              <a:rPr lang="en-US" b="1" dirty="0"/>
              <a:t>Uniform Resource Locator</a:t>
            </a:r>
            <a:r>
              <a:rPr lang="en-US" dirty="0"/>
              <a:t>, the downloaded files could include HTML files, CSS files, images, video clips, short programs, among other kinds of data</a:t>
            </a:r>
          </a:p>
          <a:p>
            <a:r>
              <a:rPr lang="en-US" b="1" dirty="0"/>
              <a:t>JavaScript</a:t>
            </a:r>
            <a:r>
              <a:rPr lang="en-US" dirty="0"/>
              <a:t> is a very popular programming language for adding dynamic content to web pages</a:t>
            </a:r>
          </a:p>
          <a:p>
            <a:pPr lvl="1"/>
            <a:r>
              <a:rPr lang="en-US" dirty="0"/>
              <a:t>Can make web pages interactive and responsive to the user</a:t>
            </a:r>
          </a:p>
          <a:p>
            <a:pPr lvl="1"/>
            <a:r>
              <a:rPr lang="en-US" dirty="0"/>
              <a:t>Dynamically update the content of a web page based on user input</a:t>
            </a:r>
          </a:p>
          <a:p>
            <a:pPr lvl="1"/>
            <a:r>
              <a:rPr lang="en-US" dirty="0"/>
              <a:t>Perform data processing of information entered by the user in a form</a:t>
            </a:r>
          </a:p>
          <a:p>
            <a:pPr lvl="1"/>
            <a:r>
              <a:rPr lang="en-US" dirty="0"/>
              <a:t>Make queries on a database to retrieve data </a:t>
            </a:r>
            <a:r>
              <a:rPr lang="en-US" i="1" dirty="0"/>
              <a:t>asynchronously</a:t>
            </a:r>
            <a:r>
              <a:rPr lang="en-US" dirty="0"/>
              <a:t> and perform other tasks in an asynchronous fashion</a:t>
            </a:r>
          </a:p>
          <a:p>
            <a:pPr lvl="1"/>
            <a:r>
              <a:rPr lang="en-US" dirty="0"/>
              <a:t>Create animations, special effects</a:t>
            </a:r>
          </a:p>
        </p:txBody>
      </p:sp>
    </p:spTree>
    <p:extLst>
      <p:ext uri="{BB962C8B-B14F-4D97-AF65-F5344CB8AC3E}">
        <p14:creationId xmlns:p14="http://schemas.microsoft.com/office/powerpoint/2010/main" val="18204718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World Wide Web: Search Engines</a:t>
            </a:r>
          </a:p>
        </p:txBody>
      </p:sp>
      <p:sp>
        <p:nvSpPr>
          <p:cNvPr id="3" name="Content Placeholder 2"/>
          <p:cNvSpPr>
            <a:spLocks noGrp="1"/>
          </p:cNvSpPr>
          <p:nvPr>
            <p:ph idx="1"/>
          </p:nvPr>
        </p:nvSpPr>
        <p:spPr/>
        <p:txBody>
          <a:bodyPr>
            <a:normAutofit fontScale="92500"/>
          </a:bodyPr>
          <a:lstStyle/>
          <a:p>
            <a:r>
              <a:rPr lang="en-US" dirty="0"/>
              <a:t>Search engines like Google rely heavily on </a:t>
            </a:r>
            <a:r>
              <a:rPr lang="en-US" b="1" dirty="0"/>
              <a:t>web crawlers</a:t>
            </a:r>
            <a:endParaRPr lang="en-US" dirty="0"/>
          </a:p>
          <a:p>
            <a:pPr lvl="1"/>
            <a:r>
              <a:rPr lang="en-US" dirty="0"/>
              <a:t>A web crawler is a bot that “crawls” the web, following </a:t>
            </a:r>
            <a:r>
              <a:rPr lang="en-US" b="1" dirty="0"/>
              <a:t>hyperlinks</a:t>
            </a:r>
            <a:r>
              <a:rPr lang="en-US" dirty="0"/>
              <a:t> in web pages </a:t>
            </a:r>
          </a:p>
          <a:p>
            <a:pPr lvl="1"/>
            <a:r>
              <a:rPr lang="en-US" dirty="0"/>
              <a:t>Its purpose is to help build an index of web pages so that when a person enters a search term at the search engine, the index can be queried for websites relevant to the search term</a:t>
            </a:r>
          </a:p>
          <a:p>
            <a:r>
              <a:rPr lang="en-US" dirty="0"/>
              <a:t>PageRank is one of Google’s algorithm for ranking pages in web searches</a:t>
            </a:r>
          </a:p>
          <a:p>
            <a:r>
              <a:rPr lang="en-US" dirty="0"/>
              <a:t>Google’s own summary of how PageRank works:</a:t>
            </a:r>
          </a:p>
          <a:p>
            <a:pPr marL="685800" indent="0">
              <a:buNone/>
            </a:pPr>
            <a:r>
              <a:rPr lang="en-US" dirty="0"/>
              <a:t>PageRank works by counting the number and quality of links to a page to determine a rough estimate of how important the website is. The underlying assumption is that more important websites are likely to receive more links from other websites.</a:t>
            </a:r>
          </a:p>
        </p:txBody>
      </p:sp>
    </p:spTree>
    <p:extLst>
      <p:ext uri="{BB962C8B-B14F-4D97-AF65-F5344CB8AC3E}">
        <p14:creationId xmlns:p14="http://schemas.microsoft.com/office/powerpoint/2010/main" val="17447302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Application Architecture</a:t>
            </a:r>
          </a:p>
        </p:txBody>
      </p:sp>
      <p:sp>
        <p:nvSpPr>
          <p:cNvPr id="3" name="Content Placeholder 2"/>
          <p:cNvSpPr>
            <a:spLocks noGrp="1"/>
          </p:cNvSpPr>
          <p:nvPr>
            <p:ph idx="1"/>
          </p:nvPr>
        </p:nvSpPr>
        <p:spPr/>
        <p:txBody>
          <a:bodyPr/>
          <a:lstStyle/>
          <a:p>
            <a:r>
              <a:rPr lang="en-US" dirty="0"/>
              <a:t>A modern web application is a pretty complicated piece of software with several major components</a:t>
            </a:r>
          </a:p>
          <a:p>
            <a:pPr lvl="1"/>
            <a:r>
              <a:rPr lang="en-US" dirty="0"/>
              <a:t>The </a:t>
            </a:r>
            <a:r>
              <a:rPr lang="en-US" b="1" dirty="0"/>
              <a:t>front end</a:t>
            </a:r>
            <a:r>
              <a:rPr lang="en-US" dirty="0"/>
              <a:t> is the set of components that the user interacts with. It consists of a lot of HTML, CSS and JavaScript code.</a:t>
            </a:r>
          </a:p>
          <a:p>
            <a:pPr lvl="1"/>
            <a:r>
              <a:rPr lang="en-US" dirty="0"/>
              <a:t>The </a:t>
            </a:r>
            <a:r>
              <a:rPr lang="en-US" b="1" dirty="0"/>
              <a:t>back end</a:t>
            </a:r>
            <a:r>
              <a:rPr lang="en-US" dirty="0"/>
              <a:t> consists of the database and the </a:t>
            </a:r>
            <a:r>
              <a:rPr lang="en-US" b="1" dirty="0"/>
              <a:t>database server</a:t>
            </a:r>
            <a:r>
              <a:rPr lang="en-US" dirty="0"/>
              <a:t>, which provides the data to be viewed on the front end.</a:t>
            </a:r>
          </a:p>
          <a:p>
            <a:pPr lvl="1"/>
            <a:r>
              <a:rPr lang="en-US" dirty="0"/>
              <a:t>In between the two we find </a:t>
            </a:r>
            <a:r>
              <a:rPr lang="en-US" b="1" dirty="0"/>
              <a:t>middleware</a:t>
            </a:r>
            <a:r>
              <a:rPr lang="en-US" dirty="0"/>
              <a:t>, which connects the front end and back end. It transforms user interaction into requests to the database. In turn, data from the database is transformed by the middle layer into a form that can be displayed by the front end.</a:t>
            </a:r>
          </a:p>
          <a:p>
            <a:pPr lvl="1"/>
            <a:r>
              <a:rPr lang="en-US" dirty="0"/>
              <a:t>The middle layer contains the </a:t>
            </a:r>
            <a:r>
              <a:rPr lang="en-US" b="1" dirty="0"/>
              <a:t>business logic</a:t>
            </a:r>
            <a:r>
              <a:rPr lang="en-US" dirty="0"/>
              <a:t>, and is application-dependent.</a:t>
            </a:r>
          </a:p>
        </p:txBody>
      </p:sp>
    </p:spTree>
    <p:extLst>
      <p:ext uri="{BB962C8B-B14F-4D97-AF65-F5344CB8AC3E}">
        <p14:creationId xmlns:p14="http://schemas.microsoft.com/office/powerpoint/2010/main" val="4284025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396D4F3FBE81459556FDCA3F477A03" ma:contentTypeVersion="4" ma:contentTypeDescription="Create a new document." ma:contentTypeScope="" ma:versionID="b755ac89c73d1625610c43508c66eda4">
  <xsd:schema xmlns:xsd="http://www.w3.org/2001/XMLSchema" xmlns:xs="http://www.w3.org/2001/XMLSchema" xmlns:p="http://schemas.microsoft.com/office/2006/metadata/properties" xmlns:ns2="1a22e323-47b0-4d47-8cfa-1000afc68f2b" targetNamespace="http://schemas.microsoft.com/office/2006/metadata/properties" ma:root="true" ma:fieldsID="58f068782b86ca64c32db991266d7ab4" ns2:_="">
    <xsd:import namespace="1a22e323-47b0-4d47-8cfa-1000afc68f2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22e323-47b0-4d47-8cfa-1000afc68f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7A75AA3-8D03-440E-8828-160BB9A2407D}"/>
</file>

<file path=customXml/itemProps2.xml><?xml version="1.0" encoding="utf-8"?>
<ds:datastoreItem xmlns:ds="http://schemas.openxmlformats.org/officeDocument/2006/customXml" ds:itemID="{2E8EF60B-B736-4B72-A8E3-31B3E7D1E1D4}"/>
</file>

<file path=customXml/itemProps3.xml><?xml version="1.0" encoding="utf-8"?>
<ds:datastoreItem xmlns:ds="http://schemas.openxmlformats.org/officeDocument/2006/customXml" ds:itemID="{42849E4B-158D-4041-8058-2B3EA824ECC9}"/>
</file>

<file path=docProps/app.xml><?xml version="1.0" encoding="utf-8"?>
<Properties xmlns="http://schemas.openxmlformats.org/officeDocument/2006/extended-properties" xmlns:vt="http://schemas.openxmlformats.org/officeDocument/2006/docPropsVTypes">
  <TotalTime>278</TotalTime>
  <Words>5702</Words>
  <Application>Microsoft Office PowerPoint</Application>
  <PresentationFormat>宽屏</PresentationFormat>
  <Paragraphs>424</Paragraphs>
  <Slides>82</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82</vt:i4>
      </vt:variant>
    </vt:vector>
  </HeadingPairs>
  <TitlesOfParts>
    <vt:vector size="89" baseType="lpstr">
      <vt:lpstr>等线</vt:lpstr>
      <vt:lpstr>Arial</vt:lpstr>
      <vt:lpstr>Calibri</vt:lpstr>
      <vt:lpstr>Calibri Light</vt:lpstr>
      <vt:lpstr>Cambria Math</vt:lpstr>
      <vt:lpstr>Wingdings</vt:lpstr>
      <vt:lpstr>Office Theme</vt:lpstr>
      <vt:lpstr>ISE 218: Fundamentals of Information Technology Unit 8: Network Organization and Architecture</vt:lpstr>
      <vt:lpstr>Introduction</vt:lpstr>
      <vt:lpstr>Early Business Computer Networks</vt:lpstr>
      <vt:lpstr>Early Academic and Scientific Networks</vt:lpstr>
      <vt:lpstr>Early Academic and Scientific Networks</vt:lpstr>
      <vt:lpstr>ISO/OSI Reference Model</vt:lpstr>
      <vt:lpstr>ISO/OSI Reference Model</vt:lpstr>
      <vt:lpstr>ISO/OSI Reference Model (top 4 layers)</vt:lpstr>
      <vt:lpstr>ISO/OSI Reference Model (bottom 3 layers)</vt:lpstr>
      <vt:lpstr>ISO/OSI Reference Model</vt:lpstr>
      <vt:lpstr>ISO/OSI Model: Physical Layer</vt:lpstr>
      <vt:lpstr>ISO/OSI Model: Data Link Layer</vt:lpstr>
      <vt:lpstr>ISO/OSI Model: Network Layer</vt:lpstr>
      <vt:lpstr>ISO/OSI Model: Transport Layer</vt:lpstr>
      <vt:lpstr>ISO/OSI Model: Transport Layer</vt:lpstr>
      <vt:lpstr>ISO/OSI Model: Session Layer</vt:lpstr>
      <vt:lpstr>ISO/OSI Model: Presentation Layer</vt:lpstr>
      <vt:lpstr>ISO/OSI Model: Application Layer</vt:lpstr>
      <vt:lpstr>ISO/OSI Reference Model</vt:lpstr>
      <vt:lpstr>TCP/IP Network Architecture</vt:lpstr>
      <vt:lpstr>TCP/IP Network Architecture</vt:lpstr>
      <vt:lpstr>TCP/IP Network Architecture</vt:lpstr>
      <vt:lpstr>TCP/IP Network Architecture</vt:lpstr>
      <vt:lpstr>IPv4 Address Space</vt:lpstr>
      <vt:lpstr>IPv4 Address Space</vt:lpstr>
      <vt:lpstr>IPv4 Address Space</vt:lpstr>
      <vt:lpstr>TCP/IP Network Architecture</vt:lpstr>
      <vt:lpstr>TCP/IP Network Architecture</vt:lpstr>
      <vt:lpstr>Communication via TCP</vt:lpstr>
      <vt:lpstr>Communication via TCP: Example #1</vt:lpstr>
      <vt:lpstr>Communication via TCP: Example #2</vt:lpstr>
      <vt:lpstr>Communication via TCP: Example #3</vt:lpstr>
      <vt:lpstr>TCP Windows: Example #1</vt:lpstr>
      <vt:lpstr>TCP Windows: Example #2</vt:lpstr>
      <vt:lpstr>TCP/IP Network Architecture</vt:lpstr>
      <vt:lpstr>TCP Congestion Control</vt:lpstr>
      <vt:lpstr>TCP Congestion Control</vt:lpstr>
      <vt:lpstr>TCP Congestion Control: Example</vt:lpstr>
      <vt:lpstr>Protocol Overhead: Example</vt:lpstr>
      <vt:lpstr>Protocol Overhead: Example (cont.)</vt:lpstr>
      <vt:lpstr>IP Version 6</vt:lpstr>
      <vt:lpstr>IP Version 6</vt:lpstr>
      <vt:lpstr>Domain Name System</vt:lpstr>
      <vt:lpstr>Domain Name System: Example</vt:lpstr>
      <vt:lpstr>Network Organization</vt:lpstr>
      <vt:lpstr>Physical Network Organization</vt:lpstr>
      <vt:lpstr>Physical Network Organization</vt:lpstr>
      <vt:lpstr>Network Cabling</vt:lpstr>
      <vt:lpstr>Network Cabling</vt:lpstr>
      <vt:lpstr>Network Cabling</vt:lpstr>
      <vt:lpstr>Optical Fiber</vt:lpstr>
      <vt:lpstr>Optical Fiber</vt:lpstr>
      <vt:lpstr>Optical Fiber</vt:lpstr>
      <vt:lpstr>Wireless Networks</vt:lpstr>
      <vt:lpstr>Cell Networks</vt:lpstr>
      <vt:lpstr>Cell Networks</vt:lpstr>
      <vt:lpstr>Bluetooth</vt:lpstr>
      <vt:lpstr>Wireless LANs</vt:lpstr>
      <vt:lpstr>Wireless LANs</vt:lpstr>
      <vt:lpstr>Wired Networks</vt:lpstr>
      <vt:lpstr>Wired Networks</vt:lpstr>
      <vt:lpstr>Ethernet</vt:lpstr>
      <vt:lpstr>Ethernet</vt:lpstr>
      <vt:lpstr>Ethernet</vt:lpstr>
      <vt:lpstr>Other Networking Hardware: Repeaters</vt:lpstr>
      <vt:lpstr>Other Networking Hardware: Hubs</vt:lpstr>
      <vt:lpstr>Other Networking Hardware: Switches</vt:lpstr>
      <vt:lpstr>Other Networking Hardware: Bridges</vt:lpstr>
      <vt:lpstr>Other Networking Hardware: Gateways</vt:lpstr>
      <vt:lpstr>Other Networking Hardware: Routers</vt:lpstr>
      <vt:lpstr>Other Networking Hardware: Routers</vt:lpstr>
      <vt:lpstr>Other Networking Hardware: Routers</vt:lpstr>
      <vt:lpstr>Other Networking Hardware: Routers</vt:lpstr>
      <vt:lpstr>Network Address Translation</vt:lpstr>
      <vt:lpstr>Firewalls</vt:lpstr>
      <vt:lpstr>The Fragility of the Internet</vt:lpstr>
      <vt:lpstr>The Fragility of the Internet</vt:lpstr>
      <vt:lpstr>The World Wide Web</vt:lpstr>
      <vt:lpstr>The World Wide Web</vt:lpstr>
      <vt:lpstr>The World Wide Web</vt:lpstr>
      <vt:lpstr>The World Wide Web: Search Engines</vt:lpstr>
      <vt:lpstr>Web Application 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Raza, Ali x58396</dc:creator>
  <cp:lastModifiedBy>Administrator</cp:lastModifiedBy>
  <cp:revision>10</cp:revision>
  <dcterms:created xsi:type="dcterms:W3CDTF">2019-11-19T11:42:41Z</dcterms:created>
  <dcterms:modified xsi:type="dcterms:W3CDTF">2025-05-26T00:55:56Z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0x010100AC396D4F3FBE81459556FDCA3F477A03</vt:lpwstr>
  </property>
</Properties>
</file>