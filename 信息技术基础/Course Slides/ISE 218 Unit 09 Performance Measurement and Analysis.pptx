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550" r:id="rId2"/>
    <p:sldId id="262" r:id="rId3"/>
    <p:sldId id="265" r:id="rId4"/>
    <p:sldId id="266" r:id="rId5"/>
    <p:sldId id="267" r:id="rId6"/>
    <p:sldId id="276" r:id="rId7"/>
    <p:sldId id="277" r:id="rId8"/>
    <p:sldId id="278" r:id="rId9"/>
    <p:sldId id="316" r:id="rId10"/>
    <p:sldId id="279" r:id="rId11"/>
    <p:sldId id="280" r:id="rId12"/>
    <p:sldId id="282" r:id="rId13"/>
    <p:sldId id="283" r:id="rId14"/>
    <p:sldId id="281" r:id="rId15"/>
    <p:sldId id="284" r:id="rId16"/>
    <p:sldId id="285" r:id="rId17"/>
    <p:sldId id="286" r:id="rId18"/>
    <p:sldId id="269" r:id="rId19"/>
    <p:sldId id="317" r:id="rId20"/>
    <p:sldId id="318" r:id="rId21"/>
    <p:sldId id="319" r:id="rId22"/>
    <p:sldId id="270" r:id="rId23"/>
    <p:sldId id="287" r:id="rId24"/>
    <p:sldId id="288" r:id="rId25"/>
    <p:sldId id="289" r:id="rId26"/>
    <p:sldId id="290" r:id="rId27"/>
    <p:sldId id="291" r:id="rId28"/>
    <p:sldId id="292" r:id="rId29"/>
    <p:sldId id="293" r:id="rId30"/>
    <p:sldId id="271" r:id="rId31"/>
    <p:sldId id="272" r:id="rId32"/>
    <p:sldId id="273" r:id="rId33"/>
    <p:sldId id="274" r:id="rId34"/>
    <p:sldId id="275" r:id="rId35"/>
    <p:sldId id="263" r:id="rId36"/>
    <p:sldId id="294" r:id="rId37"/>
    <p:sldId id="295" r:id="rId38"/>
    <p:sldId id="296" r:id="rId39"/>
    <p:sldId id="297" r:id="rId40"/>
    <p:sldId id="298" r:id="rId41"/>
    <p:sldId id="299" r:id="rId42"/>
    <p:sldId id="300" r:id="rId43"/>
    <p:sldId id="301" r:id="rId44"/>
    <p:sldId id="308" r:id="rId45"/>
    <p:sldId id="302" r:id="rId46"/>
    <p:sldId id="309" r:id="rId47"/>
    <p:sldId id="310" r:id="rId48"/>
    <p:sldId id="311" r:id="rId49"/>
    <p:sldId id="312" r:id="rId50"/>
    <p:sldId id="303" r:id="rId51"/>
    <p:sldId id="304" r:id="rId52"/>
    <p:sldId id="305" r:id="rId53"/>
    <p:sldId id="306" r:id="rId54"/>
    <p:sldId id="30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9C955-6EDA-4453-B69F-3FAC5B3E8E5A}" v="1" dt="2025-06-05T04:43:34.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1" autoAdjust="0"/>
    <p:restoredTop sz="74770" autoAdjust="0"/>
  </p:normalViewPr>
  <p:slideViewPr>
    <p:cSldViewPr snapToGrid="0">
      <p:cViewPr varScale="1">
        <p:scale>
          <a:sx n="85" d="100"/>
          <a:sy n="85" d="100"/>
        </p:scale>
        <p:origin x="3261"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65"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222B1CD0-32D7-411F-8ED9-30392DEE3071}"/>
    <pc:docChg chg="modSld">
      <pc:chgData name="于 心瑞 Xinrui YU" userId="e6fcc6d4-2b88-4beb-95d7-57ae4d33a768" providerId="ADAL" clId="{222B1CD0-32D7-411F-8ED9-30392DEE3071}" dt="2025-05-15T15:21:16.551" v="3" actId="1076"/>
      <pc:docMkLst>
        <pc:docMk/>
      </pc:docMkLst>
      <pc:sldChg chg="modSp">
        <pc:chgData name="于 心瑞 Xinrui YU" userId="e6fcc6d4-2b88-4beb-95d7-57ae4d33a768" providerId="ADAL" clId="{222B1CD0-32D7-411F-8ED9-30392DEE3071}" dt="2025-05-15T15:19:41.198" v="0" actId="1076"/>
        <pc:sldMkLst>
          <pc:docMk/>
          <pc:sldMk cId="1540119890" sldId="295"/>
        </pc:sldMkLst>
        <pc:picChg chg="mod">
          <ac:chgData name="于 心瑞 Xinrui YU" userId="e6fcc6d4-2b88-4beb-95d7-57ae4d33a768" providerId="ADAL" clId="{222B1CD0-32D7-411F-8ED9-30392DEE3071}" dt="2025-05-15T15:19:41.198" v="0" actId="1076"/>
          <ac:picMkLst>
            <pc:docMk/>
            <pc:sldMk cId="1540119890" sldId="295"/>
            <ac:picMk id="4" creationId="{FB810139-6015-4976-B229-FF9F56D9C7F8}"/>
          </ac:picMkLst>
        </pc:picChg>
      </pc:sldChg>
      <pc:sldChg chg="modSp">
        <pc:chgData name="于 心瑞 Xinrui YU" userId="e6fcc6d4-2b88-4beb-95d7-57ae4d33a768" providerId="ADAL" clId="{222B1CD0-32D7-411F-8ED9-30392DEE3071}" dt="2025-05-15T15:20:02.301" v="1" actId="1076"/>
        <pc:sldMkLst>
          <pc:docMk/>
          <pc:sldMk cId="2762604561" sldId="296"/>
        </pc:sldMkLst>
        <pc:picChg chg="mod">
          <ac:chgData name="于 心瑞 Xinrui YU" userId="e6fcc6d4-2b88-4beb-95d7-57ae4d33a768" providerId="ADAL" clId="{222B1CD0-32D7-411F-8ED9-30392DEE3071}" dt="2025-05-15T15:20:02.301" v="1" actId="1076"/>
          <ac:picMkLst>
            <pc:docMk/>
            <pc:sldMk cId="2762604561" sldId="296"/>
            <ac:picMk id="4" creationId="{342E276B-021D-4E2C-94A7-12C707AE4FE1}"/>
          </ac:picMkLst>
        </pc:picChg>
      </pc:sldChg>
      <pc:sldChg chg="modSp">
        <pc:chgData name="于 心瑞 Xinrui YU" userId="e6fcc6d4-2b88-4beb-95d7-57ae4d33a768" providerId="ADAL" clId="{222B1CD0-32D7-411F-8ED9-30392DEE3071}" dt="2025-05-15T15:20:33.954" v="2" actId="1076"/>
        <pc:sldMkLst>
          <pc:docMk/>
          <pc:sldMk cId="4237320863" sldId="298"/>
        </pc:sldMkLst>
        <pc:picChg chg="mod">
          <ac:chgData name="于 心瑞 Xinrui YU" userId="e6fcc6d4-2b88-4beb-95d7-57ae4d33a768" providerId="ADAL" clId="{222B1CD0-32D7-411F-8ED9-30392DEE3071}" dt="2025-05-15T15:20:33.954" v="2" actId="1076"/>
          <ac:picMkLst>
            <pc:docMk/>
            <pc:sldMk cId="4237320863" sldId="298"/>
            <ac:picMk id="4" creationId="{300AEDA6-9007-482D-9DCA-A27F1D73E185}"/>
          </ac:picMkLst>
        </pc:picChg>
      </pc:sldChg>
      <pc:sldChg chg="modSp">
        <pc:chgData name="于 心瑞 Xinrui YU" userId="e6fcc6d4-2b88-4beb-95d7-57ae4d33a768" providerId="ADAL" clId="{222B1CD0-32D7-411F-8ED9-30392DEE3071}" dt="2025-05-15T15:21:16.551" v="3" actId="1076"/>
        <pc:sldMkLst>
          <pc:docMk/>
          <pc:sldMk cId="3974870759" sldId="299"/>
        </pc:sldMkLst>
        <pc:picChg chg="mod">
          <ac:chgData name="于 心瑞 Xinrui YU" userId="e6fcc6d4-2b88-4beb-95d7-57ae4d33a768" providerId="ADAL" clId="{222B1CD0-32D7-411F-8ED9-30392DEE3071}" dt="2025-05-15T15:21:16.551" v="3" actId="1076"/>
          <ac:picMkLst>
            <pc:docMk/>
            <pc:sldMk cId="3974870759" sldId="299"/>
            <ac:picMk id="4" creationId="{D3B9AD5F-D9BF-4F76-B8B2-50FDA8D36BCD}"/>
          </ac:picMkLst>
        </pc:picChg>
      </pc:sldChg>
    </pc:docChg>
  </pc:docChgLst>
  <pc:docChgLst>
    <pc:chgData name="于 心瑞 Xinrui YU" userId="e6fcc6d4-2b88-4beb-95d7-57ae4d33a768" providerId="ADAL" clId="{7A49C955-6EDA-4453-B69F-3FAC5B3E8E5A}"/>
    <pc:docChg chg="custSel modSld">
      <pc:chgData name="于 心瑞 Xinrui YU" userId="e6fcc6d4-2b88-4beb-95d7-57ae4d33a768" providerId="ADAL" clId="{7A49C955-6EDA-4453-B69F-3FAC5B3E8E5A}" dt="2025-06-05T04:43:34.334" v="1"/>
      <pc:docMkLst>
        <pc:docMk/>
      </pc:docMkLst>
      <pc:sldChg chg="addSp delSp modSp mod">
        <pc:chgData name="于 心瑞 Xinrui YU" userId="e6fcc6d4-2b88-4beb-95d7-57ae4d33a768" providerId="ADAL" clId="{7A49C955-6EDA-4453-B69F-3FAC5B3E8E5A}" dt="2025-06-05T04:43:34.334" v="1"/>
        <pc:sldMkLst>
          <pc:docMk/>
          <pc:sldMk cId="3252378307" sldId="550"/>
        </pc:sldMkLst>
        <pc:spChg chg="del">
          <ac:chgData name="于 心瑞 Xinrui YU" userId="e6fcc6d4-2b88-4beb-95d7-57ae4d33a768" providerId="ADAL" clId="{7A49C955-6EDA-4453-B69F-3FAC5B3E8E5A}" dt="2025-06-05T04:43:27.486" v="0" actId="478"/>
          <ac:spMkLst>
            <pc:docMk/>
            <pc:sldMk cId="3252378307" sldId="550"/>
            <ac:spMk id="3" creationId="{4DCD6985-364C-407E-B0BD-DB3847671993}"/>
          </ac:spMkLst>
        </pc:spChg>
        <pc:spChg chg="add mod">
          <ac:chgData name="于 心瑞 Xinrui YU" userId="e6fcc6d4-2b88-4beb-95d7-57ae4d33a768" providerId="ADAL" clId="{7A49C955-6EDA-4453-B69F-3FAC5B3E8E5A}" dt="2025-06-05T04:43:27.486" v="0" actId="478"/>
          <ac:spMkLst>
            <pc:docMk/>
            <pc:sldMk cId="3252378307" sldId="550"/>
            <ac:spMk id="6" creationId="{EC034BA4-8DAA-2E64-8F9C-FBE4644C844A}"/>
          </ac:spMkLst>
        </pc:spChg>
        <pc:spChg chg="add mod">
          <ac:chgData name="于 心瑞 Xinrui YU" userId="e6fcc6d4-2b88-4beb-95d7-57ae4d33a768" providerId="ADAL" clId="{7A49C955-6EDA-4453-B69F-3FAC5B3E8E5A}" dt="2025-06-05T04:43:34.334" v="1"/>
          <ac:spMkLst>
            <pc:docMk/>
            <pc:sldMk cId="3252378307" sldId="550"/>
            <ac:spMk id="7" creationId="{9B86626A-F03F-335D-0527-ACD4E9B569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4D0BB-5522-4C10-8135-53B21677EA29}" type="datetimeFigureOut">
              <a:rPr lang="en-US" smtClean="0"/>
              <a:t>6/5/2025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99D46-16F3-4057-B356-6BA1F3AC74E9}" type="slidenum">
              <a:rPr lang="en-US" smtClean="0"/>
              <a:t>‹#›</a:t>
            </a:fld>
            <a:endParaRPr lang="en-US"/>
          </a:p>
        </p:txBody>
      </p:sp>
    </p:spTree>
    <p:extLst>
      <p:ext uri="{BB962C8B-B14F-4D97-AF65-F5344CB8AC3E}">
        <p14:creationId xmlns:p14="http://schemas.microsoft.com/office/powerpoint/2010/main" val="351699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9</a:t>
            </a:fld>
            <a:endParaRPr lang="en-US"/>
          </a:p>
        </p:txBody>
      </p:sp>
    </p:spTree>
    <p:extLst>
      <p:ext uri="{BB962C8B-B14F-4D97-AF65-F5344CB8AC3E}">
        <p14:creationId xmlns:p14="http://schemas.microsoft.com/office/powerpoint/2010/main" val="2473824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552B-82FF-4AB4-9609-C7A7D3BD15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ACFFC-15DD-45C9-8591-64FB971AF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250A81-BD6A-4705-B1A1-53C59C7A7855}"/>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9AC757A9-5704-449B-95E2-D0CCC051E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4D6D-FCEB-4AB3-A5AF-D02DB65DB74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47607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BB47-85D7-4C03-AFE8-AE56293CE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069EB-CBF3-4983-BD1A-BE58482CA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7482-8B8C-4ECB-BD8F-227C120E4857}"/>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8F589392-4818-4C89-9DFA-A27DAB760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93950-D55E-4C81-B644-450FE394640D}"/>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11114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DB90-BB39-4756-8952-3A1C2DB83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B32473-D10D-42DD-BA3D-583595F89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A9556-2CB1-48A8-B892-A9C6196400E4}"/>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E24C7B00-C4F2-4A0E-94EE-D6A849306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89A8A-E754-4481-87DD-5324EE60DA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9707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C46B-657D-4B96-AF11-2F595FCF3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E23D2-5632-40CB-8093-37AFF79E26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FF951-8D8F-459D-8863-B8A35EF88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D493-34D8-43AD-8A01-CE212CE9D558}"/>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6" name="Footer Placeholder 5">
            <a:extLst>
              <a:ext uri="{FF2B5EF4-FFF2-40B4-BE49-F238E27FC236}">
                <a16:creationId xmlns:a16="http://schemas.microsoft.com/office/drawing/2014/main" id="{30BFC614-C652-4266-8E09-E7370A0CC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A22F-6DAB-4A37-91AA-96D2E04F1B17}"/>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76055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189-EB22-47FF-B37D-14AADFFD0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39329-89A8-40CC-B8D1-C0D2D3463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47A9D-9C23-42EF-8B31-98A681808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96BC8-4529-4594-A62A-B0490D8B9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69B1F9-831C-4959-9FAC-00D6420CA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7478D-9499-493E-87D6-4D06F7A00298}"/>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8" name="Footer Placeholder 7">
            <a:extLst>
              <a:ext uri="{FF2B5EF4-FFF2-40B4-BE49-F238E27FC236}">
                <a16:creationId xmlns:a16="http://schemas.microsoft.com/office/drawing/2014/main" id="{55F3CEA6-3C43-4928-97C7-2D92EACAD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4DCCD-B828-4CFA-B830-C481107BED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3434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E580-3584-400F-82B4-86B1D3BA11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27705-C5F9-457F-BFEC-F13A44823CB5}"/>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4" name="Footer Placeholder 3">
            <a:extLst>
              <a:ext uri="{FF2B5EF4-FFF2-40B4-BE49-F238E27FC236}">
                <a16:creationId xmlns:a16="http://schemas.microsoft.com/office/drawing/2014/main" id="{B7D4B83A-7635-4D97-B096-219D7DB7C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472993-E0E3-4A12-8240-710606F6CCDF}"/>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552738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4D6E1-7F80-40E1-BF2F-B05F1E975988}"/>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3" name="Footer Placeholder 2">
            <a:extLst>
              <a:ext uri="{FF2B5EF4-FFF2-40B4-BE49-F238E27FC236}">
                <a16:creationId xmlns:a16="http://schemas.microsoft.com/office/drawing/2014/main" id="{6F612BDF-9915-4950-ACA4-33E3BB3BB3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86EA4C-F843-4446-A7B6-4A4B85783716}"/>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6884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D886-60B2-4DD3-8E28-4E27ADA5E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7BCEA3-FD12-4E89-8543-AD44DB043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91A5EA-5B38-48D1-878E-F4B7E54C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3C98-0E0F-4D52-B760-26791C9289AF}"/>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6" name="Footer Placeholder 5">
            <a:extLst>
              <a:ext uri="{FF2B5EF4-FFF2-40B4-BE49-F238E27FC236}">
                <a16:creationId xmlns:a16="http://schemas.microsoft.com/office/drawing/2014/main" id="{ED522735-0599-4C70-AF7B-5A867BE6A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A1B80-CA4F-418D-B784-E06AD1677909}"/>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18447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E478-4348-499F-93A8-209D59372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11465-A55C-43F8-BC8B-65C908BBC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AA8CF-35C7-4E7A-8CF2-DD1B31289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A830D-05B3-4113-A934-CE046200FF41}"/>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6" name="Footer Placeholder 5">
            <a:extLst>
              <a:ext uri="{FF2B5EF4-FFF2-40B4-BE49-F238E27FC236}">
                <a16:creationId xmlns:a16="http://schemas.microsoft.com/office/drawing/2014/main" id="{1AFE2548-ED48-4FDD-9329-54769D0AB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B7C-F788-43DF-85B5-0DBA7C07CE44}"/>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60769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F941-46EF-4311-AED7-D0BB663691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D0C78-72E8-42D8-A8A3-0BD58C4C3B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4E8BB-B3FA-45D6-98E9-9C11F14E2DF8}"/>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DA8EC78D-3294-4990-8C81-80D15BB9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B28C-5C64-478B-A901-757A858E5D3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1498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6A487-2590-4615-B417-E2168DE65D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70FE8-B807-4A10-88EE-5557BDB6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BCCCA-6C6B-4B0E-BBAD-24322C9E264F}"/>
              </a:ext>
            </a:extLst>
          </p:cNvPr>
          <p:cNvSpPr>
            <a:spLocks noGrp="1"/>
          </p:cNvSpPr>
          <p:nvPr>
            <p:ph type="dt" sz="half" idx="10"/>
          </p:nvPr>
        </p:nvSpPr>
        <p:spPr/>
        <p:txBody>
          <a:body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777A20AF-9B80-4FBF-9840-ACF1BF23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92727-D5B7-4EF1-B44C-581A9DA0903B}"/>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86329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B331-D111-4B58-8269-2659FD678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A94232-12F2-4F6F-8D85-CA6F56708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CF1BF-9115-4CA0-9F58-D0A674347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C8182-8A53-4BCE-8F74-6947BE705CD4}" type="datetimeFigureOut">
              <a:rPr lang="en-US" smtClean="0"/>
              <a:t>6/5/2025</a:t>
            </a:fld>
            <a:endParaRPr lang="en-US"/>
          </a:p>
        </p:txBody>
      </p:sp>
      <p:sp>
        <p:nvSpPr>
          <p:cNvPr id="5" name="Footer Placeholder 4">
            <a:extLst>
              <a:ext uri="{FF2B5EF4-FFF2-40B4-BE49-F238E27FC236}">
                <a16:creationId xmlns:a16="http://schemas.microsoft.com/office/drawing/2014/main" id="{BFF3B8B1-D0DD-4F6A-9A0C-E4BAD55617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3B089-E9D4-4D61-92EB-9C11EA500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3CDD-6085-4522-82B4-4228FE4EDFFA}" type="slidenum">
              <a:rPr lang="en-US" smtClean="0"/>
              <a:t>‹#›</a:t>
            </a:fld>
            <a:endParaRPr lang="en-US"/>
          </a:p>
        </p:txBody>
      </p:sp>
    </p:spTree>
    <p:extLst>
      <p:ext uri="{BB962C8B-B14F-4D97-AF65-F5344CB8AC3E}">
        <p14:creationId xmlns:p14="http://schemas.microsoft.com/office/powerpoint/2010/main" val="174218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729789"/>
            <a:ext cx="10080312" cy="1412516"/>
          </a:xfrm>
        </p:spPr>
        <p:txBody>
          <a:bodyPr anchor="b">
            <a:normAutofit/>
          </a:bodyPr>
          <a:lstStyle/>
          <a:p>
            <a:pPr algn="l"/>
            <a:r>
              <a:rPr lang="en-US" sz="3800" dirty="0"/>
              <a:t>ISE 218: Fundamentals of Information Technology</a:t>
            </a:r>
            <a:br>
              <a:rPr lang="en-US" sz="3800" dirty="0"/>
            </a:br>
            <a:r>
              <a:rPr lang="en-US" sz="3800" dirty="0"/>
              <a:t>Unit 9: Performance Measurement and Analysis </a:t>
            </a:r>
          </a:p>
        </p:txBody>
      </p:sp>
      <p:sp>
        <p:nvSpPr>
          <p:cNvPr id="6" name="Subtitle 5">
            <a:extLst>
              <a:ext uri="{FF2B5EF4-FFF2-40B4-BE49-F238E27FC236}">
                <a16:creationId xmlns:a16="http://schemas.microsoft.com/office/drawing/2014/main" id="{EC034BA4-8DAA-2E64-8F9C-FBE4644C844A}"/>
              </a:ext>
            </a:extLst>
          </p:cNvPr>
          <p:cNvSpPr>
            <a:spLocks noGrp="1"/>
          </p:cNvSpPr>
          <p:nvPr>
            <p:ph type="subTitle" idx="1"/>
          </p:nvPr>
        </p:nvSpPr>
        <p:spPr/>
        <p:txBody>
          <a:bodyPr/>
          <a:lstStyle/>
          <a:p>
            <a:endParaRPr lang="en-US"/>
          </a:p>
        </p:txBody>
      </p:sp>
      <p:sp>
        <p:nvSpPr>
          <p:cNvPr id="7" name="Google Shape;90;p1">
            <a:extLst>
              <a:ext uri="{FF2B5EF4-FFF2-40B4-BE49-F238E27FC236}">
                <a16:creationId xmlns:a16="http://schemas.microsoft.com/office/drawing/2014/main" id="{9B86626A-F03F-335D-0527-ACD4E9B56907}"/>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dirty="0"/>
              <a:t>Spring 2025</a:t>
            </a:r>
          </a:p>
          <a:p>
            <a:pPr algn="l">
              <a:buClr>
                <a:schemeClr val="dk1"/>
              </a:buClr>
              <a:buSzPts val="1900"/>
            </a:pPr>
            <a:r>
              <a:rPr lang="en-US" sz="1800" dirty="0"/>
              <a:t>Instructor: Abid Malik</a:t>
            </a:r>
          </a:p>
          <a:p>
            <a:pPr algn="l">
              <a:buClr>
                <a:schemeClr val="dk1"/>
              </a:buClr>
              <a:buSzPts val="1900"/>
            </a:pPr>
            <a:r>
              <a:rPr lang="en-US" sz="1800" dirty="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ideas presented in this Unit will help you to understand various measurements of computer performance.</a:t>
            </a:r>
          </a:p>
          <a:p>
            <a:r>
              <a:rPr lang="en-US" dirty="0"/>
              <a:t>You will be able to use these ideas when you are purchasing a large system, or trying to improve the performance of an existing system.</a:t>
            </a:r>
          </a:p>
          <a:p>
            <a:r>
              <a:rPr lang="en-US" dirty="0"/>
              <a:t>We will discuss a number of factors that affect system performance, at both the software and hardware level.</a:t>
            </a:r>
          </a:p>
          <a:p>
            <a:endParaRPr lang="en-US" dirty="0"/>
          </a:p>
        </p:txBody>
      </p:sp>
    </p:spTree>
    <p:extLst>
      <p:ext uri="{BB962C8B-B14F-4D97-AF65-F5344CB8AC3E}">
        <p14:creationId xmlns:p14="http://schemas.microsoft.com/office/powerpoint/2010/main" val="78221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Basic Computer Performance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basic computer performance equation is useful in discussions of RISC versus CISC:</a:t>
                </a:r>
              </a:p>
              <a:p>
                <a:pPr marL="11430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CPU</m:t>
                      </m:r>
                      <m:r>
                        <a:rPr lang="en-US">
                          <a:latin typeface="Cambria Math" panose="02040503050406030204" pitchFamily="18" charset="0"/>
                        </a:rPr>
                        <m:t> </m:t>
                      </m:r>
                      <m:r>
                        <m:rPr>
                          <m:sty m:val="p"/>
                        </m:rPr>
                        <a:rPr lang="en-US">
                          <a:latin typeface="Cambria Math" panose="02040503050406030204" pitchFamily="18" charset="0"/>
                        </a:rPr>
                        <m:t>time</m:t>
                      </m:r>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seconds</m:t>
                          </m:r>
                        </m:num>
                        <m:den>
                          <m:r>
                            <m:rPr>
                              <m:sty m:val="p"/>
                            </m:rPr>
                            <a:rPr lang="en-US">
                              <a:latin typeface="Cambria Math" panose="02040503050406030204" pitchFamily="18" charset="0"/>
                            </a:rPr>
                            <m:t>program</m:t>
                          </m:r>
                        </m:den>
                      </m:f>
                      <m:r>
                        <a:rPr lang="en-US" b="0" i="0" smtClean="0">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instructions</m:t>
                          </m:r>
                        </m:num>
                        <m:den>
                          <m:r>
                            <m:rPr>
                              <m:sty m:val="p"/>
                            </m:rPr>
                            <a:rPr lang="en-US">
                              <a:latin typeface="Cambria Math" panose="02040503050406030204" pitchFamily="18" charset="0"/>
                            </a:rPr>
                            <m:t>program</m:t>
                          </m:r>
                        </m:den>
                      </m:f>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avg</m:t>
                          </m:r>
                          <m:r>
                            <a:rPr lang="en-US">
                              <a:latin typeface="Cambria Math" panose="02040503050406030204" pitchFamily="18" charset="0"/>
                            </a:rPr>
                            <m:t>.  </m:t>
                          </m:r>
                          <m:r>
                            <m:rPr>
                              <m:sty m:val="p"/>
                            </m:rPr>
                            <a:rPr lang="en-US">
                              <a:latin typeface="Cambria Math" panose="02040503050406030204" pitchFamily="18" charset="0"/>
                            </a:rPr>
                            <m:t>cycles</m:t>
                          </m:r>
                        </m:num>
                        <m:den>
                          <m:r>
                            <m:rPr>
                              <m:sty m:val="p"/>
                            </m:rPr>
                            <a:rPr lang="en-US">
                              <a:latin typeface="Cambria Math" panose="02040503050406030204" pitchFamily="18" charset="0"/>
                            </a:rPr>
                            <m:t>instruction</m:t>
                          </m:r>
                        </m:den>
                      </m:f>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seconds</m:t>
                          </m:r>
                        </m:num>
                        <m:den>
                          <m:r>
                            <m:rPr>
                              <m:sty m:val="p"/>
                            </m:rPr>
                            <a:rPr lang="en-US">
                              <a:latin typeface="Cambria Math" panose="02040503050406030204" pitchFamily="18" charset="0"/>
                            </a:rPr>
                            <m:t>cycle</m:t>
                          </m:r>
                        </m:den>
                      </m:f>
                    </m:oMath>
                  </m:oMathPara>
                </a14:m>
                <a:endParaRPr lang="en-US" dirty="0"/>
              </a:p>
              <a:p>
                <a:r>
                  <a:rPr lang="en-US" dirty="0"/>
                  <a:t>Recall that we can improve CPU throughput when we reduce the number of instructions in a program, reduce the number of cycles per instruction, or reduce the number of nanoseconds per clock cycle.</a:t>
                </a:r>
              </a:p>
              <a:p>
                <a:r>
                  <a:rPr lang="en-US" dirty="0"/>
                  <a:t>To achieve better performance, RISC machines reduce the number of </a:t>
                </a:r>
                <a:r>
                  <a:rPr lang="en-US" b="1" dirty="0"/>
                  <a:t>cycles per instruction</a:t>
                </a:r>
                <a:r>
                  <a:rPr lang="en-US" dirty="0"/>
                  <a:t> (</a:t>
                </a:r>
                <a:r>
                  <a:rPr lang="en-US" b="1" dirty="0"/>
                  <a:t>CPI</a:t>
                </a:r>
                <a:r>
                  <a:rPr lang="en-US" dirty="0"/>
                  <a:t>), and CISC machines reduce the number of instructions per program.</a:t>
                </a:r>
              </a:p>
              <a:p>
                <a:r>
                  <a:rPr lang="en-US" dirty="0"/>
                  <a:t>The above equation can also be expressed as follows:</a:t>
                </a:r>
              </a:p>
              <a:p>
                <a:pPr marL="114300" indent="0" algn="ctr">
                  <a:buNone/>
                </a:pPr>
                <a14:m>
                  <m:oMath xmlns:m="http://schemas.openxmlformats.org/officeDocument/2006/math">
                    <m:r>
                      <m:rPr>
                        <m:sty m:val="p"/>
                      </m:rPr>
                      <a:rPr lang="en-US" dirty="0">
                        <a:latin typeface="Cambria Math" panose="02040503050406030204" pitchFamily="18" charset="0"/>
                      </a:rPr>
                      <m:t>CPU</m:t>
                    </m:r>
                    <m:r>
                      <a:rPr lang="en-US" dirty="0">
                        <a:latin typeface="Cambria Math" panose="02040503050406030204" pitchFamily="18" charset="0"/>
                      </a:rPr>
                      <m:t> </m:t>
                    </m:r>
                    <m:r>
                      <m:rPr>
                        <m:sty m:val="p"/>
                      </m:rPr>
                      <a:rPr lang="en-US" dirty="0">
                        <a:latin typeface="Cambria Math" panose="02040503050406030204" pitchFamily="18" charset="0"/>
                      </a:rPr>
                      <m:t>time</m:t>
                    </m:r>
                    <m:r>
                      <a:rPr lang="en-US" dirty="0">
                        <a:latin typeface="Cambria Math" panose="02040503050406030204" pitchFamily="18" charset="0"/>
                      </a:rPr>
                      <m:t>=</m:t>
                    </m:r>
                    <m:r>
                      <m:rPr>
                        <m:sty m:val="p"/>
                      </m:rPr>
                      <a:rPr lang="en-US" dirty="0">
                        <a:latin typeface="Cambria Math" panose="02040503050406030204" pitchFamily="18" charset="0"/>
                      </a:rPr>
                      <m:t>instruction</m:t>
                    </m:r>
                    <m:r>
                      <a:rPr lang="en-US" dirty="0">
                        <a:latin typeface="Cambria Math" panose="02040503050406030204" pitchFamily="18" charset="0"/>
                      </a:rPr>
                      <m:t> </m:t>
                    </m:r>
                    <m:r>
                      <m:rPr>
                        <m:sty m:val="p"/>
                      </m:rPr>
                      <a:rPr lang="en-US" dirty="0">
                        <a:latin typeface="Cambria Math" panose="02040503050406030204" pitchFamily="18" charset="0"/>
                      </a:rPr>
                      <m:t>count</m:t>
                    </m:r>
                    <m:r>
                      <a:rPr lang="en-US" i="1" dirty="0">
                        <a:latin typeface="Cambria Math" panose="02040503050406030204" pitchFamily="18" charset="0"/>
                      </a:rPr>
                      <m:t>×</m:t>
                    </m:r>
                    <m:r>
                      <m:rPr>
                        <m:sty m:val="p"/>
                      </m:rPr>
                      <a:rPr lang="en-US" dirty="0">
                        <a:latin typeface="Cambria Math" panose="02040503050406030204" pitchFamily="18" charset="0"/>
                      </a:rPr>
                      <m:t>CPI</m:t>
                    </m:r>
                    <m:r>
                      <a:rPr lang="en-US" i="1" dirty="0">
                        <a:latin typeface="Cambria Math" panose="02040503050406030204" pitchFamily="18" charset="0"/>
                      </a:rPr>
                      <m:t>×</m:t>
                    </m:r>
                    <m:r>
                      <m:rPr>
                        <m:sty m:val="p"/>
                      </m:rPr>
                      <a:rPr lang="en-US" dirty="0">
                        <a:latin typeface="Cambria Math" panose="02040503050406030204" pitchFamily="18" charset="0"/>
                      </a:rPr>
                      <m:t>clock</m:t>
                    </m:r>
                    <m:r>
                      <a:rPr lang="en-US" dirty="0">
                        <a:latin typeface="Cambria Math" panose="02040503050406030204" pitchFamily="18" charset="0"/>
                      </a:rPr>
                      <m:t> </m:t>
                    </m:r>
                    <m:r>
                      <m:rPr>
                        <m:sty m:val="p"/>
                      </m:rPr>
                      <a:rPr lang="en-US" dirty="0">
                        <a:latin typeface="Cambria Math" panose="02040503050406030204" pitchFamily="18" charset="0"/>
                      </a:rPr>
                      <m:t>cycle</m:t>
                    </m:r>
                    <m:r>
                      <a:rPr lang="en-US" dirty="0">
                        <a:latin typeface="Cambria Math" panose="02040503050406030204" pitchFamily="18" charset="0"/>
                      </a:rPr>
                      <m:t> </m:t>
                    </m:r>
                    <m:r>
                      <m:rPr>
                        <m:sty m:val="p"/>
                      </m:rPr>
                      <a:rPr lang="en-US" dirty="0">
                        <a:latin typeface="Cambria Math" panose="02040503050406030204" pitchFamily="18" charset="0"/>
                      </a:rPr>
                      <m:t>time</m:t>
                    </m:r>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928" t="-3501" r="-1681"/>
                </a:stretch>
              </a:blipFill>
            </p:spPr>
            <p:txBody>
              <a:bodyPr/>
              <a:lstStyle/>
              <a:p>
                <a:r>
                  <a:rPr lang="en-US">
                    <a:noFill/>
                  </a:rPr>
                  <a:t> </a:t>
                </a:r>
              </a:p>
            </p:txBody>
          </p:sp>
        </mc:Fallback>
      </mc:AlternateContent>
    </p:spTree>
    <p:extLst>
      <p:ext uri="{BB962C8B-B14F-4D97-AF65-F5344CB8AC3E}">
        <p14:creationId xmlns:p14="http://schemas.microsoft.com/office/powerpoint/2010/main" val="368329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Improving System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pPr marL="284163" indent="-284163"/>
            <a:r>
              <a:rPr lang="en-US" dirty="0"/>
              <a:t>To increasing overall system performance, we have the following options:</a:t>
            </a:r>
          </a:p>
          <a:p>
            <a:pPr lvl="1"/>
            <a:r>
              <a:rPr lang="en-US" b="1" dirty="0"/>
              <a:t>CPU optimization</a:t>
            </a:r>
            <a:r>
              <a:rPr lang="en-US" dirty="0"/>
              <a:t>: maximize the speed and efficiency of operations performed by the </a:t>
            </a:r>
            <a:r>
              <a:rPr lang="en-US" i="1" dirty="0"/>
              <a:t>CPU</a:t>
            </a:r>
            <a:r>
              <a:rPr lang="en-US" dirty="0"/>
              <a:t> (the performance equation addresses this optimization).</a:t>
            </a:r>
          </a:p>
          <a:p>
            <a:pPr lvl="1"/>
            <a:r>
              <a:rPr lang="en-US" b="1" dirty="0"/>
              <a:t>Memory optimization</a:t>
            </a:r>
            <a:r>
              <a:rPr lang="en-US" dirty="0"/>
              <a:t>: maximize the efficiency of a code’s </a:t>
            </a:r>
            <a:r>
              <a:rPr lang="en-US" i="1" dirty="0"/>
              <a:t>memory</a:t>
            </a:r>
            <a:r>
              <a:rPr lang="en-US" dirty="0"/>
              <a:t> </a:t>
            </a:r>
            <a:r>
              <a:rPr lang="en-US" i="1" dirty="0"/>
              <a:t>management</a:t>
            </a:r>
            <a:r>
              <a:rPr lang="en-US" dirty="0"/>
              <a:t>.</a:t>
            </a:r>
          </a:p>
          <a:p>
            <a:pPr lvl="1"/>
            <a:r>
              <a:rPr lang="en-US" b="1" dirty="0"/>
              <a:t>I/O optimization</a:t>
            </a:r>
            <a:r>
              <a:rPr lang="en-US" dirty="0"/>
              <a:t>: maximize the efficiency of </a:t>
            </a:r>
            <a:r>
              <a:rPr lang="en-US" i="1" dirty="0"/>
              <a:t>input/output operations</a:t>
            </a:r>
            <a:r>
              <a:rPr lang="en-US" dirty="0"/>
              <a:t>.</a:t>
            </a:r>
          </a:p>
          <a:p>
            <a:r>
              <a:rPr lang="en-US" dirty="0"/>
              <a:t>An application whose overall performance is limited by one of these (CPU, memory usage, I/O operations) is said to be </a:t>
            </a:r>
            <a:r>
              <a:rPr lang="en-US" b="1" dirty="0"/>
              <a:t>CPU bound</a:t>
            </a:r>
            <a:r>
              <a:rPr lang="en-US" dirty="0"/>
              <a:t>, </a:t>
            </a:r>
            <a:r>
              <a:rPr lang="en-US" b="1" dirty="0"/>
              <a:t>memory bound</a:t>
            </a:r>
            <a:r>
              <a:rPr lang="en-US" dirty="0"/>
              <a:t>, or </a:t>
            </a:r>
            <a:r>
              <a:rPr lang="en-US" b="1" dirty="0"/>
              <a:t>I/O bound</a:t>
            </a:r>
            <a:r>
              <a:rPr lang="en-US" dirty="0"/>
              <a:t>, respectively</a:t>
            </a:r>
          </a:p>
          <a:p>
            <a:r>
              <a:rPr lang="en-US" dirty="0"/>
              <a:t>Hardware designers can directly influence CPU, memory and I/O performance, but software developers can also impact on all three by writing good (or bad) code</a:t>
            </a:r>
          </a:p>
          <a:p>
            <a:endParaRPr lang="en-US" dirty="0"/>
          </a:p>
        </p:txBody>
      </p:sp>
    </p:spTree>
    <p:extLst>
      <p:ext uri="{BB962C8B-B14F-4D97-AF65-F5344CB8AC3E}">
        <p14:creationId xmlns:p14="http://schemas.microsoft.com/office/powerpoint/2010/main" val="372376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Basic Computer Performance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20000"/>
              </a:bodyPr>
              <a:lstStyle/>
              <a:p>
                <a:r>
                  <a:rPr lang="en-US" dirty="0"/>
                  <a:t>So we see that CPU efficiency is not the sole factor in overall system performance.  Memory and I/O performance are also important.</a:t>
                </a:r>
              </a:p>
              <a:p>
                <a:r>
                  <a:rPr lang="en-US" dirty="0"/>
                  <a:t>Recall Amdahl’s Law, which tells us that the system performance gain realized from the speedup of one component depends not only on the speedup of the component itself, but also on the fraction of work done by the component:</a:t>
                </a:r>
              </a:p>
              <a:p>
                <a:pPr marL="114300" indent="0">
                  <a:buNone/>
                </a:pPr>
                <a14:m>
                  <m:oMathPara xmlns:m="http://schemas.openxmlformats.org/officeDocument/2006/math">
                    <m:oMathParaPr>
                      <m:jc m:val="centerGroup"/>
                    </m:oMathParaPr>
                    <m:oMath xmlns:m="http://schemas.openxmlformats.org/officeDocument/2006/math">
                      <m:r>
                        <a:rPr lang="en-US" altLang="en-US" i="1" kern="0">
                          <a:latin typeface="Cambria Math" panose="02040503050406030204" pitchFamily="18" charset="0"/>
                        </a:rPr>
                        <m:t>𝑆</m:t>
                      </m:r>
                      <m:r>
                        <a:rPr lang="en-US" altLang="en-US" i="1" kern="0">
                          <a:latin typeface="Cambria Math" panose="02040503050406030204" pitchFamily="18" charset="0"/>
                        </a:rPr>
                        <m:t>=</m:t>
                      </m:r>
                      <m:f>
                        <m:fPr>
                          <m:ctrlPr>
                            <a:rPr lang="en-US" altLang="en-US" i="1" kern="0">
                              <a:latin typeface="Cambria Math" panose="02040503050406030204" pitchFamily="18" charset="0"/>
                            </a:rPr>
                          </m:ctrlPr>
                        </m:fPr>
                        <m:num>
                          <m:r>
                            <a:rPr lang="en-US" altLang="en-US" i="1" kern="0">
                              <a:latin typeface="Cambria Math" panose="02040503050406030204" pitchFamily="18" charset="0"/>
                            </a:rPr>
                            <m:t>1</m:t>
                          </m:r>
                        </m:num>
                        <m:den>
                          <m:d>
                            <m:dPr>
                              <m:ctrlPr>
                                <a:rPr lang="en-US" altLang="en-US" i="1" kern="0">
                                  <a:latin typeface="Cambria Math" panose="02040503050406030204" pitchFamily="18" charset="0"/>
                                </a:rPr>
                              </m:ctrlPr>
                            </m:dPr>
                            <m:e>
                              <m:r>
                                <a:rPr lang="en-US" altLang="en-US" i="1" kern="0">
                                  <a:latin typeface="Cambria Math" panose="02040503050406030204" pitchFamily="18" charset="0"/>
                                </a:rPr>
                                <m:t>1−</m:t>
                              </m:r>
                              <m:r>
                                <a:rPr lang="en-US" altLang="en-US" i="1" kern="0">
                                  <a:latin typeface="Cambria Math" panose="02040503050406030204" pitchFamily="18" charset="0"/>
                                </a:rPr>
                                <m:t>𝑓</m:t>
                              </m:r>
                            </m:e>
                          </m:d>
                          <m:r>
                            <a:rPr lang="en-US" altLang="en-US" i="1" kern="0">
                              <a:latin typeface="Cambria Math" panose="02040503050406030204" pitchFamily="18" charset="0"/>
                            </a:rPr>
                            <m:t>+</m:t>
                          </m:r>
                          <m:f>
                            <m:fPr>
                              <m:ctrlPr>
                                <a:rPr lang="en-US" altLang="en-US" i="1" kern="0">
                                  <a:latin typeface="Cambria Math" panose="02040503050406030204" pitchFamily="18" charset="0"/>
                                </a:rPr>
                              </m:ctrlPr>
                            </m:fPr>
                            <m:num>
                              <m:r>
                                <a:rPr lang="en-US" altLang="en-US" i="1" kern="0">
                                  <a:latin typeface="Cambria Math" panose="02040503050406030204" pitchFamily="18" charset="0"/>
                                </a:rPr>
                                <m:t>𝑓</m:t>
                              </m:r>
                            </m:num>
                            <m:den>
                              <m:r>
                                <a:rPr lang="en-US" altLang="en-US" i="1" kern="0">
                                  <a:latin typeface="Cambria Math" panose="02040503050406030204" pitchFamily="18" charset="0"/>
                                </a:rPr>
                                <m:t>𝑘</m:t>
                              </m:r>
                            </m:den>
                          </m:f>
                        </m:den>
                      </m:f>
                    </m:oMath>
                  </m:oMathPara>
                </a14:m>
                <a:endParaRPr lang="en-US" dirty="0"/>
              </a:p>
              <a:p>
                <a:r>
                  <a:rPr lang="en-US" dirty="0"/>
                  <a:t>From Amdahl’s Law we know that we need to make the common case fast.</a:t>
                </a:r>
              </a:p>
              <a:p>
                <a:r>
                  <a:rPr lang="en-US" dirty="0"/>
                  <a:t>So if our system is CPU bound, we want to make the CPU faster.</a:t>
                </a:r>
              </a:p>
              <a:p>
                <a:r>
                  <a:rPr lang="en-US" dirty="0"/>
                  <a:t>A memory bound system calls for improvements in memory management.</a:t>
                </a:r>
              </a:p>
              <a:p>
                <a:r>
                  <a:rPr lang="en-US" dirty="0"/>
                  <a:t>The performance of an I/O bound system will improve with an upgrade to the I/O system.</a:t>
                </a:r>
              </a:p>
              <a:p>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812" t="-3221" r="-870"/>
                </a:stretch>
              </a:blipFill>
            </p:spPr>
            <p:txBody>
              <a:bodyPr/>
              <a:lstStyle/>
              <a:p>
                <a:r>
                  <a:rPr lang="en-US">
                    <a:noFill/>
                  </a:rPr>
                  <a:t> </a:t>
                </a:r>
              </a:p>
            </p:txBody>
          </p:sp>
        </mc:Fallback>
      </mc:AlternateContent>
    </p:spTree>
    <p:extLst>
      <p:ext uri="{BB962C8B-B14F-4D97-AF65-F5344CB8AC3E}">
        <p14:creationId xmlns:p14="http://schemas.microsoft.com/office/powerpoint/2010/main" val="358660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Measures of System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cs typeface="Arial" charset="0"/>
              </a:rPr>
              <a:t>Measures of system performance depend upon one’s point of view.</a:t>
            </a:r>
          </a:p>
          <a:p>
            <a:pPr lvl="1">
              <a:spcBef>
                <a:spcPts val="576"/>
              </a:spcBef>
            </a:pPr>
            <a:r>
              <a:rPr lang="en-US" altLang="en-US" dirty="0"/>
              <a:t>A computer user is most often concerned with </a:t>
            </a:r>
            <a:r>
              <a:rPr lang="en-US" altLang="en-US" b="1" dirty="0"/>
              <a:t>response time</a:t>
            </a:r>
            <a:r>
              <a:rPr lang="en-US" altLang="en-US" dirty="0"/>
              <a:t>: How long does it take the system to carry out a task?</a:t>
            </a:r>
          </a:p>
          <a:p>
            <a:pPr lvl="1">
              <a:spcBef>
                <a:spcPts val="576"/>
              </a:spcBef>
            </a:pPr>
            <a:r>
              <a:rPr lang="en-US" altLang="en-US" dirty="0"/>
              <a:t>System administrators are usually more concerned with </a:t>
            </a:r>
            <a:r>
              <a:rPr lang="en-US" altLang="en-US" b="1" dirty="0"/>
              <a:t>throughput</a:t>
            </a:r>
            <a:r>
              <a:rPr lang="en-US" altLang="en-US" dirty="0"/>
              <a:t>: How many concurrent tasks can the system handle before response time is adversely affected?</a:t>
            </a:r>
          </a:p>
          <a:p>
            <a:pPr>
              <a:spcBef>
                <a:spcPts val="576"/>
              </a:spcBef>
            </a:pPr>
            <a:r>
              <a:rPr lang="en-US" altLang="en-US" dirty="0">
                <a:cs typeface="Arial" charset="0"/>
              </a:rPr>
              <a:t>These two ideas are related: If a system carries out a task in </a:t>
            </a:r>
            <a:r>
              <a:rPr lang="en-US" altLang="en-US" i="1" dirty="0">
                <a:cs typeface="Arial" charset="0"/>
              </a:rPr>
              <a:t>k</a:t>
            </a:r>
            <a:r>
              <a:rPr lang="en-US" altLang="en-US" dirty="0">
                <a:cs typeface="Arial" charset="0"/>
              </a:rPr>
              <a:t> seconds, then its throughput is 1/</a:t>
            </a:r>
            <a:r>
              <a:rPr lang="en-US" altLang="en-US" i="1" dirty="0">
                <a:cs typeface="Arial" charset="0"/>
              </a:rPr>
              <a:t>k</a:t>
            </a:r>
            <a:r>
              <a:rPr lang="en-US" altLang="en-US" dirty="0">
                <a:cs typeface="Arial" charset="0"/>
              </a:rPr>
              <a:t> of these tasks per second.</a:t>
            </a:r>
          </a:p>
          <a:p>
            <a:pPr>
              <a:spcBef>
                <a:spcPts val="576"/>
              </a:spcBef>
            </a:pPr>
            <a:endParaRPr lang="en-US" dirty="0"/>
          </a:p>
        </p:txBody>
      </p:sp>
    </p:spTree>
    <p:extLst>
      <p:ext uri="{BB962C8B-B14F-4D97-AF65-F5344CB8AC3E}">
        <p14:creationId xmlns:p14="http://schemas.microsoft.com/office/powerpoint/2010/main" val="2092405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Measures of System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cs typeface="Arial" charset="0"/>
                  </a:rPr>
                  <a:t>In comparing the performance of two systems, we measure the time that it takes for each system to do the same amount of work.</a:t>
                </a:r>
              </a:p>
              <a:p>
                <a:pPr>
                  <a:spcBef>
                    <a:spcPts val="576"/>
                  </a:spcBef>
                </a:pPr>
                <a:r>
                  <a:rPr lang="en-US" altLang="en-US" dirty="0">
                    <a:cs typeface="Arial" charset="0"/>
                  </a:rPr>
                  <a:t>Specifically, if System A and System B run the same program, System A is </a:t>
                </a:r>
                <a:r>
                  <a:rPr lang="en-US" altLang="en-US" i="1" dirty="0">
                    <a:cs typeface="Arial" charset="0"/>
                  </a:rPr>
                  <a:t>n</a:t>
                </a:r>
                <a:r>
                  <a:rPr lang="en-US" altLang="en-US" dirty="0">
                    <a:cs typeface="Arial" charset="0"/>
                  </a:rPr>
                  <a:t> times as fast as System B if: </a:t>
                </a:r>
                <a14:m>
                  <m:oMath xmlns:m="http://schemas.openxmlformats.org/officeDocument/2006/math">
                    <m:f>
                      <m:fPr>
                        <m:ctrlPr>
                          <a:rPr lang="en-US" altLang="en-US" i="1">
                            <a:latin typeface="Cambria Math" panose="02040503050406030204" pitchFamily="18" charset="0"/>
                            <a:cs typeface="Arial" charset="0"/>
                          </a:rPr>
                        </m:ctrlPr>
                      </m:fPr>
                      <m:num>
                        <m:r>
                          <m:rPr>
                            <m:sty m:val="p"/>
                          </m:rPr>
                          <a:rPr lang="en-US" altLang="en-US">
                            <a:latin typeface="Cambria Math" panose="02040503050406030204" pitchFamily="18" charset="0"/>
                            <a:cs typeface="Arial" charset="0"/>
                          </a:rPr>
                          <m:t>running</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system</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B</m:t>
                        </m:r>
                      </m:num>
                      <m:den>
                        <m:r>
                          <m:rPr>
                            <m:sty m:val="p"/>
                          </m:rPr>
                          <a:rPr lang="en-US" altLang="en-US">
                            <a:latin typeface="Cambria Math" panose="02040503050406030204" pitchFamily="18" charset="0"/>
                            <a:cs typeface="Arial" charset="0"/>
                          </a:rPr>
                          <m:t>running</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system</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A</m:t>
                        </m:r>
                      </m:den>
                    </m:f>
                    <m:r>
                      <a:rPr lang="en-US" altLang="en-US" i="1">
                        <a:latin typeface="Cambria Math" panose="02040503050406030204" pitchFamily="18" charset="0"/>
                        <a:cs typeface="Arial" charset="0"/>
                      </a:rPr>
                      <m:t>=</m:t>
                    </m:r>
                    <m:r>
                      <a:rPr lang="en-US" altLang="en-US" i="1">
                        <a:latin typeface="Cambria Math" panose="02040503050406030204" pitchFamily="18" charset="0"/>
                        <a:cs typeface="Arial" charset="0"/>
                      </a:rPr>
                      <m:t>𝑛</m:t>
                    </m:r>
                  </m:oMath>
                </a14:m>
                <a:endParaRPr lang="en-US" altLang="en-US" dirty="0">
                  <a:cs typeface="Arial" charset="0"/>
                </a:endParaRPr>
              </a:p>
              <a:p>
                <a:pPr>
                  <a:spcBef>
                    <a:spcPts val="576"/>
                  </a:spcBef>
                </a:pPr>
                <a:r>
                  <a:rPr lang="en-US" altLang="en-US" dirty="0">
                    <a:cs typeface="Arial" charset="0"/>
                  </a:rPr>
                  <a:t>System A is </a:t>
                </a:r>
                <a:r>
                  <a:rPr lang="en-US" altLang="en-US" i="1" dirty="0">
                    <a:cs typeface="Arial" charset="0"/>
                  </a:rPr>
                  <a:t>x</a:t>
                </a:r>
                <a:r>
                  <a:rPr lang="en-US" altLang="en-US" dirty="0">
                    <a:cs typeface="Arial" charset="0"/>
                  </a:rPr>
                  <a:t>% faster than System B if: </a:t>
                </a:r>
                <a14:m>
                  <m:oMath xmlns:m="http://schemas.openxmlformats.org/officeDocument/2006/math">
                    <m:d>
                      <m:dPr>
                        <m:ctrlPr>
                          <a:rPr lang="en-US" altLang="en-US" i="1">
                            <a:latin typeface="Cambria Math" panose="02040503050406030204" pitchFamily="18" charset="0"/>
                            <a:cs typeface="Arial" charset="0"/>
                          </a:rPr>
                        </m:ctrlPr>
                      </m:dPr>
                      <m:e>
                        <m:f>
                          <m:fPr>
                            <m:ctrlPr>
                              <a:rPr lang="en-US" altLang="en-US" i="1">
                                <a:latin typeface="Cambria Math" panose="02040503050406030204" pitchFamily="18" charset="0"/>
                                <a:cs typeface="Arial" charset="0"/>
                              </a:rPr>
                            </m:ctrlPr>
                          </m:fPr>
                          <m:num>
                            <m:r>
                              <m:rPr>
                                <m:sty m:val="p"/>
                              </m:rPr>
                              <a:rPr lang="en-US" altLang="en-US">
                                <a:latin typeface="Cambria Math" panose="02040503050406030204" pitchFamily="18" charset="0"/>
                                <a:cs typeface="Arial" charset="0"/>
                              </a:rPr>
                              <m:t>running</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system</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B</m:t>
                            </m:r>
                          </m:num>
                          <m:den>
                            <m:r>
                              <m:rPr>
                                <m:sty m:val="p"/>
                              </m:rPr>
                              <a:rPr lang="en-US" altLang="en-US">
                                <a:latin typeface="Cambria Math" panose="02040503050406030204" pitchFamily="18" charset="0"/>
                                <a:cs typeface="Arial" charset="0"/>
                              </a:rPr>
                              <m:t>running</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system</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A</m:t>
                            </m:r>
                          </m:den>
                        </m:f>
                        <m:r>
                          <a:rPr lang="en-US" altLang="en-US" i="1">
                            <a:latin typeface="Cambria Math" panose="02040503050406030204" pitchFamily="18" charset="0"/>
                            <a:cs typeface="Arial" charset="0"/>
                          </a:rPr>
                          <m:t>−1</m:t>
                        </m:r>
                      </m:e>
                    </m:d>
                    <m:r>
                      <a:rPr lang="en-US" altLang="en-US" i="1">
                        <a:latin typeface="Cambria Math" panose="02040503050406030204" pitchFamily="18" charset="0"/>
                        <a:cs typeface="Arial" charset="0"/>
                      </a:rPr>
                      <m:t>×100%=</m:t>
                    </m:r>
                    <m:r>
                      <a:rPr lang="en-US" altLang="en-US" i="1">
                        <a:latin typeface="Cambria Math" panose="02040503050406030204" pitchFamily="18" charset="0"/>
                        <a:cs typeface="Arial" charset="0"/>
                      </a:rPr>
                      <m:t>𝑥</m:t>
                    </m:r>
                    <m:r>
                      <a:rPr lang="en-US" altLang="en-US" i="1">
                        <a:latin typeface="Cambria Math" panose="02040503050406030204" pitchFamily="18" charset="0"/>
                        <a:cs typeface="Arial" charset="0"/>
                      </a:rPr>
                      <m:t>%</m:t>
                    </m:r>
                  </m:oMath>
                </a14:m>
                <a:endParaRPr lang="en-US" altLang="en-US" dirty="0">
                  <a:cs typeface="Arial" charset="0"/>
                </a:endParaRPr>
              </a:p>
              <a:p>
                <a:pPr>
                  <a:spcBef>
                    <a:spcPts val="576"/>
                  </a:spcBef>
                </a:pPr>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1111"/>
                </a:stretch>
              </a:blipFill>
            </p:spPr>
            <p:txBody>
              <a:bodyPr/>
              <a:lstStyle/>
              <a:p>
                <a:r>
                  <a:rPr lang="en-US">
                    <a:noFill/>
                  </a:rPr>
                  <a:t> </a:t>
                </a:r>
              </a:p>
            </p:txBody>
          </p:sp>
        </mc:Fallback>
      </mc:AlternateContent>
    </p:spTree>
    <p:extLst>
      <p:ext uri="{BB962C8B-B14F-4D97-AF65-F5344CB8AC3E}">
        <p14:creationId xmlns:p14="http://schemas.microsoft.com/office/powerpoint/2010/main" val="1923451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1201400" cy="715962"/>
          </a:xfrm>
        </p:spPr>
        <p:txBody>
          <a:bodyPr/>
          <a:lstStyle/>
          <a:p>
            <a:r>
              <a:rPr lang="en-US" dirty="0"/>
              <a:t>Measures of System Performance: Example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Aft>
                    <a:spcPts val="600"/>
                  </a:spcAft>
                </a:pPr>
                <a:r>
                  <a:rPr lang="en-US" dirty="0"/>
                  <a:t>Suppose we have two race cars that have just completed a 10-mile race. Car A finished in 3 minutes, and Car B finished in 4 minutes. Using our formulas, Car A is 1.33 times as fast as Car B, and Car A is also 33% faster than Car B:</a:t>
                </a:r>
              </a:p>
              <a:p>
                <a:pPr marL="344488" indent="0">
                  <a:spcAft>
                    <a:spcPts val="600"/>
                  </a:spcAft>
                  <a:buNone/>
                </a:pPr>
                <a14:m>
                  <m:oMath xmlns:m="http://schemas.openxmlformats.org/officeDocument/2006/math">
                    <m:f>
                      <m:fPr>
                        <m:ctrlPr>
                          <a:rPr lang="en-US" altLang="en-US" i="1" kern="0">
                            <a:latin typeface="Cambria Math" panose="02040503050406030204" pitchFamily="18" charset="0"/>
                            <a:cs typeface="Arial" charset="0"/>
                          </a:rPr>
                        </m:ctrlPr>
                      </m:fPr>
                      <m:num>
                        <m:r>
                          <m:rPr>
                            <m:sty m:val="p"/>
                          </m:rPr>
                          <a:rPr lang="en-US" altLang="en-US" kern="0">
                            <a:latin typeface="Cambria Math" panose="02040503050406030204" pitchFamily="18" charset="0"/>
                            <a:cs typeface="Arial" charset="0"/>
                          </a:rPr>
                          <m:t>time</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for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Car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B</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to</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travel</m:t>
                        </m:r>
                        <m:r>
                          <a:rPr lang="en-US" altLang="en-US" kern="0">
                            <a:latin typeface="Cambria Math" panose="02040503050406030204" pitchFamily="18" charset="0"/>
                            <a:cs typeface="Arial" charset="0"/>
                          </a:rPr>
                          <m:t> 10 </m:t>
                        </m:r>
                        <m:r>
                          <m:rPr>
                            <m:sty m:val="p"/>
                          </m:rPr>
                          <a:rPr lang="en-US" altLang="en-US" kern="0">
                            <a:latin typeface="Cambria Math" panose="02040503050406030204" pitchFamily="18" charset="0"/>
                            <a:cs typeface="Arial" charset="0"/>
                          </a:rPr>
                          <m:t>miles</m:t>
                        </m:r>
                      </m:num>
                      <m:den>
                        <m:r>
                          <m:rPr>
                            <m:sty m:val="p"/>
                          </m:rPr>
                          <a:rPr lang="en-US" altLang="en-US" kern="0">
                            <a:latin typeface="Cambria Math" panose="02040503050406030204" pitchFamily="18" charset="0"/>
                            <a:cs typeface="Arial" charset="0"/>
                          </a:rPr>
                          <m:t>time</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for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Car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A</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to</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travel</m:t>
                        </m:r>
                        <m:r>
                          <a:rPr lang="en-US" altLang="en-US" kern="0">
                            <a:latin typeface="Cambria Math" panose="02040503050406030204" pitchFamily="18" charset="0"/>
                            <a:cs typeface="Arial" charset="0"/>
                          </a:rPr>
                          <m:t> 10 </m:t>
                        </m:r>
                        <m:r>
                          <m:rPr>
                            <m:sty m:val="p"/>
                          </m:rPr>
                          <a:rPr lang="en-US" altLang="en-US" kern="0">
                            <a:latin typeface="Cambria Math" panose="02040503050406030204" pitchFamily="18" charset="0"/>
                            <a:cs typeface="Arial" charset="0"/>
                          </a:rPr>
                          <m:t>miles</m:t>
                        </m:r>
                      </m:den>
                    </m:f>
                    <m:r>
                      <a:rPr lang="en-US" altLang="en-US" kern="0">
                        <a:latin typeface="Cambria Math" panose="02040503050406030204" pitchFamily="18" charset="0"/>
                        <a:cs typeface="Arial" charset="0"/>
                      </a:rPr>
                      <m:t>=</m:t>
                    </m:r>
                    <m:f>
                      <m:fPr>
                        <m:ctrlPr>
                          <a:rPr lang="en-US" altLang="en-US" i="1" kern="0">
                            <a:latin typeface="Cambria Math" panose="02040503050406030204" pitchFamily="18" charset="0"/>
                            <a:cs typeface="Arial" charset="0"/>
                          </a:rPr>
                        </m:ctrlPr>
                      </m:fPr>
                      <m:num>
                        <m:r>
                          <a:rPr lang="en-US" altLang="en-US" kern="0">
                            <a:latin typeface="Cambria Math" panose="02040503050406030204" pitchFamily="18" charset="0"/>
                            <a:cs typeface="Arial" charset="0"/>
                          </a:rPr>
                          <m:t>4</m:t>
                        </m:r>
                      </m:num>
                      <m:den>
                        <m:r>
                          <a:rPr lang="en-US" altLang="en-US" kern="0">
                            <a:latin typeface="Cambria Math" panose="02040503050406030204" pitchFamily="18" charset="0"/>
                            <a:cs typeface="Arial" charset="0"/>
                          </a:rPr>
                          <m:t>3</m:t>
                        </m:r>
                      </m:den>
                    </m:f>
                    <m:r>
                      <a:rPr lang="en-US" altLang="en-US" kern="0">
                        <a:latin typeface="Cambria Math" panose="02040503050406030204" pitchFamily="18" charset="0"/>
                        <a:cs typeface="Arial" charset="0"/>
                      </a:rPr>
                      <m:t>=1.33</m:t>
                    </m:r>
                  </m:oMath>
                </a14:m>
                <a:r>
                  <a:rPr lang="en-US" altLang="en-US" kern="0" dirty="0">
                    <a:cs typeface="Arial" charset="0"/>
                  </a:rPr>
                  <a:t> </a:t>
                </a:r>
              </a:p>
              <a:p>
                <a:pPr marL="344488" indent="0">
                  <a:spcAft>
                    <a:spcPts val="600"/>
                  </a:spcAft>
                  <a:buNone/>
                </a:pPr>
                <a14:m>
                  <m:oMath xmlns:m="http://schemas.openxmlformats.org/officeDocument/2006/math">
                    <m:d>
                      <m:dPr>
                        <m:ctrlPr>
                          <a:rPr lang="en-US" altLang="en-US" i="1" kern="0">
                            <a:latin typeface="Cambria Math" panose="02040503050406030204" pitchFamily="18" charset="0"/>
                            <a:cs typeface="Arial" charset="0"/>
                          </a:rPr>
                        </m:ctrlPr>
                      </m:dPr>
                      <m:e>
                        <m:f>
                          <m:fPr>
                            <m:ctrlPr>
                              <a:rPr lang="en-US" altLang="en-US" i="1" kern="0">
                                <a:latin typeface="Cambria Math" panose="02040503050406030204" pitchFamily="18" charset="0"/>
                                <a:cs typeface="Arial" charset="0"/>
                              </a:rPr>
                            </m:ctrlPr>
                          </m:fPr>
                          <m:num>
                            <m:r>
                              <m:rPr>
                                <m:sty m:val="p"/>
                              </m:rPr>
                              <a:rPr lang="en-US" altLang="en-US" kern="0">
                                <a:latin typeface="Cambria Math" panose="02040503050406030204" pitchFamily="18" charset="0"/>
                                <a:cs typeface="Arial" charset="0"/>
                              </a:rPr>
                              <m:t>time</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for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Car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B</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to</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travel</m:t>
                            </m:r>
                            <m:r>
                              <a:rPr lang="en-US" altLang="en-US" kern="0">
                                <a:latin typeface="Cambria Math" panose="02040503050406030204" pitchFamily="18" charset="0"/>
                                <a:cs typeface="Arial" charset="0"/>
                              </a:rPr>
                              <m:t> 10 </m:t>
                            </m:r>
                            <m:r>
                              <m:rPr>
                                <m:sty m:val="p"/>
                              </m:rPr>
                              <a:rPr lang="en-US" altLang="en-US" kern="0">
                                <a:latin typeface="Cambria Math" panose="02040503050406030204" pitchFamily="18" charset="0"/>
                                <a:cs typeface="Arial" charset="0"/>
                              </a:rPr>
                              <m:t>miles</m:t>
                            </m:r>
                          </m:num>
                          <m:den>
                            <m:r>
                              <m:rPr>
                                <m:sty m:val="p"/>
                              </m:rPr>
                              <a:rPr lang="en-US" altLang="en-US" kern="0">
                                <a:latin typeface="Cambria Math" panose="02040503050406030204" pitchFamily="18" charset="0"/>
                                <a:cs typeface="Arial" charset="0"/>
                              </a:rPr>
                              <m:t>time</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for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Car</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A</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to</m:t>
                            </m:r>
                            <m:r>
                              <a:rPr lang="en-US" altLang="en-US" kern="0">
                                <a:latin typeface="Cambria Math" panose="02040503050406030204" pitchFamily="18" charset="0"/>
                                <a:cs typeface="Arial" charset="0"/>
                              </a:rPr>
                              <m:t> </m:t>
                            </m:r>
                            <m:r>
                              <m:rPr>
                                <m:sty m:val="p"/>
                              </m:rPr>
                              <a:rPr lang="en-US" altLang="en-US" kern="0">
                                <a:latin typeface="Cambria Math" panose="02040503050406030204" pitchFamily="18" charset="0"/>
                                <a:cs typeface="Arial" charset="0"/>
                              </a:rPr>
                              <m:t>travel</m:t>
                            </m:r>
                            <m:r>
                              <a:rPr lang="en-US" altLang="en-US" kern="0">
                                <a:latin typeface="Cambria Math" panose="02040503050406030204" pitchFamily="18" charset="0"/>
                                <a:cs typeface="Arial" charset="0"/>
                              </a:rPr>
                              <m:t> 10 </m:t>
                            </m:r>
                            <m:r>
                              <m:rPr>
                                <m:sty m:val="p"/>
                              </m:rPr>
                              <a:rPr lang="en-US" altLang="en-US" kern="0">
                                <a:latin typeface="Cambria Math" panose="02040503050406030204" pitchFamily="18" charset="0"/>
                                <a:cs typeface="Arial" charset="0"/>
                              </a:rPr>
                              <m:t>miles</m:t>
                            </m:r>
                          </m:den>
                        </m:f>
                        <m:r>
                          <a:rPr lang="en-US" altLang="en-US" i="1" kern="0">
                            <a:latin typeface="Cambria Math" panose="02040503050406030204" pitchFamily="18" charset="0"/>
                            <a:cs typeface="Arial" charset="0"/>
                          </a:rPr>
                          <m:t>−1</m:t>
                        </m:r>
                      </m:e>
                    </m:d>
                    <m:r>
                      <a:rPr lang="en-US" altLang="en-US" i="1" kern="0">
                        <a:latin typeface="Cambria Math" panose="02040503050406030204" pitchFamily="18" charset="0"/>
                        <a:cs typeface="Arial" charset="0"/>
                      </a:rPr>
                      <m:t>×100%=33%</m:t>
                    </m:r>
                  </m:oMath>
                </a14:m>
                <a:r>
                  <a:rPr lang="en-US" dirty="0"/>
                  <a:t> </a:t>
                </a:r>
              </a:p>
              <a:p>
                <a:pPr>
                  <a:spcAft>
                    <a:spcPts val="600"/>
                  </a:spcAft>
                </a:pPr>
                <a:endParaRPr lang="en-US" dirty="0"/>
              </a:p>
              <a:p>
                <a:pPr>
                  <a:spcAft>
                    <a:spcPts val="600"/>
                  </a:spcAft>
                </a:pPr>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556"/>
                </a:stretch>
              </a:blipFill>
            </p:spPr>
            <p:txBody>
              <a:bodyPr/>
              <a:lstStyle/>
              <a:p>
                <a:r>
                  <a:rPr lang="en-US">
                    <a:noFill/>
                  </a:rPr>
                  <a:t> </a:t>
                </a:r>
              </a:p>
            </p:txBody>
          </p:sp>
        </mc:Fallback>
      </mc:AlternateContent>
    </p:spTree>
    <p:extLst>
      <p:ext uri="{BB962C8B-B14F-4D97-AF65-F5344CB8AC3E}">
        <p14:creationId xmlns:p14="http://schemas.microsoft.com/office/powerpoint/2010/main" val="1135504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1201400" cy="715962"/>
          </a:xfrm>
        </p:spPr>
        <p:txBody>
          <a:bodyPr/>
          <a:lstStyle/>
          <a:p>
            <a:r>
              <a:rPr lang="en-US" dirty="0"/>
              <a:t>Measures of System Performance: 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10000"/>
              </a:bodyPr>
              <a:lstStyle/>
              <a:p>
                <a:r>
                  <a:rPr lang="en-US" dirty="0"/>
                  <a:t>Consider two implementations of an instruction set architecture:</a:t>
                </a:r>
              </a:p>
              <a:p>
                <a:pPr lvl="1"/>
                <a:r>
                  <a:rPr lang="en-US" dirty="0"/>
                  <a:t>Computer A: Cycle time = 250ps, CPI = 2.0</a:t>
                </a:r>
              </a:p>
              <a:p>
                <a:pPr lvl="1"/>
                <a:r>
                  <a:rPr lang="en-US" dirty="0"/>
                  <a:t>Computer B: Cycle time = 500ps, CPI = 1.2</a:t>
                </a:r>
              </a:p>
              <a:p>
                <a:r>
                  <a:rPr lang="en-US" dirty="0"/>
                  <a:t>Which computer is faster and by what factor?</a:t>
                </a:r>
              </a:p>
              <a:p>
                <a:pPr>
                  <a:spcAft>
                    <a:spcPts val="600"/>
                  </a:spcAft>
                </a:pPr>
                <a:r>
                  <a:rPr lang="en-US" dirty="0"/>
                  <a:t>Recall: </a:t>
                </a:r>
                <a14:m>
                  <m:oMath xmlns:m="http://schemas.openxmlformats.org/officeDocument/2006/math">
                    <m:r>
                      <m:rPr>
                        <m:sty m:val="p"/>
                      </m:rPr>
                      <a:rPr lang="en-US" dirty="0">
                        <a:latin typeface="Cambria Math" panose="02040503050406030204" pitchFamily="18" charset="0"/>
                      </a:rPr>
                      <m:t>CPU</m:t>
                    </m:r>
                    <m:r>
                      <a:rPr lang="en-US" dirty="0">
                        <a:latin typeface="Cambria Math" panose="02040503050406030204" pitchFamily="18" charset="0"/>
                      </a:rPr>
                      <m:t> </m:t>
                    </m:r>
                    <m:r>
                      <m:rPr>
                        <m:sty m:val="p"/>
                      </m:rPr>
                      <a:rPr lang="en-US" dirty="0">
                        <a:latin typeface="Cambria Math" panose="02040503050406030204" pitchFamily="18" charset="0"/>
                      </a:rPr>
                      <m:t>time</m:t>
                    </m:r>
                    <m:r>
                      <a:rPr lang="en-US" dirty="0">
                        <a:latin typeface="Cambria Math" panose="02040503050406030204" pitchFamily="18" charset="0"/>
                      </a:rPr>
                      <m:t>=</m:t>
                    </m:r>
                    <m:r>
                      <m:rPr>
                        <m:sty m:val="p"/>
                      </m:rPr>
                      <a:rPr lang="en-US" dirty="0">
                        <a:latin typeface="Cambria Math" panose="02040503050406030204" pitchFamily="18" charset="0"/>
                      </a:rPr>
                      <m:t>instruction</m:t>
                    </m:r>
                    <m:r>
                      <a:rPr lang="en-US" dirty="0">
                        <a:latin typeface="Cambria Math" panose="02040503050406030204" pitchFamily="18" charset="0"/>
                      </a:rPr>
                      <m:t> </m:t>
                    </m:r>
                    <m:r>
                      <m:rPr>
                        <m:sty m:val="p"/>
                      </m:rPr>
                      <a:rPr lang="en-US" dirty="0">
                        <a:latin typeface="Cambria Math" panose="02040503050406030204" pitchFamily="18" charset="0"/>
                      </a:rPr>
                      <m:t>count</m:t>
                    </m:r>
                    <m:r>
                      <a:rPr lang="en-US" i="1" dirty="0">
                        <a:latin typeface="Cambria Math" panose="02040503050406030204" pitchFamily="18" charset="0"/>
                      </a:rPr>
                      <m:t>×</m:t>
                    </m:r>
                    <m:r>
                      <m:rPr>
                        <m:sty m:val="p"/>
                      </m:rPr>
                      <a:rPr lang="en-US" dirty="0">
                        <a:latin typeface="Cambria Math" panose="02040503050406030204" pitchFamily="18" charset="0"/>
                      </a:rPr>
                      <m:t>CPI</m:t>
                    </m:r>
                    <m:r>
                      <a:rPr lang="en-US" i="1" dirty="0">
                        <a:latin typeface="Cambria Math" panose="02040503050406030204" pitchFamily="18" charset="0"/>
                      </a:rPr>
                      <m:t>×</m:t>
                    </m:r>
                    <m:r>
                      <m:rPr>
                        <m:sty m:val="p"/>
                      </m:rPr>
                      <a:rPr lang="en-US" dirty="0">
                        <a:latin typeface="Cambria Math" panose="02040503050406030204" pitchFamily="18" charset="0"/>
                      </a:rPr>
                      <m:t>clock</m:t>
                    </m:r>
                    <m:r>
                      <a:rPr lang="en-US" dirty="0">
                        <a:latin typeface="Cambria Math" panose="02040503050406030204" pitchFamily="18" charset="0"/>
                      </a:rPr>
                      <m:t> </m:t>
                    </m:r>
                    <m:r>
                      <m:rPr>
                        <m:sty m:val="p"/>
                      </m:rPr>
                      <a:rPr lang="en-US" dirty="0">
                        <a:latin typeface="Cambria Math" panose="02040503050406030204" pitchFamily="18" charset="0"/>
                      </a:rPr>
                      <m:t>cycle</m:t>
                    </m:r>
                    <m:r>
                      <a:rPr lang="en-US" dirty="0">
                        <a:latin typeface="Cambria Math" panose="02040503050406030204" pitchFamily="18" charset="0"/>
                      </a:rPr>
                      <m:t> </m:t>
                    </m:r>
                    <m:r>
                      <m:rPr>
                        <m:sty m:val="p"/>
                      </m:rPr>
                      <a:rPr lang="en-US" dirty="0">
                        <a:latin typeface="Cambria Math" panose="02040503050406030204" pitchFamily="18" charset="0"/>
                      </a:rPr>
                      <m:t>time</m:t>
                    </m:r>
                  </m:oMath>
                </a14:m>
                <a:endParaRPr lang="en-US" dirty="0"/>
              </a:p>
              <a:p>
                <a:pPr>
                  <a:spcAft>
                    <a:spcPts val="1200"/>
                  </a:spcAft>
                </a:pP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CPU</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e>
                      <m:sub>
                        <m:r>
                          <m:rPr>
                            <m:sty m:val="p"/>
                          </m:rPr>
                          <a:rPr lang="en-US" dirty="0">
                            <a:latin typeface="Cambria Math" panose="02040503050406030204" pitchFamily="18" charset="0"/>
                          </a:rPr>
                          <m:t>A</m:t>
                        </m:r>
                      </m:sub>
                    </m:sSub>
                    <m:r>
                      <a:rPr lang="en-US" dirty="0">
                        <a:latin typeface="Cambria Math" panose="02040503050406030204" pitchFamily="18" charset="0"/>
                      </a:rPr>
                      <m:t>=</m:t>
                    </m:r>
                    <m:r>
                      <a:rPr lang="en-US" b="0" i="1" dirty="0" smtClean="0">
                        <a:latin typeface="Cambria Math" panose="02040503050406030204" pitchFamily="18" charset="0"/>
                      </a:rPr>
                      <m:t>𝑖𝑛𝑠𝑡𝑟𝑢𝑐𝑡𝑖𝑜𝑛</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count</m:t>
                    </m:r>
                    <m:r>
                      <a:rPr lang="en-US" i="1" dirty="0">
                        <a:latin typeface="Cambria Math" panose="02040503050406030204" pitchFamily="18" charset="0"/>
                      </a:rPr>
                      <m:t>×</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CPI</m:t>
                        </m:r>
                      </m:e>
                      <m:sub>
                        <m:r>
                          <m:rPr>
                            <m:sty m:val="p"/>
                          </m:rPr>
                          <a:rPr lang="en-US" dirty="0">
                            <a:latin typeface="Cambria Math" panose="02040503050406030204" pitchFamily="18" charset="0"/>
                          </a:rPr>
                          <m:t>A</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m:rPr>
                            <m:sty m:val="p"/>
                          </m:rPr>
                          <a:rPr lang="en-US" b="0" i="0" dirty="0" smtClean="0">
                            <a:latin typeface="Cambria Math" panose="02040503050406030204" pitchFamily="18" charset="0"/>
                          </a:rPr>
                          <m:t>clock</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cycle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e>
                      <m:sub>
                        <m:r>
                          <m:rPr>
                            <m:sty m:val="p"/>
                          </m:rPr>
                          <a:rPr lang="en-US" dirty="0" err="1">
                            <a:latin typeface="Cambria Math" panose="02040503050406030204" pitchFamily="18" charset="0"/>
                          </a:rPr>
                          <m:t>A</m:t>
                        </m:r>
                      </m:sub>
                    </m:sSub>
                  </m:oMath>
                </a14:m>
                <a:endParaRPr lang="en-US" dirty="0"/>
              </a:p>
              <a:p>
                <a:pPr marL="1828800" indent="0">
                  <a:spcBef>
                    <a:spcPts val="1200"/>
                  </a:spcBef>
                  <a:buNone/>
                </a:pPr>
                <a14:m>
                  <m:oMathPara xmlns:m="http://schemas.openxmlformats.org/officeDocument/2006/math">
                    <m:oMathParaPr>
                      <m:jc m:val="left"/>
                    </m:oMathParaPr>
                    <m:oMath xmlns:m="http://schemas.openxmlformats.org/officeDocument/2006/math">
                      <m:r>
                        <a:rPr lang="en-US" dirty="0">
                          <a:latin typeface="Cambria Math" panose="02040503050406030204" pitchFamily="18" charset="0"/>
                        </a:rPr>
                        <m:t>=</m:t>
                      </m:r>
                      <m:r>
                        <m:rPr>
                          <m:sty m:val="p"/>
                        </m:rPr>
                        <a:rPr lang="en-US" dirty="0">
                          <a:latin typeface="Cambria Math" panose="02040503050406030204" pitchFamily="18" charset="0"/>
                        </a:rPr>
                        <m:t>I</m:t>
                      </m:r>
                      <m:r>
                        <a:rPr lang="en-US" i="1" dirty="0">
                          <a:latin typeface="Cambria Math" panose="02040503050406030204" pitchFamily="18" charset="0"/>
                        </a:rPr>
                        <m:t>×2.0×250</m:t>
                      </m:r>
                      <m:r>
                        <m:rPr>
                          <m:sty m:val="p"/>
                        </m:rPr>
                        <a:rPr lang="en-US" dirty="0">
                          <a:latin typeface="Cambria Math" panose="02040503050406030204" pitchFamily="18" charset="0"/>
                        </a:rPr>
                        <m:t>ps</m:t>
                      </m:r>
                      <m:r>
                        <a:rPr lang="en-US" dirty="0">
                          <a:latin typeface="Cambria Math" panose="02040503050406030204" pitchFamily="18" charset="0"/>
                        </a:rPr>
                        <m:t>=</m:t>
                      </m:r>
                      <m:r>
                        <m:rPr>
                          <m:sty m:val="p"/>
                        </m:rPr>
                        <a:rPr lang="en-US" dirty="0">
                          <a:latin typeface="Cambria Math" panose="02040503050406030204" pitchFamily="18" charset="0"/>
                        </a:rPr>
                        <m:t>I</m:t>
                      </m:r>
                      <m:r>
                        <a:rPr lang="en-US" dirty="0">
                          <a:latin typeface="Cambria Math" panose="02040503050406030204" pitchFamily="18" charset="0"/>
                        </a:rPr>
                        <m:t>×500</m:t>
                      </m:r>
                      <m:r>
                        <m:rPr>
                          <m:sty m:val="p"/>
                        </m:rPr>
                        <a:rPr lang="en-US" dirty="0">
                          <a:latin typeface="Cambria Math" panose="02040503050406030204" pitchFamily="18" charset="0"/>
                        </a:rPr>
                        <m:t>ps</m:t>
                      </m:r>
                    </m:oMath>
                  </m:oMathPara>
                </a14:m>
                <a:endParaRPr lang="en-US" dirty="0"/>
              </a:p>
              <a:p>
                <a:pPr>
                  <a:spcBef>
                    <a:spcPts val="1200"/>
                  </a:spcBef>
                </a:pP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CPU</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e>
                      <m:sub>
                        <m:r>
                          <m:rPr>
                            <m:sty m:val="p"/>
                          </m:rPr>
                          <a:rPr lang="en-US" dirty="0">
                            <a:latin typeface="Cambria Math" panose="02040503050406030204" pitchFamily="18" charset="0"/>
                          </a:rPr>
                          <m:t>B</m:t>
                        </m:r>
                      </m:sub>
                    </m:sSub>
                    <m:r>
                      <a:rPr lang="en-US" dirty="0">
                        <a:latin typeface="Cambria Math" panose="02040503050406030204" pitchFamily="18" charset="0"/>
                      </a:rPr>
                      <m:t>=</m:t>
                    </m:r>
                    <m:r>
                      <a:rPr lang="en-US" i="1" dirty="0">
                        <a:latin typeface="Cambria Math" panose="02040503050406030204" pitchFamily="18" charset="0"/>
                      </a:rPr>
                      <m:t>𝑖𝑛𝑠𝑡𝑟𝑢𝑐𝑡𝑖𝑜𝑛</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count</m:t>
                    </m:r>
                    <m:r>
                      <a:rPr lang="en-US" i="1" dirty="0">
                        <a:latin typeface="Cambria Math" panose="02040503050406030204" pitchFamily="18" charset="0"/>
                      </a:rPr>
                      <m:t>×</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CPI</m:t>
                        </m:r>
                      </m:e>
                      <m:sub>
                        <m:r>
                          <m:rPr>
                            <m:sty m:val="p"/>
                          </m:rPr>
                          <a:rPr lang="en-US" dirty="0">
                            <a:latin typeface="Cambria Math" panose="02040503050406030204" pitchFamily="18" charset="0"/>
                          </a:rPr>
                          <m:t>B</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m:rPr>
                            <m:sty m:val="p"/>
                          </m:rPr>
                          <a:rPr lang="en-US" b="0" i="0" dirty="0" smtClean="0">
                            <a:latin typeface="Cambria Math" panose="02040503050406030204" pitchFamily="18" charset="0"/>
                          </a:rPr>
                          <m:t>clock</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cycle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e>
                      <m:sub>
                        <m:r>
                          <m:rPr>
                            <m:sty m:val="p"/>
                          </m:rPr>
                          <a:rPr lang="en-US" dirty="0">
                            <a:latin typeface="Cambria Math" panose="02040503050406030204" pitchFamily="18" charset="0"/>
                          </a:rPr>
                          <m:t>B</m:t>
                        </m:r>
                      </m:sub>
                    </m:sSub>
                  </m:oMath>
                </a14:m>
                <a:endParaRPr lang="en-US" dirty="0"/>
              </a:p>
              <a:p>
                <a:pPr marL="1828800" indent="0">
                  <a:buNone/>
                </a:pPr>
                <a14:m>
                  <m:oMath xmlns:m="http://schemas.openxmlformats.org/officeDocument/2006/math">
                    <m:r>
                      <a:rPr lang="en-US" dirty="0">
                        <a:latin typeface="Cambria Math" panose="02040503050406030204" pitchFamily="18" charset="0"/>
                      </a:rPr>
                      <m:t>=</m:t>
                    </m:r>
                    <m:r>
                      <m:rPr>
                        <m:sty m:val="p"/>
                      </m:rPr>
                      <a:rPr lang="en-US" dirty="0">
                        <a:latin typeface="Cambria Math" panose="02040503050406030204" pitchFamily="18" charset="0"/>
                      </a:rPr>
                      <m:t>I</m:t>
                    </m:r>
                    <m:r>
                      <a:rPr lang="en-US" i="1" dirty="0">
                        <a:latin typeface="Cambria Math" panose="02040503050406030204" pitchFamily="18" charset="0"/>
                      </a:rPr>
                      <m:t>×1.2×500</m:t>
                    </m:r>
                    <m:r>
                      <m:rPr>
                        <m:sty m:val="p"/>
                      </m:rPr>
                      <a:rPr lang="en-US" dirty="0">
                        <a:latin typeface="Cambria Math" panose="02040503050406030204" pitchFamily="18" charset="0"/>
                      </a:rPr>
                      <m:t>ps</m:t>
                    </m:r>
                    <m:r>
                      <a:rPr lang="en-US" dirty="0">
                        <a:latin typeface="Cambria Math" panose="02040503050406030204" pitchFamily="18" charset="0"/>
                      </a:rPr>
                      <m:t>=</m:t>
                    </m:r>
                    <m:r>
                      <m:rPr>
                        <m:sty m:val="p"/>
                      </m:rPr>
                      <a:rPr lang="en-US" dirty="0">
                        <a:latin typeface="Cambria Math" panose="02040503050406030204" pitchFamily="18" charset="0"/>
                      </a:rPr>
                      <m:t>I</m:t>
                    </m:r>
                    <m:r>
                      <a:rPr lang="en-US" dirty="0">
                        <a:latin typeface="Cambria Math" panose="02040503050406030204" pitchFamily="18" charset="0"/>
                      </a:rPr>
                      <m:t>×600</m:t>
                    </m:r>
                    <m:r>
                      <m:rPr>
                        <m:sty m:val="p"/>
                      </m:rPr>
                      <a:rPr lang="en-US" dirty="0">
                        <a:latin typeface="Cambria Math" panose="02040503050406030204" pitchFamily="18" charset="0"/>
                      </a:rPr>
                      <m:t>ps</m:t>
                    </m:r>
                  </m:oMath>
                </a14:m>
                <a:r>
                  <a:rPr lang="en-US" dirty="0"/>
                  <a:t> </a:t>
                </a:r>
              </a:p>
              <a:p>
                <a:r>
                  <a:rPr lang="en-US" dirty="0"/>
                  <a:t>Computer A is faster.  </a:t>
                </a:r>
                <a14:m>
                  <m:oMath xmlns:m="http://schemas.openxmlformats.org/officeDocument/2006/math">
                    <m:f>
                      <m:fPr>
                        <m:ctrlPr>
                          <a:rPr lang="en-US" i="1">
                            <a:latin typeface="Cambria Math" panose="02040503050406030204" pitchFamily="18" charset="0"/>
                          </a:rPr>
                        </m:ctrlPr>
                      </m:fPr>
                      <m:num>
                        <m:r>
                          <m:rPr>
                            <m:sty m:val="p"/>
                          </m:rPr>
                          <a:rPr lang="en-US">
                            <a:latin typeface="Cambria Math" panose="02040503050406030204" pitchFamily="18" charset="0"/>
                          </a:rPr>
                          <m:t>ExecutionTim</m:t>
                        </m:r>
                        <m:sSub>
                          <m:sSubPr>
                            <m:ctrlPr>
                              <a:rPr lang="en-US" i="1">
                                <a:latin typeface="Cambria Math" panose="02040503050406030204" pitchFamily="18" charset="0"/>
                              </a:rPr>
                            </m:ctrlPr>
                          </m:sSubPr>
                          <m:e>
                            <m:r>
                              <m:rPr>
                                <m:sty m:val="p"/>
                              </m:rPr>
                              <a:rPr lang="en-US">
                                <a:latin typeface="Cambria Math" panose="02040503050406030204" pitchFamily="18" charset="0"/>
                              </a:rPr>
                              <m:t>e</m:t>
                            </m:r>
                          </m:e>
                          <m:sub>
                            <m:r>
                              <m:rPr>
                                <m:sty m:val="p"/>
                              </m:rPr>
                              <a:rPr lang="en-US">
                                <a:latin typeface="Cambria Math" panose="02040503050406030204" pitchFamily="18" charset="0"/>
                              </a:rPr>
                              <m:t>B</m:t>
                            </m:r>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ExecutionTime</m:t>
                            </m:r>
                          </m:e>
                          <m:sub>
                            <m:r>
                              <m:rPr>
                                <m:sty m:val="p"/>
                              </m:rPr>
                              <a:rPr lang="en-US">
                                <a:latin typeface="Cambria Math" panose="02040503050406030204" pitchFamily="18" charset="0"/>
                              </a:rPr>
                              <m:t>A</m:t>
                            </m:r>
                          </m:sub>
                        </m:sSub>
                      </m:den>
                    </m:f>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I</m:t>
                        </m:r>
                        <m:r>
                          <a:rPr lang="en-US">
                            <a:latin typeface="Cambria Math" panose="02040503050406030204" pitchFamily="18" charset="0"/>
                          </a:rPr>
                          <m:t>×600</m:t>
                        </m:r>
                        <m:r>
                          <m:rPr>
                            <m:sty m:val="p"/>
                          </m:rPr>
                          <a:rPr lang="en-US">
                            <a:latin typeface="Cambria Math" panose="02040503050406030204" pitchFamily="18" charset="0"/>
                          </a:rPr>
                          <m:t>ps</m:t>
                        </m:r>
                      </m:num>
                      <m:den>
                        <m:r>
                          <m:rPr>
                            <m:sty m:val="p"/>
                          </m:rPr>
                          <a:rPr lang="en-US">
                            <a:latin typeface="Cambria Math" panose="02040503050406030204" pitchFamily="18" charset="0"/>
                          </a:rPr>
                          <m:t>I</m:t>
                        </m:r>
                        <m:r>
                          <a:rPr lang="en-US">
                            <a:latin typeface="Cambria Math" panose="02040503050406030204" pitchFamily="18" charset="0"/>
                          </a:rPr>
                          <m:t>×500</m:t>
                        </m:r>
                        <m:r>
                          <m:rPr>
                            <m:sty m:val="p"/>
                          </m:rPr>
                          <a:rPr lang="en-US">
                            <a:latin typeface="Cambria Math" panose="02040503050406030204" pitchFamily="18" charset="0"/>
                          </a:rPr>
                          <m:t>ps</m:t>
                        </m:r>
                      </m:den>
                    </m:f>
                    <m:r>
                      <a:rPr lang="en-US">
                        <a:latin typeface="Cambria Math" panose="02040503050406030204" pitchFamily="18" charset="0"/>
                      </a:rPr>
                      <m:t>=1.2</m:t>
                    </m:r>
                  </m:oMath>
                </a14:m>
                <a:r>
                  <a:rPr lang="en-US" dirty="0"/>
                  <a:t>     A is 1.2 times as fast as B.</a:t>
                </a:r>
              </a:p>
              <a:p>
                <a:pPr>
                  <a:spcAft>
                    <a:spcPts val="600"/>
                  </a:spcAft>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3"/>
                <a:stretch>
                  <a:fillRect l="-812" t="-2661" b="-840"/>
                </a:stretch>
              </a:blipFill>
            </p:spPr>
            <p:txBody>
              <a:bodyPr/>
              <a:lstStyle/>
              <a:p>
                <a:r>
                  <a:rPr lang="en-US">
                    <a:noFill/>
                  </a:rPr>
                  <a:t> </a:t>
                </a:r>
              </a:p>
            </p:txBody>
          </p:sp>
        </mc:Fallback>
      </mc:AlternateContent>
    </p:spTree>
    <p:extLst>
      <p:ext uri="{BB962C8B-B14F-4D97-AF65-F5344CB8AC3E}">
        <p14:creationId xmlns:p14="http://schemas.microsoft.com/office/powerpoint/2010/main" val="132417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Measures of System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ct val="13000"/>
                  </a:spcBef>
                </a:pPr>
                <a:r>
                  <a:rPr lang="en-US" altLang="en-US" dirty="0">
                    <a:cs typeface="Arial" charset="0"/>
                  </a:rPr>
                  <a:t>When we are evaluating system performance we are most interested in its expected performance under a given workload.</a:t>
                </a:r>
              </a:p>
              <a:p>
                <a:pPr>
                  <a:spcBef>
                    <a:spcPct val="13000"/>
                  </a:spcBef>
                </a:pPr>
                <a:r>
                  <a:rPr lang="en-US" altLang="en-US" dirty="0">
                    <a:cs typeface="Arial" charset="0"/>
                  </a:rPr>
                  <a:t>We use statistical tools that are </a:t>
                </a:r>
                <a:r>
                  <a:rPr lang="en-US" altLang="en-US" b="1" dirty="0">
                    <a:cs typeface="Arial" charset="0"/>
                  </a:rPr>
                  <a:t>measures of central tendency </a:t>
                </a:r>
                <a:r>
                  <a:rPr lang="en-US" altLang="en-US" dirty="0">
                    <a:cs typeface="Arial" charset="0"/>
                  </a:rPr>
                  <a:t>(the “average” value)</a:t>
                </a:r>
              </a:p>
              <a:p>
                <a:pPr>
                  <a:spcBef>
                    <a:spcPct val="13000"/>
                  </a:spcBef>
                </a:pPr>
                <a:r>
                  <a:rPr lang="en-US" altLang="en-US" dirty="0">
                    <a:cs typeface="Arial" charset="0"/>
                  </a:rPr>
                  <a:t>The one with which everyone is most familiar is the </a:t>
                </a:r>
                <a:r>
                  <a:rPr lang="en-US" altLang="en-US" b="1" dirty="0">
                    <a:cs typeface="Arial" charset="0"/>
                  </a:rPr>
                  <a:t>arithmetic mean</a:t>
                </a:r>
                <a:r>
                  <a:rPr lang="en-US" altLang="en-US" dirty="0">
                    <a:cs typeface="Arial" charset="0"/>
                  </a:rPr>
                  <a:t> (or </a:t>
                </a:r>
                <a:r>
                  <a:rPr lang="en-US" altLang="en-US" b="1" dirty="0">
                    <a:cs typeface="Arial" charset="0"/>
                  </a:rPr>
                  <a:t>simple average</a:t>
                </a:r>
                <a:r>
                  <a:rPr lang="en-US" altLang="en-US" dirty="0">
                    <a:cs typeface="Arial" charset="0"/>
                  </a:rPr>
                  <a:t>) of </a:t>
                </a:r>
                <a:r>
                  <a:rPr lang="en-US" altLang="en-US" i="1" dirty="0">
                    <a:cs typeface="Arial" charset="0"/>
                  </a:rPr>
                  <a:t>n</a:t>
                </a:r>
                <a:r>
                  <a:rPr lang="en-US" altLang="en-US" dirty="0">
                    <a:cs typeface="Arial" charset="0"/>
                  </a:rPr>
                  <a:t> numbers </a:t>
                </a:r>
                <a:r>
                  <a:rPr lang="en-US" altLang="en-US" i="1" dirty="0">
                    <a:cs typeface="Arial" charset="0"/>
                  </a:rPr>
                  <a:t>x</a:t>
                </a:r>
                <a:r>
                  <a:rPr lang="en-US" altLang="en-US" baseline="-25000" dirty="0">
                    <a:cs typeface="Arial" charset="0"/>
                  </a:rPr>
                  <a:t>1</a:t>
                </a:r>
                <a:r>
                  <a:rPr lang="en-US" altLang="en-US" i="1" dirty="0">
                    <a:cs typeface="Arial" charset="0"/>
                  </a:rPr>
                  <a:t>, x</a:t>
                </a:r>
                <a:r>
                  <a:rPr lang="en-US" altLang="en-US" baseline="-25000" dirty="0">
                    <a:cs typeface="Arial" charset="0"/>
                  </a:rPr>
                  <a:t>2</a:t>
                </a:r>
                <a:r>
                  <a:rPr lang="en-US" altLang="en-US" i="1" dirty="0">
                    <a:cs typeface="Arial" charset="0"/>
                  </a:rPr>
                  <a:t>, …, </a:t>
                </a:r>
                <a:r>
                  <a:rPr lang="en-US" altLang="en-US" i="1" dirty="0" err="1">
                    <a:cs typeface="Arial" charset="0"/>
                  </a:rPr>
                  <a:t>x</a:t>
                </a:r>
                <a:r>
                  <a:rPr lang="en-US" altLang="en-US" i="1" baseline="-25000" dirty="0" err="1">
                    <a:cs typeface="Arial" charset="0"/>
                  </a:rPr>
                  <a:t>n</a:t>
                </a:r>
                <a:r>
                  <a:rPr lang="en-US" altLang="en-US" dirty="0">
                    <a:cs typeface="Arial" charset="0"/>
                  </a:rPr>
                  <a:t>, given by:</a:t>
                </a:r>
                <a14:m>
                  <m:oMath xmlns:m="http://schemas.openxmlformats.org/officeDocument/2006/math">
                    <m:r>
                      <a:rPr lang="en-US" altLang="en-US">
                        <a:latin typeface="Cambria Math" panose="02040503050406030204" pitchFamily="18" charset="0"/>
                        <a:cs typeface="Arial" charset="0"/>
                      </a:rPr>
                      <m:t> </m:t>
                    </m:r>
                    <m:f>
                      <m:fPr>
                        <m:ctrlPr>
                          <a:rPr lang="en-US" altLang="en-US" i="1">
                            <a:latin typeface="Cambria Math" panose="02040503050406030204" pitchFamily="18" charset="0"/>
                            <a:cs typeface="Arial" charset="0"/>
                          </a:rPr>
                        </m:ctrlPr>
                      </m:fPr>
                      <m:num>
                        <m:nary>
                          <m:naryPr>
                            <m:chr m:val="∑"/>
                            <m:ctrlPr>
                              <a:rPr lang="en-US" altLang="en-US" i="1">
                                <a:latin typeface="Cambria Math" panose="02040503050406030204" pitchFamily="18" charset="0"/>
                                <a:cs typeface="Arial" charset="0"/>
                              </a:rPr>
                            </m:ctrlPr>
                          </m:naryPr>
                          <m:sub>
                            <m:r>
                              <m:rPr>
                                <m:brk m:alnAt="23"/>
                              </m:rPr>
                              <a:rPr lang="en-US" altLang="en-US" i="1">
                                <a:latin typeface="Cambria Math" panose="02040503050406030204" pitchFamily="18" charset="0"/>
                                <a:cs typeface="Arial" charset="0"/>
                              </a:rPr>
                              <m:t>𝑖</m:t>
                            </m:r>
                            <m:r>
                              <a:rPr lang="en-US" altLang="en-US" i="1">
                                <a:latin typeface="Cambria Math" panose="02040503050406030204" pitchFamily="18" charset="0"/>
                                <a:cs typeface="Arial" charset="0"/>
                              </a:rPr>
                              <m:t>=1</m:t>
                            </m:r>
                          </m:sub>
                          <m:sup>
                            <m:r>
                              <a:rPr lang="en-US" altLang="en-US" i="1">
                                <a:latin typeface="Cambria Math" panose="02040503050406030204" pitchFamily="18" charset="0"/>
                                <a:cs typeface="Arial" charset="0"/>
                              </a:rPr>
                              <m:t>𝑛</m:t>
                            </m:r>
                          </m:sup>
                          <m:e>
                            <m:sSub>
                              <m:sSubPr>
                                <m:ctrlPr>
                                  <a:rPr lang="en-US" altLang="en-US" i="1">
                                    <a:latin typeface="Cambria Math" panose="02040503050406030204" pitchFamily="18" charset="0"/>
                                    <a:cs typeface="Arial" charset="0"/>
                                  </a:rPr>
                                </m:ctrlPr>
                              </m:sSubPr>
                              <m:e>
                                <m:r>
                                  <a:rPr lang="en-US" altLang="en-US" i="1">
                                    <a:latin typeface="Cambria Math" panose="02040503050406030204" pitchFamily="18" charset="0"/>
                                    <a:cs typeface="Arial" charset="0"/>
                                  </a:rPr>
                                  <m:t>𝑥</m:t>
                                </m:r>
                              </m:e>
                              <m:sub>
                                <m:r>
                                  <a:rPr lang="en-US" altLang="en-US" i="1">
                                    <a:latin typeface="Cambria Math" panose="02040503050406030204" pitchFamily="18" charset="0"/>
                                    <a:cs typeface="Arial" charset="0"/>
                                  </a:rPr>
                                  <m:t>𝑖</m:t>
                                </m:r>
                              </m:sub>
                            </m:sSub>
                          </m:e>
                        </m:nary>
                      </m:num>
                      <m:den>
                        <m:r>
                          <a:rPr lang="en-US" altLang="en-US" i="1">
                            <a:latin typeface="Cambria Math" panose="02040503050406030204" pitchFamily="18" charset="0"/>
                            <a:cs typeface="Arial" charset="0"/>
                          </a:rPr>
                          <m:t>𝑛</m:t>
                        </m:r>
                      </m:den>
                    </m:f>
                  </m:oMath>
                </a14:m>
                <a:endParaRPr lang="en-US" altLang="en-US" dirty="0">
                  <a:cs typeface="Arial" charset="0"/>
                </a:endParaRPr>
              </a:p>
              <a:p>
                <a:r>
                  <a:rPr lang="en-US" dirty="0"/>
                  <a:t>The arithmetic mean can be misleading if the data are skewed or scattered.</a:t>
                </a:r>
              </a:p>
              <a:p>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390886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1201400" cy="715962"/>
          </a:xfrm>
        </p:spPr>
        <p:txBody>
          <a:bodyPr/>
          <a:lstStyle/>
          <a:p>
            <a:r>
              <a:rPr lang="en-US" dirty="0"/>
              <a:t>Measures of System Performance: Example #3</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Consider the execution times given in the table below. The performance differences are hidden by the simple average.</a:t>
            </a:r>
          </a:p>
          <a:p>
            <a:endParaRPr lang="en-US" dirty="0"/>
          </a:p>
        </p:txBody>
      </p:sp>
      <p:pic>
        <p:nvPicPr>
          <p:cNvPr id="4" name="Picture 3" descr="9781284033144_CH11_TBL01.jpg">
            <a:extLst>
              <a:ext uri="{FF2B5EF4-FFF2-40B4-BE49-F238E27FC236}">
                <a16:creationId xmlns:a16="http://schemas.microsoft.com/office/drawing/2014/main" id="{093B472F-9F0D-499A-8A9E-9BDE0C42B4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3705" y="2779294"/>
            <a:ext cx="5723308" cy="354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8297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1201400" cy="715962"/>
          </a:xfrm>
        </p:spPr>
        <p:txBody>
          <a:bodyPr/>
          <a:lstStyle/>
          <a:p>
            <a:r>
              <a:rPr lang="en-US" dirty="0"/>
              <a:t>Measures of System Performance: Example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lnSpc>
                    <a:spcPct val="95000"/>
                  </a:lnSpc>
                  <a:spcBef>
                    <a:spcPts val="600"/>
                  </a:spcBef>
                </a:pPr>
                <a:r>
                  <a:rPr lang="en-US" altLang="en-US" dirty="0">
                    <a:cs typeface="Arial" charset="0"/>
                  </a:rPr>
                  <a:t>If execution frequencies (expected workloads) are known, a weighted average can be revealing.</a:t>
                </a:r>
              </a:p>
              <a:p>
                <a:pPr>
                  <a:lnSpc>
                    <a:spcPct val="90000"/>
                  </a:lnSpc>
                  <a:spcBef>
                    <a:spcPts val="600"/>
                  </a:spcBef>
                </a:pPr>
                <a:r>
                  <a:rPr lang="en-US" altLang="en-US" dirty="0"/>
                  <a:t>The weighted average for System A is: </a:t>
                </a:r>
                <a14:m>
                  <m:oMath xmlns:m="http://schemas.openxmlformats.org/officeDocument/2006/math">
                    <m:r>
                      <a:rPr lang="en-US" altLang="en-US" b="0" i="0" dirty="0" smtClean="0">
                        <a:latin typeface="Cambria Math" panose="02040503050406030204" pitchFamily="18" charset="0"/>
                      </a:rPr>
                      <m:t>(</m:t>
                    </m:r>
                    <m:r>
                      <a:rPr lang="en-US" altLang="en-US" i="1" dirty="0" smtClean="0">
                        <a:latin typeface="Cambria Math" panose="02040503050406030204" pitchFamily="18" charset="0"/>
                      </a:rPr>
                      <m:t>50 </m:t>
                    </m:r>
                    <m:r>
                      <a:rPr lang="en-US" altLang="en-US" i="1" dirty="0">
                        <a:latin typeface="Cambria Math" panose="02040503050406030204" pitchFamily="18" charset="0"/>
                        <a:sym typeface="Symbol" pitchFamily="18" charset="2"/>
                      </a:rPr>
                      <m:t></m:t>
                    </m:r>
                    <m:r>
                      <a:rPr lang="en-US" altLang="en-US" i="1" dirty="0">
                        <a:latin typeface="Cambria Math" panose="02040503050406030204" pitchFamily="18" charset="0"/>
                      </a:rPr>
                      <m:t> 0.5</m:t>
                    </m:r>
                    <m:r>
                      <a:rPr lang="en-US" altLang="en-US" b="0" i="1" dirty="0" smtClean="0">
                        <a:latin typeface="Cambria Math" panose="02040503050406030204" pitchFamily="18" charset="0"/>
                      </a:rPr>
                      <m:t>)</m:t>
                    </m:r>
                    <m:r>
                      <a:rPr lang="en-US" altLang="en-US" i="1" dirty="0">
                        <a:latin typeface="Cambria Math" panose="02040503050406030204" pitchFamily="18" charset="0"/>
                      </a:rPr>
                      <m:t>+</m:t>
                    </m:r>
                    <m:r>
                      <a:rPr lang="en-US" altLang="en-US" b="0" i="1" dirty="0" smtClean="0">
                        <a:latin typeface="Cambria Math" panose="02040503050406030204" pitchFamily="18" charset="0"/>
                      </a:rPr>
                      <m:t>(</m:t>
                    </m:r>
                    <m:r>
                      <a:rPr lang="en-US" altLang="en-US" i="1" dirty="0">
                        <a:latin typeface="Cambria Math" panose="02040503050406030204" pitchFamily="18" charset="0"/>
                      </a:rPr>
                      <m:t>200</m:t>
                    </m:r>
                    <m:r>
                      <a:rPr lang="en-US" altLang="en-US" i="1" dirty="0" smtClean="0">
                        <a:latin typeface="Cambria Math" panose="02040503050406030204" pitchFamily="18" charset="0"/>
                      </a:rPr>
                      <m:t> </m:t>
                    </m:r>
                    <m:r>
                      <a:rPr lang="en-US" altLang="en-US" i="1" dirty="0">
                        <a:latin typeface="Cambria Math" panose="02040503050406030204" pitchFamily="18" charset="0"/>
                        <a:sym typeface="Symbol" pitchFamily="18" charset="2"/>
                      </a:rPr>
                      <m:t></m:t>
                    </m:r>
                    <m:r>
                      <a:rPr lang="en-US" altLang="en-US" i="1" dirty="0">
                        <a:latin typeface="Cambria Math" panose="02040503050406030204" pitchFamily="18" charset="0"/>
                      </a:rPr>
                      <m:t> 0.3</m:t>
                    </m:r>
                    <m:r>
                      <a:rPr lang="en-US" altLang="en-US" b="0" i="1" dirty="0" smtClean="0">
                        <a:latin typeface="Cambria Math" panose="02040503050406030204" pitchFamily="18" charset="0"/>
                      </a:rPr>
                      <m:t>)</m:t>
                    </m:r>
                    <m:r>
                      <a:rPr lang="en-US" altLang="en-US" i="1" dirty="0">
                        <a:latin typeface="Cambria Math" panose="02040503050406030204" pitchFamily="18" charset="0"/>
                      </a:rPr>
                      <m:t>+</m:t>
                    </m:r>
                    <m:r>
                      <a:rPr lang="en-US" altLang="en-US" b="0" i="1" dirty="0" smtClean="0">
                        <a:latin typeface="Cambria Math" panose="02040503050406030204" pitchFamily="18" charset="0"/>
                      </a:rPr>
                      <m:t>(</m:t>
                    </m:r>
                    <m:r>
                      <a:rPr lang="en-US" altLang="en-US" i="1" dirty="0">
                        <a:latin typeface="Cambria Math" panose="02040503050406030204" pitchFamily="18" charset="0"/>
                      </a:rPr>
                      <m:t>250 </m:t>
                    </m:r>
                    <m:r>
                      <a:rPr lang="en-US" altLang="en-US" i="1" dirty="0">
                        <a:latin typeface="Cambria Math" panose="02040503050406030204" pitchFamily="18" charset="0"/>
                        <a:sym typeface="Symbol" pitchFamily="18" charset="2"/>
                      </a:rPr>
                      <m:t></m:t>
                    </m:r>
                    <m:r>
                      <a:rPr lang="en-US" altLang="en-US" i="1" dirty="0">
                        <a:latin typeface="Cambria Math" panose="02040503050406030204" pitchFamily="18" charset="0"/>
                      </a:rPr>
                      <m:t> 0.1</m:t>
                    </m:r>
                    <m:r>
                      <a:rPr lang="en-US" altLang="en-US" b="0" i="1" dirty="0" smtClean="0">
                        <a:latin typeface="Cambria Math" panose="02040503050406030204" pitchFamily="18" charset="0"/>
                      </a:rPr>
                      <m:t>)</m:t>
                    </m:r>
                    <m:r>
                      <a:rPr lang="en-US" altLang="en-US" i="1" dirty="0">
                        <a:latin typeface="Cambria Math" panose="02040503050406030204" pitchFamily="18" charset="0"/>
                      </a:rPr>
                      <m:t>+</m:t>
                    </m:r>
                    <m:r>
                      <a:rPr lang="en-US" altLang="en-US" b="0" i="1" dirty="0" smtClean="0">
                        <a:latin typeface="Cambria Math" panose="02040503050406030204" pitchFamily="18" charset="0"/>
                      </a:rPr>
                      <m:t>(</m:t>
                    </m:r>
                    <m:r>
                      <a:rPr lang="en-US" altLang="en-US" i="1" dirty="0">
                        <a:latin typeface="Cambria Math" panose="02040503050406030204" pitchFamily="18" charset="0"/>
                      </a:rPr>
                      <m:t>400 </m:t>
                    </m:r>
                    <m:r>
                      <a:rPr lang="en-US" altLang="en-US" i="1" dirty="0">
                        <a:latin typeface="Cambria Math" panose="02040503050406030204" pitchFamily="18" charset="0"/>
                        <a:sym typeface="Symbol" pitchFamily="18" charset="2"/>
                      </a:rPr>
                      <m:t></m:t>
                    </m:r>
                    <m:r>
                      <a:rPr lang="en-US" altLang="en-US" i="1" dirty="0">
                        <a:latin typeface="Cambria Math" panose="02040503050406030204" pitchFamily="18" charset="0"/>
                      </a:rPr>
                      <m:t> 0.05</m:t>
                    </m:r>
                    <m:r>
                      <a:rPr lang="en-US" altLang="en-US" b="0" i="1" dirty="0" smtClean="0">
                        <a:latin typeface="Cambria Math" panose="02040503050406030204" pitchFamily="18" charset="0"/>
                      </a:rPr>
                      <m:t>)</m:t>
                    </m:r>
                    <m:r>
                      <a:rPr lang="en-US" altLang="en-US" i="1" dirty="0">
                        <a:latin typeface="Cambria Math" panose="02040503050406030204" pitchFamily="18" charset="0"/>
                      </a:rPr>
                      <m:t>+</m:t>
                    </m:r>
                    <m:r>
                      <a:rPr lang="en-US" altLang="en-US" b="0" i="1" dirty="0" smtClean="0">
                        <a:latin typeface="Cambria Math" panose="02040503050406030204" pitchFamily="18" charset="0"/>
                      </a:rPr>
                      <m:t>(</m:t>
                    </m:r>
                    <m:r>
                      <a:rPr lang="en-US" altLang="en-US" i="1" dirty="0">
                        <a:latin typeface="Cambria Math" panose="02040503050406030204" pitchFamily="18" charset="0"/>
                      </a:rPr>
                      <m:t>5000 </m:t>
                    </m:r>
                    <m:r>
                      <a:rPr lang="en-US" altLang="en-US" i="1" dirty="0">
                        <a:latin typeface="Cambria Math" panose="02040503050406030204" pitchFamily="18" charset="0"/>
                        <a:sym typeface="Symbol" pitchFamily="18" charset="2"/>
                      </a:rPr>
                      <m:t></m:t>
                    </m:r>
                    <m:r>
                      <a:rPr lang="en-US" altLang="en-US" i="1" dirty="0">
                        <a:latin typeface="Cambria Math" panose="02040503050406030204" pitchFamily="18" charset="0"/>
                      </a:rPr>
                      <m:t> 0.05</m:t>
                    </m:r>
                    <m:r>
                      <a:rPr lang="en-US" altLang="en-US" b="0" i="1" dirty="0" smtClean="0">
                        <a:latin typeface="Cambria Math" panose="02040503050406030204" pitchFamily="18" charset="0"/>
                      </a:rPr>
                      <m:t>)</m:t>
                    </m:r>
                    <m:r>
                      <a:rPr lang="en-US" altLang="en-US" i="1" dirty="0">
                        <a:latin typeface="Cambria Math" panose="02040503050406030204" pitchFamily="18" charset="0"/>
                      </a:rPr>
                      <m:t>=380</m:t>
                    </m:r>
                  </m:oMath>
                </a14:m>
                <a:r>
                  <a:rPr lang="en-US" altLang="en-US" dirty="0"/>
                  <a:t>.</a:t>
                </a:r>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t="-1276"/>
                </a:stretch>
              </a:blipFill>
            </p:spPr>
            <p:txBody>
              <a:bodyPr/>
              <a:lstStyle/>
              <a:p>
                <a:r>
                  <a:rPr lang="en-US">
                    <a:noFill/>
                  </a:rPr>
                  <a:t> </a:t>
                </a:r>
              </a:p>
            </p:txBody>
          </p:sp>
        </mc:Fallback>
      </mc:AlternateContent>
      <p:pic>
        <p:nvPicPr>
          <p:cNvPr id="5" name="Picture 4" descr="9781284033144_CH11_TBL02.jpg">
            <a:extLst>
              <a:ext uri="{FF2B5EF4-FFF2-40B4-BE49-F238E27FC236}">
                <a16:creationId xmlns:a16="http://schemas.microsoft.com/office/drawing/2014/main" id="{DEA29749-35B6-49FC-9D06-6A831D7CCBC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1641" y="3765248"/>
            <a:ext cx="3839769" cy="259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687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1201400" cy="715962"/>
          </a:xfrm>
        </p:spPr>
        <p:txBody>
          <a:bodyPr/>
          <a:lstStyle/>
          <a:p>
            <a:r>
              <a:rPr lang="en-US" dirty="0"/>
              <a:t>Measures of System Performance: Example #3</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lnSpc>
                <a:spcPct val="95000"/>
              </a:lnSpc>
              <a:spcBef>
                <a:spcPts val="600"/>
              </a:spcBef>
            </a:pPr>
            <a:r>
              <a:rPr lang="en-US" altLang="en-US" dirty="0">
                <a:cs typeface="Arial" charset="0"/>
              </a:rPr>
              <a:t>However, workloads can change over time.</a:t>
            </a:r>
          </a:p>
          <a:p>
            <a:pPr>
              <a:lnSpc>
                <a:spcPct val="95000"/>
              </a:lnSpc>
              <a:spcBef>
                <a:spcPts val="600"/>
              </a:spcBef>
            </a:pPr>
            <a:r>
              <a:rPr lang="en-US" altLang="en-US" dirty="0">
                <a:cs typeface="Arial" charset="0"/>
              </a:rPr>
              <a:t>A system optimized for one workload may perform poorly when the workload changes, as illustrated below.</a:t>
            </a:r>
          </a:p>
        </p:txBody>
      </p:sp>
      <p:pic>
        <p:nvPicPr>
          <p:cNvPr id="6" name="Picture 5" descr="9781284033144_CH11_TBL03.jpg">
            <a:extLst>
              <a:ext uri="{FF2B5EF4-FFF2-40B4-BE49-F238E27FC236}">
                <a16:creationId xmlns:a16="http://schemas.microsoft.com/office/drawing/2014/main" id="{6119F815-630A-445C-8B55-F8D4D66B8E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3931" y="3429000"/>
            <a:ext cx="2633151" cy="235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155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Measures of System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objective assessment of computer performance is most critical when deciding which one to buy.</a:t>
            </a:r>
          </a:p>
          <a:p>
            <a:pPr lvl="1"/>
            <a:r>
              <a:rPr lang="en-US" dirty="0"/>
              <a:t>For enterprise-level systems, this process is complicated, and the consequences of a bad decision are grave.</a:t>
            </a:r>
          </a:p>
          <a:p>
            <a:r>
              <a:rPr lang="en-US" dirty="0"/>
              <a:t>Unfortunately, computer sales are as much dependent on good marketing as on good performance.</a:t>
            </a:r>
          </a:p>
          <a:p>
            <a:r>
              <a:rPr lang="en-US" dirty="0"/>
              <a:t>The wary buyer will understand how objective performance data can be slanted to the advantage of anyone giving a sales pitch.</a:t>
            </a:r>
          </a:p>
          <a:p>
            <a:endParaRPr lang="en-US" dirty="0"/>
          </a:p>
        </p:txBody>
      </p:sp>
    </p:spTree>
    <p:extLst>
      <p:ext uri="{BB962C8B-B14F-4D97-AF65-F5344CB8AC3E}">
        <p14:creationId xmlns:p14="http://schemas.microsoft.com/office/powerpoint/2010/main" val="1031276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Measures of System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cs typeface="Arial" charset="0"/>
              </a:rPr>
              <a:t>The most common deceptive practices in misrepresenting system performance include:</a:t>
            </a:r>
          </a:p>
          <a:p>
            <a:pPr lvl="1">
              <a:spcBef>
                <a:spcPts val="576"/>
              </a:spcBef>
            </a:pPr>
            <a:r>
              <a:rPr lang="en-US" altLang="en-US" dirty="0"/>
              <a:t>Selective statistics: citing only favorable results while omitting others.</a:t>
            </a:r>
          </a:p>
          <a:p>
            <a:pPr lvl="1">
              <a:spcBef>
                <a:spcPts val="576"/>
              </a:spcBef>
            </a:pPr>
            <a:r>
              <a:rPr lang="en-US" altLang="en-US" dirty="0"/>
              <a:t>Citing only </a:t>
            </a:r>
            <a:r>
              <a:rPr lang="en-US" altLang="en-US" i="1" dirty="0"/>
              <a:t>peak</a:t>
            </a:r>
            <a:r>
              <a:rPr lang="en-US" altLang="en-US" dirty="0"/>
              <a:t> performance numbers while ignoring the </a:t>
            </a:r>
            <a:r>
              <a:rPr lang="en-US" altLang="en-US" i="1" dirty="0"/>
              <a:t>average</a:t>
            </a:r>
            <a:r>
              <a:rPr lang="en-US" altLang="en-US" dirty="0"/>
              <a:t> case.</a:t>
            </a:r>
          </a:p>
          <a:p>
            <a:pPr lvl="1">
              <a:spcBef>
                <a:spcPts val="576"/>
              </a:spcBef>
            </a:pPr>
            <a:r>
              <a:rPr lang="en-US" altLang="en-US" dirty="0"/>
              <a:t>Vagueness in the use of words like “almost,” “nearly,” “more,” and “less,” in comparing performance data.</a:t>
            </a:r>
          </a:p>
          <a:p>
            <a:pPr lvl="1">
              <a:spcBef>
                <a:spcPts val="576"/>
              </a:spcBef>
            </a:pPr>
            <a:r>
              <a:rPr lang="en-US" altLang="en-US" dirty="0"/>
              <a:t>The use of inappropriate statistics or “comparing apples to oranges.”</a:t>
            </a:r>
          </a:p>
          <a:p>
            <a:pPr lvl="1">
              <a:spcBef>
                <a:spcPts val="576"/>
              </a:spcBef>
            </a:pPr>
            <a:r>
              <a:rPr lang="en-US" altLang="en-US" dirty="0"/>
              <a:t>Implying that you should buy a particular system because “everyone” is buying similar systems.</a:t>
            </a:r>
          </a:p>
          <a:p>
            <a:pPr>
              <a:spcBef>
                <a:spcPts val="576"/>
              </a:spcBef>
            </a:pPr>
            <a:endParaRPr lang="en-US" dirty="0"/>
          </a:p>
        </p:txBody>
      </p:sp>
    </p:spTree>
    <p:extLst>
      <p:ext uri="{BB962C8B-B14F-4D97-AF65-F5344CB8AC3E}">
        <p14:creationId xmlns:p14="http://schemas.microsoft.com/office/powerpoint/2010/main" val="181865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b="1" dirty="0"/>
                  <a:t>Performance benchmarking</a:t>
                </a:r>
                <a:r>
                  <a:rPr lang="en-US" dirty="0"/>
                  <a:t> is the science of making objective assessments concerning the performance of one system over another.</a:t>
                </a:r>
              </a:p>
              <a:p>
                <a:r>
                  <a:rPr lang="en-US" b="1" dirty="0"/>
                  <a:t>Price-performance ratios</a:t>
                </a:r>
                <a:r>
                  <a:rPr lang="en-US" dirty="0"/>
                  <a:t> can be derived from standard benchmarks.</a:t>
                </a:r>
              </a:p>
              <a:p>
                <a:r>
                  <a:rPr lang="en-US" dirty="0"/>
                  <a:t>The troublesome issue is that there is no definitive benchmark that can tell you which system will run your applications the fastest (using the least wall clock time) for the least amount of money.</a:t>
                </a:r>
              </a:p>
              <a:p>
                <a:pPr>
                  <a:spcBef>
                    <a:spcPts val="600"/>
                  </a:spcBef>
                </a:pPr>
                <a:r>
                  <a:rPr lang="en-US" altLang="en-US" dirty="0">
                    <a:cs typeface="Arial" charset="0"/>
                  </a:rPr>
                  <a:t>Imagine we had </a:t>
                </a:r>
                <a:r>
                  <a:rPr lang="en-US" dirty="0"/>
                  <a:t>all-encompassing system metric called a “zing.”</a:t>
                </a:r>
              </a:p>
              <a:p>
                <a:pPr>
                  <a:spcBef>
                    <a:spcPts val="600"/>
                  </a:spcBef>
                </a:pPr>
                <a:r>
                  <a:rPr lang="en-US" dirty="0"/>
                  <a:t>A $150,000 system offering 150 zings would be a better buy than a</a:t>
                </a:r>
              </a:p>
              <a:p>
                <a:pPr>
                  <a:spcBef>
                    <a:spcPts val="600"/>
                  </a:spcBef>
                </a:pPr>
                <a:r>
                  <a:rPr lang="en-US" dirty="0"/>
                  <a:t> $125,000 system offering 120 zings because</a:t>
                </a:r>
                <a14:m>
                  <m:oMath xmlns:m="http://schemas.openxmlformats.org/officeDocument/2006/math">
                    <m:r>
                      <a:rPr lang="en-US" altLang="en-US">
                        <a:latin typeface="Cambria Math" panose="02040503050406030204" pitchFamily="18" charset="0"/>
                        <a:cs typeface="Arial" charset="0"/>
                      </a:rPr>
                      <m:t> </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$150,000</m:t>
                        </m:r>
                      </m:num>
                      <m:den>
                        <m:r>
                          <a:rPr lang="en-US" altLang="en-US" i="1">
                            <a:latin typeface="Cambria Math" panose="02040503050406030204" pitchFamily="18" charset="0"/>
                            <a:cs typeface="Arial" charset="0"/>
                          </a:rPr>
                          <m:t>150 </m:t>
                        </m:r>
                        <m:r>
                          <m:rPr>
                            <m:sty m:val="p"/>
                          </m:rPr>
                          <a:rPr lang="en-US" altLang="en-US">
                            <a:latin typeface="Cambria Math" panose="02040503050406030204" pitchFamily="18" charset="0"/>
                            <a:cs typeface="Arial" charset="0"/>
                          </a:rPr>
                          <m:t>zing</m:t>
                        </m:r>
                        <m:r>
                          <a:rPr lang="en-US" altLang="en-US" i="1">
                            <a:latin typeface="Cambria Math" panose="02040503050406030204" pitchFamily="18" charset="0"/>
                            <a:cs typeface="Arial" charset="0"/>
                          </a:rPr>
                          <m:t>𝑠</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$1,000</m:t>
                        </m:r>
                      </m:num>
                      <m:den>
                        <m:r>
                          <m:rPr>
                            <m:sty m:val="p"/>
                          </m:rPr>
                          <a:rPr lang="en-US" altLang="en-US">
                            <a:latin typeface="Cambria Math" panose="02040503050406030204" pitchFamily="18" charset="0"/>
                            <a:cs typeface="Arial" charset="0"/>
                          </a:rPr>
                          <m:t>zing</m:t>
                        </m:r>
                      </m:den>
                    </m:f>
                  </m:oMath>
                </a14:m>
                <a:r>
                  <a:rPr lang="en-US" altLang="en-US" dirty="0">
                    <a:cs typeface="Arial" charset="0"/>
                  </a:rPr>
                  <a:t> and </a:t>
                </a:r>
                <a:br>
                  <a:rPr lang="en-US" altLang="en-US" dirty="0">
                    <a:cs typeface="Arial" charset="0"/>
                  </a:rPr>
                </a:br>
                <a14:m>
                  <m:oMath xmlns:m="http://schemas.openxmlformats.org/officeDocument/2006/math">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$125,000</m:t>
                        </m:r>
                      </m:num>
                      <m:den>
                        <m:r>
                          <a:rPr lang="en-US" altLang="en-US" i="1">
                            <a:latin typeface="Cambria Math" panose="02040503050406030204" pitchFamily="18" charset="0"/>
                            <a:cs typeface="Arial" charset="0"/>
                          </a:rPr>
                          <m:t>120 </m:t>
                        </m:r>
                        <m:r>
                          <m:rPr>
                            <m:sty m:val="p"/>
                          </m:rPr>
                          <a:rPr lang="en-US" altLang="en-US">
                            <a:latin typeface="Cambria Math" panose="02040503050406030204" pitchFamily="18" charset="0"/>
                            <a:cs typeface="Arial" charset="0"/>
                          </a:rPr>
                          <m:t>zing</m:t>
                        </m:r>
                        <m:r>
                          <a:rPr lang="en-US" altLang="en-US" i="1">
                            <a:latin typeface="Cambria Math" panose="02040503050406030204" pitchFamily="18" charset="0"/>
                            <a:cs typeface="Arial" charset="0"/>
                          </a:rPr>
                          <m:t>𝑠</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$1,042</m:t>
                        </m:r>
                      </m:num>
                      <m:den>
                        <m:r>
                          <m:rPr>
                            <m:sty m:val="p"/>
                          </m:rPr>
                          <a:rPr lang="en-US" altLang="en-US">
                            <a:latin typeface="Cambria Math" panose="02040503050406030204" pitchFamily="18" charset="0"/>
                            <a:cs typeface="Arial" charset="0"/>
                          </a:rPr>
                          <m:t>zing</m:t>
                        </m:r>
                      </m:den>
                    </m:f>
                    <m:r>
                      <a:rPr lang="en-US" altLang="en-US">
                        <a:latin typeface="Cambria Math" panose="02040503050406030204" pitchFamily="18" charset="0"/>
                        <a:cs typeface="Arial" charset="0"/>
                      </a:rPr>
                      <m:t>,</m:t>
                    </m:r>
                  </m:oMath>
                </a14:m>
                <a:r>
                  <a:rPr lang="en-US" altLang="en-US" dirty="0">
                    <a:cs typeface="Arial" charset="0"/>
                  </a:rPr>
                  <a:t> and </a:t>
                </a:r>
                <a14:m>
                  <m:oMath xmlns:m="http://schemas.openxmlformats.org/officeDocument/2006/math">
                    <m:r>
                      <a:rPr lang="en-US" altLang="en-US" i="1">
                        <a:latin typeface="Cambria Math" panose="02040503050406030204" pitchFamily="18" charset="0"/>
                        <a:cs typeface="Arial" charset="0"/>
                      </a:rPr>
                      <m:t>$1,000&lt;$1,042</m:t>
                    </m:r>
                  </m:oMath>
                </a14:m>
                <a:r>
                  <a:rPr lang="en-US" altLang="en-US" dirty="0">
                    <a:cs typeface="Arial" charset="0"/>
                  </a:rPr>
                  <a:t>.</a:t>
                </a:r>
              </a:p>
              <a:p>
                <a:r>
                  <a:rPr lang="en-US" dirty="0"/>
                  <a:t>In reality, there is no single system metric we can use</a:t>
                </a:r>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928" t="-3501" r="-986"/>
                </a:stretch>
              </a:blipFill>
            </p:spPr>
            <p:txBody>
              <a:bodyPr/>
              <a:lstStyle/>
              <a:p>
                <a:r>
                  <a:rPr lang="en-US">
                    <a:noFill/>
                  </a:rPr>
                  <a:t> </a:t>
                </a:r>
              </a:p>
            </p:txBody>
          </p:sp>
        </mc:Fallback>
      </mc:AlternateContent>
    </p:spTree>
    <p:extLst>
      <p:ext uri="{BB962C8B-B14F-4D97-AF65-F5344CB8AC3E}">
        <p14:creationId xmlns:p14="http://schemas.microsoft.com/office/powerpoint/2010/main" val="784421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Many people erroneously equate CPU speed with performance.</a:t>
            </a:r>
          </a:p>
          <a:p>
            <a:r>
              <a:rPr lang="en-US" dirty="0"/>
              <a:t>Measures of CPU speed include </a:t>
            </a:r>
            <a:r>
              <a:rPr lang="en-US" b="1" dirty="0"/>
              <a:t>cycle time</a:t>
            </a:r>
            <a:r>
              <a:rPr lang="en-US" dirty="0"/>
              <a:t> (MHz and GHz) and </a:t>
            </a:r>
            <a:r>
              <a:rPr lang="en-US" b="1" dirty="0"/>
              <a:t>millions of instructions per second (MIPS)</a:t>
            </a:r>
            <a:r>
              <a:rPr lang="en-US" dirty="0"/>
              <a:t>.</a:t>
            </a:r>
          </a:p>
          <a:p>
            <a:r>
              <a:rPr lang="en-US" dirty="0"/>
              <a:t>Saying that System A is faster than System B because System A runs at 1.4GHz and System B runs at 900MHz is valid only when the instruction set architectures (ISAs) of Systems A and B are identical.</a:t>
            </a:r>
          </a:p>
          <a:p>
            <a:pPr lvl="1"/>
            <a:r>
              <a:rPr lang="en-US" dirty="0"/>
              <a:t>With different ISAs, it is possible that both of these systems could obtain identical results within the same amount of wall clock time.</a:t>
            </a:r>
          </a:p>
          <a:p>
            <a:pPr>
              <a:spcBef>
                <a:spcPts val="600"/>
              </a:spcBef>
            </a:pPr>
            <a:r>
              <a:rPr lang="en-US" altLang="en-US" dirty="0"/>
              <a:t>Similar to MIPS is </a:t>
            </a:r>
            <a:r>
              <a:rPr lang="en-US" altLang="en-US" b="1" dirty="0"/>
              <a:t>MFLOPS</a:t>
            </a:r>
            <a:r>
              <a:rPr lang="en-US" altLang="en-US" dirty="0"/>
              <a:t>, </a:t>
            </a:r>
            <a:r>
              <a:rPr lang="en-US" altLang="en-US" b="1" dirty="0"/>
              <a:t>Millions of </a:t>
            </a:r>
            <a:r>
              <a:rPr lang="en-US" b="1" dirty="0"/>
              <a:t>Floating-point Operations per Second</a:t>
            </a:r>
          </a:p>
          <a:p>
            <a:pPr>
              <a:spcBef>
                <a:spcPts val="600"/>
              </a:spcBef>
            </a:pPr>
            <a:r>
              <a:rPr lang="en-US" altLang="en-US" dirty="0"/>
              <a:t>MIPS and MFLOPS are not generally useful in comparing machines that have different architectures</a:t>
            </a:r>
          </a:p>
          <a:p>
            <a:endParaRPr lang="en-US" dirty="0"/>
          </a:p>
        </p:txBody>
      </p:sp>
    </p:spTree>
    <p:extLst>
      <p:ext uri="{BB962C8B-B14F-4D97-AF65-F5344CB8AC3E}">
        <p14:creationId xmlns:p14="http://schemas.microsoft.com/office/powerpoint/2010/main" val="229987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600"/>
              </a:spcBef>
            </a:pPr>
            <a:r>
              <a:rPr lang="en-US" altLang="en-US" dirty="0"/>
              <a:t>For example, to perform a given task, a typical RISC machine would execute more instructions than a typical CISC machine, and so have a higher MIPS or MFLOPS rating. </a:t>
            </a:r>
          </a:p>
          <a:p>
            <a:pPr>
              <a:spcBef>
                <a:spcPts val="600"/>
              </a:spcBef>
            </a:pPr>
            <a:r>
              <a:rPr lang="en-US" altLang="en-US" dirty="0"/>
              <a:t>If both machines complete the task in one second, does that make the RISC machine faster? Not at all, no.</a:t>
            </a:r>
          </a:p>
          <a:p>
            <a:pPr>
              <a:spcBef>
                <a:spcPts val="600"/>
              </a:spcBef>
            </a:pPr>
            <a:r>
              <a:rPr lang="en-US" altLang="en-US" dirty="0"/>
              <a:t>MIPS and MFLOPS could be useful in comparing </a:t>
            </a:r>
            <a:r>
              <a:rPr lang="en-US" dirty="0"/>
              <a:t> relative performance across a line of similar computers offered by the same vendor</a:t>
            </a:r>
          </a:p>
          <a:p>
            <a:pPr>
              <a:spcBef>
                <a:spcPts val="600"/>
              </a:spcBef>
            </a:pPr>
            <a:r>
              <a:rPr lang="en-US" altLang="en-US" dirty="0"/>
              <a:t>The assumption is that the underlying architectures are similar</a:t>
            </a:r>
          </a:p>
          <a:p>
            <a:pPr>
              <a:spcBef>
                <a:spcPts val="600"/>
              </a:spcBef>
            </a:pPr>
            <a:r>
              <a:rPr lang="en-US" altLang="en-US" dirty="0"/>
              <a:t>Therefore, it is reasonable to conclude that a newer machine that offers 2x MIPS as the previous machine at less than 2x the price is actually a good buy</a:t>
            </a:r>
          </a:p>
          <a:p>
            <a:endParaRPr lang="en-US" dirty="0"/>
          </a:p>
        </p:txBody>
      </p:sp>
    </p:spTree>
    <p:extLst>
      <p:ext uri="{BB962C8B-B14F-4D97-AF65-F5344CB8AC3E}">
        <p14:creationId xmlns:p14="http://schemas.microsoft.com/office/powerpoint/2010/main" val="3400214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CPU Performance: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r>
                  <a:rPr lang="en-US" dirty="0"/>
                  <a:t>A certain microprocessor requires either 2, 3, 4, 8, or 12 machine cycles to perform various operations. </a:t>
                </a:r>
              </a:p>
              <a:p>
                <a:pPr lvl="1"/>
                <a:r>
                  <a:rPr lang="en-US" dirty="0"/>
                  <a:t>25% its instructions require 2 machine cycles</a:t>
                </a:r>
              </a:p>
              <a:p>
                <a:pPr lvl="1"/>
                <a:r>
                  <a:rPr lang="en-US" dirty="0"/>
                  <a:t>20% require 3 machine cycles</a:t>
                </a:r>
              </a:p>
              <a:p>
                <a:pPr lvl="1"/>
                <a:r>
                  <a:rPr lang="en-US" dirty="0"/>
                  <a:t>17.5% require 4 machine cycles</a:t>
                </a:r>
              </a:p>
              <a:p>
                <a:pPr lvl="1"/>
                <a:r>
                  <a:rPr lang="en-US" dirty="0"/>
                  <a:t>12.5% require 8 machine cycles</a:t>
                </a:r>
              </a:p>
              <a:p>
                <a:pPr lvl="1"/>
                <a:r>
                  <a:rPr lang="en-US" dirty="0"/>
                  <a:t>25% require 12 machine cycles</a:t>
                </a:r>
              </a:p>
              <a:p>
                <a:r>
                  <a:rPr lang="en-US" dirty="0"/>
                  <a:t>What is the average number of machine cycles per instruction for this microprocessor?</a:t>
                </a:r>
              </a:p>
              <a:p>
                <a14:m>
                  <m:oMath xmlns:m="http://schemas.openxmlformats.org/officeDocument/2006/math">
                    <m:d>
                      <m:dPr>
                        <m:ctrlPr>
                          <a:rPr lang="en-US" b="0" i="1" dirty="0" smtClean="0">
                            <a:latin typeface="Cambria Math" panose="02040503050406030204" pitchFamily="18" charset="0"/>
                          </a:rPr>
                        </m:ctrlPr>
                      </m:dPr>
                      <m:e>
                        <m:r>
                          <a:rPr lang="fr-FR" i="1" dirty="0" smtClean="0">
                            <a:latin typeface="Cambria Math" panose="02040503050406030204" pitchFamily="18" charset="0"/>
                          </a:rPr>
                          <m:t>0.25</m:t>
                        </m:r>
                        <m:r>
                          <a:rPr lang="en-US" b="0" i="1" dirty="0" smtClean="0">
                            <a:latin typeface="Cambria Math" panose="02040503050406030204" pitchFamily="18" charset="0"/>
                          </a:rPr>
                          <m:t>×</m:t>
                        </m:r>
                        <m:r>
                          <a:rPr lang="fr-FR" i="1" dirty="0" smtClean="0">
                            <a:latin typeface="Cambria Math" panose="02040503050406030204" pitchFamily="18" charset="0"/>
                          </a:rPr>
                          <m:t>2</m:t>
                        </m:r>
                      </m:e>
                    </m:d>
                    <m:r>
                      <a:rPr lang="fr-FR" i="1" dirty="0" smtClean="0">
                        <a:latin typeface="Cambria Math" panose="02040503050406030204" pitchFamily="18" charset="0"/>
                      </a:rPr>
                      <m:t>+</m:t>
                    </m:r>
                    <m:d>
                      <m:dPr>
                        <m:ctrlPr>
                          <a:rPr lang="en-US" b="0" i="1" dirty="0" smtClean="0">
                            <a:latin typeface="Cambria Math" panose="02040503050406030204" pitchFamily="18" charset="0"/>
                          </a:rPr>
                        </m:ctrlPr>
                      </m:dPr>
                      <m:e>
                        <m:r>
                          <a:rPr lang="fr-FR" i="1" dirty="0">
                            <a:latin typeface="Cambria Math" panose="02040503050406030204" pitchFamily="18" charset="0"/>
                          </a:rPr>
                          <m:t>0.2</m:t>
                        </m:r>
                        <m:r>
                          <a:rPr lang="en-US" i="1" dirty="0">
                            <a:latin typeface="Cambria Math" panose="02040503050406030204" pitchFamily="18" charset="0"/>
                          </a:rPr>
                          <m:t>×</m:t>
                        </m:r>
                        <m:r>
                          <a:rPr lang="fr-FR" i="1" dirty="0">
                            <a:latin typeface="Cambria Math" panose="02040503050406030204" pitchFamily="18" charset="0"/>
                          </a:rPr>
                          <m:t>3</m:t>
                        </m:r>
                      </m:e>
                    </m:d>
                    <m:r>
                      <a:rPr lang="fr-FR" i="1" dirty="0">
                        <a:latin typeface="Cambria Math" panose="02040503050406030204" pitchFamily="18" charset="0"/>
                      </a:rPr>
                      <m:t>+</m:t>
                    </m:r>
                    <m:d>
                      <m:dPr>
                        <m:ctrlPr>
                          <a:rPr lang="en-US" b="0" i="1" dirty="0" smtClean="0">
                            <a:latin typeface="Cambria Math" panose="02040503050406030204" pitchFamily="18" charset="0"/>
                          </a:rPr>
                        </m:ctrlPr>
                      </m:dPr>
                      <m:e>
                        <m:r>
                          <a:rPr lang="fr-FR" i="1" dirty="0">
                            <a:latin typeface="Cambria Math" panose="02040503050406030204" pitchFamily="18" charset="0"/>
                          </a:rPr>
                          <m:t>0.175</m:t>
                        </m:r>
                        <m:r>
                          <a:rPr lang="en-US" i="1" dirty="0">
                            <a:latin typeface="Cambria Math" panose="02040503050406030204" pitchFamily="18" charset="0"/>
                          </a:rPr>
                          <m:t>×</m:t>
                        </m:r>
                        <m:r>
                          <a:rPr lang="fr-FR" i="1" dirty="0">
                            <a:latin typeface="Cambria Math" panose="02040503050406030204" pitchFamily="18" charset="0"/>
                          </a:rPr>
                          <m:t>4</m:t>
                        </m:r>
                      </m:e>
                    </m:d>
                    <m:r>
                      <a:rPr lang="fr-FR" i="1" dirty="0">
                        <a:latin typeface="Cambria Math" panose="02040503050406030204" pitchFamily="18" charset="0"/>
                      </a:rPr>
                      <m:t>+</m:t>
                    </m:r>
                    <m:d>
                      <m:dPr>
                        <m:ctrlPr>
                          <a:rPr lang="en-US" b="0" i="1" dirty="0" smtClean="0">
                            <a:latin typeface="Cambria Math" panose="02040503050406030204" pitchFamily="18" charset="0"/>
                          </a:rPr>
                        </m:ctrlPr>
                      </m:dPr>
                      <m:e>
                        <m:r>
                          <a:rPr lang="fr-FR" i="1" dirty="0">
                            <a:latin typeface="Cambria Math" panose="02040503050406030204" pitchFamily="18" charset="0"/>
                          </a:rPr>
                          <m:t>0.125</m:t>
                        </m:r>
                        <m:r>
                          <a:rPr lang="en-US" i="1" dirty="0">
                            <a:latin typeface="Cambria Math" panose="02040503050406030204" pitchFamily="18" charset="0"/>
                          </a:rPr>
                          <m:t>×</m:t>
                        </m:r>
                        <m:r>
                          <a:rPr lang="fr-FR" i="1" dirty="0">
                            <a:latin typeface="Cambria Math" panose="02040503050406030204" pitchFamily="18" charset="0"/>
                          </a:rPr>
                          <m:t>8</m:t>
                        </m:r>
                      </m:e>
                    </m:d>
                    <m:r>
                      <a:rPr lang="fr-FR" i="1" dirty="0" smtClean="0">
                        <a:latin typeface="Cambria Math" panose="02040503050406030204" pitchFamily="18" charset="0"/>
                      </a:rPr>
                      <m:t>+</m:t>
                    </m:r>
                    <m:d>
                      <m:dPr>
                        <m:ctrlPr>
                          <a:rPr lang="en-US" b="0" i="1" dirty="0" smtClean="0">
                            <a:latin typeface="Cambria Math" panose="02040503050406030204" pitchFamily="18" charset="0"/>
                          </a:rPr>
                        </m:ctrlPr>
                      </m:dPr>
                      <m:e>
                        <m:r>
                          <a:rPr lang="fr-FR" i="1" dirty="0">
                            <a:latin typeface="Cambria Math" panose="02040503050406030204" pitchFamily="18" charset="0"/>
                          </a:rPr>
                          <m:t>0.25</m:t>
                        </m:r>
                        <m:r>
                          <a:rPr lang="en-US" i="1" dirty="0">
                            <a:latin typeface="Cambria Math" panose="02040503050406030204" pitchFamily="18" charset="0"/>
                          </a:rPr>
                          <m:t>×</m:t>
                        </m:r>
                        <m:r>
                          <a:rPr lang="fr-FR" i="1" dirty="0">
                            <a:latin typeface="Cambria Math" panose="02040503050406030204" pitchFamily="18" charset="0"/>
                          </a:rPr>
                          <m:t>12</m:t>
                        </m:r>
                      </m:e>
                    </m:d>
                    <m:r>
                      <a:rPr lang="fr-FR" i="1" dirty="0">
                        <a:latin typeface="Cambria Math" panose="02040503050406030204" pitchFamily="18" charset="0"/>
                      </a:rPr>
                      <m:t>=</m:t>
                    </m:r>
                  </m:oMath>
                </a14:m>
                <a:br>
                  <a:rPr lang="en-US" i="1" dirty="0">
                    <a:latin typeface="Cambria Math" panose="02040503050406030204" pitchFamily="18" charset="0"/>
                  </a:rPr>
                </a:br>
                <a14:m>
                  <m:oMath xmlns:m="http://schemas.openxmlformats.org/officeDocument/2006/math">
                    <m:r>
                      <a:rPr lang="fr-FR" i="1" dirty="0">
                        <a:latin typeface="Cambria Math" panose="02040503050406030204" pitchFamily="18" charset="0"/>
                      </a:rPr>
                      <m:t>5.8</m:t>
                    </m:r>
                  </m:oMath>
                </a14:m>
                <a:r>
                  <a:rPr lang="fr-FR" dirty="0"/>
                  <a:t> cycles/instruction</a:t>
                </a: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928" t="-2101" b="-2801"/>
                </a:stretch>
              </a:blipFill>
            </p:spPr>
            <p:txBody>
              <a:bodyPr/>
              <a:lstStyle/>
              <a:p>
                <a:r>
                  <a:rPr lang="en-US">
                    <a:noFill/>
                  </a:rPr>
                  <a:t> </a:t>
                </a:r>
              </a:p>
            </p:txBody>
          </p:sp>
        </mc:Fallback>
      </mc:AlternateContent>
    </p:spTree>
    <p:extLst>
      <p:ext uri="{BB962C8B-B14F-4D97-AF65-F5344CB8AC3E}">
        <p14:creationId xmlns:p14="http://schemas.microsoft.com/office/powerpoint/2010/main" val="1256092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CPU Performance: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 certain microprocessor requires either 2, 3, 4, 8, or 12 machine cycles to perform various operations. </a:t>
                </a:r>
              </a:p>
              <a:p>
                <a:pPr lvl="1"/>
                <a:r>
                  <a:rPr lang="en-US" dirty="0"/>
                  <a:t>25% its instructions require 2 machine cycles</a:t>
                </a:r>
              </a:p>
              <a:p>
                <a:pPr lvl="1"/>
                <a:r>
                  <a:rPr lang="en-US" dirty="0"/>
                  <a:t>20% require 3 machine cycles</a:t>
                </a:r>
              </a:p>
              <a:p>
                <a:pPr lvl="1"/>
                <a:r>
                  <a:rPr lang="en-US" dirty="0"/>
                  <a:t>17.5% require 4 machine cycles</a:t>
                </a:r>
              </a:p>
              <a:p>
                <a:pPr lvl="1"/>
                <a:r>
                  <a:rPr lang="en-US" dirty="0"/>
                  <a:t>12.5% require 8 machine cycles</a:t>
                </a:r>
              </a:p>
              <a:p>
                <a:pPr lvl="1"/>
                <a:r>
                  <a:rPr lang="en-US" dirty="0"/>
                  <a:t>25% require 12 machine cycles</a:t>
                </a:r>
              </a:p>
              <a:p>
                <a:r>
                  <a:rPr lang="en-US" dirty="0"/>
                  <a:t>What is the clock rate (machine cycles per second) required for this microprocessor to be a “1 MIPS” processor?</a:t>
                </a:r>
              </a:p>
              <a:p>
                <a:r>
                  <a:rPr lang="fr-FR" dirty="0"/>
                  <a:t>5.8 cycles/instruction </a:t>
                </a:r>
                <a14:m>
                  <m:oMath xmlns:m="http://schemas.openxmlformats.org/officeDocument/2006/math">
                    <m:r>
                      <a:rPr lang="en-US" b="0" i="1" dirty="0" smtClean="0">
                        <a:latin typeface="Cambria Math" panose="02040503050406030204" pitchFamily="18" charset="0"/>
                      </a:rPr>
                      <m:t>×</m:t>
                    </m:r>
                  </m:oMath>
                </a14:m>
                <a:r>
                  <a:rPr lang="fr-FR" dirty="0"/>
                  <a:t> 1,000,000 instructions/second = 5.8 MHz</a:t>
                </a:r>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632058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CPU Performance: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 certain microprocessor requires either 2, 3, 4, 8, or 12 machine cycles to perform various operations. </a:t>
                </a:r>
              </a:p>
              <a:p>
                <a:pPr lvl="1"/>
                <a:r>
                  <a:rPr lang="en-US" dirty="0"/>
                  <a:t>25% its instructions require 2 machine cycles</a:t>
                </a:r>
              </a:p>
              <a:p>
                <a:pPr lvl="1"/>
                <a:r>
                  <a:rPr lang="en-US" dirty="0"/>
                  <a:t>20% require 3 machine cycles</a:t>
                </a:r>
              </a:p>
              <a:p>
                <a:pPr lvl="1"/>
                <a:r>
                  <a:rPr lang="en-US" dirty="0"/>
                  <a:t>17.5% require 4 machine cycles</a:t>
                </a:r>
              </a:p>
              <a:p>
                <a:pPr lvl="1"/>
                <a:r>
                  <a:rPr lang="en-US" dirty="0"/>
                  <a:t>12.5% require 8 machine cycles</a:t>
                </a:r>
              </a:p>
              <a:p>
                <a:pPr lvl="1"/>
                <a:r>
                  <a:rPr lang="en-US" dirty="0"/>
                  <a:t>25% require 12 machine cycles</a:t>
                </a:r>
              </a:p>
              <a:p>
                <a:r>
                  <a:rPr lang="en-US" dirty="0"/>
                  <a:t>Suppose this system requires an extra 20 machine cycles to retrieve an operand from memory. It has to go to memory 40% of the time. What is the average number of machine cycles per instruction for this microprocessor including its memory fetch instructions?</a:t>
                </a:r>
              </a:p>
              <a:p>
                <a14:m>
                  <m:oMath xmlns:m="http://schemas.openxmlformats.org/officeDocument/2006/math">
                    <m:r>
                      <a:rPr lang="en-US" b="0" i="1" dirty="0" smtClean="0">
                        <a:latin typeface="Cambria Math" panose="02040503050406030204" pitchFamily="18" charset="0"/>
                      </a:rPr>
                      <m:t>(</m:t>
                    </m:r>
                    <m:r>
                      <a:rPr lang="fr-FR" i="1" dirty="0" smtClean="0">
                        <a:latin typeface="Cambria Math" panose="02040503050406030204" pitchFamily="18" charset="0"/>
                      </a:rPr>
                      <m:t>5.8</m:t>
                    </m:r>
                    <m:r>
                      <a:rPr lang="en-US" b="0" i="1" dirty="0" smtClean="0">
                        <a:latin typeface="Cambria Math" panose="02040503050406030204" pitchFamily="18" charset="0"/>
                      </a:rPr>
                      <m:t>×</m:t>
                    </m:r>
                    <m:r>
                      <a:rPr lang="fr-FR" i="1" dirty="0" smtClean="0">
                        <a:latin typeface="Cambria Math" panose="02040503050406030204" pitchFamily="18" charset="0"/>
                      </a:rPr>
                      <m:t>0.6</m:t>
                    </m:r>
                    <m:r>
                      <a:rPr lang="en-US" b="0" i="1" dirty="0" smtClean="0">
                        <a:latin typeface="Cambria Math" panose="02040503050406030204" pitchFamily="18" charset="0"/>
                      </a:rPr>
                      <m:t>)</m:t>
                    </m:r>
                    <m:r>
                      <a:rPr lang="fr-FR" i="1" dirty="0" smtClean="0">
                        <a:latin typeface="Cambria Math" panose="02040503050406030204" pitchFamily="18" charset="0"/>
                      </a:rPr>
                      <m:t>+</m:t>
                    </m:r>
                    <m:r>
                      <a:rPr lang="en-US" b="0" i="1" dirty="0" smtClean="0">
                        <a:latin typeface="Cambria Math" panose="02040503050406030204" pitchFamily="18" charset="0"/>
                      </a:rPr>
                      <m:t>(</m:t>
                    </m:r>
                    <m:r>
                      <a:rPr lang="fr-FR" i="1" dirty="0" smtClean="0">
                        <a:latin typeface="Cambria Math" panose="02040503050406030204" pitchFamily="18" charset="0"/>
                      </a:rPr>
                      <m:t>25.8</m:t>
                    </m:r>
                    <m:r>
                      <a:rPr lang="en-US" b="0" i="1" dirty="0" smtClean="0">
                        <a:latin typeface="Cambria Math" panose="02040503050406030204" pitchFamily="18" charset="0"/>
                      </a:rPr>
                      <m:t>×</m:t>
                    </m:r>
                    <m:r>
                      <a:rPr lang="fr-FR" i="1" dirty="0" smtClean="0">
                        <a:latin typeface="Cambria Math" panose="02040503050406030204" pitchFamily="18" charset="0"/>
                      </a:rPr>
                      <m:t>0.4</m:t>
                    </m:r>
                    <m:r>
                      <a:rPr lang="en-US" b="0" i="1" dirty="0" smtClean="0">
                        <a:latin typeface="Cambria Math" panose="02040503050406030204" pitchFamily="18" charset="0"/>
                      </a:rPr>
                      <m:t>)</m:t>
                    </m:r>
                    <m:r>
                      <a:rPr lang="fr-FR" i="1" dirty="0" smtClean="0">
                        <a:latin typeface="Cambria Math" panose="02040503050406030204" pitchFamily="18" charset="0"/>
                      </a:rPr>
                      <m:t>=13.8 </m:t>
                    </m:r>
                  </m:oMath>
                </a14:m>
                <a:r>
                  <a:rPr lang="fr-FR" dirty="0"/>
                  <a:t>cycles</a:t>
                </a: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928" t="-2801" b="-980"/>
                </a:stretch>
              </a:blipFill>
            </p:spPr>
            <p:txBody>
              <a:bodyPr/>
              <a:lstStyle/>
              <a:p>
                <a:r>
                  <a:rPr lang="en-US">
                    <a:noFill/>
                  </a:rPr>
                  <a:t> </a:t>
                </a:r>
              </a:p>
            </p:txBody>
          </p:sp>
        </mc:Fallback>
      </mc:AlternateContent>
    </p:spTree>
    <p:extLst>
      <p:ext uri="{BB962C8B-B14F-4D97-AF65-F5344CB8AC3E}">
        <p14:creationId xmlns:p14="http://schemas.microsoft.com/office/powerpoint/2010/main" val="4012047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10000"/>
          </a:bodyPr>
          <a:lstStyle/>
          <a:p>
            <a:r>
              <a:rPr lang="en-US" dirty="0"/>
              <a:t>In an effort to describe performance independent of clock speed and ISAs, a number of </a:t>
            </a:r>
            <a:r>
              <a:rPr lang="en-US" b="1" dirty="0"/>
              <a:t>synthetic benchmarks</a:t>
            </a:r>
            <a:r>
              <a:rPr lang="en-US" dirty="0"/>
              <a:t> have been attempted over the years.</a:t>
            </a:r>
          </a:p>
          <a:p>
            <a:r>
              <a:rPr lang="en-US" dirty="0"/>
              <a:t>These benchmarking programs exist only to produce performance numbers.</a:t>
            </a:r>
          </a:p>
          <a:p>
            <a:r>
              <a:rPr lang="en-US" dirty="0"/>
              <a:t>The earliest synthetic benchmarks were relatively small programs that were easy to optimize, which limited their usefulness.</a:t>
            </a:r>
          </a:p>
          <a:p>
            <a:r>
              <a:rPr lang="en-US" dirty="0"/>
              <a:t>These programs are much too small to be useful in evaluating the performance of today’s systems.</a:t>
            </a:r>
          </a:p>
          <a:p>
            <a:pPr>
              <a:spcBef>
                <a:spcPts val="600"/>
              </a:spcBef>
            </a:pPr>
            <a:r>
              <a:rPr lang="en-US" altLang="en-US" dirty="0">
                <a:cs typeface="Arial" charset="0"/>
              </a:rPr>
              <a:t>Also, software or hardware vendors can attempt to game the system by creating products whose performance stacks up well against well-known benchmarks</a:t>
            </a:r>
          </a:p>
          <a:p>
            <a:pPr>
              <a:spcBef>
                <a:spcPts val="600"/>
              </a:spcBef>
            </a:pPr>
            <a:r>
              <a:rPr lang="en-US" altLang="en-US" dirty="0">
                <a:cs typeface="Arial" charset="0"/>
              </a:rPr>
              <a:t>Then vendors can advertise their systems as being “superior” to others because of high benchmark scores.</a:t>
            </a:r>
          </a:p>
          <a:p>
            <a:pPr>
              <a:spcBef>
                <a:spcPts val="600"/>
              </a:spcBef>
            </a:pPr>
            <a:r>
              <a:rPr lang="en-US" altLang="en-US" dirty="0">
                <a:cs typeface="Arial" charset="0"/>
              </a:rPr>
              <a:t>This is known pejoratively as </a:t>
            </a:r>
            <a:r>
              <a:rPr lang="en-US" altLang="en-US" b="1" dirty="0" err="1">
                <a:cs typeface="Arial" charset="0"/>
              </a:rPr>
              <a:t>benchmarketing</a:t>
            </a:r>
            <a:endParaRPr lang="en-US" altLang="en-US" dirty="0">
              <a:cs typeface="Arial" charset="0"/>
            </a:endParaRPr>
          </a:p>
          <a:p>
            <a:pPr>
              <a:spcBef>
                <a:spcPts val="600"/>
              </a:spcBef>
            </a:pPr>
            <a:endParaRPr lang="en-US" altLang="en-US" dirty="0">
              <a:cs typeface="Arial" charset="0"/>
            </a:endParaRPr>
          </a:p>
          <a:p>
            <a:endParaRPr lang="en-US" dirty="0"/>
          </a:p>
        </p:txBody>
      </p:sp>
    </p:spTree>
    <p:extLst>
      <p:ext uri="{BB962C8B-B14F-4D97-AF65-F5344CB8AC3E}">
        <p14:creationId xmlns:p14="http://schemas.microsoft.com/office/powerpoint/2010/main" val="1138580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 SPEC CPU2017</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In 1988 the Standard Performance Evaluation Corporation (SPEC) was formed to address the need for objective benchmarks.</a:t>
            </a:r>
          </a:p>
          <a:p>
            <a:r>
              <a:rPr lang="en-US" dirty="0"/>
              <a:t>SPEC produces benchmark suites for various classes of computers and computer applications.</a:t>
            </a:r>
          </a:p>
          <a:p>
            <a:r>
              <a:rPr lang="en-US" dirty="0"/>
              <a:t>Their most widely known benchmark suite is the SPEC CPU benchmark.</a:t>
            </a:r>
          </a:p>
          <a:p>
            <a:r>
              <a:rPr lang="en-US" dirty="0"/>
              <a:t>The SPEC CPU2017 benchmark consists of 43 benchmarks, organized into four suites: two involving integer-only arithmetic, and two involving floating-point arithmetic</a:t>
            </a:r>
          </a:p>
          <a:p>
            <a:r>
              <a:rPr lang="en-US" dirty="0"/>
              <a:t>See www.spec.org/cpu2017 for the details</a:t>
            </a:r>
          </a:p>
          <a:p>
            <a:r>
              <a:rPr lang="en-US" dirty="0"/>
              <a:t>The benchmarks themselves cover a variety of application domains: image manipulation, video compression, artificial intelligence, route planning, molecular dynamics, 3D rendering and animation, physics simulations, others</a:t>
            </a:r>
          </a:p>
        </p:txBody>
      </p:sp>
    </p:spTree>
    <p:extLst>
      <p:ext uri="{BB962C8B-B14F-4D97-AF65-F5344CB8AC3E}">
        <p14:creationId xmlns:p14="http://schemas.microsoft.com/office/powerpoint/2010/main" val="2445651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 SPEC CPU2017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pPr>
                  <a:lnSpc>
                    <a:spcPct val="95000"/>
                  </a:lnSpc>
                  <a:spcBef>
                    <a:spcPts val="576"/>
                  </a:spcBef>
                </a:pPr>
                <a:r>
                  <a:rPr lang="en-US" altLang="en-US" dirty="0">
                    <a:cs typeface="Arial" charset="0"/>
                  </a:rPr>
                  <a:t>The benchmarks have been run on a reference machine, </a:t>
                </a:r>
                <a:r>
                  <a:rPr lang="en-US" dirty="0"/>
                  <a:t>Sun Fire V490, which is </a:t>
                </a:r>
                <a:r>
                  <a:rPr lang="en-US" altLang="en-US" dirty="0">
                    <a:cs typeface="Arial" charset="0"/>
                  </a:rPr>
                  <a:t>a multiprocessor server machine manufactured by Oracle Corporation</a:t>
                </a:r>
              </a:p>
              <a:p>
                <a:pPr>
                  <a:lnSpc>
                    <a:spcPct val="95000"/>
                  </a:lnSpc>
                  <a:spcBef>
                    <a:spcPts val="576"/>
                  </a:spcBef>
                </a:pPr>
                <a:r>
                  <a:rPr lang="en-US" altLang="en-US" dirty="0">
                    <a:cs typeface="Arial" charset="0"/>
                  </a:rPr>
                  <a:t>Then, a system under consideration runs the same set of tests as the reference machine</a:t>
                </a:r>
              </a:p>
              <a:p>
                <a:pPr>
                  <a:lnSpc>
                    <a:spcPct val="95000"/>
                  </a:lnSpc>
                  <a:spcBef>
                    <a:spcPts val="576"/>
                  </a:spcBef>
                </a:pPr>
                <a:r>
                  <a:rPr lang="en-US" altLang="en-US" dirty="0">
                    <a:cs typeface="Arial" charset="0"/>
                  </a:rPr>
                  <a:t>The benchmark score for the new machine is computed as: </a:t>
                </a:r>
                <a14:m>
                  <m:oMath xmlns:m="http://schemas.openxmlformats.org/officeDocument/2006/math">
                    <m:f>
                      <m:fPr>
                        <m:ctrlPr>
                          <a:rPr lang="en-US" altLang="en-US" i="1">
                            <a:latin typeface="Cambria Math" panose="02040503050406030204" pitchFamily="18" charset="0"/>
                            <a:cs typeface="Arial" charset="0"/>
                          </a:rPr>
                        </m:ctrlPr>
                      </m:fPr>
                      <m:num>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reference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machine</m:t>
                        </m:r>
                      </m:num>
                      <m:den>
                        <m:r>
                          <m:rPr>
                            <m:sty m:val="p"/>
                          </m:rPr>
                          <a:rPr lang="en-US" altLang="en-US">
                            <a:latin typeface="Cambria Math" panose="02040503050406030204" pitchFamily="18" charset="0"/>
                            <a:cs typeface="Arial" charset="0"/>
                          </a:rPr>
                          <m:t>time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on</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the</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new</m:t>
                        </m:r>
                        <m:r>
                          <a:rPr lang="en-US" altLang="en-US">
                            <a:latin typeface="Cambria Math" panose="02040503050406030204" pitchFamily="18" charset="0"/>
                            <a:cs typeface="Arial" charset="0"/>
                          </a:rPr>
                          <m:t> </m:t>
                        </m:r>
                        <m:r>
                          <m:rPr>
                            <m:sty m:val="p"/>
                          </m:rPr>
                          <a:rPr lang="en-US" altLang="en-US">
                            <a:latin typeface="Cambria Math" panose="02040503050406030204" pitchFamily="18" charset="0"/>
                            <a:cs typeface="Arial" charset="0"/>
                          </a:rPr>
                          <m:t>machine</m:t>
                        </m:r>
                      </m:den>
                    </m:f>
                  </m:oMath>
                </a14:m>
                <a:endParaRPr lang="en-US" altLang="en-US" dirty="0">
                  <a:cs typeface="Arial" charset="0"/>
                </a:endParaRPr>
              </a:p>
              <a:p>
                <a:pPr>
                  <a:lnSpc>
                    <a:spcPct val="95000"/>
                  </a:lnSpc>
                  <a:spcBef>
                    <a:spcPts val="576"/>
                  </a:spcBef>
                </a:pPr>
                <a:r>
                  <a:rPr lang="en-US" altLang="en-US" dirty="0">
                    <a:cs typeface="Arial" charset="0"/>
                  </a:rPr>
                  <a:t>If the new machine takes less time to run the benchmark, the ratio will tell us how fast the new computer is relative to the reference machine</a:t>
                </a:r>
              </a:p>
              <a:p>
                <a:pPr lvl="1">
                  <a:lnSpc>
                    <a:spcPct val="95000"/>
                  </a:lnSpc>
                  <a:spcBef>
                    <a:spcPts val="576"/>
                  </a:spcBef>
                </a:pPr>
                <a:r>
                  <a:rPr lang="en-US" altLang="en-US" dirty="0">
                    <a:cs typeface="Arial" charset="0"/>
                  </a:rPr>
                  <a:t>Example: 50 times as fast as reference</a:t>
                </a:r>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928" t="-1681" r="-290" b="-1261"/>
                </a:stretch>
              </a:blipFill>
            </p:spPr>
            <p:txBody>
              <a:bodyPr/>
              <a:lstStyle/>
              <a:p>
                <a:r>
                  <a:rPr lang="en-US">
                    <a:noFill/>
                  </a:rPr>
                  <a:t> </a:t>
                </a:r>
              </a:p>
            </p:txBody>
          </p:sp>
        </mc:Fallback>
      </mc:AlternateContent>
    </p:spTree>
    <p:extLst>
      <p:ext uri="{BB962C8B-B14F-4D97-AF65-F5344CB8AC3E}">
        <p14:creationId xmlns:p14="http://schemas.microsoft.com/office/powerpoint/2010/main" val="1432799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 SPEC CPU2017</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576"/>
              </a:spcBef>
            </a:pPr>
            <a:r>
              <a:rPr lang="en-US" altLang="en-US" sz="2600" dirty="0">
                <a:cs typeface="Arial" charset="0"/>
              </a:rPr>
              <a:t>Each CPU2017 benchmark takes about 5 minutes to run on a modern machine, meaning that running all four of the suites will take at least several hours</a:t>
            </a:r>
          </a:p>
          <a:p>
            <a:pPr>
              <a:spcBef>
                <a:spcPts val="576"/>
              </a:spcBef>
            </a:pPr>
            <a:r>
              <a:rPr lang="en-US" altLang="en-US" sz="2600" dirty="0">
                <a:cs typeface="Arial" charset="0"/>
              </a:rPr>
              <a:t>Manufacturers sometimes report two sets of numbers: The </a:t>
            </a:r>
            <a:r>
              <a:rPr lang="en-US" altLang="en-US" sz="2600" i="1" dirty="0">
                <a:cs typeface="Arial" charset="0"/>
              </a:rPr>
              <a:t>peak</a:t>
            </a:r>
            <a:r>
              <a:rPr lang="en-US" altLang="en-US" sz="2600" dirty="0">
                <a:cs typeface="Arial" charset="0"/>
              </a:rPr>
              <a:t> and </a:t>
            </a:r>
            <a:r>
              <a:rPr lang="en-US" altLang="en-US" sz="2600" i="1" dirty="0">
                <a:cs typeface="Arial" charset="0"/>
              </a:rPr>
              <a:t>base</a:t>
            </a:r>
            <a:r>
              <a:rPr lang="en-US" altLang="en-US" sz="2600" dirty="0">
                <a:cs typeface="Arial" charset="0"/>
              </a:rPr>
              <a:t> numbers are the results with and without certain software optimizations enabled, respectively. </a:t>
            </a:r>
          </a:p>
          <a:p>
            <a:pPr lvl="1">
              <a:spcBef>
                <a:spcPts val="576"/>
              </a:spcBef>
            </a:pPr>
            <a:r>
              <a:rPr lang="en-US" altLang="en-US" dirty="0">
                <a:cs typeface="Arial" charset="0"/>
              </a:rPr>
              <a:t>Specifically, the peak numbers indicate performance when certain </a:t>
            </a:r>
            <a:r>
              <a:rPr lang="en-US" altLang="en-US" i="1" dirty="0">
                <a:cs typeface="Arial" charset="0"/>
              </a:rPr>
              <a:t>compiler optimizations</a:t>
            </a:r>
            <a:r>
              <a:rPr lang="en-US" altLang="en-US" dirty="0">
                <a:cs typeface="Arial" charset="0"/>
              </a:rPr>
              <a:t> are enabled</a:t>
            </a:r>
          </a:p>
          <a:p>
            <a:pPr>
              <a:spcBef>
                <a:spcPts val="576"/>
              </a:spcBef>
            </a:pPr>
            <a:r>
              <a:rPr lang="en-US" dirty="0"/>
              <a:t>The SPEC CPU benchmark evaluates only CPU performance.</a:t>
            </a:r>
          </a:p>
          <a:p>
            <a:pPr>
              <a:spcBef>
                <a:spcPts val="576"/>
              </a:spcBef>
            </a:pPr>
            <a:r>
              <a:rPr lang="en-US" dirty="0"/>
              <a:t>When the performance of the entire system under high transaction loads is a greater concern, the Transaction Performance Council (TPC) benchmarks are more suitable.</a:t>
            </a:r>
          </a:p>
          <a:p>
            <a:pPr>
              <a:spcBef>
                <a:spcPts val="576"/>
              </a:spcBef>
            </a:pPr>
            <a:endParaRPr lang="en-US" dirty="0"/>
          </a:p>
        </p:txBody>
      </p:sp>
    </p:spTree>
    <p:extLst>
      <p:ext uri="{BB962C8B-B14F-4D97-AF65-F5344CB8AC3E}">
        <p14:creationId xmlns:p14="http://schemas.microsoft.com/office/powerpoint/2010/main" val="3066914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 TPC-C</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pPr>
              <a:spcBef>
                <a:spcPct val="25000"/>
              </a:spcBef>
            </a:pPr>
            <a:r>
              <a:rPr lang="en-US" altLang="en-US" dirty="0">
                <a:cs typeface="Arial" charset="0"/>
              </a:rPr>
              <a:t>The current version of the TPC testing suite is the TPC-C benchmark.</a:t>
            </a:r>
          </a:p>
          <a:p>
            <a:pPr>
              <a:spcBef>
                <a:spcPct val="25000"/>
              </a:spcBef>
            </a:pPr>
            <a:r>
              <a:rPr lang="en-US" altLang="en-US" dirty="0">
                <a:cs typeface="Arial" charset="0"/>
              </a:rPr>
              <a:t>TPC-C models the transactions typical of a warehousing and distribution business using </a:t>
            </a:r>
            <a:r>
              <a:rPr lang="en-US" altLang="en-US" i="1" dirty="0">
                <a:cs typeface="Arial" charset="0"/>
              </a:rPr>
              <a:t>terminal emulation</a:t>
            </a:r>
            <a:r>
              <a:rPr lang="en-US" altLang="en-US" dirty="0">
                <a:cs typeface="Arial" charset="0"/>
              </a:rPr>
              <a:t> software (i.e., it simulates a sales clerk or other person using the system in a typical manner). </a:t>
            </a:r>
          </a:p>
          <a:p>
            <a:pPr>
              <a:spcBef>
                <a:spcPct val="25000"/>
              </a:spcBef>
            </a:pPr>
            <a:r>
              <a:rPr lang="en-US" altLang="en-US" dirty="0">
                <a:cs typeface="Arial" charset="0"/>
              </a:rPr>
              <a:t>The TPC-C metric is the number of new warehouse order transactions per minute (</a:t>
            </a:r>
            <a:r>
              <a:rPr lang="en-US" altLang="en-US" dirty="0" err="1">
                <a:cs typeface="Arial" charset="0"/>
              </a:rPr>
              <a:t>tpmC</a:t>
            </a:r>
            <a:r>
              <a:rPr lang="en-US" altLang="en-US" dirty="0">
                <a:cs typeface="Arial" charset="0"/>
              </a:rPr>
              <a:t>), while a mix of other transactions is concurrently running on the system. </a:t>
            </a:r>
          </a:p>
          <a:p>
            <a:pPr>
              <a:spcBef>
                <a:spcPct val="25000"/>
              </a:spcBef>
            </a:pPr>
            <a:r>
              <a:rPr lang="en-US" altLang="en-US" dirty="0">
                <a:cs typeface="Arial" charset="0"/>
              </a:rPr>
              <a:t>The </a:t>
            </a:r>
            <a:r>
              <a:rPr lang="en-US" altLang="en-US" dirty="0" err="1">
                <a:cs typeface="Arial" charset="0"/>
              </a:rPr>
              <a:t>tpmC</a:t>
            </a:r>
            <a:r>
              <a:rPr lang="en-US" altLang="en-US" dirty="0">
                <a:cs typeface="Arial" charset="0"/>
              </a:rPr>
              <a:t> result is divided by the total cost of the configuration tested to give a price-performance ratio.</a:t>
            </a:r>
          </a:p>
          <a:p>
            <a:pPr lvl="1">
              <a:spcBef>
                <a:spcPct val="25000"/>
              </a:spcBef>
            </a:pPr>
            <a:r>
              <a:rPr lang="en-US" altLang="en-US" dirty="0">
                <a:cs typeface="Arial" charset="0"/>
              </a:rPr>
              <a:t>e.g., the $</a:t>
            </a:r>
            <a:r>
              <a:rPr lang="en-US" altLang="en-US" dirty="0" err="1">
                <a:cs typeface="Arial" charset="0"/>
              </a:rPr>
              <a:t>tpmC</a:t>
            </a:r>
            <a:r>
              <a:rPr lang="en-US" altLang="en-US" dirty="0">
                <a:cs typeface="Arial" charset="0"/>
              </a:rPr>
              <a:t> for a $90,000 system that performs 15,000 </a:t>
            </a:r>
            <a:r>
              <a:rPr lang="en-US" altLang="en-US" dirty="0" err="1">
                <a:cs typeface="Arial" charset="0"/>
              </a:rPr>
              <a:t>tpm</a:t>
            </a:r>
            <a:r>
              <a:rPr lang="en-US" altLang="en-US" dirty="0">
                <a:cs typeface="Arial" charset="0"/>
              </a:rPr>
              <a:t> is $6tpmC </a:t>
            </a:r>
          </a:p>
          <a:p>
            <a:r>
              <a:rPr lang="en-US" dirty="0"/>
              <a:t>The price of the system includes all hardware, software, and maintenance fees that the customer would expect to pay.</a:t>
            </a:r>
          </a:p>
          <a:p>
            <a:endParaRPr lang="en-US" dirty="0"/>
          </a:p>
        </p:txBody>
      </p:sp>
    </p:spTree>
    <p:extLst>
      <p:ext uri="{BB962C8B-B14F-4D97-AF65-F5344CB8AC3E}">
        <p14:creationId xmlns:p14="http://schemas.microsoft.com/office/powerpoint/2010/main" val="933105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 TPC</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pPr>
              <a:lnSpc>
                <a:spcPct val="95000"/>
              </a:lnSpc>
              <a:spcBef>
                <a:spcPts val="576"/>
              </a:spcBef>
            </a:pPr>
            <a:r>
              <a:rPr lang="en-US" altLang="en-US" dirty="0">
                <a:cs typeface="Arial" charset="0"/>
              </a:rPr>
              <a:t>The Transaction Performance Council has also devised benchmarks for </a:t>
            </a:r>
            <a:r>
              <a:rPr lang="en-US" altLang="en-US" i="1" dirty="0">
                <a:cs typeface="Arial" charset="0"/>
              </a:rPr>
              <a:t>decision support systems</a:t>
            </a:r>
            <a:r>
              <a:rPr lang="en-US" altLang="en-US" dirty="0">
                <a:cs typeface="Arial" charset="0"/>
              </a:rPr>
              <a:t> (used for applications such as </a:t>
            </a:r>
            <a:r>
              <a:rPr lang="en-US" altLang="en-US" i="1" dirty="0">
                <a:cs typeface="Arial" charset="0"/>
              </a:rPr>
              <a:t>data mining</a:t>
            </a:r>
            <a:r>
              <a:rPr lang="en-US" altLang="en-US" dirty="0">
                <a:cs typeface="Arial" charset="0"/>
              </a:rPr>
              <a:t>) and for Web-based e-commerce systems.</a:t>
            </a:r>
          </a:p>
          <a:p>
            <a:pPr>
              <a:lnSpc>
                <a:spcPct val="95000"/>
              </a:lnSpc>
              <a:spcBef>
                <a:spcPts val="576"/>
              </a:spcBef>
            </a:pPr>
            <a:r>
              <a:rPr lang="en-US" altLang="en-US" dirty="0">
                <a:cs typeface="Arial" charset="0"/>
              </a:rPr>
              <a:t>For all of the TPC benchmarks, the systems tested must be available for general sale at the time of the test and at the prices cited in a full disclosure report.</a:t>
            </a:r>
          </a:p>
          <a:p>
            <a:pPr>
              <a:lnSpc>
                <a:spcPct val="95000"/>
              </a:lnSpc>
              <a:spcBef>
                <a:spcPts val="576"/>
              </a:spcBef>
            </a:pPr>
            <a:r>
              <a:rPr lang="en-US" altLang="en-US" dirty="0">
                <a:cs typeface="Arial" charset="0"/>
              </a:rPr>
              <a:t>Results of the tests are audited by an independent auditing firm that has been certified by the TPC.</a:t>
            </a:r>
          </a:p>
          <a:p>
            <a:pPr>
              <a:spcBef>
                <a:spcPts val="576"/>
              </a:spcBef>
            </a:pPr>
            <a:r>
              <a:rPr lang="en-US" dirty="0"/>
              <a:t>TPC benchmarks are a kind of simulation tool.</a:t>
            </a:r>
          </a:p>
          <a:p>
            <a:pPr>
              <a:spcBef>
                <a:spcPts val="576"/>
              </a:spcBef>
            </a:pPr>
            <a:r>
              <a:rPr lang="en-US" dirty="0"/>
              <a:t>They can be used to optimize system performance under varying conditions that occur rarely under normal conditions.</a:t>
            </a:r>
          </a:p>
          <a:p>
            <a:pPr lvl="1">
              <a:spcBef>
                <a:spcPts val="576"/>
              </a:spcBef>
            </a:pPr>
            <a:r>
              <a:rPr lang="en-US" dirty="0"/>
              <a:t>The simulation lets us reproduce situations that are otherwise hard to “force” to happen in reality, so that we can improve system performance.</a:t>
            </a:r>
          </a:p>
          <a:p>
            <a:pPr>
              <a:spcBef>
                <a:spcPts val="576"/>
              </a:spcBef>
            </a:pPr>
            <a:endParaRPr lang="en-US" dirty="0"/>
          </a:p>
        </p:txBody>
      </p:sp>
    </p:spTree>
    <p:extLst>
      <p:ext uri="{BB962C8B-B14F-4D97-AF65-F5344CB8AC3E}">
        <p14:creationId xmlns:p14="http://schemas.microsoft.com/office/powerpoint/2010/main" val="4192632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Simulation tools can also be devised to assess performance of an existing system, or to model the performance of systems that do not yet exist.</a:t>
            </a:r>
          </a:p>
          <a:p>
            <a:r>
              <a:rPr lang="en-US" dirty="0"/>
              <a:t>One of the greatest challenges in creation of a system simulation tool is in coming up with a realistic workload.</a:t>
            </a:r>
          </a:p>
          <a:p>
            <a:r>
              <a:rPr lang="en-US" dirty="0"/>
              <a:t>To determine the workload for a particular system component, </a:t>
            </a:r>
            <a:r>
              <a:rPr lang="en-US" b="1" dirty="0"/>
              <a:t>system traces </a:t>
            </a:r>
            <a:r>
              <a:rPr lang="en-US" dirty="0"/>
              <a:t>are sometimes used.</a:t>
            </a:r>
          </a:p>
          <a:p>
            <a:r>
              <a:rPr lang="en-US" dirty="0"/>
              <a:t>Traces are gathered by using hardware or software probes that collect detailed information concerning the activity of a component of interest (e.g., the CPU caches).</a:t>
            </a:r>
          </a:p>
          <a:p>
            <a:r>
              <a:rPr lang="en-US" dirty="0"/>
              <a:t>Because of the enormous amount of detailed information collected by probes, they are usually engaged for only a few seconds.</a:t>
            </a:r>
          </a:p>
          <a:p>
            <a:r>
              <a:rPr lang="en-US" dirty="0"/>
              <a:t>Several trace runs may be required to obtain statistically useful system information.</a:t>
            </a:r>
          </a:p>
          <a:p>
            <a:endParaRPr lang="en-US" dirty="0"/>
          </a:p>
        </p:txBody>
      </p:sp>
    </p:spTree>
    <p:extLst>
      <p:ext uri="{BB962C8B-B14F-4D97-AF65-F5344CB8AC3E}">
        <p14:creationId xmlns:p14="http://schemas.microsoft.com/office/powerpoint/2010/main" val="1029913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Devising a good simulator requires that one keep a clear focus as to the purpose of the simulator</a:t>
            </a:r>
          </a:p>
          <a:p>
            <a:r>
              <a:rPr lang="en-US" dirty="0"/>
              <a:t>A model that is too detailed is costly and time-consuming to write.</a:t>
            </a:r>
          </a:p>
          <a:p>
            <a:r>
              <a:rPr lang="en-US" dirty="0"/>
              <a:t>Conversely, it is of little use to create a simulator that is so simplistic that it ignores important details of the system being modeled.</a:t>
            </a:r>
          </a:p>
          <a:p>
            <a:r>
              <a:rPr lang="en-US" dirty="0"/>
              <a:t>A simulator should be validated to show that it is achieving the goal that it set out to do: a simple simulator is easier to validate than a complex one.</a:t>
            </a:r>
          </a:p>
          <a:p>
            <a:endParaRPr lang="en-US" dirty="0"/>
          </a:p>
        </p:txBody>
      </p:sp>
    </p:spTree>
    <p:extLst>
      <p:ext uri="{BB962C8B-B14F-4D97-AF65-F5344CB8AC3E}">
        <p14:creationId xmlns:p14="http://schemas.microsoft.com/office/powerpoint/2010/main" val="2754138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Optimal disk performance is critical to system throughput.</a:t>
            </a:r>
          </a:p>
          <a:p>
            <a:r>
              <a:rPr lang="en-US" dirty="0"/>
              <a:t>Disk drives are the slowest memory component, with the fastest access times one million times longer than main memory access times.</a:t>
            </a:r>
          </a:p>
          <a:p>
            <a:r>
              <a:rPr lang="en-US" dirty="0"/>
              <a:t>A slow disk system can choke transaction processing and drag down the performance of all programs when virtual memory paging is involved.</a:t>
            </a:r>
          </a:p>
          <a:p>
            <a:r>
              <a:rPr lang="en-US" dirty="0"/>
              <a:t>Low CPU utilization can actually indicate a problem in the I/O subsystem, because the CPU spends more time waiting than running.</a:t>
            </a:r>
          </a:p>
          <a:p>
            <a:r>
              <a:rPr lang="en-US" dirty="0"/>
              <a:t>Disk utilization is the measure of the percentage of the time that the disk is busy servicing I/O requests. </a:t>
            </a:r>
          </a:p>
          <a:p>
            <a:r>
              <a:rPr lang="en-US" dirty="0"/>
              <a:t>It gives the probability that the disk will be busy when another I/O request arrives in the disk service queue. </a:t>
            </a:r>
          </a:p>
        </p:txBody>
      </p:sp>
    </p:spTree>
    <p:extLst>
      <p:ext uri="{BB962C8B-B14F-4D97-AF65-F5344CB8AC3E}">
        <p14:creationId xmlns:p14="http://schemas.microsoft.com/office/powerpoint/2010/main" val="832710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Disk utilization is determined by the speed of the disk and the rate at which requests arrive in the service queue. </a:t>
                </a:r>
              </a:p>
              <a:p>
                <a:pPr>
                  <a:spcBef>
                    <a:spcPts val="576"/>
                  </a:spcBef>
                </a:pPr>
                <a:r>
                  <a:rPr lang="en-US" altLang="en-US" dirty="0">
                    <a:cs typeface="Arial" charset="0"/>
                  </a:rPr>
                  <a:t>Disk utilization stated mathematically is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𝑅𝐴𝑅</m:t>
                        </m:r>
                      </m:num>
                      <m:den>
                        <m:r>
                          <a:rPr lang="en-US" altLang="en-US" i="1">
                            <a:latin typeface="Cambria Math" panose="02040503050406030204" pitchFamily="18" charset="0"/>
                            <a:cs typeface="Arial" charset="0"/>
                          </a:rPr>
                          <m:t>𝐷𝑆𝑅</m:t>
                        </m:r>
                      </m:den>
                    </m:f>
                  </m:oMath>
                </a14:m>
                <a:r>
                  <a:rPr lang="en-US" altLang="en-US" dirty="0">
                    <a:cs typeface="Arial" charset="0"/>
                  </a:rPr>
                  <a:t>, where </a:t>
                </a:r>
                <a:r>
                  <a:rPr lang="en-US" altLang="en-US" i="1" dirty="0">
                    <a:cs typeface="Arial" charset="0"/>
                  </a:rPr>
                  <a:t>DU</a:t>
                </a:r>
                <a:r>
                  <a:rPr lang="en-US" altLang="en-US" dirty="0">
                    <a:cs typeface="Arial" charset="0"/>
                  </a:rPr>
                  <a:t> = Disk Utilization, </a:t>
                </a:r>
                <a:br>
                  <a:rPr lang="en-US" altLang="en-US" dirty="0">
                    <a:cs typeface="Arial" charset="0"/>
                  </a:rPr>
                </a:br>
                <a:r>
                  <a:rPr lang="en-US" altLang="en-US" i="1" dirty="0">
                    <a:cs typeface="Arial" charset="0"/>
                  </a:rPr>
                  <a:t>RAR</a:t>
                </a:r>
                <a:r>
                  <a:rPr lang="en-US" altLang="en-US" dirty="0">
                    <a:cs typeface="Arial" charset="0"/>
                  </a:rPr>
                  <a:t> = Request Arrival Rate and </a:t>
                </a:r>
                <a:r>
                  <a:rPr lang="en-US" altLang="en-US" i="1" dirty="0">
                    <a:cs typeface="Arial" charset="0"/>
                  </a:rPr>
                  <a:t>DSR</a:t>
                </a:r>
                <a:r>
                  <a:rPr lang="en-US" altLang="en-US" dirty="0">
                    <a:cs typeface="Arial" charset="0"/>
                  </a:rPr>
                  <a:t> = Disk Service Rate</a:t>
                </a:r>
              </a:p>
              <a:p>
                <a:pPr>
                  <a:spcBef>
                    <a:spcPts val="576"/>
                  </a:spcBef>
                </a:pPr>
                <a:r>
                  <a:rPr lang="en-US" altLang="en-US" dirty="0">
                    <a:cs typeface="Arial" charset="0"/>
                  </a:rPr>
                  <a:t>The Request Arrival Rate is given in </a:t>
                </a:r>
                <a:r>
                  <a:rPr lang="en-US" altLang="en-US" i="1" dirty="0">
                    <a:cs typeface="Arial" charset="0"/>
                  </a:rPr>
                  <a:t>requests per second</a:t>
                </a:r>
                <a:r>
                  <a:rPr lang="en-US" altLang="en-US" dirty="0">
                    <a:cs typeface="Arial" charset="0"/>
                  </a:rPr>
                  <a:t> to the disk</a:t>
                </a:r>
              </a:p>
              <a:p>
                <a:pPr>
                  <a:spcBef>
                    <a:spcPts val="576"/>
                  </a:spcBef>
                </a:pPr>
                <a:r>
                  <a:rPr lang="en-US" altLang="en-US" dirty="0">
                    <a:cs typeface="Arial" charset="0"/>
                  </a:rPr>
                  <a:t>The Disk Service Rate is given in </a:t>
                </a:r>
                <a:r>
                  <a:rPr lang="en-US" altLang="en-US" dirty="0"/>
                  <a:t>given in </a:t>
                </a:r>
                <a:r>
                  <a:rPr lang="en-US" altLang="en-US" i="1" dirty="0"/>
                  <a:t>I/O operations per second </a:t>
                </a:r>
                <a:r>
                  <a:rPr lang="en-US" altLang="en-US" dirty="0"/>
                  <a:t>(</a:t>
                </a:r>
                <a:r>
                  <a:rPr lang="en-US" altLang="en-US" i="1" dirty="0"/>
                  <a:t>IOPS</a:t>
                </a:r>
                <a:r>
                  <a:rPr lang="en-US" altLang="en-US" dirty="0"/>
                  <a:t>)</a:t>
                </a:r>
              </a:p>
              <a:p>
                <a:pPr marL="0" indent="0">
                  <a:spcBef>
                    <a:spcPts val="576"/>
                  </a:spcBef>
                  <a:buNone/>
                </a:pPr>
                <a:endParaRPr lang="en-US" altLang="en-US" dirty="0"/>
              </a:p>
              <a:p>
                <a:pPr>
                  <a:spcBef>
                    <a:spcPts val="576"/>
                  </a:spcBef>
                </a:pPr>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740267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 Example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Suppose a particular disk can complete an I/O operation in 15 </a:t>
                </a:r>
                <a:r>
                  <a:rPr lang="en-US" altLang="en-US" dirty="0" err="1"/>
                  <a:t>ms</a:t>
                </a:r>
                <a:endParaRPr lang="en-US" altLang="en-US" dirty="0"/>
              </a:p>
              <a:p>
                <a:pPr>
                  <a:spcBef>
                    <a:spcPts val="600"/>
                  </a:spcBef>
                </a:pPr>
                <a:r>
                  <a:rPr lang="en-US" altLang="en-US" dirty="0"/>
                  <a:t>Therefore, its service rate (DSR) is</a:t>
                </a:r>
                <a14:m>
                  <m:oMath xmlns:m="http://schemas.openxmlformats.org/officeDocument/2006/math">
                    <m:r>
                      <a:rPr lang="en-US" altLang="en-US" b="0" i="0" smtClean="0">
                        <a:latin typeface="Cambria Math" panose="02040503050406030204" pitchFamily="18" charset="0"/>
                      </a:rPr>
                      <m:t> </m:t>
                    </m:r>
                    <m:f>
                      <m:fPr>
                        <m:ctrlPr>
                          <a:rPr lang="en-US" altLang="en-US" i="1">
                            <a:latin typeface="Cambria Math" panose="02040503050406030204" pitchFamily="18" charset="0"/>
                          </a:rPr>
                        </m:ctrlPr>
                      </m:fPr>
                      <m:num>
                        <m:r>
                          <a:rPr lang="en-US" altLang="en-US" i="1">
                            <a:latin typeface="Cambria Math" panose="02040503050406030204" pitchFamily="18" charset="0"/>
                          </a:rPr>
                          <m:t>1</m:t>
                        </m:r>
                      </m:num>
                      <m:den>
                        <m:r>
                          <a:rPr lang="en-US" altLang="en-US" i="1">
                            <a:latin typeface="Cambria Math" panose="02040503050406030204" pitchFamily="18" charset="0"/>
                          </a:rPr>
                          <m:t>0.015</m:t>
                        </m:r>
                      </m:den>
                    </m:f>
                    <m:r>
                      <a:rPr lang="en-US" altLang="en-US" i="1">
                        <a:latin typeface="Cambria Math" panose="02040503050406030204" pitchFamily="18" charset="0"/>
                      </a:rPr>
                      <m:t>≈67</m:t>
                    </m:r>
                  </m:oMath>
                </a14:m>
                <a:r>
                  <a:rPr lang="en-US" altLang="en-US" dirty="0"/>
                  <a:t> IOPS</a:t>
                </a:r>
              </a:p>
              <a:p>
                <a:pPr>
                  <a:spcBef>
                    <a:spcPts val="600"/>
                  </a:spcBef>
                </a:pPr>
                <a:r>
                  <a:rPr lang="en-US" altLang="en-US" dirty="0"/>
                  <a:t>If this disk gets 33 requests per second (i.e., RAR = 33), then its utilization (DU) is </a:t>
                </a:r>
                <a14:m>
                  <m:oMath xmlns:m="http://schemas.openxmlformats.org/officeDocument/2006/math">
                    <m:f>
                      <m:fPr>
                        <m:ctrlPr>
                          <a:rPr lang="en-US" altLang="en-US" i="1">
                            <a:latin typeface="Cambria Math" panose="02040503050406030204" pitchFamily="18" charset="0"/>
                          </a:rPr>
                        </m:ctrlPr>
                      </m:fPr>
                      <m:num>
                        <m:r>
                          <a:rPr lang="en-US" altLang="en-US" i="1">
                            <a:latin typeface="Cambria Math" panose="02040503050406030204" pitchFamily="18" charset="0"/>
                          </a:rPr>
                          <m:t>33</m:t>
                        </m:r>
                      </m:num>
                      <m:den>
                        <m:r>
                          <a:rPr lang="en-US" altLang="en-US" i="1">
                            <a:latin typeface="Cambria Math" panose="02040503050406030204" pitchFamily="18" charset="0"/>
                          </a:rPr>
                          <m:t>67</m:t>
                        </m:r>
                      </m:den>
                    </m:f>
                    <m:r>
                      <a:rPr lang="en-US" altLang="en-US" i="1">
                        <a:latin typeface="Cambria Math" panose="02040503050406030204" pitchFamily="18" charset="0"/>
                      </a:rPr>
                      <m:t>≈50%</m:t>
                    </m:r>
                  </m:oMath>
                </a14:m>
                <a:endParaRPr lang="en-US" altLang="en-US" dirty="0"/>
              </a:p>
              <a:p>
                <a:pPr>
                  <a:spcBef>
                    <a:spcPts val="600"/>
                  </a:spcBef>
                </a:pPr>
                <a:endParaRPr lang="en-US" altLang="en-US" dirty="0"/>
              </a:p>
              <a:p>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708815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096000" cy="5257800"/>
              </a:xfrm>
            </p:spPr>
            <p:txBody>
              <a:bodyPr/>
              <a:lstStyle/>
              <a:p>
                <a:pPr>
                  <a:spcBef>
                    <a:spcPts val="576"/>
                  </a:spcBef>
                </a:pPr>
                <a:r>
                  <a:rPr lang="en-US" altLang="en-US" dirty="0">
                    <a:cs typeface="Arial" charset="0"/>
                  </a:rPr>
                  <a:t>The amount of time that a request spends in the I/O queue is directly related to (1) the service time and (2) the probability that the disk is busy</a:t>
                </a:r>
              </a:p>
              <a:p>
                <a:pPr>
                  <a:spcBef>
                    <a:spcPts val="576"/>
                  </a:spcBef>
                </a:pPr>
                <a:r>
                  <a:rPr lang="en-US" altLang="en-US" dirty="0">
                    <a:cs typeface="Arial" charset="0"/>
                  </a:rPr>
                  <a:t>In formula form, we have: </a:t>
                </a:r>
                <a14:m>
                  <m:oMath xmlns:m="http://schemas.openxmlformats.org/officeDocument/2006/math">
                    <m:r>
                      <a:rPr lang="en-US" altLang="en-US" i="1">
                        <a:latin typeface="Cambria Math" panose="02040503050406030204" pitchFamily="18" charset="0"/>
                        <a:cs typeface="Arial" charset="0"/>
                      </a:rPr>
                      <m:t>𝑇𝑄</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𝑆𝑇</m:t>
                        </m:r>
                        <m:r>
                          <a:rPr lang="en-US" altLang="en-US" i="1">
                            <a:latin typeface="Cambria Math" panose="02040503050406030204" pitchFamily="18" charset="0"/>
                            <a:cs typeface="Arial" charset="0"/>
                          </a:rPr>
                          <m:t>×</m:t>
                        </m:r>
                        <m:r>
                          <a:rPr lang="en-US" altLang="en-US" i="1">
                            <a:latin typeface="Cambria Math" panose="02040503050406030204" pitchFamily="18" charset="0"/>
                            <a:cs typeface="Arial" charset="0"/>
                          </a:rPr>
                          <m:t>𝐷𝑈</m:t>
                        </m:r>
                      </m:num>
                      <m:den>
                        <m:r>
                          <a:rPr lang="en-US" altLang="en-US" i="1">
                            <a:latin typeface="Cambria Math" panose="02040503050406030204" pitchFamily="18" charset="0"/>
                            <a:cs typeface="Arial" charset="0"/>
                          </a:rPr>
                          <m:t>1−</m:t>
                        </m:r>
                        <m:r>
                          <a:rPr lang="en-US" altLang="en-US" i="1">
                            <a:latin typeface="Cambria Math" panose="02040503050406030204" pitchFamily="18" charset="0"/>
                            <a:cs typeface="Arial" charset="0"/>
                          </a:rPr>
                          <m:t>𝐷𝑈</m:t>
                        </m:r>
                      </m:den>
                    </m:f>
                  </m:oMath>
                </a14:m>
                <a:r>
                  <a:rPr lang="en-US" altLang="en-US" dirty="0">
                    <a:cs typeface="Arial" charset="0"/>
                  </a:rPr>
                  <a:t>, where TQ = Time in Queue, </a:t>
                </a:r>
                <a:br>
                  <a:rPr lang="en-US" altLang="en-US" dirty="0">
                    <a:cs typeface="Arial" charset="0"/>
                  </a:rPr>
                </a:br>
                <a:r>
                  <a:rPr lang="en-US" altLang="en-US" dirty="0">
                    <a:cs typeface="Arial" charset="0"/>
                  </a:rPr>
                  <a:t>ST = Service Time (of one I/O operation), and DU = Disk Utilization </a:t>
                </a:r>
              </a:p>
              <a:p>
                <a:pPr>
                  <a:spcBef>
                    <a:spcPts val="576"/>
                  </a:spcBef>
                </a:pPr>
                <a:r>
                  <a:rPr lang="en-US" altLang="en-US" dirty="0">
                    <a:cs typeface="Arial" charset="0"/>
                  </a:rPr>
                  <a:t>The important relationship between queue time and utilization (from the above formula) is shown graphically on the right.</a:t>
                </a:r>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xfrm>
                <a:off x="609600" y="1143000"/>
                <a:ext cx="6096000" cy="5257800"/>
              </a:xfrm>
              <a:blipFill rotWithShape="0">
                <a:blip r:embed="rId2"/>
                <a:stretch>
                  <a:fillRect t="-928" r="-2200"/>
                </a:stretch>
              </a:blipFill>
            </p:spPr>
            <p:txBody>
              <a:bodyPr/>
              <a:lstStyle/>
              <a:p>
                <a:r>
                  <a:rPr lang="en-US">
                    <a:noFill/>
                  </a:rPr>
                  <a:t> </a:t>
                </a:r>
              </a:p>
            </p:txBody>
          </p:sp>
        </mc:Fallback>
      </mc:AlternateContent>
      <p:pic>
        <p:nvPicPr>
          <p:cNvPr id="4" name="Picture 3" descr="9781284033144_CH11_FIG01.jpg">
            <a:extLst>
              <a:ext uri="{FF2B5EF4-FFF2-40B4-BE49-F238E27FC236}">
                <a16:creationId xmlns:a16="http://schemas.microsoft.com/office/drawing/2014/main" id="{6EBC952B-48BB-47F7-ABD3-A474567C44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2480" y="990600"/>
            <a:ext cx="4648200" cy="531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7585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248400" cy="5257800"/>
          </a:xfrm>
        </p:spPr>
        <p:txBody>
          <a:bodyPr/>
          <a:lstStyle/>
          <a:p>
            <a:r>
              <a:rPr lang="en-US" dirty="0"/>
              <a:t>The “knee” of the curve is around 78%. This is why 80% is the rule-of-thumb upper limit for utilization for most disk drives.</a:t>
            </a:r>
          </a:p>
          <a:p>
            <a:r>
              <a:rPr lang="en-US" dirty="0"/>
              <a:t>Beyond that, queue time quickly becomes excessive.</a:t>
            </a:r>
          </a:p>
          <a:p>
            <a:endParaRPr lang="en-US" dirty="0"/>
          </a:p>
        </p:txBody>
      </p:sp>
      <p:pic>
        <p:nvPicPr>
          <p:cNvPr id="4" name="Picture 3" descr="9781284033144_CH11_FIG01.jpg">
            <a:extLst>
              <a:ext uri="{FF2B5EF4-FFF2-40B4-BE49-F238E27FC236}">
                <a16:creationId xmlns:a16="http://schemas.microsoft.com/office/drawing/2014/main" id="{6EBC952B-48BB-47F7-ABD3-A474567C44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62480" y="990600"/>
            <a:ext cx="4648200" cy="531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2967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 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576"/>
                  </a:spcBef>
                </a:pPr>
                <a:r>
                  <a:rPr lang="en-US" altLang="en-US" dirty="0">
                    <a:cs typeface="Arial" charset="0"/>
                  </a:rPr>
                  <a:t>Suppose the arrival rate is 60 requests per second and the service time is 15 </a:t>
                </a:r>
                <a:r>
                  <a:rPr lang="en-US" altLang="en-US" dirty="0" err="1">
                    <a:cs typeface="Arial" charset="0"/>
                  </a:rPr>
                  <a:t>ms.</a:t>
                </a:r>
                <a:r>
                  <a:rPr lang="en-US" altLang="en-US" dirty="0">
                    <a:cs typeface="Arial" charset="0"/>
                  </a:rPr>
                  <a:t> From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𝑅𝐴𝑅</m:t>
                        </m:r>
                      </m:num>
                      <m:den>
                        <m:r>
                          <a:rPr lang="en-US" altLang="en-US" i="1">
                            <a:latin typeface="Cambria Math" panose="02040503050406030204" pitchFamily="18" charset="0"/>
                            <a:cs typeface="Arial" charset="0"/>
                          </a:rPr>
                          <m:t>𝐷𝑆𝑅</m:t>
                        </m:r>
                      </m:den>
                    </m:f>
                  </m:oMath>
                </a14:m>
                <a:r>
                  <a:rPr lang="en-US" altLang="en-US" dirty="0">
                    <a:cs typeface="Arial" charset="0"/>
                  </a:rPr>
                  <a:t> we can compute that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≈90%</m:t>
                    </m:r>
                  </m:oMath>
                </a14:m>
                <a:r>
                  <a:rPr lang="en-US" altLang="en-US" dirty="0">
                    <a:cs typeface="Arial" charset="0"/>
                  </a:rPr>
                  <a:t> (60/67).</a:t>
                </a:r>
              </a:p>
              <a:p>
                <a:pPr>
                  <a:spcBef>
                    <a:spcPts val="576"/>
                  </a:spcBef>
                </a:pPr>
                <a:r>
                  <a:rPr lang="en-US" altLang="en-US" dirty="0">
                    <a:cs typeface="Arial" charset="0"/>
                  </a:rPr>
                  <a:t>Therefore, on average the request will wait </a:t>
                </a:r>
                <a:br>
                  <a:rPr lang="en-US" altLang="en-US" dirty="0">
                    <a:cs typeface="Arial" charset="0"/>
                  </a:rPr>
                </a:br>
                <a14:m>
                  <m:oMath xmlns:m="http://schemas.openxmlformats.org/officeDocument/2006/math">
                    <m:r>
                      <a:rPr lang="en-US" altLang="en-US" i="1">
                        <a:latin typeface="Cambria Math" panose="02040503050406030204" pitchFamily="18" charset="0"/>
                        <a:cs typeface="Arial" charset="0"/>
                      </a:rPr>
                      <m:t>𝑇𝑄</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𝑆𝑇</m:t>
                        </m:r>
                        <m:r>
                          <a:rPr lang="en-US" altLang="en-US" i="1">
                            <a:latin typeface="Cambria Math" panose="02040503050406030204" pitchFamily="18" charset="0"/>
                            <a:cs typeface="Arial" charset="0"/>
                          </a:rPr>
                          <m:t>×</m:t>
                        </m:r>
                        <m:r>
                          <a:rPr lang="en-US" altLang="en-US" i="1">
                            <a:latin typeface="Cambria Math" panose="02040503050406030204" pitchFamily="18" charset="0"/>
                            <a:cs typeface="Arial" charset="0"/>
                          </a:rPr>
                          <m:t>𝐷𝑈</m:t>
                        </m:r>
                      </m:num>
                      <m:den>
                        <m:r>
                          <a:rPr lang="en-US" altLang="en-US" i="1">
                            <a:latin typeface="Cambria Math" panose="02040503050406030204" pitchFamily="18" charset="0"/>
                            <a:cs typeface="Arial" charset="0"/>
                          </a:rPr>
                          <m:t>1−</m:t>
                        </m:r>
                        <m:r>
                          <a:rPr lang="en-US" altLang="en-US" i="1">
                            <a:latin typeface="Cambria Math" panose="02040503050406030204" pitchFamily="18" charset="0"/>
                            <a:cs typeface="Arial" charset="0"/>
                          </a:rPr>
                          <m:t>𝐷𝑈</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15×0.90</m:t>
                        </m:r>
                      </m:num>
                      <m:den>
                        <m:r>
                          <a:rPr lang="en-US" altLang="en-US" i="1">
                            <a:latin typeface="Cambria Math" panose="02040503050406030204" pitchFamily="18" charset="0"/>
                            <a:cs typeface="Arial" charset="0"/>
                          </a:rPr>
                          <m:t>1−0.90</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13.5</m:t>
                        </m:r>
                      </m:num>
                      <m:den>
                        <m:r>
                          <a:rPr lang="en-US" altLang="en-US" i="1">
                            <a:latin typeface="Cambria Math" panose="02040503050406030204" pitchFamily="18" charset="0"/>
                            <a:cs typeface="Arial" charset="0"/>
                          </a:rPr>
                          <m:t>0.1</m:t>
                        </m:r>
                      </m:den>
                    </m:f>
                    <m:r>
                      <a:rPr lang="en-US" altLang="en-US" i="1">
                        <a:latin typeface="Cambria Math" panose="02040503050406030204" pitchFamily="18" charset="0"/>
                        <a:cs typeface="Arial" charset="0"/>
                      </a:rPr>
                      <m:t>=135 </m:t>
                    </m:r>
                    <m:r>
                      <m:rPr>
                        <m:sty m:val="p"/>
                      </m:rPr>
                      <a:rPr lang="en-US" altLang="en-US">
                        <a:latin typeface="Cambria Math" panose="02040503050406030204" pitchFamily="18" charset="0"/>
                        <a:cs typeface="Arial" charset="0"/>
                      </a:rPr>
                      <m:t>ms</m:t>
                    </m:r>
                  </m:oMath>
                </a14:m>
                <a:r>
                  <a:rPr lang="en-US" altLang="en-US" dirty="0">
                    <a:cs typeface="Arial" charset="0"/>
                  </a:rPr>
                  <a:t> in the queue</a:t>
                </a:r>
              </a:p>
              <a:p>
                <a:pPr>
                  <a:spcBef>
                    <a:spcPts val="576"/>
                  </a:spcBef>
                </a:pPr>
                <a:r>
                  <a:rPr lang="en-US" altLang="en-US" dirty="0">
                    <a:cs typeface="Arial" charset="0"/>
                  </a:rPr>
                  <a:t>Total service time for an I/O becomes 15 </a:t>
                </a:r>
                <a:r>
                  <a:rPr lang="en-US" altLang="en-US" dirty="0" err="1">
                    <a:cs typeface="Arial" charset="0"/>
                  </a:rPr>
                  <a:t>ms</a:t>
                </a:r>
                <a:r>
                  <a:rPr lang="en-US" altLang="en-US" dirty="0">
                    <a:cs typeface="Arial" charset="0"/>
                  </a:rPr>
                  <a:t> + 135 </a:t>
                </a:r>
                <a:r>
                  <a:rPr lang="en-US" altLang="en-US" dirty="0" err="1">
                    <a:cs typeface="Arial" charset="0"/>
                  </a:rPr>
                  <a:t>ms</a:t>
                </a:r>
                <a:r>
                  <a:rPr lang="en-US" altLang="en-US" dirty="0">
                    <a:cs typeface="Arial" charset="0"/>
                  </a:rPr>
                  <a:t> = 150 </a:t>
                </a:r>
                <a:r>
                  <a:rPr lang="en-US" altLang="en-US" dirty="0" err="1">
                    <a:cs typeface="Arial" charset="0"/>
                  </a:rPr>
                  <a:t>ms</a:t>
                </a:r>
                <a:endParaRPr lang="en-US" altLang="en-US" dirty="0">
                  <a:cs typeface="Arial" charset="0"/>
                </a:endParaRPr>
              </a:p>
              <a:p>
                <a:pPr>
                  <a:spcBef>
                    <a:spcPts val="576"/>
                  </a:spcBef>
                </a:pPr>
                <a:r>
                  <a:rPr lang="en-US" altLang="en-US" dirty="0">
                    <a:cs typeface="Arial" charset="0"/>
                  </a:rPr>
                  <a:t>At 64 requests per second,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≈96%</m:t>
                    </m:r>
                  </m:oMath>
                </a14:m>
                <a:r>
                  <a:rPr lang="en-US" altLang="en-US" dirty="0">
                    <a:cs typeface="Arial" charset="0"/>
                  </a:rPr>
                  <a:t>, and so </a:t>
                </a:r>
                <a14:m>
                  <m:oMath xmlns:m="http://schemas.openxmlformats.org/officeDocument/2006/math">
                    <m:r>
                      <a:rPr lang="en-US" altLang="en-US" i="1">
                        <a:latin typeface="Cambria Math" panose="02040503050406030204" pitchFamily="18" charset="0"/>
                        <a:cs typeface="Arial" charset="0"/>
                      </a:rPr>
                      <m:t>𝑇𝑄</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15×0.96</m:t>
                        </m:r>
                      </m:num>
                      <m:den>
                        <m:r>
                          <a:rPr lang="en-US" altLang="en-US" i="1">
                            <a:latin typeface="Cambria Math" panose="02040503050406030204" pitchFamily="18" charset="0"/>
                            <a:cs typeface="Arial" charset="0"/>
                          </a:rPr>
                          <m:t>0.04</m:t>
                        </m:r>
                      </m:den>
                    </m:f>
                    <m:r>
                      <a:rPr lang="en-US" altLang="en-US" i="1">
                        <a:latin typeface="Cambria Math" panose="02040503050406030204" pitchFamily="18" charset="0"/>
                        <a:cs typeface="Arial" charset="0"/>
                      </a:rPr>
                      <m:t>=360 </m:t>
                    </m:r>
                    <m:r>
                      <m:rPr>
                        <m:sty m:val="p"/>
                      </m:rPr>
                      <a:rPr lang="en-US" altLang="en-US">
                        <a:latin typeface="Cambria Math" panose="02040503050406030204" pitchFamily="18" charset="0"/>
                        <a:cs typeface="Arial" charset="0"/>
                      </a:rPr>
                      <m:t>ms</m:t>
                    </m:r>
                  </m:oMath>
                </a14:m>
                <a:r>
                  <a:rPr lang="en-US" altLang="en-US" dirty="0">
                    <a:cs typeface="Arial" charset="0"/>
                  </a:rPr>
                  <a:t>! </a:t>
                </a:r>
              </a:p>
              <a:p>
                <a:pPr>
                  <a:spcBef>
                    <a:spcPts val="576"/>
                  </a:spcBef>
                </a:pPr>
                <a:r>
                  <a:rPr lang="en-US" altLang="en-US" dirty="0">
                    <a:cs typeface="Arial" charset="0"/>
                  </a:rPr>
                  <a:t>At  65 requests per second the wait time becomes 485 </a:t>
                </a:r>
                <a:r>
                  <a:rPr lang="en-US" altLang="en-US" dirty="0" err="1">
                    <a:cs typeface="Arial" charset="0"/>
                  </a:rPr>
                  <a:t>ms.</a:t>
                </a:r>
                <a:r>
                  <a:rPr lang="en-US" altLang="en-US" dirty="0">
                    <a:cs typeface="Arial" charset="0"/>
                  </a:rPr>
                  <a:t> </a:t>
                </a:r>
              </a:p>
              <a:p>
                <a:pPr lvl="1">
                  <a:spcBef>
                    <a:spcPts val="576"/>
                  </a:spcBef>
                </a:pPr>
                <a:r>
                  <a:rPr lang="en-US" altLang="en-US" dirty="0" err="1">
                    <a:cs typeface="Arial" charset="0"/>
                  </a:rPr>
                  <a:t>Psh</a:t>
                </a:r>
                <a:r>
                  <a:rPr lang="en-US" altLang="en-US" dirty="0">
                    <a:cs typeface="Arial" charset="0"/>
                  </a:rPr>
                  <a:t>! So much for our 15 </a:t>
                </a:r>
                <a:r>
                  <a:rPr lang="en-US" altLang="en-US" dirty="0" err="1">
                    <a:cs typeface="Arial" charset="0"/>
                  </a:rPr>
                  <a:t>ms</a:t>
                </a:r>
                <a:r>
                  <a:rPr lang="en-US" altLang="en-US" dirty="0">
                    <a:cs typeface="Arial" charset="0"/>
                  </a:rPr>
                  <a:t> disk drive!</a:t>
                </a:r>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1043" t="-3081" b="-1681"/>
                </a:stretch>
              </a:blipFill>
            </p:spPr>
            <p:txBody>
              <a:bodyPr/>
              <a:lstStyle/>
              <a:p>
                <a:r>
                  <a:rPr lang="en-US">
                    <a:noFill/>
                  </a:rPr>
                  <a:t> </a:t>
                </a:r>
              </a:p>
            </p:txBody>
          </p:sp>
        </mc:Fallback>
      </mc:AlternateContent>
    </p:spTree>
    <p:extLst>
      <p:ext uri="{BB962C8B-B14F-4D97-AF65-F5344CB8AC3E}">
        <p14:creationId xmlns:p14="http://schemas.microsoft.com/office/powerpoint/2010/main" val="3188376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manner in which files are organized on a disk greatly affects throughput.</a:t>
            </a:r>
          </a:p>
          <a:p>
            <a:r>
              <a:rPr lang="en-US" dirty="0"/>
              <a:t>Disk arm motion is the greatest consumer of service time. </a:t>
            </a:r>
          </a:p>
          <a:p>
            <a:r>
              <a:rPr lang="en-US" dirty="0"/>
              <a:t>Disk specifications cite average seek time, which is usually in the range of 5 to 10 </a:t>
            </a:r>
            <a:r>
              <a:rPr lang="en-US" dirty="0" err="1"/>
              <a:t>ms.</a:t>
            </a:r>
            <a:endParaRPr lang="en-US" dirty="0"/>
          </a:p>
          <a:p>
            <a:r>
              <a:rPr lang="en-US" dirty="0"/>
              <a:t>However, a </a:t>
            </a:r>
            <a:r>
              <a:rPr lang="en-US" b="1" dirty="0"/>
              <a:t>full-stroke seek</a:t>
            </a:r>
            <a:r>
              <a:rPr lang="en-US" dirty="0"/>
              <a:t> (moving the disk arm from the innermost track to the outermost, or vice versa) can take as long as 15 to 20 </a:t>
            </a:r>
            <a:r>
              <a:rPr lang="en-US" dirty="0" err="1"/>
              <a:t>ms.</a:t>
            </a:r>
            <a:endParaRPr lang="en-US" dirty="0"/>
          </a:p>
          <a:p>
            <a:r>
              <a:rPr lang="en-US" dirty="0"/>
              <a:t>Clever </a:t>
            </a:r>
            <a:r>
              <a:rPr lang="en-US" b="1" dirty="0"/>
              <a:t>disk scheduling</a:t>
            </a:r>
            <a:r>
              <a:rPr lang="en-US" dirty="0"/>
              <a:t> algorithms endeavor to minimize seek time.</a:t>
            </a:r>
          </a:p>
          <a:p>
            <a:endParaRPr lang="en-US" dirty="0"/>
          </a:p>
        </p:txBody>
      </p:sp>
    </p:spTree>
    <p:extLst>
      <p:ext uri="{BB962C8B-B14F-4D97-AF65-F5344CB8AC3E}">
        <p14:creationId xmlns:p14="http://schemas.microsoft.com/office/powerpoint/2010/main" val="3496613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FCFS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The most naïve disk scheduling policy is </a:t>
            </a:r>
            <a:r>
              <a:rPr lang="en-US" b="1" dirty="0"/>
              <a:t>first-come, first-served (FCFS)</a:t>
            </a:r>
            <a:r>
              <a:rPr lang="en-US" dirty="0"/>
              <a:t>.  </a:t>
            </a:r>
          </a:p>
          <a:p>
            <a:r>
              <a:rPr lang="en-US" dirty="0"/>
              <a:t>As its name implies, FCFS services all I/O requests in the order in which they arrive in the queue.</a:t>
            </a:r>
          </a:p>
          <a:p>
            <a:r>
              <a:rPr lang="en-US" dirty="0"/>
              <a:t>With this approach, there </a:t>
            </a:r>
            <a:br>
              <a:rPr lang="en-US" dirty="0"/>
            </a:br>
            <a:r>
              <a:rPr lang="en-US" dirty="0"/>
              <a:t>is no real control over arm </a:t>
            </a:r>
            <a:br>
              <a:rPr lang="en-US" dirty="0"/>
            </a:br>
            <a:r>
              <a:rPr lang="en-US" dirty="0"/>
              <a:t>motion, so random, wide </a:t>
            </a:r>
            <a:br>
              <a:rPr lang="en-US" dirty="0"/>
            </a:br>
            <a:r>
              <a:rPr lang="en-US" dirty="0"/>
              <a:t>sweeps across the disk are</a:t>
            </a:r>
            <a:br>
              <a:rPr lang="en-US" dirty="0"/>
            </a:br>
            <a:r>
              <a:rPr lang="en-US" dirty="0"/>
              <a:t>possible (see figure).</a:t>
            </a:r>
          </a:p>
          <a:p>
            <a:r>
              <a:rPr lang="en-US" dirty="0"/>
              <a:t>Using FCFS, performance is</a:t>
            </a:r>
            <a:br>
              <a:rPr lang="en-US" dirty="0"/>
            </a:br>
            <a:r>
              <a:rPr lang="en-US" dirty="0"/>
              <a:t>unpredictable and widely </a:t>
            </a:r>
            <a:br>
              <a:rPr lang="en-US" dirty="0"/>
            </a:br>
            <a:r>
              <a:rPr lang="en-US" dirty="0"/>
              <a:t>variable.</a:t>
            </a:r>
          </a:p>
          <a:p>
            <a:endParaRPr lang="en-US" dirty="0"/>
          </a:p>
        </p:txBody>
      </p:sp>
      <p:pic>
        <p:nvPicPr>
          <p:cNvPr id="4" name="Picture 3" descr="9781284033144_CH11_FIG02.jpg">
            <a:extLst>
              <a:ext uri="{FF2B5EF4-FFF2-40B4-BE49-F238E27FC236}">
                <a16:creationId xmlns:a16="http://schemas.microsoft.com/office/drawing/2014/main" id="{FB810139-6015-4976-B229-FF9F56D9C7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40285" y="2739569"/>
            <a:ext cx="6851715" cy="411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011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SSTF</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Arm motion is reduced when requests are ordered so that the disk arm moves only to the track nearest its current location.  </a:t>
            </a:r>
          </a:p>
          <a:p>
            <a:r>
              <a:rPr lang="en-US" dirty="0"/>
              <a:t>This is the idea employed by the </a:t>
            </a:r>
            <a:r>
              <a:rPr lang="en-US" b="1" dirty="0"/>
              <a:t>shortest seek time first (SSTF)</a:t>
            </a:r>
            <a:r>
              <a:rPr lang="en-US" dirty="0"/>
              <a:t> scheduling algorithm. </a:t>
            </a:r>
          </a:p>
          <a:p>
            <a:r>
              <a:rPr lang="en-US" dirty="0"/>
              <a:t>Disk track requests are </a:t>
            </a:r>
            <a:br>
              <a:rPr lang="en-US" dirty="0"/>
            </a:br>
            <a:r>
              <a:rPr lang="en-US" dirty="0"/>
              <a:t>queued and selected so that </a:t>
            </a:r>
            <a:br>
              <a:rPr lang="en-US" dirty="0"/>
            </a:br>
            <a:r>
              <a:rPr lang="en-US" dirty="0"/>
              <a:t>the minimum arm motion is </a:t>
            </a:r>
            <a:br>
              <a:rPr lang="en-US" dirty="0"/>
            </a:br>
            <a:r>
              <a:rPr lang="en-US" dirty="0"/>
              <a:t>involved in servicing the </a:t>
            </a:r>
            <a:br>
              <a:rPr lang="en-US" dirty="0"/>
            </a:br>
            <a:r>
              <a:rPr lang="en-US" dirty="0"/>
              <a:t>request (see figure). </a:t>
            </a:r>
          </a:p>
          <a:p>
            <a:endParaRPr lang="en-US" dirty="0"/>
          </a:p>
        </p:txBody>
      </p:sp>
      <p:pic>
        <p:nvPicPr>
          <p:cNvPr id="4" name="Picture 5" descr="9781284033144_CH11_FIG03.jpg">
            <a:extLst>
              <a:ext uri="{FF2B5EF4-FFF2-40B4-BE49-F238E27FC236}">
                <a16:creationId xmlns:a16="http://schemas.microsoft.com/office/drawing/2014/main" id="{342E276B-021D-4E2C-94A7-12C707AE4F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8014" y="3241092"/>
            <a:ext cx="6553986" cy="3939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260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SSTF</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With SSTF, starvation is possible:  A track request for a “remote” track could keep getting shoved to the back of the queue nearer requests are serviced.  </a:t>
            </a:r>
          </a:p>
          <a:p>
            <a:r>
              <a:rPr lang="en-US" dirty="0"/>
              <a:t>To avoid starvation, fairness can be enforced by having the disk arm continually sweep over the surface of the disk, stopping when it reaches a track for which it has a request.  </a:t>
            </a:r>
          </a:p>
          <a:p>
            <a:pPr lvl="1"/>
            <a:r>
              <a:rPr lang="en-US" dirty="0"/>
              <a:t>This approach is called an </a:t>
            </a:r>
            <a:r>
              <a:rPr lang="en-US" b="1" dirty="0"/>
              <a:t>elevator algorithm</a:t>
            </a:r>
            <a:r>
              <a:rPr lang="en-US" dirty="0"/>
              <a:t>.</a:t>
            </a:r>
          </a:p>
          <a:p>
            <a:endParaRPr lang="en-US" dirty="0"/>
          </a:p>
        </p:txBody>
      </p:sp>
    </p:spTree>
    <p:extLst>
      <p:ext uri="{BB962C8B-B14F-4D97-AF65-F5344CB8AC3E}">
        <p14:creationId xmlns:p14="http://schemas.microsoft.com/office/powerpoint/2010/main" val="940616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the context of disk scheduling, the elevator algorithm is known as </a:t>
            </a:r>
            <a:r>
              <a:rPr lang="en-US" b="1" dirty="0"/>
              <a:t>SCAN</a:t>
            </a:r>
            <a:r>
              <a:rPr lang="en-US" dirty="0"/>
              <a:t> (which is not an acronym). </a:t>
            </a:r>
          </a:p>
          <a:p>
            <a:r>
              <a:rPr lang="en-US" dirty="0"/>
              <a:t>While SCAN entails a lot of arm motion, the motion is constant and predictable.</a:t>
            </a:r>
          </a:p>
          <a:p>
            <a:r>
              <a:rPr lang="en-US" dirty="0"/>
              <a:t>Moreover, the arm changes </a:t>
            </a:r>
            <a:br>
              <a:rPr lang="en-US" dirty="0"/>
            </a:br>
            <a:r>
              <a:rPr lang="en-US" dirty="0"/>
              <a:t>direction only twice: at the </a:t>
            </a:r>
            <a:br>
              <a:rPr lang="en-US" dirty="0"/>
            </a:br>
            <a:r>
              <a:rPr lang="en-US" dirty="0"/>
              <a:t>center and at the outermost </a:t>
            </a:r>
            <a:br>
              <a:rPr lang="en-US" dirty="0"/>
            </a:br>
            <a:r>
              <a:rPr lang="en-US" dirty="0"/>
              <a:t>edges of the disk (see figure).</a:t>
            </a:r>
          </a:p>
          <a:p>
            <a:endParaRPr lang="en-US" dirty="0"/>
          </a:p>
          <a:p>
            <a:endParaRPr lang="en-US" dirty="0"/>
          </a:p>
        </p:txBody>
      </p:sp>
      <p:pic>
        <p:nvPicPr>
          <p:cNvPr id="4" name="Picture 5" descr="9781284033144_CH11_FIG04.jpg">
            <a:extLst>
              <a:ext uri="{FF2B5EF4-FFF2-40B4-BE49-F238E27FC236}">
                <a16:creationId xmlns:a16="http://schemas.microsoft.com/office/drawing/2014/main" id="{300AEDA6-9007-482D-9DCA-A27F1D73E1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8355" y="3243661"/>
            <a:ext cx="6463645" cy="3875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732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C-SCAN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 SCAN variant, called </a:t>
            </a:r>
            <a:r>
              <a:rPr lang="en-US" b="1" dirty="0"/>
              <a:t>C-SCAN</a:t>
            </a:r>
            <a:r>
              <a:rPr lang="en-US" dirty="0"/>
              <a:t> for </a:t>
            </a:r>
            <a:r>
              <a:rPr lang="en-US" b="1" dirty="0"/>
              <a:t>circular SCAN</a:t>
            </a:r>
            <a:r>
              <a:rPr lang="en-US" dirty="0"/>
              <a:t>, treats track zero as if it is adjacent to the highest-numbered track on the disk. </a:t>
            </a:r>
          </a:p>
          <a:p>
            <a:r>
              <a:rPr lang="en-US" dirty="0"/>
              <a:t>The arm moves in one direction only, providing a simpler SCAN implementation.</a:t>
            </a:r>
          </a:p>
          <a:p>
            <a:r>
              <a:rPr lang="en-US" dirty="0"/>
              <a:t>The figure on the right</a:t>
            </a:r>
            <a:br>
              <a:rPr lang="en-US" dirty="0"/>
            </a:br>
            <a:r>
              <a:rPr lang="en-US" dirty="0"/>
              <a:t>illustrates a series of read </a:t>
            </a:r>
            <a:br>
              <a:rPr lang="en-US" dirty="0"/>
            </a:br>
            <a:r>
              <a:rPr lang="en-US" dirty="0"/>
              <a:t>requests where after track 75 </a:t>
            </a:r>
            <a:br>
              <a:rPr lang="en-US" dirty="0"/>
            </a:br>
            <a:r>
              <a:rPr lang="en-US" dirty="0"/>
              <a:t>is read, the arm passes to track</a:t>
            </a:r>
            <a:br>
              <a:rPr lang="en-US" dirty="0"/>
            </a:br>
            <a:r>
              <a:rPr lang="en-US" dirty="0"/>
              <a:t>99, and then to track 0, from </a:t>
            </a:r>
            <a:br>
              <a:rPr lang="en-US" dirty="0"/>
            </a:br>
            <a:r>
              <a:rPr lang="en-US" dirty="0"/>
              <a:t>which it starts reading the </a:t>
            </a:r>
            <a:br>
              <a:rPr lang="en-US" dirty="0"/>
            </a:br>
            <a:r>
              <a:rPr lang="en-US" dirty="0"/>
              <a:t>lowest-numbered tracks, </a:t>
            </a:r>
            <a:br>
              <a:rPr lang="en-US" dirty="0"/>
            </a:br>
            <a:r>
              <a:rPr lang="en-US" dirty="0"/>
              <a:t>starting with track 6.</a:t>
            </a:r>
          </a:p>
          <a:p>
            <a:endParaRPr lang="en-US" dirty="0"/>
          </a:p>
        </p:txBody>
      </p:sp>
      <p:pic>
        <p:nvPicPr>
          <p:cNvPr id="4" name="Picture 5" descr="9781284033144_CH11_FIG05.jpg">
            <a:extLst>
              <a:ext uri="{FF2B5EF4-FFF2-40B4-BE49-F238E27FC236}">
                <a16:creationId xmlns:a16="http://schemas.microsoft.com/office/drawing/2014/main" id="{D3B9AD5F-D9BF-4F76-B8B2-50FDA8D36B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37781" y="2978497"/>
            <a:ext cx="6454219" cy="3879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487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C-SCAN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motivation for C-SCAN might not be clear</a:t>
            </a:r>
          </a:p>
          <a:p>
            <a:r>
              <a:rPr lang="en-US" dirty="0"/>
              <a:t>Consider the arm’s movement in regular SCAN as it “turns around” and heads back in the other direction</a:t>
            </a:r>
          </a:p>
          <a:p>
            <a:r>
              <a:rPr lang="en-US" dirty="0"/>
              <a:t>It is likely to not be processing many I/O requests initially because it just passed over those tracks</a:t>
            </a:r>
          </a:p>
          <a:p>
            <a:r>
              <a:rPr lang="en-US" dirty="0"/>
              <a:t>Also, the tracks at the opposite edge of the platter now have a long wait to be serviced</a:t>
            </a:r>
          </a:p>
          <a:p>
            <a:r>
              <a:rPr lang="en-US" dirty="0"/>
              <a:t>C-SCAN solves both of these problems and reduces the amount of variance in how long it takes for the disk to service I/O requests</a:t>
            </a:r>
          </a:p>
          <a:p>
            <a:endParaRPr lang="en-US" dirty="0"/>
          </a:p>
        </p:txBody>
      </p:sp>
    </p:spTree>
    <p:extLst>
      <p:ext uri="{BB962C8B-B14F-4D97-AF65-F5344CB8AC3E}">
        <p14:creationId xmlns:p14="http://schemas.microsoft.com/office/powerpoint/2010/main" val="4075206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LOOK</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disk arm motion of SCAN and C-SCAN can be reduced through the use of the </a:t>
            </a:r>
            <a:r>
              <a:rPr lang="en-US" b="1" dirty="0"/>
              <a:t>LOOK</a:t>
            </a:r>
            <a:r>
              <a:rPr lang="en-US" dirty="0"/>
              <a:t> and </a:t>
            </a:r>
            <a:r>
              <a:rPr lang="en-US" b="1" dirty="0"/>
              <a:t>C-LOOK</a:t>
            </a:r>
            <a:r>
              <a:rPr lang="en-US" dirty="0"/>
              <a:t> algorithms.</a:t>
            </a:r>
          </a:p>
          <a:p>
            <a:r>
              <a:rPr lang="en-US" dirty="0"/>
              <a:t>Instead of sweeping the entire disk, the disk arm travels only to the highest- and lowest-numbered tracks for which access requests are pending.</a:t>
            </a:r>
          </a:p>
          <a:p>
            <a:r>
              <a:rPr lang="en-US" dirty="0"/>
              <a:t>Although the circuitry is more complex, LOOK and C-LOOK provide the best theoretical throughput, although the circuitry is the most complex.</a:t>
            </a:r>
          </a:p>
          <a:p>
            <a:endParaRPr lang="en-US" dirty="0"/>
          </a:p>
        </p:txBody>
      </p:sp>
    </p:spTree>
    <p:extLst>
      <p:ext uri="{BB962C8B-B14F-4D97-AF65-F5344CB8AC3E}">
        <p14:creationId xmlns:p14="http://schemas.microsoft.com/office/powerpoint/2010/main" val="4031119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#1</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FCFS algorithm? Assume each platter of the disk has 100 tracks numbered 0 through 99. At the time the first request arrives in the disk request queue, the read/write head is at track 50, moving toward higher-numbered tracks.</a:t>
            </a:r>
          </a:p>
          <a:p>
            <a:r>
              <a:rPr lang="en-US" dirty="0"/>
              <a:t>Answer: 23, 95, 44, 42, 76, 71, 55</a:t>
            </a:r>
          </a:p>
          <a:p>
            <a:endParaRPr lang="en-US" dirty="0"/>
          </a:p>
        </p:txBody>
      </p:sp>
    </p:spTree>
    <p:extLst>
      <p:ext uri="{BB962C8B-B14F-4D97-AF65-F5344CB8AC3E}">
        <p14:creationId xmlns:p14="http://schemas.microsoft.com/office/powerpoint/2010/main" val="2518422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#2</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SSTF algorithm? Assume each platter of the disk has 100 tracks numbered 0 through 99. At the time the first request arrives in the disk request queue, the read/write head is at track 50, moving toward higher-numbered tracks.</a:t>
            </a:r>
          </a:p>
          <a:p>
            <a:r>
              <a:rPr lang="en-US" dirty="0"/>
              <a:t>Answer: 55, 44, 42, 23, 71, 76, 95</a:t>
            </a:r>
          </a:p>
          <a:p>
            <a:endParaRPr lang="en-US" dirty="0"/>
          </a:p>
        </p:txBody>
      </p:sp>
    </p:spTree>
    <p:extLst>
      <p:ext uri="{BB962C8B-B14F-4D97-AF65-F5344CB8AC3E}">
        <p14:creationId xmlns:p14="http://schemas.microsoft.com/office/powerpoint/2010/main" val="739058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#3</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SCAN algorithm? Assume each platter of the disk has 100 tracks numbered 0 through 99. At the time the first request arrives in the disk request queue, the read/write head is at track 50, moving toward higher-numbered tracks. Indicate when the head arrives at track 0 and/or track 99.</a:t>
            </a:r>
          </a:p>
          <a:p>
            <a:r>
              <a:rPr lang="en-US" dirty="0"/>
              <a:t>Answer: 55, 71, 76, 95, (99), 44, 42, 23</a:t>
            </a:r>
          </a:p>
          <a:p>
            <a:endParaRPr lang="en-US" dirty="0"/>
          </a:p>
        </p:txBody>
      </p:sp>
    </p:spTree>
    <p:extLst>
      <p:ext uri="{BB962C8B-B14F-4D97-AF65-F5344CB8AC3E}">
        <p14:creationId xmlns:p14="http://schemas.microsoft.com/office/powerpoint/2010/main" val="2120495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#4</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C-SCAN algorithm? Assume each platter of the disk has 100 tracks numbered 0 through 99. At the time the first request arrives in the disk request queue, the read/write head is at track 50, moving toward higher-numbered tracks. Indicate when the head arrives at track 0 and/or track 99.</a:t>
            </a:r>
          </a:p>
          <a:p>
            <a:r>
              <a:rPr lang="en-US" dirty="0"/>
              <a:t>Answer: 55, 71, 76, 95, (99), (0), 23, 42, 44</a:t>
            </a:r>
          </a:p>
          <a:p>
            <a:endParaRPr lang="en-US" dirty="0"/>
          </a:p>
        </p:txBody>
      </p:sp>
    </p:spTree>
    <p:extLst>
      <p:ext uri="{BB962C8B-B14F-4D97-AF65-F5344CB8AC3E}">
        <p14:creationId xmlns:p14="http://schemas.microsoft.com/office/powerpoint/2010/main" val="14837909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#5</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LOOK algorithm? Assume each platter of the disk has 100 tracks numbered 0 through 99. At the time the first request arrives in the disk request queue, the read/write head is at track 50, moving toward higher-numbered tracks.</a:t>
            </a:r>
          </a:p>
          <a:p>
            <a:r>
              <a:rPr lang="en-US" dirty="0"/>
              <a:t>Answer: 55, 71, 76, 95, 44, 42, 23</a:t>
            </a:r>
          </a:p>
          <a:p>
            <a:endParaRPr lang="en-US" dirty="0"/>
          </a:p>
        </p:txBody>
      </p:sp>
    </p:spTree>
    <p:extLst>
      <p:ext uri="{BB962C8B-B14F-4D97-AF65-F5344CB8AC3E}">
        <p14:creationId xmlns:p14="http://schemas.microsoft.com/office/powerpoint/2010/main" val="20632392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#6</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C-LOOK algorithm? Assume each platter of the disk has 100 tracks numbered 0 through 99. At the time the first request arrives in the disk request queue, the read/write head is at track 50, moving toward higher-numbered tracks.</a:t>
            </a:r>
          </a:p>
          <a:p>
            <a:r>
              <a:rPr lang="en-US" dirty="0"/>
              <a:t>Answer: 55, 71, 76, 95, 23, 42, 44</a:t>
            </a:r>
          </a:p>
          <a:p>
            <a:endParaRPr lang="en-US" dirty="0"/>
          </a:p>
        </p:txBody>
      </p:sp>
    </p:spTree>
    <p:extLst>
      <p:ext uri="{BB962C8B-B14F-4D97-AF65-F5344CB8AC3E}">
        <p14:creationId xmlns:p14="http://schemas.microsoft.com/office/powerpoint/2010/main" val="3846865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Optimizing 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At high utilization rates, SSTF performs slightly better than SCAN or LOOK. But the risk of starvation persists.  </a:t>
            </a:r>
          </a:p>
          <a:p>
            <a:r>
              <a:rPr lang="en-US" dirty="0"/>
              <a:t>Under very low utilization (under 20%), the performance of any of these algorithms will be acceptable.</a:t>
            </a:r>
          </a:p>
          <a:p>
            <a:r>
              <a:rPr lang="en-US" dirty="0"/>
              <a:t>No matter which scheduling algorithm is used, file placement greatly influences performance.</a:t>
            </a:r>
          </a:p>
          <a:p>
            <a:r>
              <a:rPr lang="en-US" dirty="0"/>
              <a:t>When possible, the most frequently-used files should reside in the center tracks of the disk (to reduce average access time), and the disk should be periodically </a:t>
            </a:r>
            <a:r>
              <a:rPr lang="en-US" b="1" dirty="0"/>
              <a:t>defragmented</a:t>
            </a:r>
            <a:r>
              <a:rPr lang="en-US" dirty="0"/>
              <a:t>.</a:t>
            </a:r>
          </a:p>
          <a:p>
            <a:endParaRPr lang="en-US" dirty="0"/>
          </a:p>
        </p:txBody>
      </p:sp>
    </p:spTree>
    <p:extLst>
      <p:ext uri="{BB962C8B-B14F-4D97-AF65-F5344CB8AC3E}">
        <p14:creationId xmlns:p14="http://schemas.microsoft.com/office/powerpoint/2010/main" val="317451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Optimizing 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best way to reduce disk arm motion is to avoid using the disk as much as possible.  </a:t>
            </a:r>
          </a:p>
          <a:p>
            <a:r>
              <a:rPr lang="en-US" dirty="0"/>
              <a:t>To this end, many disk drives, or disk drive controllers, are provided with cache memory or a number of main memory pages set aside for the exclusive use of the I/O subsystem.  </a:t>
            </a:r>
          </a:p>
          <a:p>
            <a:r>
              <a:rPr lang="en-US" dirty="0"/>
              <a:t>Disk cache memory is usually associative.  </a:t>
            </a:r>
          </a:p>
          <a:p>
            <a:pPr lvl="1"/>
            <a:r>
              <a:rPr lang="en-US" dirty="0"/>
              <a:t>Because associative cache searches are time-consuming, performance can actually be better with smaller disk caches because hit rates are usually low.</a:t>
            </a:r>
          </a:p>
          <a:p>
            <a:endParaRPr lang="en-US" dirty="0"/>
          </a:p>
        </p:txBody>
      </p:sp>
    </p:spTree>
    <p:extLst>
      <p:ext uri="{BB962C8B-B14F-4D97-AF65-F5344CB8AC3E}">
        <p14:creationId xmlns:p14="http://schemas.microsoft.com/office/powerpoint/2010/main" val="4051393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Optimizing 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Many disk drive-based caches use </a:t>
            </a:r>
            <a:r>
              <a:rPr lang="en-US" b="1" dirty="0"/>
              <a:t>prefetching</a:t>
            </a:r>
            <a:r>
              <a:rPr lang="en-US" dirty="0"/>
              <a:t> to reduce disk accesses.  </a:t>
            </a:r>
          </a:p>
          <a:p>
            <a:r>
              <a:rPr lang="en-US" dirty="0"/>
              <a:t>When using prefetching, a disk will read a number of sectors subsequent to the one requested with the expectation that one or more of the subsequent sectors will be needed “soon.”</a:t>
            </a:r>
          </a:p>
          <a:p>
            <a:r>
              <a:rPr lang="en-US" dirty="0"/>
              <a:t>Empirical studies have shown that over 50% of disk accesses are sequential in nature, and that prefetching increases performance by 40%, on average.</a:t>
            </a:r>
          </a:p>
          <a:p>
            <a:pPr>
              <a:spcBef>
                <a:spcPts val="600"/>
              </a:spcBef>
            </a:pPr>
            <a:r>
              <a:rPr lang="en-US" altLang="en-US" dirty="0">
                <a:cs typeface="Arial" charset="0"/>
              </a:rPr>
              <a:t>Prefetching is subject to </a:t>
            </a:r>
            <a:r>
              <a:rPr lang="en-US" altLang="en-US" b="1" dirty="0">
                <a:cs typeface="Arial" charset="0"/>
              </a:rPr>
              <a:t>cache pollution</a:t>
            </a:r>
            <a:r>
              <a:rPr lang="en-US" altLang="en-US" dirty="0">
                <a:cs typeface="Arial" charset="0"/>
              </a:rPr>
              <a:t>, which occurs when the cache is filled with data that no process needs, leaving less room for useful data.</a:t>
            </a:r>
          </a:p>
          <a:p>
            <a:pPr>
              <a:spcBef>
                <a:spcPts val="600"/>
              </a:spcBef>
            </a:pPr>
            <a:r>
              <a:rPr lang="en-US" altLang="en-US" dirty="0">
                <a:cs typeface="Arial" charset="0"/>
              </a:rPr>
              <a:t>Additionally, because disk caches serve as a staging area for data to be written to the disk, some disk cache management schemes evict all bytes after they have been written to the disk.</a:t>
            </a:r>
          </a:p>
          <a:p>
            <a:endParaRPr lang="en-US" dirty="0"/>
          </a:p>
        </p:txBody>
      </p:sp>
    </p:spTree>
    <p:extLst>
      <p:ext uri="{BB962C8B-B14F-4D97-AF65-F5344CB8AC3E}">
        <p14:creationId xmlns:p14="http://schemas.microsoft.com/office/powerpoint/2010/main" val="18522463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Optimizing 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20000"/>
          </a:bodyPr>
          <a:lstStyle/>
          <a:p>
            <a:r>
              <a:rPr lang="en-US" dirty="0"/>
              <a:t>With cached disk writes, we are faced with the problem that cache is volatile memory: in the event of a massive system failure, data in the cache will be lost.  </a:t>
            </a:r>
          </a:p>
          <a:p>
            <a:r>
              <a:rPr lang="en-US" dirty="0"/>
              <a:t>An application believes that the data has been committed to the disk, when it really is in the cache. If the cache fails, the data just disappears.</a:t>
            </a:r>
          </a:p>
          <a:p>
            <a:r>
              <a:rPr lang="en-US" dirty="0"/>
              <a:t>To defend against power loss to the cache, some disk controller-based caches are supplied with a battery backup.</a:t>
            </a:r>
          </a:p>
          <a:p>
            <a:r>
              <a:rPr lang="en-US" dirty="0"/>
              <a:t>Another approach to combating cache failure is to employ a write-through cache where a copy of the data is retained in the cache in case it is needed again “soon,” but it is simultaneously written to the disk. </a:t>
            </a:r>
          </a:p>
          <a:p>
            <a:r>
              <a:rPr lang="en-US" dirty="0"/>
              <a:t>The operating system is signaled that the I/O is complete only after the data has actually been placed on the disk.</a:t>
            </a:r>
          </a:p>
          <a:p>
            <a:r>
              <a:rPr lang="en-US" dirty="0"/>
              <a:t>With a write-through cache, performance is somewhat compromised to provide reliability.</a:t>
            </a:r>
          </a:p>
          <a:p>
            <a:endParaRPr lang="en-US" dirty="0"/>
          </a:p>
        </p:txBody>
      </p:sp>
    </p:spTree>
    <p:extLst>
      <p:ext uri="{BB962C8B-B14F-4D97-AF65-F5344CB8AC3E}">
        <p14:creationId xmlns:p14="http://schemas.microsoft.com/office/powerpoint/2010/main" val="17672757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Optimizing 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10000"/>
          </a:bodyPr>
          <a:lstStyle/>
          <a:p>
            <a:r>
              <a:rPr lang="en-US" dirty="0"/>
              <a:t>When throughput is more important than reliability, a system may employ the write-back cache policy.  </a:t>
            </a:r>
          </a:p>
          <a:p>
            <a:r>
              <a:rPr lang="en-US" dirty="0"/>
              <a:t>Some disk drives employ </a:t>
            </a:r>
            <a:r>
              <a:rPr lang="en-US" b="1" dirty="0"/>
              <a:t>opportunistic</a:t>
            </a:r>
            <a:r>
              <a:rPr lang="en-US" dirty="0"/>
              <a:t> writes.</a:t>
            </a:r>
          </a:p>
          <a:p>
            <a:r>
              <a:rPr lang="en-US" dirty="0"/>
              <a:t>With this approach, dirty blocks wait in the cache until the arrival of a read request for the same cylinder. </a:t>
            </a:r>
          </a:p>
          <a:p>
            <a:r>
              <a:rPr lang="en-US" dirty="0"/>
              <a:t>The write operation is then “piggybacked” onto the read operation.</a:t>
            </a:r>
          </a:p>
          <a:p>
            <a:r>
              <a:rPr lang="en-US" dirty="0"/>
              <a:t>Opportunistic writes reduce the performance on reads, but improve it for writes.  </a:t>
            </a:r>
          </a:p>
          <a:p>
            <a:r>
              <a:rPr lang="en-US" dirty="0"/>
              <a:t>In conclusion, the tradeoffs involved in optimizing disk performance can present difficult choices, but the first goal is to assure data reliability and consistency.  </a:t>
            </a:r>
          </a:p>
          <a:p>
            <a:r>
              <a:rPr lang="en-US" dirty="0"/>
              <a:t>No matter what its price, upgrading a disk subsystem is almost always cheaper than replacing lost data.</a:t>
            </a:r>
          </a:p>
          <a:p>
            <a:endParaRPr lang="en-US" dirty="0"/>
          </a:p>
        </p:txBody>
      </p:sp>
    </p:spTree>
    <p:extLst>
      <p:ext uri="{BB962C8B-B14F-4D97-AF65-F5344CB8AC3E}">
        <p14:creationId xmlns:p14="http://schemas.microsoft.com/office/powerpoint/2010/main" val="3072139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4" ma:contentTypeDescription="Create a new document." ma:contentTypeScope="" ma:versionID="b755ac89c73d1625610c43508c66eda4">
  <xsd:schema xmlns:xsd="http://www.w3.org/2001/XMLSchema" xmlns:xs="http://www.w3.org/2001/XMLSchema" xmlns:p="http://schemas.microsoft.com/office/2006/metadata/properties" xmlns:ns2="1a22e323-47b0-4d47-8cfa-1000afc68f2b" targetNamespace="http://schemas.microsoft.com/office/2006/metadata/properties" ma:root="true" ma:fieldsID="58f068782b86ca64c32db991266d7ab4"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BCCB6F-D859-4A05-8E35-3486B51032EE}"/>
</file>

<file path=customXml/itemProps2.xml><?xml version="1.0" encoding="utf-8"?>
<ds:datastoreItem xmlns:ds="http://schemas.openxmlformats.org/officeDocument/2006/customXml" ds:itemID="{C12D6425-F196-4343-8D48-82B1715D2D4A}"/>
</file>

<file path=customXml/itemProps3.xml><?xml version="1.0" encoding="utf-8"?>
<ds:datastoreItem xmlns:ds="http://schemas.openxmlformats.org/officeDocument/2006/customXml" ds:itemID="{1ABEE992-2A53-4B94-AC5F-108D474B7812}"/>
</file>

<file path=docProps/app.xml><?xml version="1.0" encoding="utf-8"?>
<Properties xmlns="http://schemas.openxmlformats.org/officeDocument/2006/extended-properties" xmlns:vt="http://schemas.openxmlformats.org/officeDocument/2006/docPropsVTypes">
  <TotalTime>3298</TotalTime>
  <Words>5168</Words>
  <Application>Microsoft Office PowerPoint</Application>
  <PresentationFormat>Widescreen</PresentationFormat>
  <Paragraphs>297</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Cambria Math</vt:lpstr>
      <vt:lpstr>Office Theme</vt:lpstr>
      <vt:lpstr>ISE 218: Fundamentals of Information Technology Unit 9: Performance Measurement and Analysis </vt:lpstr>
      <vt:lpstr>Introduction</vt:lpstr>
      <vt:lpstr>The Basic Computer Performance Equation</vt:lpstr>
      <vt:lpstr>Improving System Performance</vt:lpstr>
      <vt:lpstr>The Basic Computer Performance Equation</vt:lpstr>
      <vt:lpstr>Measures of System Performance</vt:lpstr>
      <vt:lpstr>Measures of System Performance</vt:lpstr>
      <vt:lpstr>Measures of System Performance: Example #1</vt:lpstr>
      <vt:lpstr>Measures of System Performance: Example #2</vt:lpstr>
      <vt:lpstr>Measures of System Performance</vt:lpstr>
      <vt:lpstr>Measures of System Performance: Example #3</vt:lpstr>
      <vt:lpstr>Measures of System Performance: Example #3</vt:lpstr>
      <vt:lpstr>Measures of System Performance: Example #3</vt:lpstr>
      <vt:lpstr>Measures of System Performance</vt:lpstr>
      <vt:lpstr>Measures of System Performance</vt:lpstr>
      <vt:lpstr>Benchmarking</vt:lpstr>
      <vt:lpstr>Benchmarking</vt:lpstr>
      <vt:lpstr>Benchmarking</vt:lpstr>
      <vt:lpstr>CPU Performance: Example</vt:lpstr>
      <vt:lpstr>CPU Performance: Example</vt:lpstr>
      <vt:lpstr>CPU Performance: Example</vt:lpstr>
      <vt:lpstr>Benchmarking</vt:lpstr>
      <vt:lpstr>Benchmarking: SPEC CPU2017</vt:lpstr>
      <vt:lpstr>Benchmarking: SPEC CPU2017</vt:lpstr>
      <vt:lpstr>Benchmarking: SPEC CPU2017</vt:lpstr>
      <vt:lpstr>Benchmarking: TPC-C</vt:lpstr>
      <vt:lpstr>Benchmarking: TPC</vt:lpstr>
      <vt:lpstr>Benchmarking</vt:lpstr>
      <vt:lpstr>Benchmarking</vt:lpstr>
      <vt:lpstr>Disk Performance</vt:lpstr>
      <vt:lpstr>Disk Performance</vt:lpstr>
      <vt:lpstr>Disk Performance: Example #1</vt:lpstr>
      <vt:lpstr>Disk Performance</vt:lpstr>
      <vt:lpstr>Disk Performance</vt:lpstr>
      <vt:lpstr>Disk Performance: Example #2</vt:lpstr>
      <vt:lpstr>Disk Performance</vt:lpstr>
      <vt:lpstr>Disk Scheduling: FCFS</vt:lpstr>
      <vt:lpstr>Disk Scheduling: SSTF</vt:lpstr>
      <vt:lpstr>Disk Scheduling: SSTF</vt:lpstr>
      <vt:lpstr>Disk Scheduling: SCAN</vt:lpstr>
      <vt:lpstr>Disk Scheduling: C-SCAN</vt:lpstr>
      <vt:lpstr>Disk Scheduling: C-SCAN</vt:lpstr>
      <vt:lpstr>Disk Scheduling: LOOK</vt:lpstr>
      <vt:lpstr>Disk Scheduling: Example #1</vt:lpstr>
      <vt:lpstr>Disk Scheduling: Example #2</vt:lpstr>
      <vt:lpstr>Disk Scheduling: Example #3</vt:lpstr>
      <vt:lpstr>Disk Scheduling: Example #4</vt:lpstr>
      <vt:lpstr>Disk Scheduling: Example #5</vt:lpstr>
      <vt:lpstr>Disk Scheduling: Example #6</vt:lpstr>
      <vt:lpstr>Optimizing Disk Performance</vt:lpstr>
      <vt:lpstr>Optimizing Disk Performance</vt:lpstr>
      <vt:lpstr>Optimizing Disk Performance</vt:lpstr>
      <vt:lpstr>Optimizing Disk Performance</vt:lpstr>
      <vt:lpstr>Optimizing Disk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XINRUI YU</cp:lastModifiedBy>
  <cp:revision>11</cp:revision>
  <dcterms:created xsi:type="dcterms:W3CDTF">2019-11-26T03:57:33Z</dcterms:created>
  <dcterms:modified xsi:type="dcterms:W3CDTF">2025-06-05T04:43:42Z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