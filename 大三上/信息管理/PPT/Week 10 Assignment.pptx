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Masters/slideMaster1.xml" ContentType="application/vnd.openxmlformats-officedocument.presentationml.slideMaster+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0.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29.xml" ContentType="application/vnd.openxmlformats-officedocument.presentationml.notesSlide+xml"/>
  <Override PartName="/ppt/notesSlides/notesSlide44.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705" r:id="rId2"/>
    <p:sldId id="257" r:id="rId3"/>
    <p:sldId id="380" r:id="rId4"/>
    <p:sldId id="683" r:id="rId5"/>
    <p:sldId id="684" r:id="rId6"/>
    <p:sldId id="686" r:id="rId7"/>
    <p:sldId id="519" r:id="rId8"/>
    <p:sldId id="562" r:id="rId9"/>
    <p:sldId id="520" r:id="rId10"/>
    <p:sldId id="553" r:id="rId11"/>
    <p:sldId id="522" r:id="rId12"/>
    <p:sldId id="523" r:id="rId13"/>
    <p:sldId id="524" r:id="rId14"/>
    <p:sldId id="554" r:id="rId15"/>
    <p:sldId id="687" r:id="rId16"/>
    <p:sldId id="526" r:id="rId17"/>
    <p:sldId id="688" r:id="rId18"/>
    <p:sldId id="552" r:id="rId19"/>
    <p:sldId id="528" r:id="rId20"/>
    <p:sldId id="530" r:id="rId21"/>
    <p:sldId id="689" r:id="rId22"/>
    <p:sldId id="690" r:id="rId23"/>
    <p:sldId id="691" r:id="rId24"/>
    <p:sldId id="692" r:id="rId25"/>
    <p:sldId id="693" r:id="rId26"/>
    <p:sldId id="694" r:id="rId27"/>
    <p:sldId id="695" r:id="rId28"/>
    <p:sldId id="696" r:id="rId29"/>
    <p:sldId id="697" r:id="rId30"/>
    <p:sldId id="698" r:id="rId31"/>
    <p:sldId id="699" r:id="rId32"/>
    <p:sldId id="706" r:id="rId33"/>
    <p:sldId id="563" r:id="rId34"/>
    <p:sldId id="564" r:id="rId35"/>
    <p:sldId id="555" r:id="rId36"/>
    <p:sldId id="533" r:id="rId37"/>
    <p:sldId id="556" r:id="rId38"/>
    <p:sldId id="535" r:id="rId39"/>
    <p:sldId id="536" r:id="rId40"/>
    <p:sldId id="538" r:id="rId41"/>
    <p:sldId id="539" r:id="rId42"/>
    <p:sldId id="557" r:id="rId43"/>
    <p:sldId id="541" r:id="rId44"/>
    <p:sldId id="544" r:id="rId45"/>
    <p:sldId id="560" r:id="rId46"/>
    <p:sldId id="546" r:id="rId47"/>
    <p:sldId id="547" r:id="rId48"/>
    <p:sldId id="565" r:id="rId49"/>
    <p:sldId id="548" r:id="rId50"/>
    <p:sldId id="561" r:id="rId51"/>
    <p:sldId id="627" r:id="rId52"/>
    <p:sldId id="612" r:id="rId53"/>
    <p:sldId id="702" r:id="rId54"/>
    <p:sldId id="703" r:id="rId55"/>
    <p:sldId id="704" r:id="rId56"/>
    <p:sldId id="537" r:id="rId57"/>
  </p:sldIdLst>
  <p:sldSz cx="9144000" cy="5143500" type="screen16x9"/>
  <p:notesSz cx="6858000" cy="9144000"/>
  <p:custDataLst>
    <p:tags r:id="rId6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252"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guide id="12" orient="horz" pos="3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498" autoAdjust="0"/>
    <p:restoredTop sz="68151" autoAdjust="0"/>
  </p:normalViewPr>
  <p:slideViewPr>
    <p:cSldViewPr>
      <p:cViewPr varScale="1">
        <p:scale>
          <a:sx n="135" d="100"/>
          <a:sy n="135" d="100"/>
        </p:scale>
        <p:origin x="522" y="336"/>
      </p:cViewPr>
      <p:guideLst>
        <p:guide orient="horz" pos="1620"/>
        <p:guide pos="2880"/>
        <p:guide orient="horz" pos="252"/>
        <p:guide orient="horz" pos="432"/>
        <p:guide orient="horz" pos="3024"/>
        <p:guide orient="horz" pos="792"/>
        <p:guide pos="288"/>
        <p:guide pos="5472"/>
        <p:guide orient="horz" pos="648"/>
        <p:guide orient="horz" pos="900"/>
        <p:guide orient="horz" pos="1152"/>
        <p:guide orient="horz" pos="307"/>
      </p:guideLst>
    </p:cSldViewPr>
  </p:slideViewPr>
  <p:outlineViewPr>
    <p:cViewPr>
      <p:scale>
        <a:sx n="33" d="100"/>
        <a:sy n="33" d="100"/>
      </p:scale>
      <p:origin x="0" y="5766"/>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1/4/2026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1/4/2026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26540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latin typeface="+mn-lt"/>
              </a:rPr>
              <a:t>Students are participants in e-commerce and they love to talk about their experiences. You can start the conversation by asking if any in the class purchased something today or yesterday online. Draw students out to talk about their good and bad e-commerce experiences. How many have used their cell phones to search for products, or purchase products?</a:t>
            </a:r>
            <a:endParaRPr lang="en-US" altLang="en-US" sz="1200" dirty="0">
              <a:solidFill>
                <a:schemeClr val="tx1">
                  <a:lumMod val="75000"/>
                  <a:lumOff val="25000"/>
                </a:schemeClr>
              </a:solidFill>
              <a:latin typeface="+mn-lt"/>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890488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discusses what e-commerce is, and what the state of e-commerce is today. E-commerce history mirrors that of other technology innovations. What other innovations is e-commerce similar to? Students probably will not know about the early days of radio and TV, but perhaps they will remember their parents’ cassette music, VHS video tapes, and even CDs and DVDs, which, though still with us, have</a:t>
            </a:r>
            <a:r>
              <a:rPr lang="en-US" altLang="en-US" baseline="0" dirty="0">
                <a:latin typeface="+mn-lt"/>
              </a:rPr>
              <a:t> markedly declined in sales</a:t>
            </a:r>
            <a:r>
              <a:rPr lang="en-US" altLang="en-US" dirty="0">
                <a:latin typeface="+mn-lt"/>
              </a:rPr>
              <a:t>. The book discusses new trends in e-commerce. Ask the students to work with you to list some of these new trends in e-commerce</a:t>
            </a:r>
            <a:r>
              <a:rPr lang="en-US" altLang="en-US" dirty="0">
                <a:latin typeface="Times New Roman" panose="02020603050405020304" pitchFamily="18" charset="0"/>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10.1,</a:t>
            </a:r>
            <a:r>
              <a:rPr lang="en-US" altLang="en-US" sz="1200" baseline="0" dirty="0">
                <a:latin typeface="+mn-lt"/>
              </a:rPr>
              <a:t> Page 374.</a:t>
            </a:r>
          </a:p>
          <a:p>
            <a:r>
              <a:rPr lang="en-US" sz="1200" b="0" i="1" u="none" strike="noStrike" kern="1200" cap="none" baseline="0" dirty="0">
                <a:solidFill>
                  <a:schemeClr val="tx1"/>
                </a:solidFill>
                <a:latin typeface="+mn-lt"/>
                <a:ea typeface="Arial"/>
                <a:cs typeface="Arial"/>
                <a:sym typeface="Arial"/>
              </a:rPr>
              <a:t>B2C e-commerce revenues grew 15–25 percent per year until the recession of 2008–2009, when they slowed measurably. In 2020, e-commerce revenues are expected to grow at an estimated 13 percent annually.</a:t>
            </a:r>
          </a:p>
          <a:p>
            <a:r>
              <a:rPr lang="en-US" sz="1200" b="0" i="0" u="none" strike="noStrike" kern="1200" cap="none" baseline="0" dirty="0">
                <a:solidFill>
                  <a:schemeClr val="dk1"/>
                </a:solidFill>
                <a:latin typeface="+mn-lt"/>
                <a:ea typeface="Arial"/>
                <a:cs typeface="Arial"/>
                <a:sym typeface="Arial"/>
              </a:rPr>
              <a:t>Sources: Based on data from eMarketer, “US Retail Ecommerce Sales,” 2020; eMarketer, “US Digital Travel Sales, 2018–2022,” 2020; authors’ estimates.</a:t>
            </a:r>
            <a:endParaRPr lang="en-US" sz="1200" b="0" i="1" u="none" strike="noStrike" kern="1200" cap="none" baseline="0" dirty="0">
              <a:solidFill>
                <a:schemeClr val="tx1"/>
              </a:solidFill>
              <a:latin typeface="+mn-lt"/>
              <a:ea typeface="Arial"/>
              <a:cs typeface="Arial"/>
              <a:sym typeface="Arial"/>
            </a:endParaRPr>
          </a:p>
          <a:p>
            <a:endParaRPr lang="en-US" altLang="en-US" sz="1200" baseline="0" dirty="0">
              <a:latin typeface="+mn-lt"/>
            </a:endParaRPr>
          </a:p>
          <a:p>
            <a:r>
              <a:rPr lang="en-US" altLang="en-US" sz="1200" dirty="0">
                <a:latin typeface="+mn-lt"/>
              </a:rPr>
              <a:t>This graphic illustrates the continuing growth of e-commerce. The growth of e-commerce revenues grew 15 percent to 25 percent a year until the recession of 2008–2009, when they slowed measurably to a small positive number around 3 percent in 2009. This was much better than traditional retail commerce, which actually shrank in this recession. E-commerce began growing again after 2009 at more than 10 percent, several times the growth of all retail sales. </a:t>
            </a:r>
            <a:r>
              <a:rPr lang="en-US" sz="1200" dirty="0">
                <a:solidFill>
                  <a:srgbClr val="000000"/>
                </a:solidFill>
                <a:latin typeface="+mn-lt"/>
              </a:rPr>
              <a:t>Although the Covid-19 pandemic in 2020 has significantly decreased digital travel sales, it has resulted in a significant increase in retail e-commerce revenues, as consumers shift to online purchasing, a trend that is likely to continue even once the pandemic has passed.</a:t>
            </a:r>
            <a:endParaRPr lang="en-US" sz="12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mn-lt"/>
            </a:endParaRPr>
          </a:p>
          <a:p>
            <a:pPr marL="0" marR="0">
              <a:lnSpc>
                <a:spcPct val="115000"/>
              </a:lnSpc>
              <a:spcBef>
                <a:spcPts val="0"/>
              </a:spcBef>
              <a:spcAft>
                <a:spcPts val="0"/>
              </a:spcAft>
            </a:pPr>
            <a:r>
              <a:rPr lang="en-US" u="sng" dirty="0"/>
              <a:t>Alt Text</a:t>
            </a:r>
            <a:endParaRPr lang="en-US" sz="1200" u="sng" dirty="0">
              <a:latin typeface="+mn-lt"/>
            </a:endParaRPr>
          </a:p>
          <a:p>
            <a:pPr marL="0" marR="0">
              <a:lnSpc>
                <a:spcPct val="115000"/>
              </a:lnSpc>
              <a:spcBef>
                <a:spcPts val="0"/>
              </a:spcBef>
              <a:spcAft>
                <a:spcPts val="0"/>
              </a:spcAft>
            </a:pPr>
            <a:r>
              <a:rPr lang="en-US" sz="1200" dirty="0">
                <a:latin typeface="+mn-lt"/>
              </a:rPr>
              <a:t>Long description: </a:t>
            </a:r>
            <a:r>
              <a:rPr lang="en-US" altLang="en-US" sz="1200" dirty="0">
                <a:latin typeface="+mn-lt"/>
              </a:rPr>
              <a:t>A line graph explains how e-commerce revenues have grown over the years. </a:t>
            </a:r>
            <a:r>
              <a:rPr lang="en-US" sz="1200" dirty="0">
                <a:solidFill>
                  <a:srgbClr val="000000"/>
                </a:solidFill>
                <a:effectLst/>
                <a:latin typeface="+mn-lt"/>
                <a:ea typeface="Times New Roman" panose="02020603050405020304" pitchFamily="18" charset="0"/>
                <a:cs typeface="Calibri" panose="020F0502020204030204" pitchFamily="34" charset="0"/>
              </a:rPr>
              <a:t>The horizontal axis represents the years and ranges from 1995 to 2022, in increments of 1. The vertical axis represents the B2C revenues in billion Us dollars and ranges from 0 to 1600, in increments of 200.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revenue from 1995 to the early 2000s is below 100 billion dollars. It gradually rises over the years and by the year 2010 the revenue triples to 400 billion dollars. From 2010 to 2020 the revenue increases drastically and reaches almost 1300 billion dollars. </a:t>
            </a:r>
            <a:r>
              <a:rPr lang="en-US" sz="1200" dirty="0">
                <a:solidFill>
                  <a:srgbClr val="000000"/>
                </a:solidFill>
                <a:effectLst/>
                <a:latin typeface="+mn-lt"/>
                <a:ea typeface="Times New Roman" panose="02020603050405020304" pitchFamily="18" charset="0"/>
              </a:rPr>
              <a:t>The projected revenue for the next two years 2021 and 2022 shows the revenue surging to 1400 billion dollars.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227578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slide introduces the unique features of the Internet. These features explain why e-commerce has grown so quickly—because of the unique nature of the Internet and e-commerce, which are richer and more powerful than previous technology revolutions such as radio and TV.</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Ask students to provide real-life examples of these effects, for example: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Ubiquity—being able to surf the web on your mobile device while riding a bus or train.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Global reach—being able to buy products from another country.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Universal standards—being able to exchange files with someone else.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Richness—YouTube.</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Ask students to provide real-life examples of these effects, for example: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Interactivity—using a chat window to interact with technical support at a merchant</a:t>
            </a:r>
            <a:r>
              <a:rPr lang="en-US" altLang="ja-JP" dirty="0">
                <a:latin typeface="+mn-lt"/>
              </a:rPr>
              <a:t>’s website.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Information density—being able to find hundreds of prices for the same product online from different merchants.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Personalization—website that adjusts to your preferences, such as Amazon.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Social technology—uploading videos to YouTube.</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introduces digital markets and discusses the effects of digital markets on the ways companies conduct business. Ask students to define the terms listed here, and also to explain how each of these effects (lowered information asymmetry, etc.) are created by digital markets. Go through each of the three types of costs involved in any marketplace. Students may not be familiar with these concepts, but they will be familiar with the phenomenon. For instance, all students will recognize that it takes time and money to go to a mall to find a shirt (this is search cost). The same shirt can be bought on the Web today with minimal search costs.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10.2,</a:t>
            </a:r>
            <a:r>
              <a:rPr lang="en-US" altLang="en-US" sz="1200" baseline="0" dirty="0">
                <a:latin typeface="+mn-lt"/>
              </a:rPr>
              <a:t> Page 381.</a:t>
            </a:r>
            <a:r>
              <a:rPr lang="en-US" sz="1200" b="0" i="0" u="none" strike="noStrike" kern="1200" cap="none" baseline="0" dirty="0">
                <a:solidFill>
                  <a:schemeClr val="tx1"/>
                </a:solidFill>
                <a:latin typeface="+mn-lt"/>
                <a:ea typeface="Arial"/>
                <a:cs typeface="Arial"/>
                <a:sym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cap="none" baseline="0" dirty="0">
                <a:solidFill>
                  <a:schemeClr val="tx1"/>
                </a:solidFill>
                <a:latin typeface="+mn-lt"/>
                <a:ea typeface="Arial"/>
                <a:cs typeface="Arial"/>
                <a:sym typeface="Arial"/>
              </a:rPr>
              <a:t>The typical distribution channel has several intermediary layers, each of which adds to the final cost of a product, such as a sweater. Removing layers lowers the final cost to the customer.</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how disintermediation reduces prices to consumers. It also allows manufacturers to earn more profit for the product by eliminating the middleperson. Are </a:t>
            </a:r>
            <a:r>
              <a:rPr lang="en-US" altLang="en-US" sz="1200" dirty="0" err="1">
                <a:latin typeface="+mn-lt"/>
              </a:rPr>
              <a:t>middlepeople</a:t>
            </a:r>
            <a:r>
              <a:rPr lang="en-US" altLang="en-US" sz="1200" dirty="0">
                <a:latin typeface="+mn-lt"/>
              </a:rPr>
              <a:t> really necessary? You should ask students who they think is a </a:t>
            </a:r>
            <a:r>
              <a:rPr lang="ja-JP" altLang="en-US" sz="1200" dirty="0">
                <a:latin typeface="+mn-lt"/>
              </a:rPr>
              <a:t>“</a:t>
            </a:r>
            <a:r>
              <a:rPr lang="en-US" altLang="ja-JP" sz="1200" dirty="0">
                <a:latin typeface="+mn-lt"/>
              </a:rPr>
              <a:t>middleperson.</a:t>
            </a:r>
            <a:r>
              <a:rPr lang="ja-JP" altLang="en-US" sz="1200" dirty="0">
                <a:latin typeface="+mn-lt"/>
              </a:rPr>
              <a:t>”</a:t>
            </a:r>
            <a:r>
              <a:rPr lang="en-US" altLang="ja-JP" sz="1200" dirty="0">
                <a:latin typeface="+mn-lt"/>
              </a:rPr>
              <a:t> Walmart is, for instance, a distributor and retailer. Do they provide an important function? Why can’t manufacturers just ignore Walmart and sell directly to the customer? Even though market disintermediation sounds like a good thing because costs and prices go down, for the most part manufacturers kept their distribution partners and channels. Walmart is still needed by manufacturers such as P&amp;G to sell soap.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lt"/>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 A series of flow diagrams illustrate the benefits of removal of intermediaries from a sample supply chain.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Flow diagram 1: Manufacturer; Distributor; Retailer; Customer; Price per sweater, $48.50.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Flow diagram 2: Manufacturer; Retailer; Customer; Price per sweater, $40.34.</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Flow diagram 3: Manufacturer to customer; Price per sweater, $20.45</a:t>
            </a:r>
            <a:r>
              <a:rPr lang="en-US" sz="1800" dirty="0">
                <a:solidFill>
                  <a:srgbClr val="000000"/>
                </a:solidFill>
                <a:effectLst/>
                <a:latin typeface="+mn-lt"/>
                <a:ea typeface="Times New Roman" panose="02020603050405020304" pitchFamily="18" charset="0"/>
              </a:rPr>
              <a: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1001990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10.2,</a:t>
            </a:r>
            <a:r>
              <a:rPr lang="en-US" altLang="en-US" sz="1200" baseline="0" dirty="0">
                <a:latin typeface="+mn-lt"/>
              </a:rPr>
              <a:t> Page 381.</a:t>
            </a:r>
            <a:r>
              <a:rPr lang="en-US" sz="1200" b="0" i="0" u="none" strike="noStrike" kern="1200" cap="none" baseline="0" dirty="0">
                <a:solidFill>
                  <a:schemeClr val="tx1"/>
                </a:solidFill>
                <a:latin typeface="+mn-lt"/>
                <a:ea typeface="Arial"/>
                <a:cs typeface="Arial"/>
                <a:sym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cap="none" baseline="0" dirty="0">
                <a:solidFill>
                  <a:schemeClr val="tx1"/>
                </a:solidFill>
                <a:latin typeface="+mn-lt"/>
                <a:ea typeface="Arial"/>
                <a:cs typeface="Arial"/>
                <a:sym typeface="Arial"/>
              </a:rPr>
              <a:t>The typical distribution channel has several intermediary layers, each of which adds to the final cost of a product, such as a sweater. Removing layers lowers the final cost to the customer.</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how disintermediation reduces prices to consumers. It also allows manufacturers to earn more profit for the product by eliminating the middleperson. Are </a:t>
            </a:r>
            <a:r>
              <a:rPr lang="en-US" altLang="en-US" sz="1200" dirty="0" err="1">
                <a:latin typeface="+mn-lt"/>
              </a:rPr>
              <a:t>middlepeople</a:t>
            </a:r>
            <a:r>
              <a:rPr lang="en-US" altLang="en-US" sz="1200" dirty="0">
                <a:latin typeface="+mn-lt"/>
              </a:rPr>
              <a:t> really necessary? You should ask students who they think is a </a:t>
            </a:r>
            <a:r>
              <a:rPr lang="ja-JP" altLang="en-US" sz="1200" dirty="0">
                <a:latin typeface="+mn-lt"/>
              </a:rPr>
              <a:t>“</a:t>
            </a:r>
            <a:r>
              <a:rPr lang="en-US" altLang="ja-JP" sz="1200" dirty="0">
                <a:latin typeface="+mn-lt"/>
              </a:rPr>
              <a:t>middleperson.</a:t>
            </a:r>
            <a:r>
              <a:rPr lang="ja-JP" altLang="en-US" sz="1200" dirty="0">
                <a:latin typeface="+mn-lt"/>
              </a:rPr>
              <a:t>”</a:t>
            </a:r>
            <a:r>
              <a:rPr lang="en-US" altLang="ja-JP" sz="1200" dirty="0">
                <a:latin typeface="+mn-lt"/>
              </a:rPr>
              <a:t> Walmart is, for instance, a distributor and retailer. Do they provide an important function? Why can’t manufacturers just ignore Walmart and sell directly to the customer? Even though market disintermediation sounds like a good thing because costs and prices go down, for the most part manufacturers kept their distribution partners and channels. Walmart is still needed by manufacturers such as P&amp;G to sell soap.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lt"/>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 A series of flow diagrams illustrate the benefits of removal of intermediaries from a sample supply chain.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Flow diagram 1: Manufacturer; Distributor; Retailer; Customer; Price per sweater, $48.50.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Flow diagram 2: Manufacturer; Retailer; Customer; Price per sweater, $40.34.</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Flow diagram 3: Manufacturer to customer; Price per sweater, $20.45</a:t>
            </a:r>
            <a:r>
              <a:rPr lang="en-US" sz="1800" dirty="0">
                <a:solidFill>
                  <a:srgbClr val="000000"/>
                </a:solidFill>
                <a:effectLst/>
                <a:latin typeface="+mn-lt"/>
                <a:ea typeface="Times New Roman" panose="02020603050405020304" pitchFamily="18" charset="0"/>
              </a:rPr>
              <a: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851857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latin typeface="+mn-lt"/>
              </a:rPr>
              <a:t>This slide continues the discussion of key concepts in e-commerce, looking at digital goods and how these compare with traditional goods.</a:t>
            </a:r>
          </a:p>
          <a:p>
            <a:pPr eaLnBrk="1" hangingPunct="1"/>
            <a:endParaRPr lang="en-US" altLang="en-US" dirty="0">
              <a:latin typeface="+mn-lt"/>
            </a:endParaRPr>
          </a:p>
          <a:p>
            <a:pPr eaLnBrk="1" hangingPunct="1"/>
            <a:r>
              <a:rPr lang="en-US" altLang="en-US" dirty="0">
                <a:latin typeface="+mn-lt"/>
              </a:rPr>
              <a:t>Ask students how their purchases of digital goods have changed over the past five years. What benefits and drawbacks do they have? Music for instance used to be a physical product (record or CD) not a digital product or digital service.</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10.2,</a:t>
            </a:r>
            <a:r>
              <a:rPr lang="en-US" altLang="en-US" sz="1200" baseline="0" dirty="0">
                <a:latin typeface="+mn-lt"/>
              </a:rPr>
              <a:t> Page 381.</a:t>
            </a:r>
            <a:r>
              <a:rPr lang="en-US" sz="1200" b="0" i="0" u="none" strike="noStrike" kern="1200" cap="none" baseline="0" dirty="0">
                <a:solidFill>
                  <a:schemeClr val="tx1"/>
                </a:solidFill>
                <a:latin typeface="+mn-lt"/>
                <a:ea typeface="Arial"/>
                <a:cs typeface="Arial"/>
                <a:sym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cap="none" baseline="0" dirty="0">
                <a:solidFill>
                  <a:schemeClr val="tx1"/>
                </a:solidFill>
                <a:latin typeface="+mn-lt"/>
                <a:ea typeface="Arial"/>
                <a:cs typeface="Arial"/>
                <a:sym typeface="Arial"/>
              </a:rPr>
              <a:t>The typical distribution channel has several intermediary layers, each of which adds to the final cost of a product, such as a sweater. Removing layers lowers the final cost to the customer.</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how disintermediation reduces prices to consumers. It also allows manufacturers to earn more profit for the product by eliminating the middleperson. Are </a:t>
            </a:r>
            <a:r>
              <a:rPr lang="en-US" altLang="en-US" sz="1200" dirty="0" err="1">
                <a:latin typeface="+mn-lt"/>
              </a:rPr>
              <a:t>middlepeople</a:t>
            </a:r>
            <a:r>
              <a:rPr lang="en-US" altLang="en-US" sz="1200" dirty="0">
                <a:latin typeface="+mn-lt"/>
              </a:rPr>
              <a:t> really necessary? You should ask students who they think is a </a:t>
            </a:r>
            <a:r>
              <a:rPr lang="ja-JP" altLang="en-US" sz="1200" dirty="0">
                <a:latin typeface="+mn-lt"/>
              </a:rPr>
              <a:t>“</a:t>
            </a:r>
            <a:r>
              <a:rPr lang="en-US" altLang="ja-JP" sz="1200" dirty="0">
                <a:latin typeface="+mn-lt"/>
              </a:rPr>
              <a:t>middleperson.</a:t>
            </a:r>
            <a:r>
              <a:rPr lang="ja-JP" altLang="en-US" sz="1200" dirty="0">
                <a:latin typeface="+mn-lt"/>
              </a:rPr>
              <a:t>”</a:t>
            </a:r>
            <a:r>
              <a:rPr lang="en-US" altLang="ja-JP" sz="1200" dirty="0">
                <a:latin typeface="+mn-lt"/>
              </a:rPr>
              <a:t> Walmart is, for instance, a distributor and retailer. Do they provide an important function? Why can’t manufacturers just ignore Walmart and sell directly to the customer? Even though market disintermediation sounds like a good thing because costs and prices go down, for the most part manufacturers kept their distribution partners and channels. Walmart is still needed by manufacturers such as P&amp;G to sell soap.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lt"/>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 A series of flow diagrams illustrate the benefits of removal of intermediaries from a sample supply chain.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Flow diagram 1: Manufacturer; Distributor; Retailer; Customer; Price per sweater, $48.50.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Flow diagram 2: Manufacturer; Retailer; Customer; Price per sweater, $40.34.</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Flow diagram 3: Manufacturer to customer; Price per sweater, $20.45</a:t>
            </a:r>
            <a:r>
              <a:rPr lang="en-US" sz="1800" dirty="0">
                <a:solidFill>
                  <a:srgbClr val="000000"/>
                </a:solidFill>
                <a:effectLst/>
                <a:latin typeface="+mn-lt"/>
                <a:ea typeface="Times New Roman" panose="02020603050405020304" pitchFamily="18" charset="0"/>
              </a:rPr>
              <a: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897419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introduces the types of e-commerce. B2C, B2B, and C2C e-commerce are categorized according to the nature of the participants. M-commerce is a category based on the nature of the connection to the Internet. Ask students to provide examples of the different types of e-commerce listed here. Most students will find it hard to come up with a B2B example. One place you can visit on the Web is grainger.com, one of the largest B2B marketplaces in the United States. Another is mcmaster.com.</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slide discusses new business models that are enabled by the Internet and e-commerce. Although many of the business models are pure-play, some, especially in the retail industry, are clicks-and-mortar. Ask students to give examples of these business models. For each model, ask students about their experience, or ask for examples for each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Some of the business models take advantage of the Internet</a:t>
            </a:r>
            <a:r>
              <a:rPr lang="en-US" altLang="ja-JP" dirty="0">
                <a:latin typeface="+mn-lt"/>
              </a:rPr>
              <a:t>’s communication capabilities, such as the social networking sites. Ask students what other sites take advantage of the Internet’s communication abilities.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259073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5482039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943286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111040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102317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40085633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discusses various revenue models that are used by e-commerce companies. </a:t>
            </a:r>
            <a:r>
              <a:rPr lang="en-US" altLang="en-US" dirty="0">
                <a:latin typeface="+mn-lt"/>
              </a:rPr>
              <a:t>Ask how the various business models  listed in the previous slide create revenue. For instance:</a:t>
            </a:r>
          </a:p>
          <a:p>
            <a:pPr eaLnBrk="1" hangingPunct="1"/>
            <a:r>
              <a:rPr lang="en-US" altLang="en-US" dirty="0">
                <a:latin typeface="+mn-lt"/>
              </a:rPr>
              <a:t>Content provider</a:t>
            </a:r>
            <a:r>
              <a:rPr lang="en-US" altLang="en-US" dirty="0">
                <a:latin typeface="+mn-lt"/>
                <a:cs typeface="Times New Roman" panose="02020603050405020304" pitchFamily="18" charset="0"/>
              </a:rPr>
              <a:t> r</a:t>
            </a:r>
            <a:r>
              <a:rPr lang="en-US" altLang="en-US" dirty="0">
                <a:latin typeface="+mn-lt"/>
              </a:rPr>
              <a:t>evenue: access fees, advertising</a:t>
            </a:r>
          </a:p>
          <a:p>
            <a:pPr eaLnBrk="1" hangingPunct="1"/>
            <a:r>
              <a:rPr lang="en-US" altLang="en-US" dirty="0">
                <a:latin typeface="+mn-lt"/>
              </a:rPr>
              <a:t>Portal</a:t>
            </a:r>
            <a:r>
              <a:rPr lang="en-US" altLang="en-US" dirty="0">
                <a:latin typeface="+mn-lt"/>
                <a:cs typeface="Times New Roman" panose="02020603050405020304" pitchFamily="18" charset="0"/>
              </a:rPr>
              <a:t> </a:t>
            </a:r>
            <a:r>
              <a:rPr lang="en-US" altLang="en-US" dirty="0">
                <a:latin typeface="+mn-lt"/>
              </a:rPr>
              <a:t>revenue: advertising</a:t>
            </a:r>
          </a:p>
          <a:p>
            <a:pPr eaLnBrk="1" hangingPunct="1"/>
            <a:r>
              <a:rPr lang="en-US" altLang="en-US" dirty="0">
                <a:latin typeface="+mn-lt"/>
              </a:rPr>
              <a:t>Service provider</a:t>
            </a:r>
            <a:r>
              <a:rPr lang="en-US" altLang="en-US" dirty="0">
                <a:latin typeface="+mn-lt"/>
                <a:cs typeface="Times New Roman" panose="02020603050405020304" pitchFamily="18" charset="0"/>
              </a:rPr>
              <a:t> </a:t>
            </a:r>
            <a:r>
              <a:rPr lang="en-US" altLang="en-US" dirty="0">
                <a:latin typeface="+mn-lt"/>
              </a:rPr>
              <a:t>revenue: subscription fees, advertising</a:t>
            </a:r>
          </a:p>
          <a:p>
            <a:pPr eaLnBrk="1" hangingPunct="1"/>
            <a:r>
              <a:rPr lang="en-US" altLang="en-US" dirty="0">
                <a:latin typeface="+mn-lt"/>
              </a:rPr>
              <a:t>Community provider (could be Facebook) revenue: sales of virtual goods, display ads</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2225000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51922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Search engine advertising generates the largest amount of online ad spending, followed by online video advertising, which is the fastest growing format. Ask students how they interact with online advertising. Do they watch online video ads all the way through. Do they click on display ads? Do they respond to email marketing messages?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642529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Ask students if they have experienced behavioral tracking as they surf the web. Do they notice online advertising that appears to be related to content they have previously viewed. You can also ask students about experiences, if any, with native advertising. Have they ever viewed online content that they did not realize was actually an ad?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258911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572000"/>
          </a:xfrm>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10.3,</a:t>
            </a:r>
            <a:r>
              <a:rPr lang="en-US" altLang="en-US" sz="1200" baseline="0" dirty="0">
                <a:latin typeface="+mn-lt"/>
              </a:rPr>
              <a:t> Page 392.</a:t>
            </a:r>
          </a:p>
          <a:p>
            <a:r>
              <a:rPr lang="en-US" sz="1200" b="0" i="1" u="none" strike="noStrike" kern="1200" cap="none" baseline="0" dirty="0">
                <a:solidFill>
                  <a:schemeClr val="tx1"/>
                </a:solidFill>
                <a:latin typeface="+mn-lt"/>
                <a:ea typeface="Arial"/>
                <a:cs typeface="Arial"/>
                <a:sym typeface="Arial"/>
              </a:rPr>
              <a:t>E-commerce websites and advertising platforms like Google Marketing Platform have tools to track a shopper’s every step through an online store and then across the web as shoppers move from site to site. Close examination of customer behavior at a website selling women’s clothing shows what the store might learn at each step and what actions it could take to increase sales. © Google LLC, uses with permission. Google and the Google logo are registered trademarks of Google LLC.</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how clickstream tracking works and what the store can tell about the activities of a shopper on its website. Extensive metrics exist for various types of user behavior, from the time spent on a web page to the number of products ordered and placed in a shopping cart but not purchased.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latin typeface="+mn-lt"/>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how websites have visitor tracking tools that analyze a visitor’s behavior. </a:t>
            </a:r>
            <a:r>
              <a:rPr lang="en-US" sz="1200" dirty="0">
                <a:solidFill>
                  <a:srgbClr val="000000"/>
                </a:solidFill>
                <a:effectLst/>
                <a:latin typeface="+mn-lt"/>
                <a:ea typeface="Times New Roman" panose="02020603050405020304" pitchFamily="18" charset="0"/>
              </a:rPr>
              <a:t>The details are as below: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Click 1: The shopper clicks on the home page. The store can tell that the shopper arrived from the Yahoo portal at 2:30 PM (which might help determine sta­ffing for customer service centers) and how long she lingered on the home page (which might indicate trouble navigating the site). Tracking beacons load cookies on the shopper’s browser to follow her across the web.</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Clicks 2 to 5: The shopper clicks on blouses, then clicks to view a woman’s pink blouse. The shopper clicks to select this item in a size 10 in pink and clicks to place it in her shopping cart. This information can help the store determine which sizes and colors are most popular. If the visitor moves to a different site, ads for pink blouses will appear from the same or a different vendor.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Click 6: From the shopping cart page, the shopper clicks to close the browser to leave the website without purchasing the blouse. This action could indicate the shopper changed her mind or that she had a problem with the website’s checkout and payment process. Such behavior might signal that the website was not well designed.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7871653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a:t>
            </a:r>
            <a:r>
              <a:rPr lang="en-US" altLang="en-US" sz="1200" dirty="0">
                <a:latin typeface="+mn-lt"/>
              </a:rPr>
              <a:t>ure 10.4,</a:t>
            </a:r>
            <a:r>
              <a:rPr lang="en-US" altLang="en-US" sz="1200" baseline="0" dirty="0">
                <a:latin typeface="+mn-lt"/>
              </a:rPr>
              <a:t> Page 392.</a:t>
            </a:r>
          </a:p>
          <a:p>
            <a:r>
              <a:rPr lang="en-US" sz="1200" b="0" i="1" u="none" strike="noStrike" kern="1200" cap="none" baseline="0" dirty="0">
                <a:solidFill>
                  <a:schemeClr val="tx1"/>
                </a:solidFill>
                <a:latin typeface="+mn-lt"/>
                <a:ea typeface="Arial"/>
                <a:cs typeface="Arial"/>
                <a:sym typeface="Arial"/>
              </a:rPr>
              <a:t>Firms can create unique personalized web pages that display content or ads for products or services of special interest to individual users, improving the customer experience and creating additional value.</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some of the types of personalization that clickstream tracking can make possible. Have students found suggestions made by a website useful in their experience? You can go to Amazon.com and illustrate how recommender systems work. Search for a product, and then scroll to the bottom of the page where Amazon</a:t>
            </a:r>
            <a:r>
              <a:rPr lang="en-US" altLang="ja-JP" sz="1200" dirty="0">
                <a:latin typeface="+mn-lt"/>
              </a:rPr>
              <a:t>’s recommender will tell you what other people who looked at the current page actually bought. Netflix is also an excellent site to demonstrate personalization.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lt"/>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a:t>
            </a:r>
            <a:r>
              <a:rPr lang="en-US" altLang="ja-JP" sz="1200" baseline="0" dirty="0">
                <a:latin typeface="+mn-lt"/>
              </a:rPr>
              <a:t> A flow diagram illustrates the concept of website personalization. </a:t>
            </a:r>
            <a:r>
              <a:rPr lang="en-US" sz="1200" dirty="0">
                <a:solidFill>
                  <a:srgbClr val="000000"/>
                </a:solidFill>
                <a:effectLst/>
                <a:latin typeface="+mn-lt"/>
                <a:ea typeface="Times New Roman" panose="02020603050405020304" pitchFamily="18" charset="0"/>
                <a:cs typeface="Calibri" panose="020F0502020204030204" pitchFamily="34" charset="0"/>
              </a:rPr>
              <a:t>Examples are shown for two different users: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user and the website communicate. Based on the portfolio and recent market trends, some recommendations are provided to the users: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Welcome back, Steve P. Munson. Check out these recommended titles: One Minute Manager; Leading Change; Results-Based Leadership.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Sarah, here are the items you want to bid on: Halogen reading lamp; Portable reading lamp; LED book reading lamp.</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10.5,</a:t>
            </a:r>
            <a:r>
              <a:rPr lang="en-US" altLang="en-US" sz="1200" baseline="0" dirty="0">
                <a:latin typeface="+mn-lt"/>
              </a:rPr>
              <a:t> Page 393.</a:t>
            </a:r>
          </a:p>
          <a:p>
            <a:r>
              <a:rPr lang="en-US" sz="1200" b="0" i="1" u="none" strike="noStrike" kern="1200" cap="none" baseline="0" dirty="0">
                <a:solidFill>
                  <a:schemeClr val="tx1"/>
                </a:solidFill>
                <a:latin typeface="+mn-lt"/>
                <a:ea typeface="Arial"/>
                <a:cs typeface="Arial"/>
                <a:sym typeface="Arial"/>
              </a:rPr>
              <a:t>Advertising networks and their use of tracking programs have become controversial among privacy advocates because of their ability to track individual consumers across the Internet.</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What do students think (or do they think) about how advertising networks follow them around the Internet? It</a:t>
            </a:r>
            <a:r>
              <a:rPr lang="en-US" altLang="ja-JP" sz="1200" dirty="0">
                <a:latin typeface="+mn-lt"/>
              </a:rPr>
              <a:t>’s actually quite difficult for anyone to know when they are being tracked by a network, and even more difficult to find out how the information is being used.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mn-lt"/>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network diagram illustrates how an advertising network works. </a:t>
            </a:r>
            <a:r>
              <a:rPr lang="en-US" sz="1200" dirty="0">
                <a:solidFill>
                  <a:srgbClr val="000000"/>
                </a:solidFill>
                <a:effectLst/>
                <a:latin typeface="+mn-lt"/>
                <a:ea typeface="Times New Roman" panose="02020603050405020304" pitchFamily="18" charset="0"/>
                <a:cs typeface="Calibri" panose="020F0502020204030204" pitchFamily="34" charset="0"/>
              </a:rPr>
              <a:t>The merchant site, advertising network, and the consumer are depicted in a flow in this diagram.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Merchant server connects to Google Marketing Platform ad server.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Ad server reads cookie; checks database for profile before communicating with the user profile database. The communication is both ways and is depicted by a bidirectional arrow.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server in the meantime also communicates with several network member firms as well as the consumer.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network member firms communicate with the consumer.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consumer communicates with the various network member firms. Google Marketing Platform follows consumer from site to site through use of tracking programs.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consumer and the merchant site communicate with each other. The communication is both ways and is depicted by a bidirectional arrow.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Consumer requests webpage from ad network member site and the ad server selects and serves an appropriate banner ad based on profile.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26987599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Ask students why they think social media is one of the fastest-growing methods for branding and marketing. What social networks do they frequent, and what features of social networks do they use?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Ask students if they many click routinely on ads or other sponsored content? How many have purchased something as a result of an ad they have seen on a social network?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Other types of social network marketing involve the “wisdom of the crowd” and crowdsourcing. Ask students if they have ever supported a Kickstarter or project on a similar platform.</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looks at changes brought to B2B e-commerce by Internet technologies. Note that the Internet and web technology enable businesses to create new electronic storefronts for selling to other businesses with multimedia graphic displays and interactive features similar to those for B2C commerce. Alternatively, businesses can use Internet technology to create extranets or electronic marketplaces for linking to other businesses for purchase and sale transactions.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10.6,</a:t>
            </a:r>
            <a:r>
              <a:rPr lang="en-US" altLang="en-US" sz="1200" baseline="0" dirty="0">
                <a:latin typeface="+mn-lt"/>
              </a:rPr>
              <a:t> Page 398.</a:t>
            </a:r>
          </a:p>
          <a:p>
            <a:r>
              <a:rPr lang="en-US" sz="1200" b="0" i="1" u="none" strike="noStrike" kern="1200" cap="none" baseline="0" dirty="0">
                <a:solidFill>
                  <a:schemeClr val="tx1"/>
                </a:solidFill>
                <a:latin typeface="+mn-lt"/>
                <a:ea typeface="Arial"/>
                <a:cs typeface="Arial"/>
                <a:sym typeface="Arial"/>
              </a:rPr>
              <a:t>Companies use EDI to automate transactions for B2B e-commerce and continuous inventory replenishment. Suppliers can automatically send data about shipments to purchasing firms. The purchasing firms can use EDI to provide production and inventory requirements and payment data to suppliers.</a:t>
            </a:r>
            <a:endParaRPr lang="en-US" altLang="en-US" sz="1200" i="1"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EDI is still widely used but it has limitations, as outlined in the book, and is not designed for supporting marketplace operations where you have hundreds of vendors and buyers.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latin typeface="+mn-lt"/>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how companies use EDI to automate transactions for B2B e-commerce and continuous replenishment</a:t>
            </a:r>
            <a:r>
              <a:rPr lang="en-US" altLang="en-US" sz="1200" baseline="0" dirty="0">
                <a:latin typeface="+mn-lt"/>
              </a:rPr>
              <a:t>. </a:t>
            </a:r>
            <a:r>
              <a:rPr lang="en-US" sz="1200" dirty="0">
                <a:solidFill>
                  <a:srgbClr val="000000"/>
                </a:solidFill>
                <a:effectLst/>
                <a:latin typeface="+mn-lt"/>
                <a:ea typeface="Times New Roman" panose="02020603050405020304" pitchFamily="18" charset="0"/>
                <a:cs typeface="Calibri" panose="020F0502020204030204" pitchFamily="34" charset="0"/>
              </a:rPr>
              <a:t>The interaction takes place between the supplier systems and firm systems for the following and in a way aid the continuous inventory replenishment:</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Shipping data</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Payment data</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Production and inventory requirements.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510633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slide continues the discussion of ways the Internet and web technologies have changed B2B e-commerce. One way is in using a private industrial network to link to the firm</a:t>
            </a:r>
            <a:r>
              <a:rPr lang="en-US" altLang="ja-JP" dirty="0">
                <a:latin typeface="+mn-lt"/>
              </a:rPr>
              <a:t>’s suppliers. The text provides the example of VW Group Supply, which links the Volkswagen Group and its suppliers. VW Group Supply handles 90 percent of all global purchasing for Volkswagen, including all automotive and parts components.</a:t>
            </a:r>
          </a:p>
          <a:p>
            <a:endParaRPr lang="en-US" dirty="0">
              <a:latin typeface="+mn-lt"/>
            </a:endParaRPr>
          </a:p>
          <a:p>
            <a:r>
              <a:rPr lang="en-US" altLang="en-US" dirty="0">
                <a:latin typeface="+mn-lt"/>
              </a:rPr>
              <a:t>This slide continues the discussion of ways the Internet and web technologies have changed B2B e-commerce, in this case by the ability to create Net marketplaces. Ask students to distinguish between and provide examples of direct and indirect goods. (Direct goods are goods used in a production process, such as sheet steel for auto body production. Indirect goods are all other goods not directly involved in the production process, such as office supplies or products for maintenance and repair.) </a:t>
            </a:r>
          </a:p>
          <a:p>
            <a:endParaRPr lang="en-US" altLang="en-US" dirty="0">
              <a:latin typeface="+mn-lt"/>
            </a:endParaRPr>
          </a:p>
          <a:p>
            <a:r>
              <a:rPr lang="en-US" altLang="en-US" dirty="0">
                <a:latin typeface="+mn-lt"/>
              </a:rPr>
              <a:t>Ask students to distinguish between vertical and horizontal marketplaces.</a:t>
            </a:r>
          </a:p>
          <a:p>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slide continues the discussion of ways the Internet and web technologies have changed B2B e-commerce, in this case by the ability to create exchanges. The text provides the example of </a:t>
            </a:r>
            <a:r>
              <a:rPr lang="en-US" altLang="en-US" dirty="0" err="1">
                <a:latin typeface="+mn-lt"/>
              </a:rPr>
              <a:t>GoToPaper</a:t>
            </a:r>
            <a:r>
              <a:rPr lang="en-US" altLang="en-US" dirty="0">
                <a:latin typeface="+mn-lt"/>
              </a:rPr>
              <a:t>, which creates a spot market for paper products in 75 countries.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introduces m-commerce, the use of wireless mobile devices for purchasing goods and services. Ask students what applications and services they use with their cell phones. Have any purchased games or entertainment, and from what companies? Have any used </a:t>
            </a:r>
            <a:r>
              <a:rPr lang="en-US" altLang="en-US" dirty="0" err="1">
                <a:latin typeface="+mn-lt"/>
              </a:rPr>
              <a:t>OpenTable</a:t>
            </a:r>
            <a:r>
              <a:rPr lang="en-US" altLang="en-US" dirty="0">
                <a:latin typeface="+mn-lt"/>
              </a:rPr>
              <a:t> on a smartphone?</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10.9,</a:t>
            </a:r>
            <a:r>
              <a:rPr lang="en-US" altLang="en-US" sz="1200" baseline="0" dirty="0">
                <a:latin typeface="+mn-lt"/>
              </a:rPr>
              <a:t> Page 401.</a:t>
            </a:r>
          </a:p>
          <a:p>
            <a:r>
              <a:rPr lang="en-US" sz="1200" b="0" i="1" u="none" strike="noStrike" kern="1200" cap="none" baseline="0" dirty="0">
                <a:solidFill>
                  <a:schemeClr val="dk1"/>
                </a:solidFill>
                <a:latin typeface="+mn-lt"/>
                <a:ea typeface="Arial"/>
                <a:cs typeface="Arial"/>
                <a:sym typeface="Arial"/>
              </a:rPr>
              <a:t>Mobile e-commerce is the fastest-growing type of B2C e-commerce. By 2021, m-commerce sales are expected to account for 54 percent of total e-commerce sales. </a:t>
            </a:r>
          </a:p>
          <a:p>
            <a:r>
              <a:rPr lang="en-US" sz="1200" b="0" i="0" u="none" strike="noStrike" kern="1200" cap="none" baseline="0" dirty="0">
                <a:solidFill>
                  <a:schemeClr val="dk1"/>
                </a:solidFill>
                <a:latin typeface="+mn-lt"/>
                <a:ea typeface="Arial"/>
                <a:cs typeface="Arial"/>
                <a:sym typeface="Arial"/>
              </a:rPr>
              <a:t>Source: Data from eMarketer chart “US Retail </a:t>
            </a:r>
            <a:r>
              <a:rPr lang="en-US" sz="1200" b="0" i="0" u="none" strike="noStrike" kern="1200" cap="none" baseline="0" dirty="0" err="1">
                <a:solidFill>
                  <a:schemeClr val="dk1"/>
                </a:solidFill>
                <a:latin typeface="+mn-lt"/>
                <a:ea typeface="Arial"/>
                <a:cs typeface="Arial"/>
                <a:sym typeface="Arial"/>
              </a:rPr>
              <a:t>Mcommerce</a:t>
            </a:r>
            <a:r>
              <a:rPr lang="en-US" sz="1200" b="0" i="0" u="none" strike="noStrike" kern="1200" cap="none" baseline="0" dirty="0">
                <a:solidFill>
                  <a:schemeClr val="dk1"/>
                </a:solidFill>
                <a:latin typeface="+mn-lt"/>
                <a:ea typeface="Arial"/>
                <a:cs typeface="Arial"/>
                <a:sym typeface="Arial"/>
              </a:rPr>
              <a:t> Sales,” 2020”</a:t>
            </a:r>
          </a:p>
          <a:p>
            <a:endParaRPr lang="en-US" altLang="en-US" sz="1200"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 illustrates the surging growth of m-commerce sales from 2016 to 2022. In the early years prior to 2009, m-commerce in the United States was very small and not growing rapidly. Cell phones, especially smartphones, have changed that. Have any of the students purchased something using their cell phone or mobile laptop computer? How many students are using a smartphone? How many have used a smartphone app to compare prices while shopping at stores?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 line graph explains how mobile e-commerce revenues have increased over the years. </a:t>
            </a:r>
            <a:r>
              <a:rPr lang="en-US" sz="1200" dirty="0">
                <a:solidFill>
                  <a:srgbClr val="000000"/>
                </a:solidFill>
                <a:effectLst/>
                <a:latin typeface="+mn-lt"/>
                <a:ea typeface="Times New Roman" panose="02020603050405020304" pitchFamily="18" charset="0"/>
                <a:cs typeface="Calibri" panose="020F0502020204030204" pitchFamily="34" charset="0"/>
              </a:rPr>
              <a:t>The horizontal axis represents the years and ranges from 2016 to 2022, in increments of 1. The vertical axis represents the revenue in billions of dollars and ranges from 0 to 450 in increments of 50. </a:t>
            </a:r>
            <a:endParaRPr lang="en-US" sz="1200" dirty="0">
              <a:solidFill>
                <a:srgbClr val="000000"/>
              </a:solidFill>
              <a:effectLst/>
              <a:latin typeface="+mn-lt"/>
              <a:ea typeface="Times New Roman" panose="02020603050405020304" pitchFamily="18" charset="0"/>
            </a:endParaRPr>
          </a:p>
          <a:p>
            <a:r>
              <a:rPr lang="en-US" sz="1200" dirty="0">
                <a:solidFill>
                  <a:srgbClr val="000000"/>
                </a:solidFill>
                <a:effectLst/>
                <a:latin typeface="+mn-lt"/>
                <a:ea typeface="Times New Roman" panose="02020603050405020304" pitchFamily="18" charset="0"/>
              </a:rPr>
              <a:t>The revenue curve is a steep upward curve which appears to be gradually increasing over the years from approximately 110 billion dollars in the year 2016 and projected to reach almost 450 billion dollars by the year 2022.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11038749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Google Maps is arguably</a:t>
            </a:r>
            <a:r>
              <a:rPr lang="en-US" baseline="0" dirty="0"/>
              <a:t> the most common example of location-based services.  Foursquare is another good example.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Ask students how many have purchased a product or service using an m-commerce website or app. How did the experience differ, if at all, from using a desktop or laptop?</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Ask students about their experiences using mobile app payment systems. How many have used one of the various types listed on this slide? Have mobile app payment systems replaced using cash, or credit or debit cards?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18778871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Building a website involves a number of considerations. If its an e-commerce site, customer preferences should be the driving force behind the design. What are customers looking for, how can they find it on your site, and how easily can they purchase on your site? How will you choose the technology? What about your site’s information policy? What</a:t>
            </a:r>
            <a:r>
              <a:rPr lang="en-US" altLang="ja-JP" dirty="0">
                <a:latin typeface="+mn-lt"/>
              </a:rPr>
              <a:t>’s that? If you don’t know, your customers will surely expect you to know</a:t>
            </a:r>
            <a:r>
              <a:rPr lang="en-US" altLang="ja-JP" dirty="0">
                <a:latin typeface="Times New Roman" panose="02020603050405020304" pitchFamily="18" charset="0"/>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10.10,</a:t>
            </a:r>
            <a:r>
              <a:rPr lang="en-US" altLang="en-US" sz="1200" baseline="0" dirty="0">
                <a:latin typeface="+mn-lt"/>
              </a:rPr>
              <a:t> Page 405.</a:t>
            </a:r>
          </a:p>
          <a:p>
            <a:r>
              <a:rPr lang="en-US" sz="1200" b="0" i="1" u="none" strike="noStrike" kern="1200" cap="none" baseline="0" dirty="0">
                <a:solidFill>
                  <a:schemeClr val="tx1"/>
                </a:solidFill>
                <a:latin typeface="+mn-lt"/>
                <a:ea typeface="Arial"/>
                <a:cs typeface="Arial"/>
                <a:sym typeface="Arial"/>
              </a:rPr>
              <a:t>An e-commerce presence requires firms to consider the four types of presence, with specific platforms and activities associated with each.</a:t>
            </a:r>
          </a:p>
          <a:p>
            <a:endParaRPr lang="en-US" sz="1200" b="0" i="0" u="none" strike="noStrike" kern="1200" cap="none" baseline="0" dirty="0">
              <a:solidFill>
                <a:schemeClr val="tx1"/>
              </a:solidFill>
              <a:latin typeface="+mn-lt"/>
              <a:ea typeface="Arial"/>
              <a:cs typeface="Arial"/>
              <a:sym typeface="Arial"/>
            </a:endParaRPr>
          </a:p>
          <a:p>
            <a:pPr marL="0" marR="0">
              <a:lnSpc>
                <a:spcPct val="115000"/>
              </a:lnSpc>
              <a:spcBef>
                <a:spcPts val="0"/>
              </a:spcBef>
              <a:spcAft>
                <a:spcPts val="0"/>
              </a:spcAft>
            </a:pPr>
            <a:r>
              <a:rPr lang="en-US" sz="1200" b="0" i="0" u="sng" strike="noStrike" kern="1200" cap="none" baseline="0" dirty="0">
                <a:solidFill>
                  <a:schemeClr val="tx1"/>
                </a:solidFill>
                <a:latin typeface="+mn-lt"/>
                <a:ea typeface="Arial"/>
                <a:cs typeface="Arial"/>
                <a:sym typeface="Arial"/>
              </a:rPr>
              <a:t>Alt Text</a:t>
            </a:r>
          </a:p>
          <a:p>
            <a:pPr marL="0" marR="0">
              <a:lnSpc>
                <a:spcPct val="115000"/>
              </a:lnSpc>
              <a:spcBef>
                <a:spcPts val="0"/>
              </a:spcBef>
              <a:spcAft>
                <a:spcPts val="0"/>
              </a:spcAft>
            </a:pPr>
            <a:r>
              <a:rPr lang="en-US" sz="1200" b="0" i="0" u="none" strike="noStrike" kern="1200" cap="none" baseline="0" dirty="0">
                <a:solidFill>
                  <a:schemeClr val="tx1"/>
                </a:solidFill>
                <a:latin typeface="+mn-lt"/>
                <a:ea typeface="Arial"/>
                <a:cs typeface="Arial"/>
                <a:sym typeface="Arial"/>
              </a:rPr>
              <a:t>Long description: A process diagram depicts an e-commerce presence map.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follows:</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Type of presence: Website; Platforms: Traditional, mobile, and tablet; Activity: Search display apps, affiliates, and sponsorships.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Type of presence: Email; Platforms: Internal and purchased lists; Activity: Newsletters, updates, and sales.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Type of presence: Social media; Platforms: Facebook, Instagram, twitter, and blogs; Activity: Conversation, engagement, sharing advice.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Type of presence: Offline media; Platforms: Print, TV, and radio; Activity: Education, exposure, and branding.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34048420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2491413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3543461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1/4/2026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1/4/2026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1/4/2026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629151"/>
            <a:ext cx="8595360" cy="176597"/>
          </a:xfrm>
        </p:spPr>
        <p:txBody>
          <a:bodyPr/>
          <a:lstStyle/>
          <a:p>
            <a:endParaRPr lang="en-US" dirty="0"/>
          </a:p>
        </p:txBody>
      </p:sp>
      <p:sp>
        <p:nvSpPr>
          <p:cNvPr id="9" name="Date Placeholder 3"/>
          <p:cNvSpPr>
            <a:spLocks noGrp="1"/>
          </p:cNvSpPr>
          <p:nvPr>
            <p:ph type="dt" sz="half" idx="10"/>
          </p:nvPr>
        </p:nvSpPr>
        <p:spPr>
          <a:xfrm>
            <a:off x="6335713" y="84804"/>
            <a:ext cx="2133600" cy="137160"/>
          </a:xfrm>
        </p:spPr>
        <p:txBody>
          <a:bodyPr/>
          <a:lstStyle/>
          <a:p>
            <a:fld id="{A9DF6EFB-3F44-496C-A842-1E0B3D3B975A}" type="datetimeFigureOut">
              <a:rPr lang="en-US" smtClean="0"/>
              <a:pPr/>
              <a:t>1/4/2026</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629151"/>
            <a:ext cx="8595360" cy="176597"/>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1/4/2026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1/4/2026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1/4/2026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363225"/>
            <a:ext cx="8229600" cy="1037075"/>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686050"/>
            <a:ext cx="8229600" cy="1037075"/>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1/4/2026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943350"/>
            <a:ext cx="8229600" cy="57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2656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1/4/2026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1/4/2026</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1"/>
            <a:ext cx="8595360" cy="176597"/>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1/4/2026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1/4/2026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3"/>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2"/>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5"/>
            <a:ext cx="8595360" cy="176597"/>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1/4/2026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8"/>
            <a:ext cx="688622" cy="209973"/>
          </a:xfrm>
          <a:prstGeom prst="rect">
            <a:avLst/>
          </a:prstGeom>
        </p:spPr>
      </p:pic>
    </p:spTree>
    <p:extLst>
      <p:ext uri="{BB962C8B-B14F-4D97-AF65-F5344CB8AC3E}">
        <p14:creationId xmlns:p14="http://schemas.microsoft.com/office/powerpoint/2010/main" val="236525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4B5A85A3-2568-BAEE-8638-3221334EB279}"/>
              </a:ext>
            </a:extLst>
          </p:cNvPr>
          <p:cNvSpPr>
            <a:spLocks noGrp="1"/>
          </p:cNvSpPr>
          <p:nvPr>
            <p:ph type="ftr" sz="quarter" idx="10"/>
          </p:nvPr>
        </p:nvSpPr>
        <p:spPr/>
        <p:txBody>
          <a:bodyPr/>
          <a:lstStyle/>
          <a:p>
            <a:endParaRPr lang="en-US" dirty="0"/>
          </a:p>
        </p:txBody>
      </p:sp>
      <p:sp>
        <p:nvSpPr>
          <p:cNvPr id="3" name="日期占位符 2">
            <a:extLst>
              <a:ext uri="{FF2B5EF4-FFF2-40B4-BE49-F238E27FC236}">
                <a16:creationId xmlns:a16="http://schemas.microsoft.com/office/drawing/2014/main" id="{A0E2B530-A10D-DAFE-418B-1031D4425DC1}"/>
              </a:ext>
            </a:extLst>
          </p:cNvPr>
          <p:cNvSpPr>
            <a:spLocks noGrp="1"/>
          </p:cNvSpPr>
          <p:nvPr>
            <p:ph type="dt" sz="half" idx="11"/>
          </p:nvPr>
        </p:nvSpPr>
        <p:spPr/>
        <p:txBody>
          <a:bodyPr/>
          <a:lstStyle/>
          <a:p>
            <a:fld id="{A9DF6EFB-3F44-496C-A842-1E0B3D3B975A}" type="datetimeFigureOut">
              <a:rPr lang="en-US" smtClean="0"/>
              <a:pPr/>
              <a:t>1/4/2026</a:t>
            </a:fld>
            <a:endParaRPr lang="en-US" dirty="0"/>
          </a:p>
        </p:txBody>
      </p:sp>
      <p:sp>
        <p:nvSpPr>
          <p:cNvPr id="4" name="灯片编号占位符 3">
            <a:extLst>
              <a:ext uri="{FF2B5EF4-FFF2-40B4-BE49-F238E27FC236}">
                <a16:creationId xmlns:a16="http://schemas.microsoft.com/office/drawing/2014/main" id="{D07D3B99-F090-76A3-E6D7-4990BD532AE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195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1/4/2026</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a:t>
            </a:r>
            <a:r>
              <a:rPr lang="en-US" sz="1200">
                <a:latin typeface="Verdana" panose="020B0604030504040204" pitchFamily="34" charset="0"/>
                <a:ea typeface="Verdana" panose="020B0604030504040204" pitchFamily="34" charset="0"/>
                <a:cs typeface="Verdana" panose="020B0604030504040204" pitchFamily="34" charset="0"/>
              </a:rPr>
              <a:t>, 2020, 2018 </a:t>
            </a:r>
            <a:r>
              <a:rPr lang="en-US" sz="1200" dirty="0">
                <a:latin typeface="Verdana" panose="020B0604030504040204" pitchFamily="34" charset="0"/>
                <a:ea typeface="Verdana" panose="020B0604030504040204" pitchFamily="34" charset="0"/>
                <a:cs typeface="Verdana" panose="020B0604030504040204" pitchFamily="34" charset="0"/>
              </a:rPr>
              <a:t>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5" r:id="rId9"/>
    <p:sldLayoutId id="2147483662" r:id="rId10"/>
    <p:sldLayoutId id="2147483651" r:id="rId11"/>
    <p:sldLayoutId id="2147483654" r:id="rId12"/>
    <p:sldLayoutId id="2147483655" r:id="rId13"/>
    <p:sldLayoutId id="2147483666" r:id="rId14"/>
    <p:sldLayoutId id="2147483667" r:id="rId15"/>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linkedin.com/in/ralphmarra99/"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2.tmp"/><Relationship Id="rId5" Type="http://schemas.openxmlformats.org/officeDocument/2006/relationships/tags" Target="../tags/tag6.xml"/><Relationship Id="rId10" Type="http://schemas.openxmlformats.org/officeDocument/2006/relationships/slideLayout" Target="../slideLayouts/slideLayout15.xml"/><Relationship Id="rId4" Type="http://schemas.openxmlformats.org/officeDocument/2006/relationships/tags" Target="../tags/tag5.xml"/><Relationship Id="rId9" Type="http://schemas.openxmlformats.org/officeDocument/2006/relationships/tags" Target="../tags/tag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9757"/>
            <a:ext cx="8229600" cy="1661993"/>
          </a:xfrm>
        </p:spPr>
        <p:txBody>
          <a:bodyPr wrap="square" anchor="b">
            <a:spAutoFit/>
          </a:bodyPr>
          <a:lstStyle/>
          <a:p>
            <a:r>
              <a:rPr lang="en-IN" dirty="0"/>
              <a:t> Week 10 – Tuesday Morning12/30/25</a:t>
            </a:r>
            <a:br>
              <a:rPr lang="en-IN" dirty="0"/>
            </a:br>
            <a:br>
              <a:rPr lang="en-IN" sz="1800" dirty="0"/>
            </a:br>
            <a:r>
              <a:rPr lang="en-IN" sz="1800" dirty="0"/>
              <a:t>               </a:t>
            </a:r>
            <a:r>
              <a:rPr lang="en-US" sz="1800" b="1" dirty="0">
                <a:solidFill>
                  <a:srgbClr val="FF0000"/>
                </a:solidFill>
              </a:rPr>
              <a:t>Chapter 10 – E-Commerce: Digital Markets</a:t>
            </a:r>
            <a:r>
              <a:rPr lang="en-US" sz="1800" dirty="0">
                <a:solidFill>
                  <a:srgbClr val="FF0000"/>
                </a:solidFill>
              </a:rPr>
              <a:t>, </a:t>
            </a:r>
            <a:r>
              <a:rPr lang="en-US" sz="1800" b="1" dirty="0">
                <a:solidFill>
                  <a:srgbClr val="FF0000"/>
                </a:solidFill>
              </a:rPr>
              <a:t>Digital Goods</a:t>
            </a:r>
            <a:br>
              <a:rPr lang="en-US" sz="1800" b="1" u="sng" dirty="0">
                <a:solidFill>
                  <a:srgbClr val="FF0000"/>
                </a:solidFill>
              </a:rPr>
            </a:br>
            <a:endParaRPr lang="en-IN" dirty="0"/>
          </a:p>
        </p:txBody>
      </p:sp>
      <p:sp>
        <p:nvSpPr>
          <p:cNvPr id="3" name="Text Placeholder 2"/>
          <p:cNvSpPr>
            <a:spLocks noGrp="1"/>
          </p:cNvSpPr>
          <p:nvPr>
            <p:ph type="body" sz="quarter" idx="13"/>
          </p:nvPr>
        </p:nvSpPr>
        <p:spPr>
          <a:xfrm>
            <a:off x="457200" y="2952750"/>
            <a:ext cx="8229600" cy="307777"/>
          </a:xfrm>
        </p:spPr>
        <p:txBody>
          <a:bodyPr vert="horz" lIns="0" tIns="0" rIns="0" bIns="0" rtlCol="0" anchor="t">
            <a:spAutoFit/>
          </a:bodyPr>
          <a:lstStyle/>
          <a:p>
            <a:r>
              <a:rPr lang="en-IN" dirty="0"/>
              <a:t>                               </a:t>
            </a:r>
            <a:r>
              <a:rPr lang="en-IN"/>
              <a:t>Fall 2025 </a:t>
            </a:r>
            <a:r>
              <a:rPr lang="en-IN" dirty="0"/>
              <a:t>– Professor Ralph Marra</a:t>
            </a:r>
          </a:p>
        </p:txBody>
      </p:sp>
    </p:spTree>
    <p:extLst>
      <p:ext uri="{BB962C8B-B14F-4D97-AF65-F5344CB8AC3E}">
        <p14:creationId xmlns:p14="http://schemas.microsoft.com/office/powerpoint/2010/main" val="1618454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24672-F4D9-49E9-0706-FC114703180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16BA34A-43CA-715F-993C-2932EE09B3BB}"/>
              </a:ext>
            </a:extLst>
          </p:cNvPr>
          <p:cNvSpPr>
            <a:spLocks noGrp="1"/>
          </p:cNvSpPr>
          <p:nvPr>
            <p:ph type="subTitle" idx="1"/>
          </p:nvPr>
        </p:nvSpPr>
        <p:spPr>
          <a:xfrm>
            <a:off x="0" y="0"/>
            <a:ext cx="9144000" cy="5143500"/>
          </a:xfrm>
          <a:solidFill>
            <a:srgbClr val="D4EAE4"/>
          </a:solidFill>
        </p:spPr>
        <p:txBody>
          <a:bodyPr>
            <a:normAutofit fontScale="25000" lnSpcReduction="20000"/>
          </a:bodyPr>
          <a:lstStyle/>
          <a:p>
            <a:endParaRPr lang="en-US" sz="9600" b="1" i="1" dirty="0">
              <a:solidFill>
                <a:srgbClr val="FF0000"/>
              </a:solidFill>
            </a:endParaRP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Born and raised in New York - USA</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Graduated Fordham University</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Majored in Computer Science and Finance</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Internship with IBM as a junior/senior</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Obtained MBA Degree with focus on Information Systems</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First programming job (COBOL) with Texaco Oil Company</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Spent 22 years on Wall Street (18 with Citibank)</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In 2004 – became CIO (Chief Information Officer) of a small healthcare company</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From 2004 – 2020 served as CIO/VP IT for some healthcare companies and banks</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In these roles I became very knowledgeable and involved with IT risk, compliance, legal and regulatory issues.</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Due to pandemic layoffs – in 2020 was let go from my last role</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Decided to change careers and was a Technology Recruiter helping companies hire the best staff and executives from 2021-2024</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Recently retired from corporate life in June 2024</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Been an Adjunct Professor at Stony Brook since 2008 specializing in Information Systems, Business and Operations</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Grateful that my career paralleled the growth and changes happening as technology not only changed the business landscape but also became a part of everyone’s lives </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Truly enjoy educating and guiding students in their scholastic paths and eventual careers. As a member of the National Associations of Resume Writers, I take immense pride in being a career coach and mentor</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An avid sports lover – I play in a softball league, regularly golf, bowl and have intense racquetball games with my friends. </a:t>
            </a:r>
          </a:p>
          <a:p>
            <a:pPr marL="342892" indent="-342892">
              <a:lnSpc>
                <a:spcPct val="120000"/>
              </a:lnSpc>
              <a:spcBef>
                <a:spcPts val="150"/>
              </a:spcBef>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Live on Long Island, NY near Stony Brook with my wife of 40+ years and I have two grown children and two grandchildren.</a:t>
            </a:r>
          </a:p>
          <a:p>
            <a:pPr marL="342892" indent="-342892">
              <a:lnSpc>
                <a:spcPct val="120000"/>
              </a:lnSpc>
              <a:spcBef>
                <a:spcPts val="150"/>
              </a:spcBef>
              <a:spcAft>
                <a:spcPts val="800"/>
              </a:spcAft>
              <a:buFont typeface="Wingdings" panose="05000000000000000000" pitchFamily="2" charset="2"/>
              <a:buChar char=""/>
            </a:pPr>
            <a:r>
              <a:rPr lang="en-US" sz="4800" b="1" dirty="0">
                <a:latin typeface="Calibri" panose="020F0502020204030204" pitchFamily="34" charset="0"/>
                <a:ea typeface="Calibri" panose="020F0502020204030204" pitchFamily="34" charset="0"/>
                <a:cs typeface="Times New Roman" panose="02020603050405020304" pitchFamily="18" charset="0"/>
              </a:rPr>
              <a:t>Feel free to connect with me at </a:t>
            </a:r>
            <a:r>
              <a:rPr lang="en-US" sz="4800" b="1"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https://www.linkedin.com/in/ralphmarra99/</a:t>
            </a:r>
            <a:endParaRPr lang="en-US" sz="4800" b="1" dirty="0">
              <a:latin typeface="Calibri" panose="020F0502020204030204" pitchFamily="34" charset="0"/>
              <a:ea typeface="Calibri" panose="020F0502020204030204" pitchFamily="34" charset="0"/>
              <a:cs typeface="Times New Roman" panose="02020603050405020304" pitchFamily="18" charset="0"/>
            </a:endParaRPr>
          </a:p>
          <a:p>
            <a:pPr algn="l"/>
            <a:endParaRPr lang="en-US" sz="1350" b="1" dirty="0"/>
          </a:p>
        </p:txBody>
      </p:sp>
      <p:pic>
        <p:nvPicPr>
          <p:cNvPr id="6" name="Picture 5">
            <a:extLst>
              <a:ext uri="{FF2B5EF4-FFF2-40B4-BE49-F238E27FC236}">
                <a16:creationId xmlns:a16="http://schemas.microsoft.com/office/drawing/2014/main" id="{6AE0B6A0-F2EB-D5C8-5D39-B72109256AB7}"/>
              </a:ext>
            </a:extLst>
          </p:cNvPr>
          <p:cNvPicPr>
            <a:picLocks noChangeAspect="1"/>
          </p:cNvPicPr>
          <p:nvPr/>
        </p:nvPicPr>
        <p:blipFill>
          <a:blip r:embed="rId3"/>
          <a:stretch>
            <a:fillRect/>
          </a:stretch>
        </p:blipFill>
        <p:spPr>
          <a:xfrm>
            <a:off x="8126730" y="4047515"/>
            <a:ext cx="928383" cy="923787"/>
          </a:xfrm>
          <a:prstGeom prst="rect">
            <a:avLst/>
          </a:prstGeom>
        </p:spPr>
      </p:pic>
      <p:sp>
        <p:nvSpPr>
          <p:cNvPr id="7" name="Title 1">
            <a:extLst>
              <a:ext uri="{FF2B5EF4-FFF2-40B4-BE49-F238E27FC236}">
                <a16:creationId xmlns:a16="http://schemas.microsoft.com/office/drawing/2014/main" id="{BD1EAC9A-EFD5-3DCB-103E-144D33805741}"/>
              </a:ext>
            </a:extLst>
          </p:cNvPr>
          <p:cNvSpPr txBox="1">
            <a:spLocks/>
          </p:cNvSpPr>
          <p:nvPr/>
        </p:nvSpPr>
        <p:spPr>
          <a:xfrm>
            <a:off x="138065" y="-49662"/>
            <a:ext cx="8229600" cy="692497"/>
          </a:xfrm>
          <a:prstGeom prst="rect">
            <a:avLst/>
          </a:prstGeom>
        </p:spPr>
        <p:txBody>
          <a:bodyPr vert="horz" wrap="square" lIns="68580" tIns="34290" rIns="68580" bIns="3429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500" b="1" i="1" dirty="0"/>
              <a:t>          </a:t>
            </a:r>
            <a:r>
              <a:rPr lang="en-IN" sz="3200" b="1" i="1" dirty="0"/>
              <a:t>A Little Bit About Me…</a:t>
            </a:r>
          </a:p>
        </p:txBody>
      </p:sp>
      <p:pic>
        <p:nvPicPr>
          <p:cNvPr id="9" name="Picture 8">
            <a:extLst>
              <a:ext uri="{FF2B5EF4-FFF2-40B4-BE49-F238E27FC236}">
                <a16:creationId xmlns:a16="http://schemas.microsoft.com/office/drawing/2014/main" id="{AB2EAB13-84EB-AB5E-46CE-E5A881BDD683}"/>
              </a:ext>
            </a:extLst>
          </p:cNvPr>
          <p:cNvPicPr>
            <a:picLocks noChangeAspect="1"/>
          </p:cNvPicPr>
          <p:nvPr/>
        </p:nvPicPr>
        <p:blipFill>
          <a:blip r:embed="rId4"/>
          <a:stretch>
            <a:fillRect/>
          </a:stretch>
        </p:blipFill>
        <p:spPr>
          <a:xfrm>
            <a:off x="7626036" y="177785"/>
            <a:ext cx="1143000" cy="1143000"/>
          </a:xfrm>
          <a:prstGeom prst="rect">
            <a:avLst/>
          </a:prstGeom>
        </p:spPr>
      </p:pic>
    </p:spTree>
    <p:extLst>
      <p:ext uri="{BB962C8B-B14F-4D97-AF65-F5344CB8AC3E}">
        <p14:creationId xmlns:p14="http://schemas.microsoft.com/office/powerpoint/2010/main" val="3854875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2734"/>
            <a:ext cx="9144000" cy="553998"/>
          </a:xfrm>
        </p:spPr>
        <p:txBody>
          <a:bodyPr wrap="square">
            <a:spAutoFit/>
          </a:bodyPr>
          <a:lstStyle/>
          <a:p>
            <a:r>
              <a:rPr lang="en-US" altLang="en-US" dirty="0"/>
              <a:t> </a:t>
            </a:r>
            <a:r>
              <a:rPr lang="en-US" altLang="en-US" sz="3200" dirty="0"/>
              <a:t>Week 10 – Chapter 10 Learning Objectives</a:t>
            </a:r>
            <a:endParaRPr lang="en-US" sz="3200" dirty="0"/>
          </a:p>
        </p:txBody>
      </p:sp>
      <p:sp>
        <p:nvSpPr>
          <p:cNvPr id="5" name="Content Placeholder 4"/>
          <p:cNvSpPr>
            <a:spLocks noGrp="1"/>
          </p:cNvSpPr>
          <p:nvPr>
            <p:ph idx="1"/>
          </p:nvPr>
        </p:nvSpPr>
        <p:spPr>
          <a:xfrm>
            <a:off x="457200" y="746820"/>
            <a:ext cx="8229600" cy="3462486"/>
          </a:xfrm>
        </p:spPr>
        <p:txBody>
          <a:bodyPr vert="horz" lIns="0" tIns="0" rIns="0" bIns="0" rtlCol="0" anchor="t">
            <a:spAutoFit/>
          </a:bodyPr>
          <a:lstStyle/>
          <a:p>
            <a:pPr>
              <a:spcBef>
                <a:spcPts val="600"/>
              </a:spcBef>
              <a:buFont typeface="Wingdings" panose="05000000000000000000" pitchFamily="2" charset="2"/>
              <a:buChar char="v"/>
              <a:tabLst>
                <a:tab pos="895350" algn="l"/>
              </a:tabLst>
            </a:pPr>
            <a:r>
              <a:rPr lang="en-US" sz="2000" dirty="0"/>
              <a:t>What are the unique features of e-commerce, digital markets, and digital goods?</a:t>
            </a:r>
          </a:p>
          <a:p>
            <a:pPr defTabSz="534988">
              <a:spcBef>
                <a:spcPts val="600"/>
              </a:spcBef>
              <a:buFont typeface="Wingdings" panose="05000000000000000000" pitchFamily="2" charset="2"/>
              <a:buChar char="v"/>
              <a:tabLst>
                <a:tab pos="628650" algn="l"/>
              </a:tabLst>
            </a:pPr>
            <a:r>
              <a:rPr lang="en-US" sz="2000" dirty="0"/>
              <a:t>What are the principal e-commerce business and revenue models?</a:t>
            </a:r>
            <a:endParaRPr lang="en-IN" altLang="en-US" sz="2000" dirty="0"/>
          </a:p>
          <a:p>
            <a:pPr defTabSz="534988">
              <a:spcBef>
                <a:spcPts val="600"/>
              </a:spcBef>
              <a:buFont typeface="Wingdings" panose="05000000000000000000" pitchFamily="2" charset="2"/>
              <a:buChar char="v"/>
            </a:pPr>
            <a:r>
              <a:rPr lang="en-US" sz="2000" dirty="0"/>
              <a:t>How has e-commerce transformed marketing?</a:t>
            </a:r>
            <a:endParaRPr lang="en-IN" altLang="en-US" sz="2000" dirty="0"/>
          </a:p>
          <a:p>
            <a:pPr defTabSz="534988">
              <a:spcBef>
                <a:spcPts val="600"/>
              </a:spcBef>
              <a:buFont typeface="Wingdings" panose="05000000000000000000" pitchFamily="2" charset="2"/>
              <a:buChar char="v"/>
              <a:tabLst>
                <a:tab pos="628650" algn="l"/>
              </a:tabLst>
            </a:pPr>
            <a:r>
              <a:rPr lang="en-US" sz="2000" dirty="0"/>
              <a:t>How has e-commerce affected business-to-business transactions?</a:t>
            </a:r>
            <a:endParaRPr lang="en-IN" sz="2000" dirty="0"/>
          </a:p>
          <a:p>
            <a:pPr>
              <a:spcBef>
                <a:spcPts val="600"/>
              </a:spcBef>
              <a:buFont typeface="Wingdings" panose="05000000000000000000" pitchFamily="2" charset="2"/>
              <a:buChar char="v"/>
              <a:tabLst>
                <a:tab pos="628650" algn="l"/>
                <a:tab pos="714375" algn="l"/>
              </a:tabLst>
            </a:pPr>
            <a:r>
              <a:rPr lang="en-US" sz="2000" dirty="0"/>
              <a:t>What is the role of </a:t>
            </a:r>
            <a:r>
              <a:rPr lang="en-US" sz="2000" dirty="0">
                <a:solidFill>
                  <a:srgbClr val="FF0000"/>
                </a:solidFill>
              </a:rPr>
              <a:t>m-commerce</a:t>
            </a:r>
            <a:r>
              <a:rPr lang="en-US" sz="2000" dirty="0"/>
              <a:t> in business, and what are the most important </a:t>
            </a:r>
            <a:r>
              <a:rPr lang="en-US" sz="2000" dirty="0">
                <a:solidFill>
                  <a:srgbClr val="FF0000"/>
                </a:solidFill>
              </a:rPr>
              <a:t>m-commerce</a:t>
            </a:r>
            <a:r>
              <a:rPr lang="en-US" sz="2000" dirty="0"/>
              <a:t> applications? M-commerce = Mobile Commerce</a:t>
            </a:r>
          </a:p>
          <a:p>
            <a:pPr>
              <a:spcBef>
                <a:spcPts val="600"/>
              </a:spcBef>
              <a:buFont typeface="Wingdings" panose="05000000000000000000" pitchFamily="2" charset="2"/>
              <a:buChar char="v"/>
              <a:tabLst>
                <a:tab pos="628650" algn="l"/>
              </a:tabLst>
            </a:pPr>
            <a:r>
              <a:rPr lang="en-US" sz="2000" dirty="0"/>
              <a:t>What issues must be addressed when building an e-commerce presence?</a:t>
            </a:r>
          </a:p>
        </p:txBody>
      </p:sp>
    </p:spTree>
    <p:extLst>
      <p:ext uri="{BB962C8B-B14F-4D97-AF65-F5344CB8AC3E}">
        <p14:creationId xmlns:p14="http://schemas.microsoft.com/office/powerpoint/2010/main" val="39259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7A0D32-BBEE-2011-D321-DE922F7B0140}"/>
              </a:ext>
            </a:extLst>
          </p:cNvPr>
          <p:cNvSpPr>
            <a:spLocks noGrp="1"/>
          </p:cNvSpPr>
          <p:nvPr>
            <p:ph type="title"/>
          </p:nvPr>
        </p:nvSpPr>
        <p:spPr>
          <a:xfrm>
            <a:off x="457200" y="161529"/>
            <a:ext cx="8229600" cy="276621"/>
          </a:xfrm>
        </p:spPr>
        <p:txBody>
          <a:bodyPr/>
          <a:lstStyle/>
          <a:p>
            <a:r>
              <a:rPr lang="en-US" sz="1800" dirty="0"/>
              <a:t>Students – please read this Case Study – next 3 slides - (take 5 minutes)</a:t>
            </a:r>
          </a:p>
        </p:txBody>
      </p:sp>
      <p:pic>
        <p:nvPicPr>
          <p:cNvPr id="4" name="Picture 3">
            <a:extLst>
              <a:ext uri="{FF2B5EF4-FFF2-40B4-BE49-F238E27FC236}">
                <a16:creationId xmlns:a16="http://schemas.microsoft.com/office/drawing/2014/main" id="{EA142678-9ACB-9711-18B8-E0E648C3B3F7}"/>
              </a:ext>
            </a:extLst>
          </p:cNvPr>
          <p:cNvPicPr>
            <a:picLocks noChangeAspect="1"/>
          </p:cNvPicPr>
          <p:nvPr/>
        </p:nvPicPr>
        <p:blipFill>
          <a:blip r:embed="rId2"/>
          <a:stretch>
            <a:fillRect/>
          </a:stretch>
        </p:blipFill>
        <p:spPr>
          <a:xfrm>
            <a:off x="2819400" y="428832"/>
            <a:ext cx="3855924" cy="4714667"/>
          </a:xfrm>
          <a:prstGeom prst="rect">
            <a:avLst/>
          </a:prstGeom>
        </p:spPr>
      </p:pic>
    </p:spTree>
    <p:extLst>
      <p:ext uri="{BB962C8B-B14F-4D97-AF65-F5344CB8AC3E}">
        <p14:creationId xmlns:p14="http://schemas.microsoft.com/office/powerpoint/2010/main" val="4021058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2D80E6-11C5-D10E-76EA-DD11FE0A9363}"/>
              </a:ext>
            </a:extLst>
          </p:cNvPr>
          <p:cNvPicPr>
            <a:picLocks noChangeAspect="1"/>
          </p:cNvPicPr>
          <p:nvPr/>
        </p:nvPicPr>
        <p:blipFill>
          <a:blip r:embed="rId2"/>
          <a:stretch>
            <a:fillRect/>
          </a:stretch>
        </p:blipFill>
        <p:spPr>
          <a:xfrm>
            <a:off x="2246243" y="0"/>
            <a:ext cx="4651513" cy="5143500"/>
          </a:xfrm>
          <a:prstGeom prst="rect">
            <a:avLst/>
          </a:prstGeom>
        </p:spPr>
      </p:pic>
    </p:spTree>
    <p:extLst>
      <p:ext uri="{BB962C8B-B14F-4D97-AF65-F5344CB8AC3E}">
        <p14:creationId xmlns:p14="http://schemas.microsoft.com/office/powerpoint/2010/main" val="476696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730248-92A0-6F8B-32AA-E8C6F80B95B3}"/>
              </a:ext>
            </a:extLst>
          </p:cNvPr>
          <p:cNvPicPr>
            <a:picLocks noChangeAspect="1"/>
          </p:cNvPicPr>
          <p:nvPr/>
        </p:nvPicPr>
        <p:blipFill>
          <a:blip r:embed="rId2"/>
          <a:stretch>
            <a:fillRect/>
          </a:stretch>
        </p:blipFill>
        <p:spPr>
          <a:xfrm>
            <a:off x="2601548" y="0"/>
            <a:ext cx="3940903" cy="5143500"/>
          </a:xfrm>
          <a:prstGeom prst="rect">
            <a:avLst/>
          </a:prstGeom>
        </p:spPr>
      </p:pic>
    </p:spTree>
    <p:extLst>
      <p:ext uri="{BB962C8B-B14F-4D97-AF65-F5344CB8AC3E}">
        <p14:creationId xmlns:p14="http://schemas.microsoft.com/office/powerpoint/2010/main" val="3311930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
            <a:ext cx="8229600" cy="984885"/>
          </a:xfrm>
        </p:spPr>
        <p:txBody>
          <a:bodyPr>
            <a:spAutoFit/>
          </a:bodyPr>
          <a:lstStyle/>
          <a:p>
            <a:r>
              <a:rPr lang="en-US" altLang="en-US" sz="3200" dirty="0"/>
              <a:t>   E-commerce Comes to the Dashboard:</a:t>
            </a:r>
            <a:br>
              <a:rPr lang="en-US" altLang="en-US" sz="3200" dirty="0"/>
            </a:br>
            <a:r>
              <a:rPr lang="en-US" altLang="en-US" sz="3200" dirty="0"/>
              <a:t>        The Battle for the “Fourth Screen”</a:t>
            </a:r>
            <a:endParaRPr lang="en-US" sz="2400" dirty="0"/>
          </a:p>
        </p:txBody>
      </p:sp>
      <p:sp>
        <p:nvSpPr>
          <p:cNvPr id="5" name="Content Placeholder 4"/>
          <p:cNvSpPr>
            <a:spLocks noGrp="1"/>
          </p:cNvSpPr>
          <p:nvPr>
            <p:ph idx="1"/>
          </p:nvPr>
        </p:nvSpPr>
        <p:spPr>
          <a:xfrm>
            <a:off x="457200" y="1048616"/>
            <a:ext cx="8229600" cy="4154984"/>
          </a:xfrm>
        </p:spPr>
        <p:txBody>
          <a:bodyPr>
            <a:spAutoFit/>
          </a:bodyPr>
          <a:lstStyle/>
          <a:p>
            <a:pPr>
              <a:spcBef>
                <a:spcPts val="600"/>
              </a:spcBef>
              <a:buFont typeface="Wingdings" panose="05000000000000000000" pitchFamily="2" charset="2"/>
              <a:buChar char="ü"/>
            </a:pPr>
            <a:r>
              <a:rPr lang="en-US" altLang="en-US" sz="2000" b="1" i="1" u="sng" dirty="0"/>
              <a:t>Problem</a:t>
            </a:r>
          </a:p>
          <a:p>
            <a:pPr lvl="1">
              <a:buFont typeface="Wingdings" panose="05000000000000000000" pitchFamily="2" charset="2"/>
              <a:buChar char="q"/>
            </a:pPr>
            <a:r>
              <a:rPr lang="en-US" altLang="en-US" sz="2000" dirty="0"/>
              <a:t>Opportunities presented by new technology</a:t>
            </a:r>
          </a:p>
          <a:p>
            <a:pPr>
              <a:spcBef>
                <a:spcPts val="600"/>
              </a:spcBef>
              <a:buFont typeface="Wingdings" panose="05000000000000000000" pitchFamily="2" charset="2"/>
              <a:buChar char="ü"/>
            </a:pPr>
            <a:r>
              <a:rPr lang="en-US" altLang="en-US" sz="2000" b="1" i="1" u="sng" dirty="0"/>
              <a:t>Solutions</a:t>
            </a:r>
          </a:p>
          <a:p>
            <a:pPr lvl="1">
              <a:buFont typeface="Wingdings" panose="05000000000000000000" pitchFamily="2" charset="2"/>
              <a:buChar char="q"/>
            </a:pPr>
            <a:r>
              <a:rPr lang="en-US" altLang="en-US" sz="2000" dirty="0"/>
              <a:t>Design business and revenue model</a:t>
            </a:r>
          </a:p>
          <a:p>
            <a:pPr lvl="1">
              <a:buFont typeface="Wingdings" panose="05000000000000000000" pitchFamily="2" charset="2"/>
              <a:buChar char="q"/>
            </a:pPr>
            <a:r>
              <a:rPr lang="en-US" altLang="en-US" sz="2000" dirty="0"/>
              <a:t>Partner with software providers</a:t>
            </a:r>
          </a:p>
          <a:p>
            <a:pPr lvl="1">
              <a:buFont typeface="Wingdings" panose="05000000000000000000" pitchFamily="2" charset="2"/>
              <a:buChar char="q"/>
            </a:pPr>
            <a:r>
              <a:rPr lang="en-US" altLang="en-US" sz="2000" dirty="0"/>
              <a:t>Data privacy restrictions</a:t>
            </a:r>
          </a:p>
          <a:p>
            <a:pPr lvl="1">
              <a:buFont typeface="Wingdings" panose="05000000000000000000" pitchFamily="2" charset="2"/>
              <a:buChar char="q"/>
            </a:pPr>
            <a:r>
              <a:rPr lang="en-US" altLang="en-US" sz="2000" dirty="0"/>
              <a:t>Design non-distracting interfaces</a:t>
            </a:r>
          </a:p>
          <a:p>
            <a:pPr lvl="1">
              <a:buFont typeface="Wingdings" panose="05000000000000000000" pitchFamily="2" charset="2"/>
              <a:buChar char="q"/>
            </a:pPr>
            <a:r>
              <a:rPr lang="en-US" altLang="en-US" sz="2000" dirty="0"/>
              <a:t>Dashboard display screens</a:t>
            </a:r>
          </a:p>
          <a:p>
            <a:pPr lvl="1">
              <a:buFont typeface="Wingdings" panose="05000000000000000000" pitchFamily="2" charset="2"/>
              <a:buChar char="q"/>
            </a:pPr>
            <a:r>
              <a:rPr lang="en-US" altLang="en-US" sz="2000" dirty="0"/>
              <a:t>Android Auto, Apple CarPlay, Android Automotive</a:t>
            </a:r>
          </a:p>
          <a:p>
            <a:pPr lvl="1">
              <a:buFont typeface="Wingdings" panose="05000000000000000000" pitchFamily="2" charset="2"/>
              <a:buChar char="q"/>
            </a:pPr>
            <a:r>
              <a:rPr lang="en-US" altLang="en-US" sz="2000" dirty="0"/>
              <a:t>Customer and auto databases</a:t>
            </a:r>
          </a:p>
          <a:p>
            <a:pPr>
              <a:spcBef>
                <a:spcPts val="600"/>
              </a:spcBef>
            </a:pPr>
            <a:endParaRPr lang="en-US" altLang="en-US" sz="2000" dirty="0"/>
          </a:p>
        </p:txBody>
      </p:sp>
    </p:spTree>
    <p:extLst>
      <p:ext uri="{BB962C8B-B14F-4D97-AF65-F5344CB8AC3E}">
        <p14:creationId xmlns:p14="http://schemas.microsoft.com/office/powerpoint/2010/main" val="212462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79108"/>
            <a:ext cx="8229600" cy="492443"/>
          </a:xfrm>
        </p:spPr>
        <p:txBody>
          <a:bodyPr>
            <a:spAutoFit/>
          </a:bodyPr>
          <a:lstStyle/>
          <a:p>
            <a:r>
              <a:rPr lang="en-US" altLang="en-US" sz="3200" dirty="0"/>
              <a:t>                             Major Trends</a:t>
            </a:r>
            <a:endParaRPr lang="en-US" sz="2400" dirty="0"/>
          </a:p>
        </p:txBody>
      </p:sp>
      <p:sp>
        <p:nvSpPr>
          <p:cNvPr id="5" name="Content Placeholder 4"/>
          <p:cNvSpPr>
            <a:spLocks noGrp="1"/>
          </p:cNvSpPr>
          <p:nvPr>
            <p:ph idx="1"/>
          </p:nvPr>
        </p:nvSpPr>
        <p:spPr>
          <a:xfrm>
            <a:off x="457200" y="1109811"/>
            <a:ext cx="8229600" cy="1461939"/>
          </a:xfrm>
        </p:spPr>
        <p:txBody>
          <a:bodyPr>
            <a:spAutoFit/>
          </a:bodyPr>
          <a:lstStyle/>
          <a:p>
            <a:pPr lvl="1">
              <a:buFont typeface="Wingdings" panose="05000000000000000000" pitchFamily="2" charset="2"/>
              <a:buChar char="Ø"/>
            </a:pPr>
            <a:r>
              <a:rPr lang="en-US" altLang="en-US" sz="2000" dirty="0"/>
              <a:t>E-commerce moves to the automobile platform</a:t>
            </a:r>
          </a:p>
          <a:p>
            <a:pPr lvl="1">
              <a:buFont typeface="Wingdings" panose="05000000000000000000" pitchFamily="2" charset="2"/>
              <a:buChar char="Ø"/>
            </a:pPr>
            <a:r>
              <a:rPr lang="en-US" altLang="en-US" sz="2000" dirty="0"/>
              <a:t>Sales of information and services</a:t>
            </a:r>
          </a:p>
          <a:p>
            <a:pPr lvl="1">
              <a:buFont typeface="Wingdings" panose="05000000000000000000" pitchFamily="2" charset="2"/>
              <a:buChar char="Ø"/>
            </a:pPr>
            <a:r>
              <a:rPr lang="en-US" altLang="en-US" sz="2000" dirty="0"/>
              <a:t>Use of advanced data mining and location-based advertising</a:t>
            </a:r>
          </a:p>
          <a:p>
            <a:pPr lvl="1">
              <a:buFont typeface="Wingdings" panose="05000000000000000000" pitchFamily="2" charset="2"/>
              <a:buChar char="Ø"/>
            </a:pPr>
            <a:r>
              <a:rPr lang="en-US" altLang="en-US" sz="2000" dirty="0"/>
              <a:t>Big tech firms competing with major auto makers</a:t>
            </a:r>
          </a:p>
        </p:txBody>
      </p:sp>
    </p:spTree>
    <p:extLst>
      <p:ext uri="{BB962C8B-B14F-4D97-AF65-F5344CB8AC3E}">
        <p14:creationId xmlns:p14="http://schemas.microsoft.com/office/powerpoint/2010/main" val="106553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0705"/>
            <a:ext cx="8229600" cy="492443"/>
          </a:xfrm>
        </p:spPr>
        <p:txBody>
          <a:bodyPr>
            <a:spAutoFit/>
          </a:bodyPr>
          <a:lstStyle/>
          <a:p>
            <a:r>
              <a:rPr lang="en-US" sz="3200" dirty="0"/>
              <a:t>E-commerce Today </a:t>
            </a:r>
            <a:endParaRPr lang="en-US" sz="3200" dirty="0">
              <a:solidFill>
                <a:srgbClr val="FF0000"/>
              </a:solidFill>
            </a:endParaRPr>
          </a:p>
        </p:txBody>
      </p:sp>
      <p:sp>
        <p:nvSpPr>
          <p:cNvPr id="5" name="Content Placeholder 4"/>
          <p:cNvSpPr>
            <a:spLocks noGrp="1"/>
          </p:cNvSpPr>
          <p:nvPr>
            <p:ph idx="1"/>
          </p:nvPr>
        </p:nvSpPr>
        <p:spPr>
          <a:xfrm>
            <a:off x="457200" y="885726"/>
            <a:ext cx="8229600" cy="2308324"/>
          </a:xfrm>
        </p:spPr>
        <p:txBody>
          <a:bodyPr>
            <a:spAutoFit/>
          </a:bodyPr>
          <a:lstStyle/>
          <a:p>
            <a:pPr>
              <a:buFont typeface="Wingdings" panose="05000000000000000000" pitchFamily="2" charset="2"/>
              <a:buChar char="ü"/>
            </a:pPr>
            <a:r>
              <a:rPr lang="en-US" sz="2000" dirty="0"/>
              <a:t>E-commerce: Use of the Internet and Web to transact business</a:t>
            </a:r>
          </a:p>
          <a:p>
            <a:pPr>
              <a:buFont typeface="Wingdings" panose="05000000000000000000" pitchFamily="2" charset="2"/>
              <a:buChar char="ü"/>
            </a:pPr>
            <a:r>
              <a:rPr lang="en-US" sz="2000" dirty="0"/>
              <a:t>Began in 1995 and grew exponentially; still stable even in a recession</a:t>
            </a:r>
          </a:p>
          <a:p>
            <a:pPr>
              <a:buFont typeface="Wingdings" panose="05000000000000000000" pitchFamily="2" charset="2"/>
              <a:buChar char="ü"/>
            </a:pPr>
            <a:r>
              <a:rPr lang="en-US" sz="2000" dirty="0"/>
              <a:t>Companies that survived the dot-com bubble now thrive</a:t>
            </a:r>
          </a:p>
          <a:p>
            <a:pPr>
              <a:buFont typeface="Wingdings" panose="05000000000000000000" pitchFamily="2" charset="2"/>
              <a:buChar char="ü"/>
            </a:pPr>
            <a:r>
              <a:rPr lang="en-US" sz="2000" b="1" u="sng" dirty="0"/>
              <a:t>The new e-commerce: social, mobile, local</a:t>
            </a:r>
          </a:p>
          <a:p>
            <a:pPr>
              <a:buFont typeface="Wingdings" panose="05000000000000000000" pitchFamily="2" charset="2"/>
              <a:buChar char="ü"/>
            </a:pPr>
            <a:r>
              <a:rPr lang="en-US" sz="2000" dirty="0"/>
              <a:t>Move from desktop to smartphone</a:t>
            </a:r>
          </a:p>
        </p:txBody>
      </p:sp>
    </p:spTree>
    <p:extLst>
      <p:ext uri="{BB962C8B-B14F-4D97-AF65-F5344CB8AC3E}">
        <p14:creationId xmlns:p14="http://schemas.microsoft.com/office/powerpoint/2010/main" val="3574338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930"/>
            <a:ext cx="8229600" cy="523220"/>
          </a:xfrm>
        </p:spPr>
        <p:txBody>
          <a:bodyPr>
            <a:spAutoFit/>
          </a:bodyPr>
          <a:lstStyle/>
          <a:p>
            <a:r>
              <a:rPr lang="en-US" sz="3400" dirty="0"/>
              <a:t>            The Growth of E-commerce</a:t>
            </a:r>
          </a:p>
        </p:txBody>
      </p:sp>
      <p:pic>
        <p:nvPicPr>
          <p:cNvPr id="3" name="Picture 2" descr="A line graph explains how e-commerce revenues have grown over the years. For a full description, see Notes. Press F6.">
            <a:extLst>
              <a:ext uri="{FF2B5EF4-FFF2-40B4-BE49-F238E27FC236}">
                <a16:creationId xmlns:a16="http://schemas.microsoft.com/office/drawing/2014/main" id="{C6F3D1DB-867D-410D-9FA5-05D977BEB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936885"/>
            <a:ext cx="7503045" cy="3311265"/>
          </a:xfrm>
          <a:prstGeom prst="rect">
            <a:avLst/>
          </a:prstGeom>
        </p:spPr>
      </p:pic>
    </p:spTree>
    <p:extLst>
      <p:ext uri="{BB962C8B-B14F-4D97-AF65-F5344CB8AC3E}">
        <p14:creationId xmlns:p14="http://schemas.microsoft.com/office/powerpoint/2010/main" val="2925401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US" dirty="0"/>
              <a:t>        Why E-commerce is Different</a:t>
            </a:r>
            <a:endParaRPr lang="en-US" sz="2800" dirty="0"/>
          </a:p>
        </p:txBody>
      </p:sp>
      <p:sp>
        <p:nvSpPr>
          <p:cNvPr id="5" name="Content Placeholder 4"/>
          <p:cNvSpPr>
            <a:spLocks noGrp="1"/>
          </p:cNvSpPr>
          <p:nvPr>
            <p:ph idx="1"/>
          </p:nvPr>
        </p:nvSpPr>
        <p:spPr>
          <a:xfrm>
            <a:off x="457200" y="842010"/>
            <a:ext cx="8229600" cy="3939540"/>
          </a:xfrm>
        </p:spPr>
        <p:txBody>
          <a:bodyPr>
            <a:spAutoFit/>
          </a:bodyPr>
          <a:lstStyle/>
          <a:p>
            <a:pPr>
              <a:spcBef>
                <a:spcPts val="600"/>
              </a:spcBef>
              <a:buFont typeface="Wingdings" panose="05000000000000000000" pitchFamily="2" charset="2"/>
              <a:buChar char="ü"/>
            </a:pPr>
            <a:r>
              <a:rPr lang="en-US" dirty="0"/>
              <a:t>Ubiquity</a:t>
            </a:r>
          </a:p>
          <a:p>
            <a:pPr lvl="1">
              <a:buFont typeface="Wingdings" panose="05000000000000000000" pitchFamily="2" charset="2"/>
              <a:buChar char="q"/>
            </a:pPr>
            <a:r>
              <a:rPr lang="en-US" sz="2400" dirty="0"/>
              <a:t>Marketspace is virtual</a:t>
            </a:r>
          </a:p>
          <a:p>
            <a:pPr lvl="1">
              <a:buFont typeface="Wingdings" panose="05000000000000000000" pitchFamily="2" charset="2"/>
              <a:buChar char="q"/>
            </a:pPr>
            <a:r>
              <a:rPr lang="en-US" sz="2400" dirty="0"/>
              <a:t>Transaction costs reduced</a:t>
            </a:r>
          </a:p>
          <a:p>
            <a:pPr>
              <a:spcBef>
                <a:spcPts val="600"/>
              </a:spcBef>
              <a:buFont typeface="Wingdings" panose="05000000000000000000" pitchFamily="2" charset="2"/>
              <a:buChar char="ü"/>
            </a:pPr>
            <a:r>
              <a:rPr lang="en-US" dirty="0"/>
              <a:t>Global reach</a:t>
            </a:r>
          </a:p>
          <a:p>
            <a:pPr lvl="1">
              <a:buFont typeface="Wingdings" panose="05000000000000000000" pitchFamily="2" charset="2"/>
              <a:buChar char="q"/>
            </a:pPr>
            <a:r>
              <a:rPr lang="en-US" sz="2400" dirty="0"/>
              <a:t>Transactions cross cultural and national boundaries</a:t>
            </a:r>
          </a:p>
          <a:p>
            <a:pPr>
              <a:spcBef>
                <a:spcPts val="600"/>
              </a:spcBef>
              <a:buFont typeface="Wingdings" panose="05000000000000000000" pitchFamily="2" charset="2"/>
              <a:buChar char="ü"/>
            </a:pPr>
            <a:r>
              <a:rPr lang="en-US" dirty="0"/>
              <a:t>Universal standards</a:t>
            </a:r>
          </a:p>
          <a:p>
            <a:pPr lvl="1">
              <a:buFont typeface="Wingdings" panose="05000000000000000000" pitchFamily="2" charset="2"/>
              <a:buChar char="q"/>
            </a:pPr>
            <a:r>
              <a:rPr lang="en-US" sz="2400" dirty="0"/>
              <a:t>One set of technology standards: Internet standards</a:t>
            </a:r>
          </a:p>
          <a:p>
            <a:pPr>
              <a:spcBef>
                <a:spcPts val="600"/>
              </a:spcBef>
              <a:buFont typeface="Wingdings" panose="05000000000000000000" pitchFamily="2" charset="2"/>
              <a:buChar char="ü"/>
            </a:pPr>
            <a:r>
              <a:rPr lang="en-US" dirty="0"/>
              <a:t>Richness</a:t>
            </a:r>
          </a:p>
          <a:p>
            <a:pPr lvl="1">
              <a:buFont typeface="Wingdings" panose="05000000000000000000" pitchFamily="2" charset="2"/>
              <a:buChar char="q"/>
            </a:pPr>
            <a:r>
              <a:rPr lang="en-US" sz="2400" dirty="0"/>
              <a:t>Supports video, audio, and text messages</a:t>
            </a:r>
          </a:p>
        </p:txBody>
      </p:sp>
    </p:spTree>
    <p:extLst>
      <p:ext uri="{BB962C8B-B14F-4D97-AF65-F5344CB8AC3E}">
        <p14:creationId xmlns:p14="http://schemas.microsoft.com/office/powerpoint/2010/main" val="708335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852"/>
            <a:ext cx="8229600" cy="553998"/>
          </a:xfrm>
        </p:spPr>
        <p:txBody>
          <a:bodyPr>
            <a:spAutoFit/>
          </a:bodyPr>
          <a:lstStyle/>
          <a:p>
            <a:r>
              <a:rPr lang="en-US" dirty="0"/>
              <a:t>Why E-commerce is Different </a:t>
            </a:r>
            <a:r>
              <a:rPr lang="en-US" sz="2800" dirty="0"/>
              <a:t>(</a:t>
            </a:r>
            <a:r>
              <a:rPr lang="en-US" sz="2800" dirty="0" err="1"/>
              <a:t>cont</a:t>
            </a:r>
            <a:r>
              <a:rPr lang="en-US" sz="2800" dirty="0"/>
              <a:t>’)</a:t>
            </a:r>
          </a:p>
        </p:txBody>
      </p:sp>
      <p:sp>
        <p:nvSpPr>
          <p:cNvPr id="5" name="Content Placeholder 4"/>
          <p:cNvSpPr>
            <a:spLocks noGrp="1"/>
          </p:cNvSpPr>
          <p:nvPr>
            <p:ph idx="1"/>
          </p:nvPr>
        </p:nvSpPr>
        <p:spPr>
          <a:xfrm>
            <a:off x="457200" y="728454"/>
            <a:ext cx="8229600" cy="3862596"/>
          </a:xfrm>
        </p:spPr>
        <p:txBody>
          <a:bodyPr>
            <a:spAutoFit/>
          </a:bodyPr>
          <a:lstStyle/>
          <a:p>
            <a:pPr>
              <a:spcBef>
                <a:spcPts val="600"/>
              </a:spcBef>
              <a:buFont typeface="Wingdings" panose="05000000000000000000" pitchFamily="2" charset="2"/>
              <a:buChar char="ü"/>
            </a:pPr>
            <a:r>
              <a:rPr lang="en-US" dirty="0"/>
              <a:t>Interactivity</a:t>
            </a:r>
          </a:p>
          <a:p>
            <a:pPr>
              <a:spcBef>
                <a:spcPts val="600"/>
              </a:spcBef>
              <a:buFont typeface="Wingdings" panose="05000000000000000000" pitchFamily="2" charset="2"/>
              <a:buChar char="ü"/>
            </a:pPr>
            <a:r>
              <a:rPr lang="en-US" dirty="0"/>
              <a:t>Information density</a:t>
            </a:r>
          </a:p>
          <a:p>
            <a:pPr lvl="1">
              <a:buFont typeface="Wingdings" panose="05000000000000000000" pitchFamily="2" charset="2"/>
              <a:buChar char="q"/>
            </a:pPr>
            <a:r>
              <a:rPr lang="en-US" sz="2400" dirty="0"/>
              <a:t>Greater price and cost transparency</a:t>
            </a:r>
          </a:p>
          <a:p>
            <a:pPr lvl="1">
              <a:buFont typeface="Wingdings" panose="05000000000000000000" pitchFamily="2" charset="2"/>
              <a:buChar char="q"/>
            </a:pPr>
            <a:r>
              <a:rPr lang="en-US" sz="2400" dirty="0"/>
              <a:t>Enables price discrimination</a:t>
            </a:r>
          </a:p>
          <a:p>
            <a:pPr>
              <a:spcBef>
                <a:spcPts val="600"/>
              </a:spcBef>
              <a:buFont typeface="Wingdings" panose="05000000000000000000" pitchFamily="2" charset="2"/>
              <a:buChar char="ü"/>
            </a:pPr>
            <a:r>
              <a:rPr lang="en-US" dirty="0"/>
              <a:t>Personalization/customization</a:t>
            </a:r>
          </a:p>
          <a:p>
            <a:pPr lvl="1">
              <a:buFont typeface="Wingdings" panose="05000000000000000000" pitchFamily="2" charset="2"/>
              <a:buChar char="q"/>
            </a:pPr>
            <a:r>
              <a:rPr lang="en-US" sz="2400" dirty="0"/>
              <a:t>Technology permits modification of messages, goods</a:t>
            </a:r>
          </a:p>
          <a:p>
            <a:pPr>
              <a:spcBef>
                <a:spcPts val="600"/>
              </a:spcBef>
              <a:buFont typeface="Wingdings" panose="05000000000000000000" pitchFamily="2" charset="2"/>
              <a:buChar char="ü"/>
            </a:pPr>
            <a:r>
              <a:rPr lang="en-US" dirty="0"/>
              <a:t>Social technology</a:t>
            </a:r>
          </a:p>
          <a:p>
            <a:pPr lvl="1">
              <a:buFont typeface="Wingdings" panose="05000000000000000000" pitchFamily="2" charset="2"/>
              <a:buChar char="q"/>
            </a:pPr>
            <a:r>
              <a:rPr lang="en-US" sz="2400" dirty="0"/>
              <a:t>Promotes user content generation and social networking</a:t>
            </a:r>
          </a:p>
        </p:txBody>
      </p:sp>
    </p:spTree>
    <p:extLst>
      <p:ext uri="{BB962C8B-B14F-4D97-AF65-F5344CB8AC3E}">
        <p14:creationId xmlns:p14="http://schemas.microsoft.com/office/powerpoint/2010/main" val="891846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50"/>
            <a:ext cx="8229600" cy="1661993"/>
          </a:xfrm>
        </p:spPr>
        <p:txBody>
          <a:bodyPr>
            <a:spAutoFit/>
          </a:bodyPr>
          <a:lstStyle/>
          <a:p>
            <a:r>
              <a:rPr lang="en-US" dirty="0"/>
              <a:t>Key Concepts in E-commerce – Digital Markets and Digital Goods in a Global Marketplace</a:t>
            </a:r>
            <a:endParaRPr lang="en-US" sz="2800" dirty="0"/>
          </a:p>
        </p:txBody>
      </p:sp>
      <p:sp>
        <p:nvSpPr>
          <p:cNvPr id="5" name="Content Placeholder 4"/>
          <p:cNvSpPr>
            <a:spLocks noGrp="1"/>
          </p:cNvSpPr>
          <p:nvPr>
            <p:ph idx="1"/>
          </p:nvPr>
        </p:nvSpPr>
        <p:spPr>
          <a:xfrm>
            <a:off x="457200" y="1819573"/>
            <a:ext cx="8229600" cy="2923877"/>
          </a:xfrm>
        </p:spPr>
        <p:txBody>
          <a:bodyPr>
            <a:spAutoFit/>
          </a:bodyPr>
          <a:lstStyle/>
          <a:p>
            <a:pPr>
              <a:spcBef>
                <a:spcPts val="600"/>
              </a:spcBef>
              <a:buFont typeface="Wingdings" panose="05000000000000000000" pitchFamily="2" charset="2"/>
              <a:buChar char="ü"/>
            </a:pPr>
            <a:r>
              <a:rPr lang="en-US" sz="2000" dirty="0"/>
              <a:t>Internet and digital markets have changed the way companies conduct business</a:t>
            </a:r>
          </a:p>
          <a:p>
            <a:pPr>
              <a:spcBef>
                <a:spcPts val="600"/>
              </a:spcBef>
              <a:buFont typeface="Wingdings" panose="05000000000000000000" pitchFamily="2" charset="2"/>
              <a:buChar char="ü"/>
            </a:pPr>
            <a:r>
              <a:rPr lang="en-US" sz="2000" dirty="0"/>
              <a:t>Information asymmetry reduced</a:t>
            </a:r>
          </a:p>
          <a:p>
            <a:pPr>
              <a:spcBef>
                <a:spcPts val="600"/>
              </a:spcBef>
              <a:buFont typeface="Wingdings" panose="05000000000000000000" pitchFamily="2" charset="2"/>
              <a:buChar char="ü"/>
            </a:pPr>
            <a:r>
              <a:rPr lang="en-US" sz="2000" dirty="0"/>
              <a:t>Menu costs, search and transaction costs reduced</a:t>
            </a:r>
          </a:p>
          <a:p>
            <a:pPr>
              <a:spcBef>
                <a:spcPts val="600"/>
              </a:spcBef>
              <a:buFont typeface="Wingdings" panose="05000000000000000000" pitchFamily="2" charset="2"/>
              <a:buChar char="ü"/>
            </a:pPr>
            <a:r>
              <a:rPr lang="en-US" sz="2000" dirty="0"/>
              <a:t>Dynamic pricing enabled</a:t>
            </a:r>
          </a:p>
          <a:p>
            <a:pPr>
              <a:spcBef>
                <a:spcPts val="600"/>
              </a:spcBef>
              <a:buFont typeface="Wingdings" panose="05000000000000000000" pitchFamily="2" charset="2"/>
              <a:buChar char="ü"/>
            </a:pPr>
            <a:r>
              <a:rPr lang="en-US" sz="2000" dirty="0"/>
              <a:t>Switching costs</a:t>
            </a:r>
          </a:p>
          <a:p>
            <a:pPr>
              <a:spcBef>
                <a:spcPts val="600"/>
              </a:spcBef>
              <a:buFont typeface="Wingdings" panose="05000000000000000000" pitchFamily="2" charset="2"/>
              <a:buChar char="ü"/>
            </a:pPr>
            <a:r>
              <a:rPr lang="en-US" sz="2000" dirty="0"/>
              <a:t>Delayed gratification</a:t>
            </a:r>
          </a:p>
          <a:p>
            <a:pPr>
              <a:spcBef>
                <a:spcPts val="600"/>
              </a:spcBef>
              <a:buFont typeface="Wingdings" panose="05000000000000000000" pitchFamily="2" charset="2"/>
              <a:buChar char="ü"/>
            </a:pPr>
            <a:r>
              <a:rPr lang="en-US" sz="2000" dirty="0"/>
              <a:t>Disintermediation</a:t>
            </a:r>
          </a:p>
        </p:txBody>
      </p:sp>
    </p:spTree>
    <p:extLst>
      <p:ext uri="{BB962C8B-B14F-4D97-AF65-F5344CB8AC3E}">
        <p14:creationId xmlns:p14="http://schemas.microsoft.com/office/powerpoint/2010/main" val="608644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
            <a:ext cx="8229600" cy="1097280"/>
          </a:xfrm>
        </p:spPr>
        <p:txBody>
          <a:bodyPr>
            <a:spAutoFit/>
          </a:bodyPr>
          <a:lstStyle/>
          <a:p>
            <a:r>
              <a:rPr lang="en-US" altLang="en-US" dirty="0"/>
              <a:t>The Benefits of Disintermediation to the Consumer</a:t>
            </a:r>
            <a:endParaRPr lang="en-US" sz="2800" dirty="0"/>
          </a:p>
        </p:txBody>
      </p:sp>
      <p:pic>
        <p:nvPicPr>
          <p:cNvPr id="2050" name="Picture 2" descr="A series of flow diagrams illustrate the benefits of removal of intermediaries from a sample supply chai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52803" y="1259146"/>
            <a:ext cx="7236421" cy="3506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4305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141862"/>
            <a:ext cx="8229600" cy="276999"/>
          </a:xfrm>
        </p:spPr>
        <p:txBody>
          <a:bodyPr>
            <a:spAutoFit/>
          </a:bodyPr>
          <a:lstStyle/>
          <a:p>
            <a:r>
              <a:rPr lang="en-US" altLang="en-US" sz="1800" dirty="0"/>
              <a:t>                                      Digital vs Traditional Markets</a:t>
            </a:r>
            <a:endParaRPr lang="en-US" sz="1800" dirty="0"/>
          </a:p>
        </p:txBody>
      </p:sp>
      <p:pic>
        <p:nvPicPr>
          <p:cNvPr id="3" name="Picture 2">
            <a:extLst>
              <a:ext uri="{FF2B5EF4-FFF2-40B4-BE49-F238E27FC236}">
                <a16:creationId xmlns:a16="http://schemas.microsoft.com/office/drawing/2014/main" id="{3B3BC2FD-B7C8-4C91-A185-904EEC9E5ACD}"/>
              </a:ext>
            </a:extLst>
          </p:cNvPr>
          <p:cNvPicPr>
            <a:picLocks noChangeAspect="1"/>
          </p:cNvPicPr>
          <p:nvPr/>
        </p:nvPicPr>
        <p:blipFill>
          <a:blip r:embed="rId3"/>
          <a:stretch>
            <a:fillRect/>
          </a:stretch>
        </p:blipFill>
        <p:spPr>
          <a:xfrm>
            <a:off x="2590800" y="366177"/>
            <a:ext cx="3505199" cy="4643973"/>
          </a:xfrm>
          <a:prstGeom prst="rect">
            <a:avLst/>
          </a:prstGeom>
        </p:spPr>
      </p:pic>
    </p:spTree>
    <p:extLst>
      <p:ext uri="{BB962C8B-B14F-4D97-AF65-F5344CB8AC3E}">
        <p14:creationId xmlns:p14="http://schemas.microsoft.com/office/powerpoint/2010/main" val="4115527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582"/>
            <a:ext cx="8229600" cy="548513"/>
          </a:xfrm>
        </p:spPr>
        <p:txBody>
          <a:bodyPr>
            <a:spAutoFit/>
          </a:bodyPr>
          <a:lstStyle/>
          <a:p>
            <a:r>
              <a:rPr lang="en-US" dirty="0"/>
              <a:t>Digital Goods</a:t>
            </a:r>
            <a:endParaRPr lang="en-US" sz="2800" dirty="0"/>
          </a:p>
        </p:txBody>
      </p:sp>
      <p:sp>
        <p:nvSpPr>
          <p:cNvPr id="5" name="Content Placeholder 4"/>
          <p:cNvSpPr>
            <a:spLocks noGrp="1"/>
          </p:cNvSpPr>
          <p:nvPr>
            <p:ph idx="1"/>
          </p:nvPr>
        </p:nvSpPr>
        <p:spPr>
          <a:xfrm>
            <a:off x="457200" y="909196"/>
            <a:ext cx="8229600" cy="2985433"/>
          </a:xfrm>
        </p:spPr>
        <p:txBody>
          <a:bodyPr>
            <a:spAutoFit/>
          </a:bodyPr>
          <a:lstStyle/>
          <a:p>
            <a:pPr>
              <a:buFont typeface="Wingdings" panose="05000000000000000000" pitchFamily="2" charset="2"/>
              <a:buChar char="ü"/>
            </a:pPr>
            <a:r>
              <a:rPr lang="en-US" dirty="0"/>
              <a:t>Goods that can be delivered over a digital network</a:t>
            </a:r>
          </a:p>
          <a:p>
            <a:pPr>
              <a:buFont typeface="Wingdings" panose="05000000000000000000" pitchFamily="2" charset="2"/>
              <a:buChar char="ü"/>
            </a:pPr>
            <a:r>
              <a:rPr lang="en-US" dirty="0"/>
              <a:t>Cost of producing first unit is almost entire cost of product</a:t>
            </a:r>
          </a:p>
          <a:p>
            <a:pPr>
              <a:buFont typeface="Wingdings" panose="05000000000000000000" pitchFamily="2" charset="2"/>
              <a:buChar char="ü"/>
            </a:pPr>
            <a:r>
              <a:rPr lang="en-US" dirty="0"/>
              <a:t>Costs of delivery over the Internet very low</a:t>
            </a:r>
          </a:p>
          <a:p>
            <a:pPr>
              <a:buFont typeface="Wingdings" panose="05000000000000000000" pitchFamily="2" charset="2"/>
              <a:buChar char="ü"/>
            </a:pPr>
            <a:r>
              <a:rPr lang="en-US" dirty="0"/>
              <a:t>Marketing costs remain the same; pricing highly variable</a:t>
            </a:r>
          </a:p>
          <a:p>
            <a:pPr>
              <a:buFont typeface="Wingdings" panose="05000000000000000000" pitchFamily="2" charset="2"/>
              <a:buChar char="ü"/>
            </a:pPr>
            <a:r>
              <a:rPr lang="en-US" dirty="0"/>
              <a:t>Industries with digital goods are undergoing revolutionary changes (publishers, record labels, etc.)</a:t>
            </a:r>
          </a:p>
        </p:txBody>
      </p:sp>
    </p:spTree>
    <p:extLst>
      <p:ext uri="{BB962C8B-B14F-4D97-AF65-F5344CB8AC3E}">
        <p14:creationId xmlns:p14="http://schemas.microsoft.com/office/powerpoint/2010/main" val="1940172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141862"/>
            <a:ext cx="8229600" cy="276999"/>
          </a:xfrm>
        </p:spPr>
        <p:txBody>
          <a:bodyPr>
            <a:spAutoFit/>
          </a:bodyPr>
          <a:lstStyle/>
          <a:p>
            <a:r>
              <a:rPr lang="en-US" altLang="en-US" sz="1800" dirty="0"/>
              <a:t>                                  INTERNET Affect on Digital Goods</a:t>
            </a:r>
            <a:endParaRPr lang="en-US" sz="1800" dirty="0"/>
          </a:p>
        </p:txBody>
      </p:sp>
      <p:pic>
        <p:nvPicPr>
          <p:cNvPr id="5" name="Picture 4">
            <a:extLst>
              <a:ext uri="{FF2B5EF4-FFF2-40B4-BE49-F238E27FC236}">
                <a16:creationId xmlns:a16="http://schemas.microsoft.com/office/drawing/2014/main" id="{8A3984DC-D60B-3FAA-75CE-165090ECAC42}"/>
              </a:ext>
            </a:extLst>
          </p:cNvPr>
          <p:cNvPicPr>
            <a:picLocks noChangeAspect="1"/>
          </p:cNvPicPr>
          <p:nvPr/>
        </p:nvPicPr>
        <p:blipFill>
          <a:blip r:embed="rId3"/>
          <a:stretch>
            <a:fillRect/>
          </a:stretch>
        </p:blipFill>
        <p:spPr>
          <a:xfrm>
            <a:off x="1371600" y="418861"/>
            <a:ext cx="6143625" cy="4362490"/>
          </a:xfrm>
          <a:prstGeom prst="rect">
            <a:avLst/>
          </a:prstGeom>
        </p:spPr>
      </p:pic>
    </p:spTree>
    <p:extLst>
      <p:ext uri="{BB962C8B-B14F-4D97-AF65-F5344CB8AC3E}">
        <p14:creationId xmlns:p14="http://schemas.microsoft.com/office/powerpoint/2010/main" val="2543344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852"/>
            <a:ext cx="8229600" cy="553998"/>
          </a:xfrm>
        </p:spPr>
        <p:txBody>
          <a:bodyPr>
            <a:spAutoFit/>
          </a:bodyPr>
          <a:lstStyle/>
          <a:p>
            <a:r>
              <a:rPr lang="en-US" dirty="0"/>
              <a:t>Types of E-commerce</a:t>
            </a:r>
            <a:endParaRPr lang="en-US" sz="2800" dirty="0"/>
          </a:p>
        </p:txBody>
      </p:sp>
      <p:sp>
        <p:nvSpPr>
          <p:cNvPr id="5" name="Content Placeholder 4"/>
          <p:cNvSpPr>
            <a:spLocks noGrp="1"/>
          </p:cNvSpPr>
          <p:nvPr>
            <p:ph idx="1"/>
          </p:nvPr>
        </p:nvSpPr>
        <p:spPr>
          <a:xfrm>
            <a:off x="457200" y="728747"/>
            <a:ext cx="8229600" cy="815608"/>
          </a:xfrm>
        </p:spPr>
        <p:txBody>
          <a:bodyPr>
            <a:spAutoFit/>
          </a:bodyPr>
          <a:lstStyle/>
          <a:p>
            <a:pPr>
              <a:buFont typeface="Wingdings" panose="05000000000000000000" pitchFamily="2" charset="2"/>
              <a:buChar char="ü"/>
            </a:pPr>
            <a:r>
              <a:rPr lang="en-US" dirty="0"/>
              <a:t>Three major types</a:t>
            </a:r>
          </a:p>
          <a:p>
            <a:pPr lvl="1">
              <a:buFont typeface="Wingdings" panose="05000000000000000000" pitchFamily="2" charset="2"/>
              <a:buChar char="q"/>
            </a:pPr>
            <a:r>
              <a:rPr lang="en-US" sz="2400" dirty="0"/>
              <a:t>Business-to-consumer (B2C)</a:t>
            </a:r>
          </a:p>
        </p:txBody>
      </p:sp>
      <p:sp>
        <p:nvSpPr>
          <p:cNvPr id="2" name="Content Placeholder 1"/>
          <p:cNvSpPr>
            <a:spLocks noGrp="1"/>
          </p:cNvSpPr>
          <p:nvPr>
            <p:ph idx="13"/>
          </p:nvPr>
        </p:nvSpPr>
        <p:spPr>
          <a:xfrm>
            <a:off x="457200" y="1614572"/>
            <a:ext cx="8229600" cy="369332"/>
          </a:xfrm>
        </p:spPr>
        <p:txBody>
          <a:bodyPr>
            <a:spAutoFit/>
          </a:bodyPr>
          <a:lstStyle/>
          <a:p>
            <a:pPr lvl="2"/>
            <a:r>
              <a:rPr lang="en-US" sz="2400" dirty="0"/>
              <a:t>Example: Amazon.com</a:t>
            </a:r>
          </a:p>
        </p:txBody>
      </p:sp>
      <p:sp>
        <p:nvSpPr>
          <p:cNvPr id="3" name="Content Placeholder 2"/>
          <p:cNvSpPr>
            <a:spLocks noGrp="1"/>
          </p:cNvSpPr>
          <p:nvPr>
            <p:ph sz="quarter" idx="14"/>
          </p:nvPr>
        </p:nvSpPr>
        <p:spPr>
          <a:xfrm>
            <a:off x="457200" y="2052722"/>
            <a:ext cx="8229600" cy="2716128"/>
          </a:xfrm>
        </p:spPr>
        <p:txBody>
          <a:bodyPr>
            <a:spAutoFit/>
          </a:bodyPr>
          <a:lstStyle/>
          <a:p>
            <a:pPr lvl="1">
              <a:buFont typeface="Wingdings" panose="05000000000000000000" pitchFamily="2" charset="2"/>
              <a:buChar char="q"/>
            </a:pPr>
            <a:r>
              <a:rPr lang="en-US" sz="2400" dirty="0"/>
              <a:t>Business-to-business (B2B)</a:t>
            </a:r>
          </a:p>
          <a:p>
            <a:pPr lvl="2"/>
            <a:r>
              <a:rPr lang="en-US" sz="2400" dirty="0"/>
              <a:t>Example: </a:t>
            </a:r>
            <a:r>
              <a:rPr lang="en-US" sz="2400" dirty="0" err="1"/>
              <a:t>Elemica</a:t>
            </a:r>
            <a:endParaRPr lang="en-US" sz="2400" dirty="0"/>
          </a:p>
          <a:p>
            <a:pPr lvl="1">
              <a:buFont typeface="Wingdings" panose="05000000000000000000" pitchFamily="2" charset="2"/>
              <a:buChar char="q"/>
            </a:pPr>
            <a:r>
              <a:rPr lang="en-US" sz="2400" dirty="0"/>
              <a:t>Consumer-to-consumer (C2C)</a:t>
            </a:r>
          </a:p>
          <a:p>
            <a:pPr lvl="2"/>
            <a:r>
              <a:rPr lang="en-US" sz="2400" dirty="0"/>
              <a:t>Example: eBay</a:t>
            </a:r>
          </a:p>
          <a:p>
            <a:pPr>
              <a:buFont typeface="Wingdings" panose="05000000000000000000" pitchFamily="2" charset="2"/>
              <a:buChar char="ü"/>
            </a:pPr>
            <a:r>
              <a:rPr lang="en-US" dirty="0"/>
              <a:t>E-commerce can be categorized by platform</a:t>
            </a:r>
          </a:p>
          <a:p>
            <a:pPr lvl="1">
              <a:buFont typeface="Wingdings" panose="05000000000000000000" pitchFamily="2" charset="2"/>
              <a:buChar char="q"/>
            </a:pPr>
            <a:r>
              <a:rPr lang="en-US" sz="2400" dirty="0"/>
              <a:t>Mobile commerce (m-commerce)</a:t>
            </a:r>
            <a:endParaRPr lang="en-US" dirty="0"/>
          </a:p>
        </p:txBody>
      </p:sp>
    </p:spTree>
    <p:extLst>
      <p:ext uri="{BB962C8B-B14F-4D97-AF65-F5344CB8AC3E}">
        <p14:creationId xmlns:p14="http://schemas.microsoft.com/office/powerpoint/2010/main" val="3926481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93"/>
            <a:ext cx="8229600" cy="553998"/>
          </a:xfrm>
        </p:spPr>
        <p:txBody>
          <a:bodyPr>
            <a:spAutoFit/>
          </a:bodyPr>
          <a:lstStyle/>
          <a:p>
            <a:r>
              <a:rPr lang="en-US" dirty="0"/>
              <a:t>E-commerce Business Models</a:t>
            </a:r>
            <a:endParaRPr lang="en-US" sz="2800" dirty="0"/>
          </a:p>
        </p:txBody>
      </p:sp>
      <p:pic>
        <p:nvPicPr>
          <p:cNvPr id="7" name="Picture 6">
            <a:extLst>
              <a:ext uri="{FF2B5EF4-FFF2-40B4-BE49-F238E27FC236}">
                <a16:creationId xmlns:a16="http://schemas.microsoft.com/office/drawing/2014/main" id="{A6EE26B2-F29B-A478-D545-A79BF06759AC}"/>
              </a:ext>
            </a:extLst>
          </p:cNvPr>
          <p:cNvPicPr>
            <a:picLocks noChangeAspect="1"/>
          </p:cNvPicPr>
          <p:nvPr/>
        </p:nvPicPr>
        <p:blipFill>
          <a:blip r:embed="rId3"/>
          <a:stretch>
            <a:fillRect/>
          </a:stretch>
        </p:blipFill>
        <p:spPr>
          <a:xfrm>
            <a:off x="1828800" y="539262"/>
            <a:ext cx="4776328" cy="4517780"/>
          </a:xfrm>
          <a:prstGeom prst="rect">
            <a:avLst/>
          </a:prstGeom>
        </p:spPr>
      </p:pic>
    </p:spTree>
    <p:extLst>
      <p:ext uri="{BB962C8B-B14F-4D97-AF65-F5344CB8AC3E}">
        <p14:creationId xmlns:p14="http://schemas.microsoft.com/office/powerpoint/2010/main" val="3256309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979"/>
            <a:ext cx="8229600" cy="553998"/>
          </a:xfrm>
        </p:spPr>
        <p:txBody>
          <a:bodyPr>
            <a:spAutoFit/>
          </a:bodyPr>
          <a:lstStyle/>
          <a:p>
            <a:r>
              <a:rPr lang="en-US" dirty="0"/>
              <a:t>E-commerce Revenue Models</a:t>
            </a:r>
            <a:endParaRPr lang="en-US" sz="2800" dirty="0"/>
          </a:p>
        </p:txBody>
      </p:sp>
      <p:sp>
        <p:nvSpPr>
          <p:cNvPr id="5" name="Content Placeholder 4"/>
          <p:cNvSpPr>
            <a:spLocks noGrp="1"/>
          </p:cNvSpPr>
          <p:nvPr>
            <p:ph idx="1"/>
          </p:nvPr>
        </p:nvSpPr>
        <p:spPr>
          <a:xfrm>
            <a:off x="457200" y="892557"/>
            <a:ext cx="8229600" cy="3177793"/>
          </a:xfrm>
        </p:spPr>
        <p:txBody>
          <a:bodyPr>
            <a:spAutoFit/>
          </a:bodyPr>
          <a:lstStyle/>
          <a:p>
            <a:pPr>
              <a:buFont typeface="Wingdings" panose="05000000000000000000" pitchFamily="2" charset="2"/>
              <a:buChar char="ü"/>
            </a:pPr>
            <a:r>
              <a:rPr lang="en-US" dirty="0"/>
              <a:t>Advertising</a:t>
            </a:r>
          </a:p>
          <a:p>
            <a:pPr>
              <a:buFont typeface="Wingdings" panose="05000000000000000000" pitchFamily="2" charset="2"/>
              <a:buChar char="ü"/>
            </a:pPr>
            <a:r>
              <a:rPr lang="en-US" dirty="0"/>
              <a:t>Sales</a:t>
            </a:r>
          </a:p>
          <a:p>
            <a:pPr>
              <a:buFont typeface="Wingdings" panose="05000000000000000000" pitchFamily="2" charset="2"/>
              <a:buChar char="ü"/>
            </a:pPr>
            <a:r>
              <a:rPr lang="en-US" dirty="0"/>
              <a:t>Subscription</a:t>
            </a:r>
          </a:p>
          <a:p>
            <a:pPr>
              <a:buFont typeface="Wingdings" panose="05000000000000000000" pitchFamily="2" charset="2"/>
              <a:buChar char="ü"/>
            </a:pPr>
            <a:r>
              <a:rPr lang="en-US" dirty="0"/>
              <a:t>Free/Freemium</a:t>
            </a:r>
          </a:p>
          <a:p>
            <a:pPr>
              <a:buFont typeface="Wingdings" panose="05000000000000000000" pitchFamily="2" charset="2"/>
              <a:buChar char="ü"/>
            </a:pPr>
            <a:r>
              <a:rPr lang="en-US" dirty="0"/>
              <a:t>Transaction fee</a:t>
            </a:r>
          </a:p>
          <a:p>
            <a:pPr>
              <a:buFont typeface="Wingdings" panose="05000000000000000000" pitchFamily="2" charset="2"/>
              <a:buChar char="ü"/>
            </a:pPr>
            <a:r>
              <a:rPr lang="en-US" dirty="0"/>
              <a:t>Affiliate</a:t>
            </a:r>
          </a:p>
        </p:txBody>
      </p:sp>
    </p:spTree>
    <p:extLst>
      <p:ext uri="{BB962C8B-B14F-4D97-AF65-F5344CB8AC3E}">
        <p14:creationId xmlns:p14="http://schemas.microsoft.com/office/powerpoint/2010/main" val="383375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47800" y="57150"/>
            <a:ext cx="8229600" cy="553998"/>
          </a:xfrm>
        </p:spPr>
        <p:txBody>
          <a:bodyPr>
            <a:spAutoFit/>
          </a:bodyPr>
          <a:lstStyle/>
          <a:p>
            <a:r>
              <a:rPr lang="en-US" dirty="0"/>
              <a:t>Advertising Revenue Model</a:t>
            </a:r>
            <a:endParaRPr lang="en-US" sz="2800" dirty="0"/>
          </a:p>
        </p:txBody>
      </p:sp>
      <p:pic>
        <p:nvPicPr>
          <p:cNvPr id="7" name="Picture 6">
            <a:extLst>
              <a:ext uri="{FF2B5EF4-FFF2-40B4-BE49-F238E27FC236}">
                <a16:creationId xmlns:a16="http://schemas.microsoft.com/office/drawing/2014/main" id="{0EE8B8BE-AA64-0D84-6F5E-6591C92992E5}"/>
              </a:ext>
            </a:extLst>
          </p:cNvPr>
          <p:cNvPicPr>
            <a:picLocks noChangeAspect="1"/>
          </p:cNvPicPr>
          <p:nvPr/>
        </p:nvPicPr>
        <p:blipFill>
          <a:blip r:embed="rId3"/>
          <a:stretch>
            <a:fillRect/>
          </a:stretch>
        </p:blipFill>
        <p:spPr>
          <a:xfrm>
            <a:off x="1371600" y="611148"/>
            <a:ext cx="5918119" cy="4170402"/>
          </a:xfrm>
          <a:prstGeom prst="rect">
            <a:avLst/>
          </a:prstGeom>
        </p:spPr>
      </p:pic>
    </p:spTree>
    <p:extLst>
      <p:ext uri="{BB962C8B-B14F-4D97-AF65-F5344CB8AC3E}">
        <p14:creationId xmlns:p14="http://schemas.microsoft.com/office/powerpoint/2010/main" val="3417003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4141"/>
            <a:ext cx="8229600" cy="553998"/>
          </a:xfrm>
        </p:spPr>
        <p:txBody>
          <a:bodyPr>
            <a:spAutoFit/>
          </a:bodyPr>
          <a:lstStyle/>
          <a:p>
            <a:r>
              <a:rPr lang="en-US" dirty="0"/>
              <a:t>Advertising Revenue Model (</a:t>
            </a:r>
            <a:r>
              <a:rPr lang="en-US" dirty="0" err="1"/>
              <a:t>cont</a:t>
            </a:r>
            <a:r>
              <a:rPr lang="en-US" dirty="0"/>
              <a:t>’)</a:t>
            </a:r>
            <a:endParaRPr lang="en-US" sz="2800" dirty="0"/>
          </a:p>
        </p:txBody>
      </p:sp>
      <p:pic>
        <p:nvPicPr>
          <p:cNvPr id="9" name="Picture 8">
            <a:extLst>
              <a:ext uri="{FF2B5EF4-FFF2-40B4-BE49-F238E27FC236}">
                <a16:creationId xmlns:a16="http://schemas.microsoft.com/office/drawing/2014/main" id="{4508877F-1DDC-96D8-6334-192A0CD47881}"/>
              </a:ext>
            </a:extLst>
          </p:cNvPr>
          <p:cNvPicPr>
            <a:picLocks noChangeAspect="1"/>
          </p:cNvPicPr>
          <p:nvPr/>
        </p:nvPicPr>
        <p:blipFill>
          <a:blip r:embed="rId3"/>
          <a:stretch>
            <a:fillRect/>
          </a:stretch>
        </p:blipFill>
        <p:spPr>
          <a:xfrm>
            <a:off x="1295400" y="666750"/>
            <a:ext cx="6772275" cy="2066925"/>
          </a:xfrm>
          <a:prstGeom prst="rect">
            <a:avLst/>
          </a:prstGeom>
        </p:spPr>
      </p:pic>
    </p:spTree>
    <p:extLst>
      <p:ext uri="{BB962C8B-B14F-4D97-AF65-F5344CB8AC3E}">
        <p14:creationId xmlns:p14="http://schemas.microsoft.com/office/powerpoint/2010/main" val="2369709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47800" y="57150"/>
            <a:ext cx="8229600" cy="553998"/>
          </a:xfrm>
        </p:spPr>
        <p:txBody>
          <a:bodyPr>
            <a:spAutoFit/>
          </a:bodyPr>
          <a:lstStyle/>
          <a:p>
            <a:r>
              <a:rPr lang="en-US" dirty="0"/>
              <a:t>     Sales Revenue Model</a:t>
            </a:r>
            <a:endParaRPr lang="en-US" sz="2800" dirty="0"/>
          </a:p>
        </p:txBody>
      </p:sp>
      <p:pic>
        <p:nvPicPr>
          <p:cNvPr id="3" name="Picture 2">
            <a:extLst>
              <a:ext uri="{FF2B5EF4-FFF2-40B4-BE49-F238E27FC236}">
                <a16:creationId xmlns:a16="http://schemas.microsoft.com/office/drawing/2014/main" id="{B6562F0A-24A9-0F2A-52B3-7CA7B1A5B4BA}"/>
              </a:ext>
            </a:extLst>
          </p:cNvPr>
          <p:cNvPicPr>
            <a:picLocks noChangeAspect="1"/>
          </p:cNvPicPr>
          <p:nvPr/>
        </p:nvPicPr>
        <p:blipFill>
          <a:blip r:embed="rId3"/>
          <a:stretch>
            <a:fillRect/>
          </a:stretch>
        </p:blipFill>
        <p:spPr>
          <a:xfrm>
            <a:off x="1214437" y="609600"/>
            <a:ext cx="6715125" cy="3924300"/>
          </a:xfrm>
          <a:prstGeom prst="rect">
            <a:avLst/>
          </a:prstGeom>
        </p:spPr>
      </p:pic>
    </p:spTree>
    <p:extLst>
      <p:ext uri="{BB962C8B-B14F-4D97-AF65-F5344CB8AC3E}">
        <p14:creationId xmlns:p14="http://schemas.microsoft.com/office/powerpoint/2010/main" val="2397676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55602"/>
            <a:ext cx="8229600" cy="553998"/>
          </a:xfrm>
        </p:spPr>
        <p:txBody>
          <a:bodyPr>
            <a:spAutoFit/>
          </a:bodyPr>
          <a:lstStyle/>
          <a:p>
            <a:r>
              <a:rPr lang="en-US" dirty="0"/>
              <a:t>     Subscription Revenue Model</a:t>
            </a:r>
            <a:endParaRPr lang="en-US" sz="2800" dirty="0"/>
          </a:p>
        </p:txBody>
      </p:sp>
      <p:pic>
        <p:nvPicPr>
          <p:cNvPr id="5" name="Picture 4">
            <a:extLst>
              <a:ext uri="{FF2B5EF4-FFF2-40B4-BE49-F238E27FC236}">
                <a16:creationId xmlns:a16="http://schemas.microsoft.com/office/drawing/2014/main" id="{8373E6C4-D978-C583-FA1C-62EFBA6F405D}"/>
              </a:ext>
            </a:extLst>
          </p:cNvPr>
          <p:cNvPicPr>
            <a:picLocks noChangeAspect="1"/>
          </p:cNvPicPr>
          <p:nvPr/>
        </p:nvPicPr>
        <p:blipFill>
          <a:blip r:embed="rId3"/>
          <a:stretch>
            <a:fillRect/>
          </a:stretch>
        </p:blipFill>
        <p:spPr>
          <a:xfrm>
            <a:off x="1276350" y="728662"/>
            <a:ext cx="6591300" cy="3686175"/>
          </a:xfrm>
          <a:prstGeom prst="rect">
            <a:avLst/>
          </a:prstGeom>
        </p:spPr>
      </p:pic>
    </p:spTree>
    <p:extLst>
      <p:ext uri="{BB962C8B-B14F-4D97-AF65-F5344CB8AC3E}">
        <p14:creationId xmlns:p14="http://schemas.microsoft.com/office/powerpoint/2010/main" val="3088724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55602"/>
            <a:ext cx="8229600" cy="553998"/>
          </a:xfrm>
        </p:spPr>
        <p:txBody>
          <a:bodyPr>
            <a:spAutoFit/>
          </a:bodyPr>
          <a:lstStyle/>
          <a:p>
            <a:r>
              <a:rPr lang="en-US" dirty="0"/>
              <a:t>     Free/Freemium Revenue Model</a:t>
            </a:r>
            <a:endParaRPr lang="en-US" sz="2800" dirty="0"/>
          </a:p>
        </p:txBody>
      </p:sp>
      <p:pic>
        <p:nvPicPr>
          <p:cNvPr id="3" name="Picture 2">
            <a:extLst>
              <a:ext uri="{FF2B5EF4-FFF2-40B4-BE49-F238E27FC236}">
                <a16:creationId xmlns:a16="http://schemas.microsoft.com/office/drawing/2014/main" id="{1A9C525C-4B0A-419F-8F38-8A1A67E3ECA0}"/>
              </a:ext>
            </a:extLst>
          </p:cNvPr>
          <p:cNvPicPr>
            <a:picLocks noChangeAspect="1"/>
          </p:cNvPicPr>
          <p:nvPr/>
        </p:nvPicPr>
        <p:blipFill>
          <a:blip r:embed="rId3"/>
          <a:stretch>
            <a:fillRect/>
          </a:stretch>
        </p:blipFill>
        <p:spPr>
          <a:xfrm>
            <a:off x="1238250" y="652462"/>
            <a:ext cx="6667500" cy="3838575"/>
          </a:xfrm>
          <a:prstGeom prst="rect">
            <a:avLst/>
          </a:prstGeom>
        </p:spPr>
      </p:pic>
    </p:spTree>
    <p:extLst>
      <p:ext uri="{BB962C8B-B14F-4D97-AF65-F5344CB8AC3E}">
        <p14:creationId xmlns:p14="http://schemas.microsoft.com/office/powerpoint/2010/main" val="2205768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55602"/>
            <a:ext cx="8229600" cy="553998"/>
          </a:xfrm>
        </p:spPr>
        <p:txBody>
          <a:bodyPr>
            <a:spAutoFit/>
          </a:bodyPr>
          <a:lstStyle/>
          <a:p>
            <a:r>
              <a:rPr lang="en-US" dirty="0"/>
              <a:t>     Transaction Fee Revenue Model</a:t>
            </a:r>
            <a:endParaRPr lang="en-US" sz="2800" dirty="0"/>
          </a:p>
        </p:txBody>
      </p:sp>
      <p:pic>
        <p:nvPicPr>
          <p:cNvPr id="5" name="Picture 4">
            <a:extLst>
              <a:ext uri="{FF2B5EF4-FFF2-40B4-BE49-F238E27FC236}">
                <a16:creationId xmlns:a16="http://schemas.microsoft.com/office/drawing/2014/main" id="{10F54213-B505-48C5-AF87-46F75889DD95}"/>
              </a:ext>
            </a:extLst>
          </p:cNvPr>
          <p:cNvPicPr>
            <a:picLocks noChangeAspect="1"/>
          </p:cNvPicPr>
          <p:nvPr/>
        </p:nvPicPr>
        <p:blipFill>
          <a:blip r:embed="rId3"/>
          <a:stretch>
            <a:fillRect/>
          </a:stretch>
        </p:blipFill>
        <p:spPr>
          <a:xfrm>
            <a:off x="1905000" y="600278"/>
            <a:ext cx="5181600" cy="4487620"/>
          </a:xfrm>
          <a:prstGeom prst="rect">
            <a:avLst/>
          </a:prstGeom>
        </p:spPr>
      </p:pic>
    </p:spTree>
    <p:extLst>
      <p:ext uri="{BB962C8B-B14F-4D97-AF65-F5344CB8AC3E}">
        <p14:creationId xmlns:p14="http://schemas.microsoft.com/office/powerpoint/2010/main" val="2983329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0" y="55602"/>
            <a:ext cx="8229600" cy="553998"/>
          </a:xfrm>
        </p:spPr>
        <p:txBody>
          <a:bodyPr>
            <a:spAutoFit/>
          </a:bodyPr>
          <a:lstStyle/>
          <a:p>
            <a:r>
              <a:rPr lang="en-US" dirty="0"/>
              <a:t>          Affiliate Revenue Model</a:t>
            </a:r>
            <a:endParaRPr lang="en-US" sz="2800" dirty="0"/>
          </a:p>
        </p:txBody>
      </p:sp>
      <p:pic>
        <p:nvPicPr>
          <p:cNvPr id="3" name="Picture 2">
            <a:extLst>
              <a:ext uri="{FF2B5EF4-FFF2-40B4-BE49-F238E27FC236}">
                <a16:creationId xmlns:a16="http://schemas.microsoft.com/office/drawing/2014/main" id="{E8D41FAB-8D77-BB85-0BB5-0F76A42700DA}"/>
              </a:ext>
            </a:extLst>
          </p:cNvPr>
          <p:cNvPicPr>
            <a:picLocks noChangeAspect="1"/>
          </p:cNvPicPr>
          <p:nvPr/>
        </p:nvPicPr>
        <p:blipFill>
          <a:blip r:embed="rId3"/>
          <a:stretch>
            <a:fillRect/>
          </a:stretch>
        </p:blipFill>
        <p:spPr>
          <a:xfrm>
            <a:off x="1523999" y="585800"/>
            <a:ext cx="6410325" cy="4176699"/>
          </a:xfrm>
          <a:prstGeom prst="rect">
            <a:avLst/>
          </a:prstGeom>
        </p:spPr>
      </p:pic>
    </p:spTree>
    <p:extLst>
      <p:ext uri="{BB962C8B-B14F-4D97-AF65-F5344CB8AC3E}">
        <p14:creationId xmlns:p14="http://schemas.microsoft.com/office/powerpoint/2010/main" val="2828316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7A0D32-BBEE-2011-D321-DE922F7B0140}"/>
              </a:ext>
            </a:extLst>
          </p:cNvPr>
          <p:cNvSpPr>
            <a:spLocks noGrp="1"/>
          </p:cNvSpPr>
          <p:nvPr>
            <p:ph type="title"/>
          </p:nvPr>
        </p:nvSpPr>
        <p:spPr>
          <a:xfrm>
            <a:off x="457200" y="161529"/>
            <a:ext cx="8229600" cy="276621"/>
          </a:xfrm>
        </p:spPr>
        <p:txBody>
          <a:bodyPr/>
          <a:lstStyle/>
          <a:p>
            <a:r>
              <a:rPr lang="en-US" sz="1800" dirty="0"/>
              <a:t>Students – please read this Case Study – next 3 slides - (take 5 minutes)</a:t>
            </a:r>
          </a:p>
        </p:txBody>
      </p:sp>
      <p:pic>
        <p:nvPicPr>
          <p:cNvPr id="3" name="Picture 2">
            <a:extLst>
              <a:ext uri="{FF2B5EF4-FFF2-40B4-BE49-F238E27FC236}">
                <a16:creationId xmlns:a16="http://schemas.microsoft.com/office/drawing/2014/main" id="{B742ED4D-7932-6B55-305F-C93157B00BE0}"/>
              </a:ext>
            </a:extLst>
          </p:cNvPr>
          <p:cNvPicPr>
            <a:picLocks noChangeAspect="1"/>
          </p:cNvPicPr>
          <p:nvPr/>
        </p:nvPicPr>
        <p:blipFill>
          <a:blip r:embed="rId2"/>
          <a:stretch>
            <a:fillRect/>
          </a:stretch>
        </p:blipFill>
        <p:spPr>
          <a:xfrm>
            <a:off x="2514600" y="436934"/>
            <a:ext cx="3769188" cy="4631815"/>
          </a:xfrm>
          <a:prstGeom prst="rect">
            <a:avLst/>
          </a:prstGeom>
        </p:spPr>
      </p:pic>
    </p:spTree>
    <p:extLst>
      <p:ext uri="{BB962C8B-B14F-4D97-AF65-F5344CB8AC3E}">
        <p14:creationId xmlns:p14="http://schemas.microsoft.com/office/powerpoint/2010/main" val="4209531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CFF1E0-B12D-2562-5864-687AD2405666}"/>
              </a:ext>
            </a:extLst>
          </p:cNvPr>
          <p:cNvPicPr>
            <a:picLocks noChangeAspect="1"/>
          </p:cNvPicPr>
          <p:nvPr/>
        </p:nvPicPr>
        <p:blipFill>
          <a:blip r:embed="rId2"/>
          <a:stretch>
            <a:fillRect/>
          </a:stretch>
        </p:blipFill>
        <p:spPr>
          <a:xfrm>
            <a:off x="2089769" y="133350"/>
            <a:ext cx="4964462" cy="4634816"/>
          </a:xfrm>
          <a:prstGeom prst="rect">
            <a:avLst/>
          </a:prstGeom>
        </p:spPr>
      </p:pic>
    </p:spTree>
    <p:extLst>
      <p:ext uri="{BB962C8B-B14F-4D97-AF65-F5344CB8AC3E}">
        <p14:creationId xmlns:p14="http://schemas.microsoft.com/office/powerpoint/2010/main" val="3392116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20A0B2-EB81-6BA6-A5BE-99237096EED7}"/>
              </a:ext>
            </a:extLst>
          </p:cNvPr>
          <p:cNvPicPr>
            <a:picLocks noChangeAspect="1"/>
          </p:cNvPicPr>
          <p:nvPr/>
        </p:nvPicPr>
        <p:blipFill>
          <a:blip r:embed="rId2"/>
          <a:stretch>
            <a:fillRect/>
          </a:stretch>
        </p:blipFill>
        <p:spPr>
          <a:xfrm>
            <a:off x="2570804" y="0"/>
            <a:ext cx="4002392" cy="5143500"/>
          </a:xfrm>
          <a:prstGeom prst="rect">
            <a:avLst/>
          </a:prstGeom>
        </p:spPr>
      </p:pic>
    </p:spTree>
    <p:extLst>
      <p:ext uri="{BB962C8B-B14F-4D97-AF65-F5344CB8AC3E}">
        <p14:creationId xmlns:p14="http://schemas.microsoft.com/office/powerpoint/2010/main" val="26740369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65842"/>
            <a:ext cx="8229600" cy="677108"/>
          </a:xfrm>
        </p:spPr>
        <p:txBody>
          <a:bodyPr>
            <a:spAutoFit/>
          </a:bodyPr>
          <a:lstStyle/>
          <a:p>
            <a:r>
              <a:rPr lang="en-US" sz="2400" dirty="0"/>
              <a:t> </a:t>
            </a:r>
            <a:r>
              <a:rPr lang="en-US" sz="2000" dirty="0"/>
              <a:t>Small Business Loans from a FinTech App - Case Study Questions</a:t>
            </a:r>
            <a:br>
              <a:rPr lang="en-US" sz="2000" dirty="0"/>
            </a:br>
            <a:endParaRPr lang="en-US" sz="2000" dirty="0"/>
          </a:p>
        </p:txBody>
      </p:sp>
      <p:sp>
        <p:nvSpPr>
          <p:cNvPr id="3" name="Content Placeholder 2">
            <a:extLst>
              <a:ext uri="{FF2B5EF4-FFF2-40B4-BE49-F238E27FC236}">
                <a16:creationId xmlns:a16="http://schemas.microsoft.com/office/drawing/2014/main" id="{FBC35AED-EBFA-0A1C-D54C-E182469FC984}"/>
              </a:ext>
            </a:extLst>
          </p:cNvPr>
          <p:cNvSpPr>
            <a:spLocks noGrp="1"/>
          </p:cNvSpPr>
          <p:nvPr>
            <p:ph idx="1"/>
          </p:nvPr>
        </p:nvSpPr>
        <p:spPr>
          <a:xfrm>
            <a:off x="381000" y="742950"/>
            <a:ext cx="8229600" cy="3910752"/>
          </a:xfrm>
        </p:spPr>
        <p:txBody>
          <a:bodyPr/>
          <a:lstStyle/>
          <a:p>
            <a:pPr marL="342900" marR="0" lvl="0" indent="-342900">
              <a:spcBef>
                <a:spcPts val="0"/>
              </a:spcBef>
              <a:spcAft>
                <a:spcPts val="0"/>
              </a:spcAft>
              <a:buFont typeface="+mj-lt"/>
              <a:buAutoNum type="arabicParenR"/>
            </a:pPr>
            <a:r>
              <a:rPr lang="en-US" sz="2000" b="1" dirty="0">
                <a:effectLst/>
                <a:latin typeface="Times New Roman" panose="02020603050405020304" pitchFamily="18" charset="0"/>
                <a:ea typeface="Times New Roman" panose="02020603050405020304" pitchFamily="18" charset="0"/>
              </a:rPr>
              <a:t>What distinguishes the FinTech services described in this case from traditional banks? </a:t>
            </a:r>
            <a:endParaRPr lang="en-US" sz="2000" dirty="0">
              <a:effectLst/>
              <a:latin typeface="Arial" panose="020B0604020202020204" pitchFamily="34" charset="0"/>
              <a:ea typeface="Times New Roman" panose="02020603050405020304" pitchFamily="18" charset="0"/>
            </a:endParaRPr>
          </a:p>
          <a:p>
            <a:pPr marL="342900" marR="0" lvl="0" indent="-342900">
              <a:spcBef>
                <a:spcPts val="0"/>
              </a:spcBef>
              <a:spcAft>
                <a:spcPts val="0"/>
              </a:spcAft>
              <a:buFont typeface="+mj-lt"/>
              <a:buAutoNum type="arabicParenR"/>
            </a:pPr>
            <a:r>
              <a:rPr lang="en-US" sz="2000" b="1" dirty="0">
                <a:effectLst/>
                <a:latin typeface="Times New Roman" panose="02020603050405020304" pitchFamily="18" charset="0"/>
                <a:ea typeface="Times New Roman" panose="02020603050405020304" pitchFamily="18" charset="0"/>
              </a:rPr>
              <a:t>How do the financial services described here use information technology to innovate?</a:t>
            </a:r>
          </a:p>
          <a:p>
            <a:pPr marL="342900" marR="0" lvl="0" indent="-342900">
              <a:spcBef>
                <a:spcPts val="0"/>
              </a:spcBef>
              <a:spcAft>
                <a:spcPts val="0"/>
              </a:spcAft>
              <a:buFont typeface="+mj-lt"/>
              <a:buAutoNum type="arabicParenR"/>
            </a:pPr>
            <a:r>
              <a:rPr lang="en-US" sz="2000" b="1" dirty="0">
                <a:effectLst/>
                <a:latin typeface="Times New Roman" panose="02020603050405020304" pitchFamily="18" charset="0"/>
                <a:ea typeface="Times New Roman" panose="02020603050405020304" pitchFamily="18" charset="0"/>
              </a:rPr>
              <a:t>What are the advantages of small businesses obtaining loans from FinTech services?</a:t>
            </a:r>
            <a:endParaRPr lang="en-US" sz="2000" dirty="0">
              <a:effectLst/>
              <a:latin typeface="Arial" panose="020B0604020202020204" pitchFamily="34" charset="0"/>
              <a:ea typeface="Times New Roman" panose="02020603050405020304" pitchFamily="18" charset="0"/>
            </a:endParaRPr>
          </a:p>
          <a:p>
            <a:pPr marL="342900" marR="0" lvl="0" indent="-342900">
              <a:spcBef>
                <a:spcPts val="0"/>
              </a:spcBef>
              <a:spcAft>
                <a:spcPts val="0"/>
              </a:spcAft>
              <a:buFont typeface="+mj-lt"/>
              <a:buAutoNum type="arabicParenR"/>
            </a:pPr>
            <a:r>
              <a:rPr lang="en-US" sz="2000" b="1" dirty="0">
                <a:effectLst/>
                <a:latin typeface="Times New Roman" panose="02020603050405020304" pitchFamily="18" charset="0"/>
                <a:ea typeface="Times New Roman" panose="02020603050405020304" pitchFamily="18" charset="0"/>
              </a:rPr>
              <a:t>What are the disadvantages of small businesses obtaining loans from FinTech services?</a:t>
            </a:r>
            <a:endParaRPr lang="en-US" sz="2000" dirty="0">
              <a:effectLst/>
              <a:latin typeface="Arial" panose="020B0604020202020204" pitchFamily="34" charset="0"/>
              <a:ea typeface="Times New Roman" panose="02020603050405020304" pitchFamily="18" charset="0"/>
            </a:endParaRPr>
          </a:p>
          <a:p>
            <a:pPr marL="342900" indent="-342900">
              <a:spcBef>
                <a:spcPts val="0"/>
              </a:spcBef>
              <a:buFont typeface="+mj-lt"/>
              <a:buAutoNum type="arabicParenR"/>
            </a:pPr>
            <a:r>
              <a:rPr lang="en-US" sz="2000" b="1" dirty="0">
                <a:effectLst/>
                <a:latin typeface="Times New Roman" panose="02020603050405020304" pitchFamily="18" charset="0"/>
                <a:ea typeface="Times New Roman" panose="02020603050405020304" pitchFamily="18" charset="0"/>
              </a:rPr>
              <a:t>If you were a small business, what factors would you consider in deciding whether to use a FinTech service?</a:t>
            </a:r>
          </a:p>
          <a:p>
            <a:pPr marL="0" marR="0" lvl="0" indent="0">
              <a:spcBef>
                <a:spcPts val="0"/>
              </a:spcBef>
              <a:spcAft>
                <a:spcPts val="0"/>
              </a:spcAft>
              <a:buNone/>
            </a:pPr>
            <a:endParaRPr lang="en-US" sz="1800" dirty="0">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127771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82A031A-CE97-C1EC-39E9-85CBA14F1D6F}"/>
              </a:ext>
            </a:extLst>
          </p:cNvPr>
          <p:cNvSpPr txBox="1"/>
          <p:nvPr>
            <p:custDataLst>
              <p:tags r:id="rId2"/>
            </p:custDataLst>
          </p:nvPr>
        </p:nvSpPr>
        <p:spPr>
          <a:xfrm>
            <a:off x="914400" y="635000"/>
            <a:ext cx="7315200" cy="3841750"/>
          </a:xfrm>
          <a:prstGeom prst="rect">
            <a:avLst/>
          </a:prstGeom>
          <a:noFill/>
        </p:spPr>
        <p:txBody>
          <a:bodyPr vert="horz" wrap="square" rtlCol="0" anchor="ctr" anchorCtr="0">
            <a:no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What distinguishes the FinTech services described in this case from traditional banks? </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How do the financial services described here use information technology to innovate?</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What are the advantages of small businesses obtaining loans from FinTech services?</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What are the disadvantages of small businesses obtaining loans from FinTech services?</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If you were a small business, what factors would you consider in deciding whether to use a FinTech service?</a:t>
            </a:r>
          </a:p>
        </p:txBody>
      </p:sp>
      <p:sp>
        <p:nvSpPr>
          <p:cNvPr id="7" name="矩形: 圆角 6">
            <a:extLst>
              <a:ext uri="{FF2B5EF4-FFF2-40B4-BE49-F238E27FC236}">
                <a16:creationId xmlns:a16="http://schemas.microsoft.com/office/drawing/2014/main" id="{22586ACF-1EF8-10AE-F765-8F5E3FFE0790}"/>
              </a:ext>
            </a:extLst>
          </p:cNvPr>
          <p:cNvSpPr/>
          <p:nvPr>
            <p:custDataLst>
              <p:tags r:id="rId3"/>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dirty="0" err="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a:extLst>
              <a:ext uri="{FF2B5EF4-FFF2-40B4-BE49-F238E27FC236}">
                <a16:creationId xmlns:a16="http://schemas.microsoft.com/office/drawing/2014/main" id="{EE5AD884-6385-599B-9157-3563041EB198}"/>
              </a:ext>
            </a:extLst>
          </p:cNvPr>
          <p:cNvGrpSpPr/>
          <p:nvPr>
            <p:custDataLst>
              <p:tags r:id="rId4"/>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B464578F-66D2-46D7-E21A-32D31A2A6A03}"/>
                </a:ext>
              </a:extLst>
            </p:cNvPr>
            <p:cNvSpPr/>
            <p:nvPr>
              <p:custDataLst>
                <p:tags r:id="rId6"/>
              </p:custDataLst>
            </p:nvPr>
          </p:nvSpPr>
          <p:spPr>
            <a:xfrm>
              <a:off x="0" y="0"/>
              <a:ext cx="9144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err="1"/>
            </a:p>
          </p:txBody>
        </p:sp>
        <p:sp>
          <p:nvSpPr>
            <p:cNvPr id="9" name="ColorBlock">
              <a:extLst>
                <a:ext uri="{FF2B5EF4-FFF2-40B4-BE49-F238E27FC236}">
                  <a16:creationId xmlns:a16="http://schemas.microsoft.com/office/drawing/2014/main" id="{FC832EF9-682C-7944-CD43-2F3CE64502B9}"/>
                </a:ext>
              </a:extLst>
            </p:cNvPr>
            <p:cNvSpPr/>
            <p:nvPr>
              <p:custDataLst>
                <p:tags r:id="rId7"/>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err="1"/>
            </a:p>
          </p:txBody>
        </p:sp>
        <p:sp>
          <p:nvSpPr>
            <p:cNvPr id="10" name="TypeText">
              <a:extLst>
                <a:ext uri="{FF2B5EF4-FFF2-40B4-BE49-F238E27FC236}">
                  <a16:creationId xmlns:a16="http://schemas.microsoft.com/office/drawing/2014/main" id="{FD0C1D65-FBD1-E7E2-0591-84B4B51A3963}"/>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800">
                  <a:solidFill>
                    <a:srgbClr val="000000"/>
                  </a:solidFill>
                </a:rPr>
                <a:t>主观题</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a:extLst>
                <a:ext uri="{FF2B5EF4-FFF2-40B4-BE49-F238E27FC236}">
                  <a16:creationId xmlns:a16="http://schemas.microsoft.com/office/drawing/2014/main" id="{7E342E7C-E9F3-00F5-E6CE-6915F0B2DC35}"/>
                </a:ext>
              </a:extLst>
            </p:cNvPr>
            <p:cNvSpPr txBox="1"/>
            <p:nvPr>
              <p:custDataLst>
                <p:tags r:id="rId9"/>
              </p:custDataLst>
            </p:nvPr>
          </p:nvSpPr>
          <p:spPr>
            <a:xfrm>
              <a:off x="16084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dirty="0" err="1">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a:extLst>
              <a:ext uri="{FF2B5EF4-FFF2-40B4-BE49-F238E27FC236}">
                <a16:creationId xmlns:a16="http://schemas.microsoft.com/office/drawing/2014/main" id="{F4C912F7-71BF-1450-E871-6468BE769761}"/>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9657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954"/>
            <a:ext cx="8229600" cy="1107996"/>
          </a:xfrm>
        </p:spPr>
        <p:txBody>
          <a:bodyPr>
            <a:spAutoFit/>
          </a:bodyPr>
          <a:lstStyle/>
          <a:p>
            <a:r>
              <a:rPr lang="en-US" dirty="0"/>
              <a:t>How Has E-commerce Transformed Marketing? </a:t>
            </a:r>
            <a:endParaRPr lang="en-US" sz="2800" dirty="0"/>
          </a:p>
        </p:txBody>
      </p:sp>
      <p:sp>
        <p:nvSpPr>
          <p:cNvPr id="5" name="Content Placeholder 4"/>
          <p:cNvSpPr>
            <a:spLocks noGrp="1"/>
          </p:cNvSpPr>
          <p:nvPr>
            <p:ph idx="1"/>
          </p:nvPr>
        </p:nvSpPr>
        <p:spPr>
          <a:xfrm>
            <a:off x="441251" y="1047750"/>
            <a:ext cx="8229600" cy="3677930"/>
          </a:xfrm>
        </p:spPr>
        <p:txBody>
          <a:bodyPr>
            <a:spAutoFit/>
          </a:bodyPr>
          <a:lstStyle/>
          <a:p>
            <a:pPr>
              <a:spcBef>
                <a:spcPts val="600"/>
              </a:spcBef>
              <a:buFont typeface="Wingdings" panose="05000000000000000000" pitchFamily="2" charset="2"/>
              <a:buChar char="ü"/>
            </a:pPr>
            <a:r>
              <a:rPr lang="en-US" sz="2400" dirty="0"/>
              <a:t>Internet provides new ways to identify and communicate with customers</a:t>
            </a:r>
          </a:p>
          <a:p>
            <a:pPr>
              <a:spcBef>
                <a:spcPts val="600"/>
              </a:spcBef>
              <a:buFont typeface="Wingdings" panose="05000000000000000000" pitchFamily="2" charset="2"/>
              <a:buChar char="ü"/>
            </a:pPr>
            <a:endParaRPr lang="en-US" sz="2400" dirty="0"/>
          </a:p>
          <a:p>
            <a:pPr>
              <a:spcBef>
                <a:spcPts val="600"/>
              </a:spcBef>
              <a:buFont typeface="Wingdings" panose="05000000000000000000" pitchFamily="2" charset="2"/>
              <a:buChar char="ü"/>
            </a:pPr>
            <a:r>
              <a:rPr lang="en-US" dirty="0"/>
              <a:t>Long tail marketing (large amount or products or online content where profits are made from low demand items as well as popular ones. Shelf space is non-essential online)</a:t>
            </a:r>
          </a:p>
          <a:p>
            <a:pPr marL="0" indent="0">
              <a:spcBef>
                <a:spcPts val="600"/>
              </a:spcBef>
              <a:buNone/>
            </a:pPr>
            <a:endParaRPr lang="en-US" dirty="0"/>
          </a:p>
          <a:p>
            <a:pPr>
              <a:spcBef>
                <a:spcPts val="600"/>
              </a:spcBef>
              <a:buFont typeface="Wingdings" panose="05000000000000000000" pitchFamily="2" charset="2"/>
              <a:buChar char="ü"/>
            </a:pPr>
            <a:r>
              <a:rPr lang="en-US" dirty="0"/>
              <a:t>Different marketing and advertising formats</a:t>
            </a:r>
          </a:p>
          <a:p>
            <a:pPr marL="457200" lvl="1" indent="0">
              <a:buNone/>
            </a:pPr>
            <a:r>
              <a:rPr lang="en-US" dirty="0"/>
              <a:t>- Search  - Display Ads  -Video Media  -Email</a:t>
            </a:r>
          </a:p>
        </p:txBody>
      </p:sp>
    </p:spTree>
    <p:extLst>
      <p:ext uri="{BB962C8B-B14F-4D97-AF65-F5344CB8AC3E}">
        <p14:creationId xmlns:p14="http://schemas.microsoft.com/office/powerpoint/2010/main" val="3131741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954"/>
            <a:ext cx="8229600" cy="1107996"/>
          </a:xfrm>
        </p:spPr>
        <p:txBody>
          <a:bodyPr>
            <a:spAutoFit/>
          </a:bodyPr>
          <a:lstStyle/>
          <a:p>
            <a:r>
              <a:rPr lang="en-US" dirty="0"/>
              <a:t>How Has E-commerce Transformed Marketing? (</a:t>
            </a:r>
            <a:r>
              <a:rPr lang="en-US" dirty="0" err="1"/>
              <a:t>cont</a:t>
            </a:r>
            <a:r>
              <a:rPr lang="en-US" dirty="0"/>
              <a:t>’)</a:t>
            </a:r>
            <a:endParaRPr lang="en-US" sz="2800" dirty="0"/>
          </a:p>
        </p:txBody>
      </p:sp>
      <p:sp>
        <p:nvSpPr>
          <p:cNvPr id="5" name="Content Placeholder 4"/>
          <p:cNvSpPr>
            <a:spLocks noGrp="1"/>
          </p:cNvSpPr>
          <p:nvPr>
            <p:ph idx="1"/>
          </p:nvPr>
        </p:nvSpPr>
        <p:spPr>
          <a:xfrm>
            <a:off x="457200" y="1263630"/>
            <a:ext cx="8229600" cy="2523768"/>
          </a:xfrm>
        </p:spPr>
        <p:txBody>
          <a:bodyPr>
            <a:spAutoFit/>
          </a:bodyPr>
          <a:lstStyle/>
          <a:p>
            <a:pPr>
              <a:spcBef>
                <a:spcPts val="600"/>
              </a:spcBef>
              <a:buFont typeface="Wingdings" panose="05000000000000000000" pitchFamily="2" charset="2"/>
              <a:buChar char="ü"/>
            </a:pPr>
            <a:r>
              <a:rPr lang="en-US" dirty="0"/>
              <a:t>Behavioral targeting</a:t>
            </a:r>
          </a:p>
          <a:p>
            <a:pPr lvl="1">
              <a:buFont typeface="Wingdings" panose="05000000000000000000" pitchFamily="2" charset="2"/>
              <a:buChar char="q"/>
            </a:pPr>
            <a:r>
              <a:rPr lang="en-US" sz="2400" dirty="0"/>
              <a:t>Tracking online behavior of individuals</a:t>
            </a:r>
          </a:p>
          <a:p>
            <a:pPr lvl="1">
              <a:buFont typeface="Wingdings" panose="05000000000000000000" pitchFamily="2" charset="2"/>
              <a:buChar char="q"/>
            </a:pPr>
            <a:r>
              <a:rPr lang="en-US" sz="2400" dirty="0"/>
              <a:t>On individual websites/apps and across advertising networks</a:t>
            </a:r>
          </a:p>
          <a:p>
            <a:pPr>
              <a:spcBef>
                <a:spcPts val="600"/>
              </a:spcBef>
              <a:buFont typeface="Wingdings" panose="05000000000000000000" pitchFamily="2" charset="2"/>
              <a:buChar char="ü"/>
            </a:pPr>
            <a:r>
              <a:rPr lang="en-US" dirty="0"/>
              <a:t>Programmatic ad buying</a:t>
            </a:r>
          </a:p>
          <a:p>
            <a:pPr>
              <a:spcBef>
                <a:spcPts val="600"/>
              </a:spcBef>
              <a:buFont typeface="Wingdings" panose="05000000000000000000" pitchFamily="2" charset="2"/>
              <a:buChar char="ü"/>
            </a:pPr>
            <a:r>
              <a:rPr lang="en-US" dirty="0"/>
              <a:t>Native advertising</a:t>
            </a:r>
          </a:p>
        </p:txBody>
      </p:sp>
    </p:spTree>
    <p:extLst>
      <p:ext uri="{BB962C8B-B14F-4D97-AF65-F5344CB8AC3E}">
        <p14:creationId xmlns:p14="http://schemas.microsoft.com/office/powerpoint/2010/main" val="1116398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852"/>
            <a:ext cx="8229600" cy="553998"/>
          </a:xfrm>
        </p:spPr>
        <p:txBody>
          <a:bodyPr>
            <a:spAutoFit/>
          </a:bodyPr>
          <a:lstStyle/>
          <a:p>
            <a:r>
              <a:rPr lang="en-US" altLang="en-US" dirty="0"/>
              <a:t>            Website Visitor Tracking</a:t>
            </a:r>
            <a:endParaRPr lang="en-US" sz="2800" dirty="0"/>
          </a:p>
        </p:txBody>
      </p:sp>
      <p:pic>
        <p:nvPicPr>
          <p:cNvPr id="3074" name="Picture 2" descr="An illustration explains how websites have visitor tracking tools that analyze a visitor's behavior.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25083" y="819150"/>
            <a:ext cx="7093834" cy="3975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761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852"/>
            <a:ext cx="8229600" cy="553998"/>
          </a:xfrm>
        </p:spPr>
        <p:txBody>
          <a:bodyPr>
            <a:spAutoFit/>
          </a:bodyPr>
          <a:lstStyle/>
          <a:p>
            <a:r>
              <a:rPr lang="en-US" altLang="en-US" dirty="0"/>
              <a:t>            Website Personalization</a:t>
            </a:r>
            <a:endParaRPr lang="en-US" sz="2800" dirty="0"/>
          </a:p>
        </p:txBody>
      </p:sp>
      <p:pic>
        <p:nvPicPr>
          <p:cNvPr id="3" name="Picture 2" descr="A flow diagram illustrates the concept of website personalization. For a full description, see Notes. Press F6.">
            <a:extLst>
              <a:ext uri="{FF2B5EF4-FFF2-40B4-BE49-F238E27FC236}">
                <a16:creationId xmlns:a16="http://schemas.microsoft.com/office/drawing/2014/main" id="{B141F8AB-4E6B-47EC-AAC9-7E1FC6FF11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6736" y="744407"/>
            <a:ext cx="2780964" cy="4049108"/>
          </a:xfrm>
          <a:prstGeom prst="rect">
            <a:avLst/>
          </a:prstGeom>
        </p:spPr>
      </p:pic>
    </p:spTree>
    <p:extLst>
      <p:ext uri="{BB962C8B-B14F-4D97-AF65-F5344CB8AC3E}">
        <p14:creationId xmlns:p14="http://schemas.microsoft.com/office/powerpoint/2010/main" val="310969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9550"/>
            <a:ext cx="8229600" cy="553998"/>
          </a:xfrm>
        </p:spPr>
        <p:txBody>
          <a:bodyPr>
            <a:spAutoFit/>
          </a:bodyPr>
          <a:lstStyle/>
          <a:p>
            <a:r>
              <a:rPr lang="en-US" altLang="en-US" dirty="0"/>
              <a:t>   How an Advertising Network Works</a:t>
            </a:r>
            <a:endParaRPr lang="en-US" sz="2800" dirty="0"/>
          </a:p>
        </p:txBody>
      </p:sp>
      <p:pic>
        <p:nvPicPr>
          <p:cNvPr id="6" name="Picture 5" descr="A network diagram illustrates how an advertising network works. For a full description, see Notes. Press F6.">
            <a:extLst>
              <a:ext uri="{FF2B5EF4-FFF2-40B4-BE49-F238E27FC236}">
                <a16:creationId xmlns:a16="http://schemas.microsoft.com/office/drawing/2014/main" id="{1EFFFB78-15E8-40D2-9D08-082A333801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4612" y="1198966"/>
            <a:ext cx="5412987" cy="3582584"/>
          </a:xfrm>
          <a:prstGeom prst="rect">
            <a:avLst/>
          </a:prstGeom>
        </p:spPr>
      </p:pic>
    </p:spTree>
    <p:extLst>
      <p:ext uri="{BB962C8B-B14F-4D97-AF65-F5344CB8AC3E}">
        <p14:creationId xmlns:p14="http://schemas.microsoft.com/office/powerpoint/2010/main" val="2503192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254"/>
            <a:ext cx="8229600" cy="1107996"/>
          </a:xfrm>
        </p:spPr>
        <p:txBody>
          <a:bodyPr anchor="ctr">
            <a:spAutoFit/>
          </a:bodyPr>
          <a:lstStyle/>
          <a:p>
            <a:r>
              <a:rPr lang="en-US" dirty="0"/>
              <a:t>Social E-commerce and Social Network Marketing</a:t>
            </a:r>
            <a:endParaRPr lang="en-US" sz="2800" dirty="0"/>
          </a:p>
        </p:txBody>
      </p:sp>
      <p:sp>
        <p:nvSpPr>
          <p:cNvPr id="5" name="Content Placeholder 4"/>
          <p:cNvSpPr>
            <a:spLocks noGrp="1"/>
          </p:cNvSpPr>
          <p:nvPr>
            <p:ph idx="1"/>
          </p:nvPr>
        </p:nvSpPr>
        <p:spPr>
          <a:xfrm>
            <a:off x="457200" y="1216720"/>
            <a:ext cx="8229600" cy="3149580"/>
          </a:xfrm>
        </p:spPr>
        <p:txBody>
          <a:bodyPr>
            <a:spAutoFit/>
          </a:bodyPr>
          <a:lstStyle/>
          <a:p>
            <a:pPr>
              <a:spcBef>
                <a:spcPts val="400"/>
              </a:spcBef>
              <a:buFont typeface="Wingdings" panose="05000000000000000000" pitchFamily="2" charset="2"/>
              <a:buChar char="ü"/>
            </a:pPr>
            <a:r>
              <a:rPr lang="en-US" sz="2000" dirty="0"/>
              <a:t>Social media one of fastest growing branding and marketing methods</a:t>
            </a:r>
          </a:p>
          <a:p>
            <a:pPr>
              <a:spcBef>
                <a:spcPts val="400"/>
              </a:spcBef>
              <a:buFont typeface="Wingdings" panose="05000000000000000000" pitchFamily="2" charset="2"/>
              <a:buChar char="ü"/>
            </a:pPr>
            <a:r>
              <a:rPr lang="en-US" sz="2000" dirty="0"/>
              <a:t>Social e-commerce based on digital social graph </a:t>
            </a:r>
          </a:p>
          <a:p>
            <a:pPr>
              <a:spcBef>
                <a:spcPts val="400"/>
              </a:spcBef>
              <a:buFont typeface="Wingdings" panose="05000000000000000000" pitchFamily="2" charset="2"/>
              <a:buChar char="ü"/>
            </a:pPr>
            <a:r>
              <a:rPr lang="en-US" sz="2000" dirty="0"/>
              <a:t>Features</a:t>
            </a:r>
          </a:p>
          <a:p>
            <a:pPr lvl="1">
              <a:spcBef>
                <a:spcPts val="400"/>
              </a:spcBef>
              <a:buFont typeface="Wingdings" panose="05000000000000000000" pitchFamily="2" charset="2"/>
              <a:buChar char="q"/>
            </a:pPr>
            <a:r>
              <a:rPr lang="en-US" sz="1800" dirty="0"/>
              <a:t>Newsfeed</a:t>
            </a:r>
          </a:p>
          <a:p>
            <a:pPr lvl="1">
              <a:spcBef>
                <a:spcPts val="400"/>
              </a:spcBef>
              <a:buFont typeface="Wingdings" panose="05000000000000000000" pitchFamily="2" charset="2"/>
              <a:buChar char="q"/>
            </a:pPr>
            <a:r>
              <a:rPr lang="en-US" sz="2000" dirty="0"/>
              <a:t>Timelines</a:t>
            </a:r>
          </a:p>
          <a:p>
            <a:pPr lvl="1">
              <a:spcBef>
                <a:spcPts val="400"/>
              </a:spcBef>
              <a:buFont typeface="Wingdings" panose="05000000000000000000" pitchFamily="2" charset="2"/>
              <a:buChar char="q"/>
            </a:pPr>
            <a:r>
              <a:rPr lang="en-US" sz="2000" dirty="0"/>
              <a:t>Social sign-on</a:t>
            </a:r>
          </a:p>
          <a:p>
            <a:pPr lvl="1">
              <a:spcBef>
                <a:spcPts val="400"/>
              </a:spcBef>
              <a:buFont typeface="Wingdings" panose="05000000000000000000" pitchFamily="2" charset="2"/>
              <a:buChar char="q"/>
            </a:pPr>
            <a:r>
              <a:rPr lang="en-US" sz="2000" dirty="0"/>
              <a:t>Collaborative shopping</a:t>
            </a:r>
          </a:p>
          <a:p>
            <a:pPr lvl="1">
              <a:spcBef>
                <a:spcPts val="400"/>
              </a:spcBef>
              <a:buFont typeface="Wingdings" panose="05000000000000000000" pitchFamily="2" charset="2"/>
              <a:buChar char="q"/>
            </a:pPr>
            <a:r>
              <a:rPr lang="en-US" sz="2000" dirty="0"/>
              <a:t>Network notification</a:t>
            </a:r>
          </a:p>
          <a:p>
            <a:pPr lvl="1">
              <a:spcBef>
                <a:spcPts val="400"/>
              </a:spcBef>
              <a:buFont typeface="Wingdings" panose="05000000000000000000" pitchFamily="2" charset="2"/>
              <a:buChar char="q"/>
            </a:pPr>
            <a:r>
              <a:rPr lang="en-US" sz="2000" dirty="0"/>
              <a:t>Social search (recommendations)</a:t>
            </a:r>
          </a:p>
        </p:txBody>
      </p:sp>
    </p:spTree>
    <p:extLst>
      <p:ext uri="{BB962C8B-B14F-4D97-AF65-F5344CB8AC3E}">
        <p14:creationId xmlns:p14="http://schemas.microsoft.com/office/powerpoint/2010/main" val="1865592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654"/>
            <a:ext cx="8229600" cy="1107996"/>
          </a:xfrm>
        </p:spPr>
        <p:txBody>
          <a:bodyPr>
            <a:spAutoFit/>
          </a:bodyPr>
          <a:lstStyle/>
          <a:p>
            <a:r>
              <a:rPr lang="en-US" dirty="0"/>
              <a:t>Social E-commerce and Social Network Marketing </a:t>
            </a:r>
            <a:r>
              <a:rPr lang="en-US" sz="2800" dirty="0"/>
              <a:t>(</a:t>
            </a:r>
            <a:r>
              <a:rPr lang="en-US" sz="2800" dirty="0" err="1"/>
              <a:t>cont</a:t>
            </a:r>
            <a:r>
              <a:rPr lang="en-US" sz="2800" dirty="0"/>
              <a:t>’)</a:t>
            </a:r>
          </a:p>
        </p:txBody>
      </p:sp>
      <p:sp>
        <p:nvSpPr>
          <p:cNvPr id="5" name="Content Placeholder 4"/>
          <p:cNvSpPr>
            <a:spLocks noGrp="1"/>
          </p:cNvSpPr>
          <p:nvPr>
            <p:ph idx="1"/>
          </p:nvPr>
        </p:nvSpPr>
        <p:spPr>
          <a:xfrm>
            <a:off x="457200" y="1239103"/>
            <a:ext cx="8229600" cy="3585597"/>
          </a:xfrm>
        </p:spPr>
        <p:txBody>
          <a:bodyPr>
            <a:spAutoFit/>
          </a:bodyPr>
          <a:lstStyle/>
          <a:p>
            <a:pPr>
              <a:spcBef>
                <a:spcPts val="600"/>
              </a:spcBef>
              <a:buFont typeface="Wingdings" panose="05000000000000000000" pitchFamily="2" charset="2"/>
              <a:buChar char="ü"/>
            </a:pPr>
            <a:r>
              <a:rPr lang="en-US" sz="2200" dirty="0"/>
              <a:t>Social network marketing</a:t>
            </a:r>
          </a:p>
          <a:p>
            <a:pPr lvl="1">
              <a:buFont typeface="Wingdings" panose="05000000000000000000" pitchFamily="2" charset="2"/>
              <a:buChar char="q"/>
            </a:pPr>
            <a:r>
              <a:rPr lang="en-US" dirty="0"/>
              <a:t>Seeks to leverage individuals’ influence over others</a:t>
            </a:r>
          </a:p>
          <a:p>
            <a:pPr lvl="1">
              <a:buFont typeface="Wingdings" panose="05000000000000000000" pitchFamily="2" charset="2"/>
              <a:buChar char="q"/>
            </a:pPr>
            <a:r>
              <a:rPr lang="en-US" dirty="0"/>
              <a:t>Targeting a social network of people sharing interests and advice</a:t>
            </a:r>
          </a:p>
          <a:p>
            <a:pPr lvl="1">
              <a:buFont typeface="Wingdings" panose="05000000000000000000" pitchFamily="2" charset="2"/>
              <a:buChar char="q"/>
            </a:pPr>
            <a:r>
              <a:rPr lang="en-US" dirty="0"/>
              <a:t>Facebook’s “Like” button</a:t>
            </a:r>
          </a:p>
          <a:p>
            <a:pPr lvl="1">
              <a:buFont typeface="Wingdings" panose="05000000000000000000" pitchFamily="2" charset="2"/>
              <a:buChar char="q"/>
            </a:pPr>
            <a:r>
              <a:rPr lang="en-US" dirty="0"/>
              <a:t>Social networks have huge audiences</a:t>
            </a:r>
          </a:p>
          <a:p>
            <a:pPr>
              <a:spcBef>
                <a:spcPts val="600"/>
              </a:spcBef>
              <a:buFont typeface="Wingdings" panose="05000000000000000000" pitchFamily="2" charset="2"/>
              <a:buChar char="ü"/>
            </a:pPr>
            <a:r>
              <a:rPr lang="en-US" sz="2200" dirty="0"/>
              <a:t>Social shopping sites</a:t>
            </a:r>
          </a:p>
          <a:p>
            <a:pPr>
              <a:spcBef>
                <a:spcPts val="600"/>
              </a:spcBef>
              <a:buFont typeface="Wingdings" panose="05000000000000000000" pitchFamily="2" charset="2"/>
              <a:buChar char="ü"/>
            </a:pPr>
            <a:r>
              <a:rPr lang="en-US" sz="2200" dirty="0"/>
              <a:t>Wisdom of crowds</a:t>
            </a:r>
          </a:p>
          <a:p>
            <a:pPr>
              <a:spcBef>
                <a:spcPts val="600"/>
              </a:spcBef>
              <a:buFont typeface="Wingdings" panose="05000000000000000000" pitchFamily="2" charset="2"/>
              <a:buChar char="ü"/>
            </a:pPr>
            <a:r>
              <a:rPr lang="en-US" sz="2200" dirty="0"/>
              <a:t>Crowdsourcing</a:t>
            </a:r>
          </a:p>
        </p:txBody>
      </p:sp>
    </p:spTree>
    <p:extLst>
      <p:ext uri="{BB962C8B-B14F-4D97-AF65-F5344CB8AC3E}">
        <p14:creationId xmlns:p14="http://schemas.microsoft.com/office/powerpoint/2010/main" val="4115766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
            <a:ext cx="8229600" cy="1107996"/>
          </a:xfrm>
        </p:spPr>
        <p:txBody>
          <a:bodyPr>
            <a:spAutoFit/>
          </a:bodyPr>
          <a:lstStyle/>
          <a:p>
            <a:r>
              <a:rPr lang="en-US" dirty="0"/>
              <a:t>How Has E-commerce Affected Business-To Business Transactions?</a:t>
            </a:r>
            <a:endParaRPr lang="en-US" sz="2800" dirty="0"/>
          </a:p>
        </p:txBody>
      </p:sp>
      <p:sp>
        <p:nvSpPr>
          <p:cNvPr id="5" name="Content Placeholder 4"/>
          <p:cNvSpPr>
            <a:spLocks noGrp="1"/>
          </p:cNvSpPr>
          <p:nvPr>
            <p:ph idx="1"/>
          </p:nvPr>
        </p:nvSpPr>
        <p:spPr>
          <a:xfrm>
            <a:off x="457200" y="1331744"/>
            <a:ext cx="8229600" cy="3493264"/>
          </a:xfrm>
        </p:spPr>
        <p:txBody>
          <a:bodyPr>
            <a:spAutoFit/>
          </a:bodyPr>
          <a:lstStyle/>
          <a:p>
            <a:pPr>
              <a:spcBef>
                <a:spcPts val="600"/>
              </a:spcBef>
              <a:buFont typeface="Wingdings" panose="05000000000000000000" pitchFamily="2" charset="2"/>
              <a:buChar char="ü"/>
            </a:pPr>
            <a:r>
              <a:rPr lang="en-US" dirty="0"/>
              <a:t>U.S. B2B trade in 2020 estimated at about $14.5 trillion</a:t>
            </a:r>
          </a:p>
          <a:p>
            <a:pPr lvl="1"/>
            <a:r>
              <a:rPr lang="en-US" sz="2400" dirty="0"/>
              <a:t>U.S. B2B e-commerce in 2020 estimated at $6.7 trillion</a:t>
            </a:r>
          </a:p>
          <a:p>
            <a:pPr>
              <a:spcBef>
                <a:spcPts val="600"/>
              </a:spcBef>
              <a:buFont typeface="Wingdings" panose="05000000000000000000" pitchFamily="2" charset="2"/>
              <a:buChar char="ü"/>
            </a:pPr>
            <a:r>
              <a:rPr lang="en-US" dirty="0"/>
              <a:t>Internet and networking helps automate procurement</a:t>
            </a:r>
          </a:p>
          <a:p>
            <a:pPr>
              <a:spcBef>
                <a:spcPts val="600"/>
              </a:spcBef>
              <a:buFont typeface="Wingdings" panose="05000000000000000000" pitchFamily="2" charset="2"/>
              <a:buChar char="ü"/>
            </a:pPr>
            <a:r>
              <a:rPr lang="en-US" dirty="0"/>
              <a:t>Variety of Internet-enabled technologies used in B2B</a:t>
            </a:r>
          </a:p>
          <a:p>
            <a:pPr lvl="1">
              <a:buFont typeface="Wingdings" panose="05000000000000000000" pitchFamily="2" charset="2"/>
              <a:buChar char="q"/>
            </a:pPr>
            <a:r>
              <a:rPr lang="en-US" sz="2400" dirty="0"/>
              <a:t>Electronic data interchange (</a:t>
            </a:r>
            <a:r>
              <a:rPr lang="en-US" sz="2400" spc="-300" dirty="0"/>
              <a:t>E D </a:t>
            </a:r>
            <a:r>
              <a:rPr lang="en-US" sz="2400" dirty="0"/>
              <a:t>I)</a:t>
            </a:r>
          </a:p>
          <a:p>
            <a:pPr lvl="1">
              <a:buFont typeface="Wingdings" panose="05000000000000000000" pitchFamily="2" charset="2"/>
              <a:buChar char="q"/>
            </a:pPr>
            <a:r>
              <a:rPr lang="en-US" sz="2400" dirty="0"/>
              <a:t>Private industrial networks (private exchanges)</a:t>
            </a:r>
          </a:p>
          <a:p>
            <a:pPr lvl="1">
              <a:buFont typeface="Wingdings" panose="05000000000000000000" pitchFamily="2" charset="2"/>
              <a:buChar char="q"/>
            </a:pPr>
            <a:r>
              <a:rPr lang="en-US" sz="2400" dirty="0"/>
              <a:t>Net marketplaces</a:t>
            </a:r>
          </a:p>
          <a:p>
            <a:pPr lvl="1">
              <a:buFont typeface="Wingdings" panose="05000000000000000000" pitchFamily="2" charset="2"/>
              <a:buChar char="q"/>
            </a:pPr>
            <a:r>
              <a:rPr lang="en-US" sz="2400" dirty="0"/>
              <a:t>Exchanges</a:t>
            </a:r>
          </a:p>
        </p:txBody>
      </p:sp>
    </p:spTree>
    <p:extLst>
      <p:ext uri="{BB962C8B-B14F-4D97-AF65-F5344CB8AC3E}">
        <p14:creationId xmlns:p14="http://schemas.microsoft.com/office/powerpoint/2010/main" val="1199857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
            <a:ext cx="8229600" cy="553998"/>
          </a:xfrm>
        </p:spPr>
        <p:txBody>
          <a:bodyPr>
            <a:spAutoFit/>
          </a:bodyPr>
          <a:lstStyle/>
          <a:p>
            <a:r>
              <a:rPr lang="en-US" dirty="0"/>
              <a:t>Electronic Data Interchange (</a:t>
            </a:r>
            <a:r>
              <a:rPr lang="en-US" spc="-500" dirty="0"/>
              <a:t>E D </a:t>
            </a:r>
            <a:r>
              <a:rPr lang="en-US" dirty="0"/>
              <a:t>I)</a:t>
            </a:r>
            <a:endParaRPr lang="en-US" sz="2800" dirty="0"/>
          </a:p>
        </p:txBody>
      </p:sp>
      <p:sp>
        <p:nvSpPr>
          <p:cNvPr id="5" name="Content Placeholder 4"/>
          <p:cNvSpPr>
            <a:spLocks noGrp="1"/>
          </p:cNvSpPr>
          <p:nvPr>
            <p:ph idx="1"/>
          </p:nvPr>
        </p:nvSpPr>
        <p:spPr>
          <a:xfrm>
            <a:off x="457200" y="703511"/>
            <a:ext cx="8229600" cy="4078039"/>
          </a:xfrm>
        </p:spPr>
        <p:txBody>
          <a:bodyPr>
            <a:spAutoFit/>
          </a:bodyPr>
          <a:lstStyle/>
          <a:p>
            <a:pPr>
              <a:spcBef>
                <a:spcPts val="600"/>
              </a:spcBef>
              <a:buFont typeface="Wingdings" panose="05000000000000000000" pitchFamily="2" charset="2"/>
              <a:buChar char="ü"/>
            </a:pPr>
            <a:r>
              <a:rPr lang="en-US" dirty="0"/>
              <a:t>Computer-to-computer exchange of standard transactions such as invoices, purchase orders</a:t>
            </a:r>
          </a:p>
          <a:p>
            <a:pPr>
              <a:spcBef>
                <a:spcPts val="600"/>
              </a:spcBef>
              <a:buFont typeface="Wingdings" panose="05000000000000000000" pitchFamily="2" charset="2"/>
              <a:buChar char="ü"/>
            </a:pPr>
            <a:r>
              <a:rPr lang="en-US" dirty="0"/>
              <a:t>Major industries have </a:t>
            </a:r>
            <a:r>
              <a:rPr lang="en-US" spc="-300" dirty="0"/>
              <a:t>E D I</a:t>
            </a:r>
            <a:r>
              <a:rPr lang="en-US" dirty="0"/>
              <a:t> standards</a:t>
            </a:r>
          </a:p>
          <a:p>
            <a:pPr lvl="1">
              <a:buFont typeface="Wingdings" panose="05000000000000000000" pitchFamily="2" charset="2"/>
              <a:buChar char="q"/>
            </a:pPr>
            <a:r>
              <a:rPr lang="en-US" sz="2400" dirty="0"/>
              <a:t>Define structure and information fields of electronic documents</a:t>
            </a:r>
          </a:p>
          <a:p>
            <a:pPr>
              <a:spcBef>
                <a:spcPts val="600"/>
              </a:spcBef>
              <a:buFont typeface="Wingdings" panose="05000000000000000000" pitchFamily="2" charset="2"/>
              <a:buChar char="ü"/>
            </a:pPr>
            <a:r>
              <a:rPr lang="en-US" dirty="0"/>
              <a:t>More companies are moving toward web-enabled private networks</a:t>
            </a:r>
          </a:p>
          <a:p>
            <a:pPr lvl="1">
              <a:buFont typeface="Wingdings" panose="05000000000000000000" pitchFamily="2" charset="2"/>
              <a:buChar char="q"/>
            </a:pPr>
            <a:r>
              <a:rPr lang="en-US" sz="2400" dirty="0"/>
              <a:t>Allow them to link to a wider variety of firms than </a:t>
            </a:r>
            <a:r>
              <a:rPr lang="en-US" sz="2400" spc="-300" dirty="0"/>
              <a:t>E D I</a:t>
            </a:r>
            <a:r>
              <a:rPr lang="en-US" sz="2400" dirty="0"/>
              <a:t> allows</a:t>
            </a:r>
          </a:p>
          <a:p>
            <a:pPr lvl="1">
              <a:buFont typeface="Wingdings" panose="05000000000000000000" pitchFamily="2" charset="2"/>
              <a:buChar char="q"/>
            </a:pPr>
            <a:r>
              <a:rPr lang="en-US" sz="2400" dirty="0"/>
              <a:t>Enable sharing a wider range of information</a:t>
            </a:r>
          </a:p>
        </p:txBody>
      </p:sp>
    </p:spTree>
    <p:extLst>
      <p:ext uri="{BB962C8B-B14F-4D97-AF65-F5344CB8AC3E}">
        <p14:creationId xmlns:p14="http://schemas.microsoft.com/office/powerpoint/2010/main" val="2289164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2652"/>
            <a:ext cx="8229600" cy="553998"/>
          </a:xfrm>
        </p:spPr>
        <p:txBody>
          <a:bodyPr>
            <a:spAutoFit/>
          </a:bodyPr>
          <a:lstStyle/>
          <a:p>
            <a:r>
              <a:rPr lang="en-US" dirty="0"/>
              <a:t>Electronic Data Interchange (</a:t>
            </a:r>
            <a:r>
              <a:rPr lang="en-US" spc="-450" dirty="0"/>
              <a:t>E D </a:t>
            </a:r>
            <a:r>
              <a:rPr lang="en-US" dirty="0"/>
              <a:t>I)</a:t>
            </a:r>
            <a:endParaRPr lang="en-US" sz="2800" dirty="0"/>
          </a:p>
        </p:txBody>
      </p:sp>
      <p:pic>
        <p:nvPicPr>
          <p:cNvPr id="6146" name="Picture 2" descr="An illustration explains how companies use EDI to automate transactions for B2B e-commerce and continuous replenishment.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3050" y="1558477"/>
            <a:ext cx="8073445" cy="2053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765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852"/>
            <a:ext cx="8229600" cy="553998"/>
          </a:xfrm>
        </p:spPr>
        <p:txBody>
          <a:bodyPr>
            <a:spAutoFit/>
          </a:bodyPr>
          <a:lstStyle/>
          <a:p>
            <a:r>
              <a:rPr lang="en-US" dirty="0"/>
              <a:t>New Ways of B2B Buying and Selling</a:t>
            </a:r>
            <a:endParaRPr lang="en-US" sz="2800" dirty="0"/>
          </a:p>
        </p:txBody>
      </p:sp>
      <p:sp>
        <p:nvSpPr>
          <p:cNvPr id="5" name="Content Placeholder 4"/>
          <p:cNvSpPr>
            <a:spLocks noGrp="1"/>
          </p:cNvSpPr>
          <p:nvPr>
            <p:ph idx="1"/>
          </p:nvPr>
        </p:nvSpPr>
        <p:spPr>
          <a:xfrm>
            <a:off x="457200" y="768350"/>
            <a:ext cx="8229600" cy="3693319"/>
          </a:xfrm>
        </p:spPr>
        <p:txBody>
          <a:bodyPr>
            <a:spAutoFit/>
          </a:bodyPr>
          <a:lstStyle/>
          <a:p>
            <a:pPr>
              <a:spcBef>
                <a:spcPts val="600"/>
              </a:spcBef>
              <a:buFont typeface="Wingdings" panose="05000000000000000000" pitchFamily="2" charset="2"/>
              <a:buChar char="ü"/>
            </a:pPr>
            <a:r>
              <a:rPr lang="en-US" sz="2000" dirty="0"/>
              <a:t>Private industrial networks</a:t>
            </a:r>
          </a:p>
          <a:p>
            <a:pPr lvl="1">
              <a:buFont typeface="Wingdings" panose="05000000000000000000" pitchFamily="2" charset="2"/>
              <a:buChar char="q"/>
            </a:pPr>
            <a:r>
              <a:rPr lang="en-US" sz="2000" dirty="0"/>
              <a:t>Private exchanges</a:t>
            </a:r>
          </a:p>
          <a:p>
            <a:pPr lvl="1">
              <a:buFont typeface="Wingdings" panose="05000000000000000000" pitchFamily="2" charset="2"/>
              <a:buChar char="q"/>
            </a:pPr>
            <a:r>
              <a:rPr lang="en-US" sz="2000" dirty="0"/>
              <a:t>Large firm using a secure website to link to suppliers and partners</a:t>
            </a:r>
          </a:p>
          <a:p>
            <a:pPr>
              <a:spcBef>
                <a:spcPts val="600"/>
              </a:spcBef>
              <a:buFont typeface="Wingdings" panose="05000000000000000000" pitchFamily="2" charset="2"/>
              <a:buChar char="ü"/>
            </a:pPr>
            <a:r>
              <a:rPr lang="en-US" sz="2000" dirty="0"/>
              <a:t>Net marketplaces (e-hubs)</a:t>
            </a:r>
          </a:p>
          <a:p>
            <a:pPr lvl="1">
              <a:buFont typeface="Wingdings" panose="05000000000000000000" pitchFamily="2" charset="2"/>
              <a:buChar char="q"/>
            </a:pPr>
            <a:r>
              <a:rPr lang="en-US" sz="2000" dirty="0"/>
              <a:t>Single digital marketplace for many buyers and sellers</a:t>
            </a:r>
          </a:p>
          <a:p>
            <a:pPr lvl="1">
              <a:buFont typeface="Wingdings" panose="05000000000000000000" pitchFamily="2" charset="2"/>
              <a:buChar char="q"/>
            </a:pPr>
            <a:r>
              <a:rPr lang="en-US" sz="2000" dirty="0"/>
              <a:t>May focus on direct or indirect goods</a:t>
            </a:r>
          </a:p>
          <a:p>
            <a:pPr lvl="1">
              <a:buFont typeface="Wingdings" panose="05000000000000000000" pitchFamily="2" charset="2"/>
              <a:buChar char="q"/>
            </a:pPr>
            <a:r>
              <a:rPr lang="en-US" sz="2000" dirty="0"/>
              <a:t>May be vertical or horizontal marketplaces</a:t>
            </a:r>
          </a:p>
          <a:p>
            <a:pPr>
              <a:spcBef>
                <a:spcPts val="600"/>
              </a:spcBef>
              <a:buFont typeface="Wingdings" panose="05000000000000000000" pitchFamily="2" charset="2"/>
              <a:buChar char="ü"/>
            </a:pPr>
            <a:r>
              <a:rPr lang="en-US" sz="2000" dirty="0"/>
              <a:t>Exchanges</a:t>
            </a:r>
          </a:p>
          <a:p>
            <a:pPr lvl="1">
              <a:buFont typeface="Wingdings" panose="05000000000000000000" pitchFamily="2" charset="2"/>
              <a:buChar char="q"/>
            </a:pPr>
            <a:r>
              <a:rPr lang="en-US" sz="2000" dirty="0"/>
              <a:t>Independently owned third-party Net marketplaces for spot purchasing</a:t>
            </a:r>
          </a:p>
        </p:txBody>
      </p:sp>
    </p:spTree>
    <p:extLst>
      <p:ext uri="{BB962C8B-B14F-4D97-AF65-F5344CB8AC3E}">
        <p14:creationId xmlns:p14="http://schemas.microsoft.com/office/powerpoint/2010/main" val="39377487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209550"/>
            <a:ext cx="8229600" cy="523220"/>
          </a:xfrm>
        </p:spPr>
        <p:txBody>
          <a:bodyPr>
            <a:spAutoFit/>
          </a:bodyPr>
          <a:lstStyle/>
          <a:p>
            <a:r>
              <a:rPr lang="en-US" sz="3400" dirty="0"/>
              <a:t>Mobile Commerce (M-commerce)</a:t>
            </a:r>
          </a:p>
        </p:txBody>
      </p:sp>
      <p:sp>
        <p:nvSpPr>
          <p:cNvPr id="5" name="Content Placeholder 4"/>
          <p:cNvSpPr>
            <a:spLocks noGrp="1"/>
          </p:cNvSpPr>
          <p:nvPr>
            <p:ph idx="1"/>
          </p:nvPr>
        </p:nvSpPr>
        <p:spPr>
          <a:xfrm>
            <a:off x="457200" y="819150"/>
            <a:ext cx="8229600" cy="6170920"/>
          </a:xfrm>
        </p:spPr>
        <p:txBody>
          <a:bodyPr>
            <a:spAutoFit/>
          </a:bodyPr>
          <a:lstStyle/>
          <a:p>
            <a:pPr>
              <a:spcBef>
                <a:spcPts val="600"/>
              </a:spcBef>
              <a:buFont typeface="Wingdings" panose="05000000000000000000" pitchFamily="2" charset="2"/>
              <a:buChar char="ü"/>
            </a:pPr>
            <a:r>
              <a:rPr lang="en-US" sz="2200" dirty="0"/>
              <a:t>M-commerce in 2020 is about 45 percent of all e-commerce</a:t>
            </a:r>
          </a:p>
          <a:p>
            <a:pPr>
              <a:spcBef>
                <a:spcPts val="600"/>
              </a:spcBef>
              <a:buFont typeface="Wingdings" panose="05000000000000000000" pitchFamily="2" charset="2"/>
              <a:buChar char="ü"/>
            </a:pPr>
            <a:r>
              <a:rPr lang="en-US" sz="2200" dirty="0"/>
              <a:t>Fastest growing form of e-commerce </a:t>
            </a:r>
            <a:r>
              <a:rPr lang="en-US" sz="1800" b="1" i="1" dirty="0"/>
              <a:t>(20% or more per year)</a:t>
            </a:r>
          </a:p>
          <a:p>
            <a:pPr>
              <a:spcBef>
                <a:spcPts val="600"/>
              </a:spcBef>
              <a:buFont typeface="Wingdings" panose="05000000000000000000" pitchFamily="2" charset="2"/>
              <a:buChar char="ü"/>
            </a:pPr>
            <a:r>
              <a:rPr lang="en-US" dirty="0"/>
              <a:t>M</a:t>
            </a:r>
            <a:r>
              <a:rPr lang="en-US" sz="2200" dirty="0"/>
              <a:t>ost Important M-commerce Applications </a:t>
            </a:r>
            <a:r>
              <a:rPr kumimoji="0" lang="en-US" altLang="en-US" sz="2200" b="0" i="0" u="none" strike="noStrike" cap="none" normalizeH="0" baseline="0" dirty="0">
                <a:ln>
                  <a:noFill/>
                </a:ln>
                <a:solidFill>
                  <a:schemeClr val="tx1"/>
                </a:solidFill>
                <a:effectLst/>
                <a:latin typeface="Arial" panose="020B0604020202020204" pitchFamily="34" charset="0"/>
              </a:rPr>
              <a:t>Banking. </a:t>
            </a:r>
          </a:p>
          <a:p>
            <a:pPr lvl="1">
              <a:buFont typeface="Wingdings" panose="05000000000000000000" pitchFamily="2" charset="2"/>
              <a:buChar char="q"/>
            </a:pPr>
            <a:r>
              <a:rPr kumimoji="0" lang="en-US" altLang="en-US" sz="1800" b="0" i="0" u="none" strike="noStrike" cap="none" normalizeH="0" baseline="0" dirty="0">
                <a:ln>
                  <a:noFill/>
                </a:ln>
                <a:effectLst/>
                <a:latin typeface="Arial" panose="020B0604020202020204" pitchFamily="34" charset="0"/>
              </a:rPr>
              <a:t>Banking </a:t>
            </a:r>
            <a:r>
              <a:rPr lang="en-US" sz="1800" dirty="0"/>
              <a:t>(Amazon, eBay, Etsy etc.)</a:t>
            </a:r>
          </a:p>
          <a:p>
            <a:pPr lvl="1">
              <a:buFont typeface="Wingdings" panose="05000000000000000000" pitchFamily="2" charset="2"/>
              <a:buChar char="q"/>
            </a:pPr>
            <a:r>
              <a:rPr kumimoji="0" lang="en-US" altLang="en-US" sz="1800" b="0" i="0" u="none" strike="noStrike" cap="none" normalizeH="0" baseline="0" dirty="0">
                <a:ln>
                  <a:noFill/>
                </a:ln>
                <a:effectLst/>
                <a:latin typeface="Arial" panose="020B0604020202020204" pitchFamily="34" charset="0"/>
              </a:rPr>
              <a:t>Retail (i</a:t>
            </a:r>
            <a:r>
              <a:rPr lang="en-US" sz="1800" dirty="0"/>
              <a:t>n-app sales to mobile devices)</a:t>
            </a:r>
          </a:p>
          <a:p>
            <a:pPr lvl="1">
              <a:buFont typeface="Wingdings" panose="05000000000000000000" pitchFamily="2" charset="2"/>
              <a:buChar char="q"/>
            </a:pPr>
            <a:r>
              <a:rPr kumimoji="0" lang="en-US" altLang="en-US" sz="1800" b="0" i="0" u="none" strike="noStrike" cap="none" normalizeH="0" baseline="0" dirty="0">
                <a:ln>
                  <a:noFill/>
                </a:ln>
                <a:effectLst/>
                <a:latin typeface="Arial" panose="020B0604020202020204" pitchFamily="34" charset="0"/>
              </a:rPr>
              <a:t>Mobile Marketing (funnels, click </a:t>
            </a:r>
            <a:r>
              <a:rPr lang="en-US" altLang="en-US" sz="1800" dirty="0">
                <a:latin typeface="Arial" panose="020B0604020202020204" pitchFamily="34" charset="0"/>
              </a:rPr>
              <a:t>advertising)</a:t>
            </a:r>
          </a:p>
          <a:p>
            <a:pPr lvl="1">
              <a:buFont typeface="Wingdings" panose="05000000000000000000" pitchFamily="2" charset="2"/>
              <a:buChar char="q"/>
            </a:pPr>
            <a:r>
              <a:rPr kumimoji="0" lang="en-US" altLang="en-US" sz="1800" b="0" i="0" u="none" strike="noStrike" cap="none" normalizeH="0" baseline="0" dirty="0">
                <a:ln>
                  <a:noFill/>
                </a:ln>
                <a:effectLst/>
                <a:latin typeface="Arial" panose="020B0604020202020204" pitchFamily="34" charset="0"/>
              </a:rPr>
              <a:t>Mobile Ticketing (sports, concerts, theatre etc.)</a:t>
            </a:r>
          </a:p>
          <a:p>
            <a:pPr lvl="1">
              <a:buFont typeface="Wingdings" panose="05000000000000000000" pitchFamily="2" charset="2"/>
              <a:buChar char="q"/>
            </a:pPr>
            <a:r>
              <a:rPr kumimoji="0" lang="en-US" altLang="en-US" sz="1800" b="0" i="0" u="none" strike="noStrike" cap="none" normalizeH="0" baseline="0" dirty="0">
                <a:ln>
                  <a:noFill/>
                </a:ln>
                <a:effectLst/>
                <a:latin typeface="Arial" panose="020B0604020202020204" pitchFamily="34" charset="0"/>
              </a:rPr>
              <a:t>Reservations (restaurants</a:t>
            </a:r>
            <a:r>
              <a:rPr lang="en-US" altLang="en-US" sz="1800" dirty="0">
                <a:latin typeface="Arial" panose="020B0604020202020204" pitchFamily="34" charset="0"/>
              </a:rPr>
              <a:t>, transportation)</a:t>
            </a:r>
          </a:p>
          <a:p>
            <a:pPr lvl="1">
              <a:buFont typeface="Wingdings" panose="05000000000000000000" pitchFamily="2" charset="2"/>
              <a:buChar char="q"/>
            </a:pPr>
            <a:r>
              <a:rPr lang="en-US" sz="1800" dirty="0">
                <a:latin typeface="Arial" panose="020B0604020202020204" pitchFamily="34" charset="0"/>
              </a:rPr>
              <a:t>Appointments (medical, car dealership, interviews)</a:t>
            </a:r>
            <a:endParaRPr lang="en-US" sz="1800" dirty="0"/>
          </a:p>
          <a:p>
            <a:pPr marL="0" indent="0">
              <a:spcBef>
                <a:spcPts val="600"/>
              </a:spcBef>
              <a:buNone/>
            </a:pPr>
            <a:endParaRPr lang="en-US" sz="2000" dirty="0"/>
          </a:p>
          <a:p>
            <a:pPr marL="0" indent="0">
              <a:spcBef>
                <a:spcPts val="600"/>
              </a:spcBef>
              <a:buNone/>
            </a:pPr>
            <a:endParaRPr lang="en-US" sz="2000" dirty="0"/>
          </a:p>
          <a:p>
            <a:pPr>
              <a:spcBef>
                <a:spcPts val="600"/>
              </a:spcBef>
            </a:pPr>
            <a:endParaRPr lang="en-US" sz="2200" dirty="0"/>
          </a:p>
          <a:p>
            <a:pPr>
              <a:spcBef>
                <a:spcPts val="600"/>
              </a:spcBef>
            </a:pPr>
            <a:r>
              <a:rPr lang="en-US" sz="2200" dirty="0"/>
              <a:t>Main areas of growth</a:t>
            </a:r>
          </a:p>
          <a:p>
            <a:pPr lvl="1"/>
            <a:r>
              <a:rPr lang="en-US" dirty="0"/>
              <a:t>Mass market retailing (Amazon, eBay, etc.)</a:t>
            </a:r>
          </a:p>
          <a:p>
            <a:pPr lvl="1"/>
            <a:r>
              <a:rPr lang="en-US" dirty="0"/>
              <a:t>Sales of digital content (music, TV, etc.)</a:t>
            </a:r>
          </a:p>
          <a:p>
            <a:pPr lvl="1"/>
            <a:r>
              <a:rPr lang="en-US" dirty="0"/>
              <a:t>In-app sales to mobile devices</a:t>
            </a:r>
          </a:p>
        </p:txBody>
      </p:sp>
      <p:sp>
        <p:nvSpPr>
          <p:cNvPr id="6" name="Rectangle 3">
            <a:extLst>
              <a:ext uri="{FF2B5EF4-FFF2-40B4-BE49-F238E27FC236}">
                <a16:creationId xmlns:a16="http://schemas.microsoft.com/office/drawing/2014/main" id="{046125D4-7680-D659-C2FE-79AB45D6D2A4}"/>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5064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6800" y="133350"/>
            <a:ext cx="8229600" cy="553998"/>
          </a:xfrm>
        </p:spPr>
        <p:txBody>
          <a:bodyPr>
            <a:spAutoFit/>
          </a:bodyPr>
          <a:lstStyle/>
          <a:p>
            <a:r>
              <a:rPr lang="fr-FR" dirty="0"/>
              <a:t>Mobile </a:t>
            </a:r>
            <a:r>
              <a:rPr lang="fr-FR" dirty="0" err="1"/>
              <a:t>Retail</a:t>
            </a:r>
            <a:r>
              <a:rPr lang="fr-FR" dirty="0"/>
              <a:t> Commerce Revenues</a:t>
            </a:r>
            <a:endParaRPr lang="en-US" sz="2800" dirty="0"/>
          </a:p>
        </p:txBody>
      </p:sp>
      <p:pic>
        <p:nvPicPr>
          <p:cNvPr id="3" name="Picture 2" descr="A line graph explains how mobile e-commerce revenues have increased over the years. For a full description, see Notes. Press F6.">
            <a:extLst>
              <a:ext uri="{FF2B5EF4-FFF2-40B4-BE49-F238E27FC236}">
                <a16:creationId xmlns:a16="http://schemas.microsoft.com/office/drawing/2014/main" id="{ABCC3A13-48DD-49FA-A6DC-2F5ECF6CF6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1200150"/>
            <a:ext cx="5105400" cy="3429522"/>
          </a:xfrm>
          <a:prstGeom prst="rect">
            <a:avLst/>
          </a:prstGeom>
        </p:spPr>
      </p:pic>
    </p:spTree>
    <p:extLst>
      <p:ext uri="{BB962C8B-B14F-4D97-AF65-F5344CB8AC3E}">
        <p14:creationId xmlns:p14="http://schemas.microsoft.com/office/powerpoint/2010/main" val="3383035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6928" y="209550"/>
            <a:ext cx="8229600" cy="553998"/>
          </a:xfrm>
        </p:spPr>
        <p:txBody>
          <a:bodyPr>
            <a:spAutoFit/>
          </a:bodyPr>
          <a:lstStyle/>
          <a:p>
            <a:r>
              <a:rPr lang="en-US" dirty="0"/>
              <a:t>         Location-Based Services</a:t>
            </a:r>
            <a:endParaRPr lang="en-US" sz="2800" dirty="0"/>
          </a:p>
        </p:txBody>
      </p:sp>
      <p:sp>
        <p:nvSpPr>
          <p:cNvPr id="5" name="Content Placeholder 4"/>
          <p:cNvSpPr>
            <a:spLocks noGrp="1"/>
          </p:cNvSpPr>
          <p:nvPr>
            <p:ph idx="1"/>
          </p:nvPr>
        </p:nvSpPr>
        <p:spPr>
          <a:xfrm>
            <a:off x="381000" y="825118"/>
            <a:ext cx="8229600" cy="3493264"/>
          </a:xfrm>
        </p:spPr>
        <p:txBody>
          <a:bodyPr>
            <a:spAutoFit/>
          </a:bodyPr>
          <a:lstStyle/>
          <a:p>
            <a:pPr>
              <a:spcBef>
                <a:spcPts val="600"/>
              </a:spcBef>
              <a:buFont typeface="Wingdings" panose="05000000000000000000" pitchFamily="2" charset="2"/>
              <a:buChar char="ü"/>
            </a:pPr>
            <a:r>
              <a:rPr lang="en-US" dirty="0"/>
              <a:t>Used by 74 percent of smartphone owners</a:t>
            </a:r>
          </a:p>
          <a:p>
            <a:pPr>
              <a:spcBef>
                <a:spcPts val="600"/>
              </a:spcBef>
              <a:buFont typeface="Wingdings" panose="05000000000000000000" pitchFamily="2" charset="2"/>
              <a:buChar char="ü"/>
            </a:pPr>
            <a:r>
              <a:rPr lang="en-US" dirty="0"/>
              <a:t>Based on </a:t>
            </a:r>
            <a:r>
              <a:rPr lang="en-US" spc="-300" dirty="0"/>
              <a:t>G P S</a:t>
            </a:r>
            <a:r>
              <a:rPr lang="en-US" dirty="0"/>
              <a:t> map services</a:t>
            </a:r>
          </a:p>
          <a:p>
            <a:pPr>
              <a:spcBef>
                <a:spcPts val="600"/>
              </a:spcBef>
              <a:buFont typeface="Wingdings" panose="05000000000000000000" pitchFamily="2" charset="2"/>
              <a:buChar char="ü"/>
            </a:pPr>
            <a:r>
              <a:rPr lang="en-US" dirty="0"/>
              <a:t>Geosocial services</a:t>
            </a:r>
          </a:p>
          <a:p>
            <a:pPr lvl="1">
              <a:buFont typeface="Wingdings" panose="05000000000000000000" pitchFamily="2" charset="2"/>
              <a:buChar char="q"/>
            </a:pPr>
            <a:r>
              <a:rPr lang="en-US" sz="2400" dirty="0"/>
              <a:t>Where friends are</a:t>
            </a:r>
          </a:p>
          <a:p>
            <a:pPr>
              <a:spcBef>
                <a:spcPts val="600"/>
              </a:spcBef>
              <a:buFont typeface="Wingdings" panose="05000000000000000000" pitchFamily="2" charset="2"/>
              <a:buChar char="ü"/>
            </a:pPr>
            <a:r>
              <a:rPr lang="en-US" dirty="0"/>
              <a:t>Geo advertising</a:t>
            </a:r>
          </a:p>
          <a:p>
            <a:pPr lvl="1">
              <a:buFont typeface="Wingdings" panose="05000000000000000000" pitchFamily="2" charset="2"/>
              <a:buChar char="q"/>
            </a:pPr>
            <a:r>
              <a:rPr lang="en-US" sz="2400" dirty="0"/>
              <a:t>What shops are nearby</a:t>
            </a:r>
          </a:p>
          <a:p>
            <a:pPr>
              <a:spcBef>
                <a:spcPts val="600"/>
              </a:spcBef>
              <a:buFont typeface="Wingdings" panose="05000000000000000000" pitchFamily="2" charset="2"/>
              <a:buChar char="ü"/>
            </a:pPr>
            <a:r>
              <a:rPr lang="en-US" dirty="0"/>
              <a:t>Geo information services</a:t>
            </a:r>
          </a:p>
          <a:p>
            <a:pPr lvl="1">
              <a:buFont typeface="Wingdings" panose="05000000000000000000" pitchFamily="2" charset="2"/>
              <a:buChar char="q"/>
            </a:pPr>
            <a:r>
              <a:rPr lang="en-US" sz="2400" dirty="0"/>
              <a:t>Price of house you are passing</a:t>
            </a:r>
          </a:p>
        </p:txBody>
      </p:sp>
    </p:spTree>
    <p:extLst>
      <p:ext uri="{BB962C8B-B14F-4D97-AF65-F5344CB8AC3E}">
        <p14:creationId xmlns:p14="http://schemas.microsoft.com/office/powerpoint/2010/main" val="773106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23"/>
            <a:ext cx="8229600" cy="553998"/>
          </a:xfrm>
        </p:spPr>
        <p:txBody>
          <a:bodyPr>
            <a:spAutoFit/>
          </a:bodyPr>
          <a:lstStyle/>
          <a:p>
            <a:r>
              <a:rPr lang="en-US" dirty="0"/>
              <a:t>Other Mobile Commerce Services</a:t>
            </a:r>
            <a:endParaRPr lang="en-US" sz="2800" dirty="0"/>
          </a:p>
        </p:txBody>
      </p:sp>
      <p:sp>
        <p:nvSpPr>
          <p:cNvPr id="5" name="Content Placeholder 4"/>
          <p:cNvSpPr>
            <a:spLocks noGrp="1"/>
          </p:cNvSpPr>
          <p:nvPr>
            <p:ph idx="1"/>
          </p:nvPr>
        </p:nvSpPr>
        <p:spPr>
          <a:xfrm>
            <a:off x="457200" y="666750"/>
            <a:ext cx="8229600" cy="4131900"/>
          </a:xfrm>
        </p:spPr>
        <p:txBody>
          <a:bodyPr>
            <a:spAutoFit/>
          </a:bodyPr>
          <a:lstStyle/>
          <a:p>
            <a:pPr>
              <a:buFont typeface="Wingdings" panose="05000000000000000000" pitchFamily="2" charset="2"/>
              <a:buChar char="ü"/>
            </a:pPr>
            <a:r>
              <a:rPr lang="en-US" dirty="0"/>
              <a:t>Financial account management apps</a:t>
            </a:r>
          </a:p>
          <a:p>
            <a:pPr lvl="1">
              <a:buFont typeface="Wingdings" panose="05000000000000000000" pitchFamily="2" charset="2"/>
              <a:buChar char="q"/>
            </a:pPr>
            <a:r>
              <a:rPr lang="en-US" sz="2400" dirty="0"/>
              <a:t>Banks, credit card companies</a:t>
            </a:r>
          </a:p>
          <a:p>
            <a:pPr>
              <a:buFont typeface="Wingdings" panose="05000000000000000000" pitchFamily="2" charset="2"/>
              <a:buChar char="ü"/>
            </a:pPr>
            <a:r>
              <a:rPr lang="en-US" dirty="0"/>
              <a:t>Mobile advertising market</a:t>
            </a:r>
          </a:p>
          <a:p>
            <a:pPr lvl="1">
              <a:buFont typeface="Wingdings" panose="05000000000000000000" pitchFamily="2" charset="2"/>
              <a:buChar char="q"/>
            </a:pPr>
            <a:r>
              <a:rPr lang="en-US" sz="2400" dirty="0"/>
              <a:t>Google and Facebook are largest markets</a:t>
            </a:r>
          </a:p>
          <a:p>
            <a:pPr lvl="1">
              <a:buFont typeface="Wingdings" panose="05000000000000000000" pitchFamily="2" charset="2"/>
              <a:buChar char="q"/>
            </a:pPr>
            <a:r>
              <a:rPr lang="en-US" sz="2400" dirty="0"/>
              <a:t>Ads embedded in games, videos, and mobile apps</a:t>
            </a:r>
          </a:p>
          <a:p>
            <a:pPr>
              <a:buFont typeface="Wingdings" panose="05000000000000000000" pitchFamily="2" charset="2"/>
              <a:buChar char="ü"/>
            </a:pPr>
            <a:r>
              <a:rPr lang="en-US" dirty="0"/>
              <a:t>Over 45 percent of top retailers have m-commerce websites</a:t>
            </a:r>
          </a:p>
          <a:p>
            <a:pPr>
              <a:buFont typeface="Wingdings" panose="05000000000000000000" pitchFamily="2" charset="2"/>
              <a:buChar char="ü"/>
            </a:pPr>
            <a:r>
              <a:rPr lang="en-US" dirty="0"/>
              <a:t>Virtually all large traditional and online retailers have m-commerce apps.</a:t>
            </a:r>
          </a:p>
        </p:txBody>
      </p:sp>
    </p:spTree>
    <p:extLst>
      <p:ext uri="{BB962C8B-B14F-4D97-AF65-F5344CB8AC3E}">
        <p14:creationId xmlns:p14="http://schemas.microsoft.com/office/powerpoint/2010/main" val="3657056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23"/>
            <a:ext cx="8229600" cy="553998"/>
          </a:xfrm>
        </p:spPr>
        <p:txBody>
          <a:bodyPr>
            <a:spAutoFit/>
          </a:bodyPr>
          <a:lstStyle/>
          <a:p>
            <a:r>
              <a:rPr lang="en-US" dirty="0"/>
              <a:t>Mobile App Payment Systems</a:t>
            </a:r>
            <a:endParaRPr lang="en-US" sz="2800" dirty="0"/>
          </a:p>
        </p:txBody>
      </p:sp>
      <p:sp>
        <p:nvSpPr>
          <p:cNvPr id="5" name="Content Placeholder 4"/>
          <p:cNvSpPr>
            <a:spLocks noGrp="1"/>
          </p:cNvSpPr>
          <p:nvPr>
            <p:ph idx="1"/>
          </p:nvPr>
        </p:nvSpPr>
        <p:spPr>
          <a:xfrm>
            <a:off x="457200" y="928628"/>
            <a:ext cx="8229600" cy="3016210"/>
          </a:xfrm>
        </p:spPr>
        <p:txBody>
          <a:bodyPr>
            <a:spAutoFit/>
          </a:bodyPr>
          <a:lstStyle/>
          <a:p>
            <a:pPr>
              <a:buFont typeface="Wingdings" panose="05000000000000000000" pitchFamily="2" charset="2"/>
              <a:buChar char="ü"/>
            </a:pPr>
            <a:r>
              <a:rPr lang="en-US" sz="2600" dirty="0"/>
              <a:t>Near Field Communication (NFC) </a:t>
            </a:r>
          </a:p>
          <a:p>
            <a:pPr lvl="1">
              <a:buFont typeface="Wingdings" panose="05000000000000000000" pitchFamily="2" charset="2"/>
              <a:buChar char="q"/>
            </a:pPr>
            <a:r>
              <a:rPr lang="en-US" sz="2600" dirty="0"/>
              <a:t>Apple Pay, Google Pay, Samsung Pay</a:t>
            </a:r>
          </a:p>
          <a:p>
            <a:pPr>
              <a:buFont typeface="Wingdings" panose="05000000000000000000" pitchFamily="2" charset="2"/>
              <a:buChar char="ü"/>
            </a:pPr>
            <a:r>
              <a:rPr lang="en-US" sz="2600" dirty="0"/>
              <a:t>QR Code</a:t>
            </a:r>
          </a:p>
          <a:p>
            <a:pPr lvl="1">
              <a:buFont typeface="Wingdings" panose="05000000000000000000" pitchFamily="2" charset="2"/>
              <a:buChar char="q"/>
            </a:pPr>
            <a:r>
              <a:rPr lang="en-US" sz="2600" dirty="0"/>
              <a:t>Starbucks, Walmart, Target, Dunkin Donuts</a:t>
            </a:r>
          </a:p>
          <a:p>
            <a:pPr>
              <a:buFont typeface="Wingdings" panose="05000000000000000000" pitchFamily="2" charset="2"/>
              <a:buChar char="ü"/>
            </a:pPr>
            <a:r>
              <a:rPr lang="en-US" sz="2600" dirty="0"/>
              <a:t>Peer-to-peer (P2P) payment systems</a:t>
            </a:r>
          </a:p>
          <a:p>
            <a:pPr lvl="1">
              <a:buFont typeface="Wingdings" panose="05000000000000000000" pitchFamily="2" charset="2"/>
              <a:buChar char="q"/>
            </a:pPr>
            <a:r>
              <a:rPr lang="en-US" sz="2600" dirty="0"/>
              <a:t>Venmo, </a:t>
            </a:r>
            <a:r>
              <a:rPr lang="en-US" sz="2600" dirty="0" err="1"/>
              <a:t>Zelle</a:t>
            </a:r>
            <a:endParaRPr lang="en-US" sz="2600" dirty="0"/>
          </a:p>
        </p:txBody>
      </p:sp>
    </p:spTree>
    <p:extLst>
      <p:ext uri="{BB962C8B-B14F-4D97-AF65-F5344CB8AC3E}">
        <p14:creationId xmlns:p14="http://schemas.microsoft.com/office/powerpoint/2010/main" val="2181545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9850"/>
            <a:ext cx="8229600" cy="984885"/>
          </a:xfrm>
        </p:spPr>
        <p:txBody>
          <a:bodyPr>
            <a:spAutoFit/>
          </a:bodyPr>
          <a:lstStyle/>
          <a:p>
            <a:r>
              <a:rPr lang="en-US" sz="3200" dirty="0"/>
              <a:t>What Issues Must Be Addressed When Building an E-commerce Presence?</a:t>
            </a:r>
            <a:endParaRPr lang="en-US" sz="2400" dirty="0"/>
          </a:p>
        </p:txBody>
      </p:sp>
      <p:sp>
        <p:nvSpPr>
          <p:cNvPr id="5" name="Content Placeholder 4"/>
          <p:cNvSpPr>
            <a:spLocks noGrp="1"/>
          </p:cNvSpPr>
          <p:nvPr>
            <p:ph idx="1"/>
          </p:nvPr>
        </p:nvSpPr>
        <p:spPr>
          <a:xfrm>
            <a:off x="457200" y="1255851"/>
            <a:ext cx="8229600" cy="3170099"/>
          </a:xfrm>
        </p:spPr>
        <p:txBody>
          <a:bodyPr>
            <a:spAutoFit/>
          </a:bodyPr>
          <a:lstStyle/>
          <a:p>
            <a:pPr>
              <a:spcBef>
                <a:spcPts val="600"/>
              </a:spcBef>
              <a:buFont typeface="Wingdings" panose="05000000000000000000" pitchFamily="2" charset="2"/>
              <a:buChar char="ü"/>
            </a:pPr>
            <a:r>
              <a:rPr lang="en-US" sz="2200" dirty="0"/>
              <a:t>Most important management challenges</a:t>
            </a:r>
          </a:p>
          <a:p>
            <a:pPr lvl="1">
              <a:buFont typeface="Wingdings" panose="05000000000000000000" pitchFamily="2" charset="2"/>
              <a:buChar char="q"/>
            </a:pPr>
            <a:r>
              <a:rPr lang="en-US" dirty="0"/>
              <a:t>Developing clear understanding of business objectives</a:t>
            </a:r>
          </a:p>
          <a:p>
            <a:pPr lvl="1">
              <a:buFont typeface="Wingdings" panose="05000000000000000000" pitchFamily="2" charset="2"/>
              <a:buChar char="q"/>
            </a:pPr>
            <a:r>
              <a:rPr lang="en-US" dirty="0"/>
              <a:t>Knowing how to choose the right technology to achieve those objectives</a:t>
            </a:r>
          </a:p>
          <a:p>
            <a:pPr>
              <a:spcBef>
                <a:spcPts val="600"/>
              </a:spcBef>
              <a:buFont typeface="Wingdings" panose="05000000000000000000" pitchFamily="2" charset="2"/>
              <a:buChar char="ü"/>
            </a:pPr>
            <a:r>
              <a:rPr lang="en-US" sz="2200" dirty="0"/>
              <a:t>Develop an e-commerce presence map</a:t>
            </a:r>
          </a:p>
          <a:p>
            <a:pPr lvl="1">
              <a:buFont typeface="Wingdings" panose="05000000000000000000" pitchFamily="2" charset="2"/>
              <a:buChar char="q"/>
            </a:pPr>
            <a:r>
              <a:rPr lang="en-US" dirty="0"/>
              <a:t>Four areas: websites, e-mail, social media, offline media</a:t>
            </a:r>
          </a:p>
          <a:p>
            <a:pPr>
              <a:spcBef>
                <a:spcPts val="600"/>
              </a:spcBef>
              <a:buFont typeface="Wingdings" panose="05000000000000000000" pitchFamily="2" charset="2"/>
              <a:buChar char="ü"/>
            </a:pPr>
            <a:r>
              <a:rPr lang="en-US" sz="2200" dirty="0"/>
              <a:t>Develop a timeline: milestones</a:t>
            </a:r>
          </a:p>
          <a:p>
            <a:pPr lvl="1">
              <a:buFont typeface="Wingdings" panose="05000000000000000000" pitchFamily="2" charset="2"/>
              <a:buChar char="q"/>
            </a:pPr>
            <a:r>
              <a:rPr lang="en-US" dirty="0"/>
              <a:t>Breaking a project into discrete phases</a:t>
            </a:r>
          </a:p>
        </p:txBody>
      </p:sp>
    </p:spTree>
    <p:extLst>
      <p:ext uri="{BB962C8B-B14F-4D97-AF65-F5344CB8AC3E}">
        <p14:creationId xmlns:p14="http://schemas.microsoft.com/office/powerpoint/2010/main" val="42040459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209550"/>
            <a:ext cx="8229600" cy="553998"/>
          </a:xfrm>
        </p:spPr>
        <p:txBody>
          <a:bodyPr>
            <a:spAutoFit/>
          </a:bodyPr>
          <a:lstStyle/>
          <a:p>
            <a:r>
              <a:rPr lang="en-US" dirty="0"/>
              <a:t>         E-commerce Presence Map</a:t>
            </a:r>
            <a:endParaRPr lang="en-US" sz="2800" dirty="0"/>
          </a:p>
        </p:txBody>
      </p:sp>
      <p:pic>
        <p:nvPicPr>
          <p:cNvPr id="10242" name="Picture 2" descr="A process diagram depicts an e-commerce presence map. For a full description, see Notes. Press F6. "/>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519959" y="971550"/>
            <a:ext cx="4104081" cy="353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211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DDF29-BF6A-CCA2-5CEF-1D66727657E9}"/>
              </a:ext>
            </a:extLst>
          </p:cNvPr>
          <p:cNvSpPr>
            <a:spLocks noGrp="1"/>
          </p:cNvSpPr>
          <p:nvPr>
            <p:ph idx="1"/>
          </p:nvPr>
        </p:nvSpPr>
        <p:spPr>
          <a:xfrm>
            <a:off x="381000" y="590550"/>
            <a:ext cx="8229600" cy="3394472"/>
          </a:xfrm>
        </p:spPr>
        <p:txBody>
          <a:bodyPr/>
          <a:lstStyle/>
          <a:p>
            <a:pPr marL="0" indent="0">
              <a:buNone/>
            </a:pPr>
            <a:endParaRPr lang="en-US" dirty="0"/>
          </a:p>
          <a:p>
            <a:pPr marL="0" indent="0">
              <a:buNone/>
            </a:pPr>
            <a:endParaRPr lang="en-US" dirty="0"/>
          </a:p>
          <a:p>
            <a:pPr marL="0" indent="0">
              <a:buNone/>
            </a:pPr>
            <a:r>
              <a:rPr lang="en-US" dirty="0"/>
              <a:t>		</a:t>
            </a:r>
            <a:r>
              <a:rPr lang="en-US" sz="4800" b="1" dirty="0">
                <a:solidFill>
                  <a:srgbClr val="FF0000"/>
                </a:solidFill>
              </a:rPr>
              <a:t>KAHOOT TIME!!!</a:t>
            </a:r>
          </a:p>
        </p:txBody>
      </p:sp>
    </p:spTree>
    <p:extLst>
      <p:ext uri="{BB962C8B-B14F-4D97-AF65-F5344CB8AC3E}">
        <p14:creationId xmlns:p14="http://schemas.microsoft.com/office/powerpoint/2010/main" val="2520502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DC85AD-35B4-C3F2-C6BC-A184D9EDDAEE}"/>
              </a:ext>
            </a:extLst>
          </p:cNvPr>
          <p:cNvPicPr>
            <a:picLocks noChangeAspect="1"/>
          </p:cNvPicPr>
          <p:nvPr/>
        </p:nvPicPr>
        <p:blipFill>
          <a:blip r:embed="rId3"/>
          <a:stretch>
            <a:fillRect/>
          </a:stretch>
        </p:blipFill>
        <p:spPr>
          <a:xfrm>
            <a:off x="-53340" y="5037"/>
            <a:ext cx="9144000" cy="5165133"/>
          </a:xfrm>
          <a:prstGeom prst="rect">
            <a:avLst/>
          </a:prstGeom>
        </p:spPr>
      </p:pic>
      <p:sp>
        <p:nvSpPr>
          <p:cNvPr id="2" name="TextBox 1">
            <a:extLst>
              <a:ext uri="{FF2B5EF4-FFF2-40B4-BE49-F238E27FC236}">
                <a16:creationId xmlns:a16="http://schemas.microsoft.com/office/drawing/2014/main" id="{A1E0DB0D-0A83-0B44-502D-DE84350E811E}"/>
              </a:ext>
            </a:extLst>
          </p:cNvPr>
          <p:cNvSpPr txBox="1"/>
          <p:nvPr/>
        </p:nvSpPr>
        <p:spPr>
          <a:xfrm>
            <a:off x="-53340" y="11430"/>
            <a:ext cx="9273540" cy="4770537"/>
          </a:xfrm>
          <a:prstGeom prst="rect">
            <a:avLst/>
          </a:prstGeom>
          <a:solidFill>
            <a:schemeClr val="bg1"/>
          </a:solidFill>
        </p:spPr>
        <p:txBody>
          <a:bodyPr wrap="square" rtlCol="0">
            <a:spAutoFit/>
          </a:bodyPr>
          <a:lstStyle/>
          <a:p>
            <a:endParaRPr lang="en-US" sz="2000" b="1" dirty="0">
              <a:solidFill>
                <a:schemeClr val="bg2"/>
              </a:solidFill>
            </a:endParaRPr>
          </a:p>
          <a:p>
            <a:endParaRPr lang="en-US" sz="2000" b="1" dirty="0">
              <a:solidFill>
                <a:schemeClr val="bg2"/>
              </a:solidFill>
            </a:endParaRPr>
          </a:p>
          <a:p>
            <a:r>
              <a:rPr lang="en-US" sz="2400" b="1" i="1">
                <a:solidFill>
                  <a:schemeClr val="bg2"/>
                </a:solidFill>
              </a:rPr>
              <a:t>                  </a:t>
            </a:r>
            <a:r>
              <a:rPr lang="en-US" sz="2400" b="1" i="1" u="sng">
                <a:solidFill>
                  <a:schemeClr val="bg2"/>
                </a:solidFill>
              </a:rPr>
              <a:t>Assignment </a:t>
            </a:r>
            <a:r>
              <a:rPr lang="en-US" sz="2400" b="1" i="1" u="sng" dirty="0">
                <a:solidFill>
                  <a:schemeClr val="bg2"/>
                </a:solidFill>
              </a:rPr>
              <a:t>For Week </a:t>
            </a:r>
            <a:r>
              <a:rPr lang="en-US" sz="2400" b="1" i="1" u="sng">
                <a:solidFill>
                  <a:schemeClr val="bg2"/>
                </a:solidFill>
              </a:rPr>
              <a:t>10 – Chapter 10</a:t>
            </a:r>
            <a:endParaRPr lang="en-US" sz="2400" b="1" i="1" u="sng" dirty="0">
              <a:solidFill>
                <a:schemeClr val="bg2"/>
              </a:solidFill>
            </a:endParaRPr>
          </a:p>
          <a:p>
            <a:endParaRPr lang="en-US" sz="2000" b="1" dirty="0">
              <a:solidFill>
                <a:schemeClr val="bg2"/>
              </a:solidFill>
            </a:endParaRPr>
          </a:p>
          <a:p>
            <a:pPr lvl="2"/>
            <a:r>
              <a:rPr lang="en-US" sz="2000" b="1" dirty="0">
                <a:solidFill>
                  <a:schemeClr val="bg2"/>
                </a:solidFill>
              </a:rPr>
              <a:t>	Read the Case Study on next 3 slides and </a:t>
            </a:r>
          </a:p>
          <a:p>
            <a:pPr lvl="2"/>
            <a:r>
              <a:rPr lang="en-US" sz="2000" b="1" dirty="0">
                <a:solidFill>
                  <a:schemeClr val="bg2"/>
                </a:solidFill>
              </a:rPr>
              <a:t>             answer the four(4) questions that follow.</a:t>
            </a:r>
          </a:p>
          <a:p>
            <a:endParaRPr lang="en-US" sz="2000" b="1" dirty="0">
              <a:solidFill>
                <a:schemeClr val="bg2"/>
              </a:solidFill>
            </a:endParaRPr>
          </a:p>
          <a:p>
            <a:endParaRPr lang="en-US" sz="2000" b="1" dirty="0">
              <a:solidFill>
                <a:srgbClr val="FF0000"/>
              </a:solidFill>
            </a:endParaRPr>
          </a:p>
          <a:p>
            <a:endParaRPr lang="en-US" sz="2000" b="1" dirty="0">
              <a:solidFill>
                <a:srgbClr val="FF0000"/>
              </a:solidFill>
            </a:endParaRPr>
          </a:p>
          <a:p>
            <a:endParaRPr lang="en-US" sz="2000" b="1" dirty="0">
              <a:solidFill>
                <a:srgbClr val="FF0000"/>
              </a:solidFill>
            </a:endParaRPr>
          </a:p>
          <a:p>
            <a:endParaRPr lang="en-US" sz="2000" b="1" dirty="0">
              <a:solidFill>
                <a:srgbClr val="FF0000"/>
              </a:solidFill>
            </a:endParaRPr>
          </a:p>
          <a:p>
            <a:endParaRPr lang="en-US" sz="2000" b="1" dirty="0">
              <a:solidFill>
                <a:srgbClr val="FF0000"/>
              </a:solidFill>
            </a:endParaRPr>
          </a:p>
          <a:p>
            <a:endParaRPr lang="en-US" sz="2000" b="1" dirty="0">
              <a:solidFill>
                <a:srgbClr val="FF0000"/>
              </a:solidFill>
            </a:endParaRPr>
          </a:p>
          <a:p>
            <a:endParaRPr lang="en-US" sz="2000" dirty="0"/>
          </a:p>
          <a:p>
            <a:endParaRPr lang="en-US" sz="2000" dirty="0"/>
          </a:p>
        </p:txBody>
      </p:sp>
    </p:spTree>
    <p:extLst>
      <p:ext uri="{BB962C8B-B14F-4D97-AF65-F5344CB8AC3E}">
        <p14:creationId xmlns:p14="http://schemas.microsoft.com/office/powerpoint/2010/main" val="1535434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7A0D32-BBEE-2011-D321-DE922F7B0140}"/>
              </a:ext>
            </a:extLst>
          </p:cNvPr>
          <p:cNvSpPr>
            <a:spLocks noGrp="1"/>
          </p:cNvSpPr>
          <p:nvPr>
            <p:ph type="title"/>
          </p:nvPr>
        </p:nvSpPr>
        <p:spPr>
          <a:xfrm>
            <a:off x="381000" y="290522"/>
            <a:ext cx="8229600" cy="276621"/>
          </a:xfrm>
        </p:spPr>
        <p:txBody>
          <a:bodyPr/>
          <a:lstStyle/>
          <a:p>
            <a:r>
              <a:rPr lang="en-US" sz="1800" dirty="0"/>
              <a:t>Students – please read this Case Study for Homework (answer 4 questions that follow.</a:t>
            </a:r>
          </a:p>
        </p:txBody>
      </p:sp>
      <p:pic>
        <p:nvPicPr>
          <p:cNvPr id="3" name="Picture 2">
            <a:extLst>
              <a:ext uri="{FF2B5EF4-FFF2-40B4-BE49-F238E27FC236}">
                <a16:creationId xmlns:a16="http://schemas.microsoft.com/office/drawing/2014/main" id="{228888BE-6143-09E6-5F81-81582FC72C53}"/>
              </a:ext>
            </a:extLst>
          </p:cNvPr>
          <p:cNvPicPr>
            <a:picLocks noChangeAspect="1"/>
          </p:cNvPicPr>
          <p:nvPr/>
        </p:nvPicPr>
        <p:blipFill>
          <a:blip r:embed="rId2"/>
          <a:stretch>
            <a:fillRect/>
          </a:stretch>
        </p:blipFill>
        <p:spPr>
          <a:xfrm>
            <a:off x="2667000" y="393042"/>
            <a:ext cx="4153666" cy="4750457"/>
          </a:xfrm>
          <a:prstGeom prst="rect">
            <a:avLst/>
          </a:prstGeom>
        </p:spPr>
      </p:pic>
    </p:spTree>
    <p:extLst>
      <p:ext uri="{BB962C8B-B14F-4D97-AF65-F5344CB8AC3E}">
        <p14:creationId xmlns:p14="http://schemas.microsoft.com/office/powerpoint/2010/main" val="3892853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A3E811-1389-8C66-8EE4-EE529AA21028}"/>
              </a:ext>
            </a:extLst>
          </p:cNvPr>
          <p:cNvPicPr>
            <a:picLocks noChangeAspect="1"/>
          </p:cNvPicPr>
          <p:nvPr/>
        </p:nvPicPr>
        <p:blipFill>
          <a:blip r:embed="rId2"/>
          <a:stretch>
            <a:fillRect/>
          </a:stretch>
        </p:blipFill>
        <p:spPr>
          <a:xfrm>
            <a:off x="2819400" y="0"/>
            <a:ext cx="3733045" cy="4847626"/>
          </a:xfrm>
          <a:prstGeom prst="rect">
            <a:avLst/>
          </a:prstGeom>
        </p:spPr>
      </p:pic>
    </p:spTree>
    <p:extLst>
      <p:ext uri="{BB962C8B-B14F-4D97-AF65-F5344CB8AC3E}">
        <p14:creationId xmlns:p14="http://schemas.microsoft.com/office/powerpoint/2010/main" val="1574517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40C515-7138-E5D5-DBA2-4FC99E30636C}"/>
              </a:ext>
            </a:extLst>
          </p:cNvPr>
          <p:cNvPicPr>
            <a:picLocks noChangeAspect="1"/>
          </p:cNvPicPr>
          <p:nvPr/>
        </p:nvPicPr>
        <p:blipFill>
          <a:blip r:embed="rId2"/>
          <a:stretch>
            <a:fillRect/>
          </a:stretch>
        </p:blipFill>
        <p:spPr>
          <a:xfrm>
            <a:off x="2534117" y="0"/>
            <a:ext cx="3866683" cy="4879644"/>
          </a:xfrm>
          <a:prstGeom prst="rect">
            <a:avLst/>
          </a:prstGeom>
        </p:spPr>
      </p:pic>
    </p:spTree>
    <p:extLst>
      <p:ext uri="{BB962C8B-B14F-4D97-AF65-F5344CB8AC3E}">
        <p14:creationId xmlns:p14="http://schemas.microsoft.com/office/powerpoint/2010/main" val="33853580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07547"/>
            <a:ext cx="8229600" cy="430887"/>
          </a:xfrm>
        </p:spPr>
        <p:txBody>
          <a:bodyPr>
            <a:spAutoFit/>
          </a:bodyPr>
          <a:lstStyle/>
          <a:p>
            <a:r>
              <a:rPr lang="en-US" sz="2800" dirty="0"/>
              <a:t>Homework Questions:</a:t>
            </a:r>
          </a:p>
        </p:txBody>
      </p:sp>
      <p:pic>
        <p:nvPicPr>
          <p:cNvPr id="11" name="Content Placeholder 10">
            <a:extLst>
              <a:ext uri="{FF2B5EF4-FFF2-40B4-BE49-F238E27FC236}">
                <a16:creationId xmlns:a16="http://schemas.microsoft.com/office/drawing/2014/main" id="{A01713C1-F31B-3766-9B82-451FBDAB2DC9}"/>
              </a:ext>
            </a:extLst>
          </p:cNvPr>
          <p:cNvPicPr>
            <a:picLocks noGrp="1" noChangeAspect="1"/>
          </p:cNvPicPr>
          <p:nvPr>
            <p:ph idx="1"/>
          </p:nvPr>
        </p:nvPicPr>
        <p:blipFill>
          <a:blip r:embed="rId3"/>
          <a:stretch>
            <a:fillRect/>
          </a:stretch>
        </p:blipFill>
        <p:spPr>
          <a:xfrm>
            <a:off x="1190625" y="1373187"/>
            <a:ext cx="6762750" cy="3048000"/>
          </a:xfrm>
        </p:spPr>
      </p:pic>
    </p:spTree>
    <p:extLst>
      <p:ext uri="{BB962C8B-B14F-4D97-AF65-F5344CB8AC3E}">
        <p14:creationId xmlns:p14="http://schemas.microsoft.com/office/powerpoint/2010/main" val="10874584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ags/tag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CE90005A41C2144599A24328EF6B3CE9" ma:contentTypeVersion="11" ma:contentTypeDescription="新建文档。" ma:contentTypeScope="" ma:versionID="9b0af1cfb92a010da9ba22e4c5cc5207">
  <xsd:schema xmlns:xsd="http://www.w3.org/2001/XMLSchema" xmlns:xs="http://www.w3.org/2001/XMLSchema" xmlns:p="http://schemas.microsoft.com/office/2006/metadata/properties" xmlns:ns2="66f332e7-9017-4c06-9786-6c25d60ba5d3" xmlns:ns3="7abe4cc5-6390-4073-9da8-5877fa0a77cd" targetNamespace="http://schemas.microsoft.com/office/2006/metadata/properties" ma:root="true" ma:fieldsID="0ece48b05508f000ff4b96f4bc30f402" ns2:_="" ns3:_="">
    <xsd:import namespace="66f332e7-9017-4c06-9786-6c25d60ba5d3"/>
    <xsd:import namespace="7abe4cc5-6390-4073-9da8-5877fa0a77cd"/>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f332e7-9017-4c06-9786-6c25d60ba5d3"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图像标记" ma:readOnly="false" ma:fieldId="{5cf76f15-5ced-4ddc-b409-7134ff3c332f}" ma:taxonomyMulti="true" ma:sspId="7d4ec655-d4b4-4e3d-9a14-733d370873d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be4cc5-6390-4073-9da8-5877fa0a77cd"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09376a4d-a00c-4c3e-87f9-486ade9595b6}" ma:internalName="TaxCatchAll" ma:showField="CatchAllData" ma:web="7abe4cc5-6390-4073-9da8-5877fa0a77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66f332e7-9017-4c06-9786-6c25d60ba5d3" xsi:nil="true"/>
    <TaxCatchAll xmlns="7abe4cc5-6390-4073-9da8-5877fa0a77cd" xsi:nil="true"/>
    <lcf76f155ced4ddcb4097134ff3c332f xmlns="66f332e7-9017-4c06-9786-6c25d60ba5d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D0A9016-CF10-48D7-B0A2-2FEAD3BC2A72}"/>
</file>

<file path=customXml/itemProps2.xml><?xml version="1.0" encoding="utf-8"?>
<ds:datastoreItem xmlns:ds="http://schemas.openxmlformats.org/officeDocument/2006/customXml" ds:itemID="{7A63F5BF-AB54-478D-B85A-73FA71A925BF}"/>
</file>

<file path=customXml/itemProps3.xml><?xml version="1.0" encoding="utf-8"?>
<ds:datastoreItem xmlns:ds="http://schemas.openxmlformats.org/officeDocument/2006/customXml" ds:itemID="{00C6092A-3CC2-43C3-9F77-B4FAA88774FE}"/>
</file>

<file path=docProps/app.xml><?xml version="1.0" encoding="utf-8"?>
<Properties xmlns="http://schemas.openxmlformats.org/officeDocument/2006/extended-properties" xmlns:vt="http://schemas.openxmlformats.org/officeDocument/2006/docPropsVTypes">
  <Template>Horizon</Template>
  <TotalTime>6209</TotalTime>
  <Words>6291</Words>
  <Application>Microsoft Office PowerPoint</Application>
  <PresentationFormat>On-screen Show (16:9)</PresentationFormat>
  <Paragraphs>492</Paragraphs>
  <Slides>56</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Microsoft Yahei</vt:lpstr>
      <vt:lpstr>Arial</vt:lpstr>
      <vt:lpstr>Calibri</vt:lpstr>
      <vt:lpstr>Times New Roman</vt:lpstr>
      <vt:lpstr>Verdana</vt:lpstr>
      <vt:lpstr>Wingdings</vt:lpstr>
      <vt:lpstr>508 Lecture</vt:lpstr>
      <vt:lpstr> Week 10 – Tuesday Morning12/30/25                 Chapter 10 – E-Commerce: Digital Markets, Digital Goods </vt:lpstr>
      <vt:lpstr>PowerPoint Presentation</vt:lpstr>
      <vt:lpstr> Week 10 – Chapter 10 Learning Objectives</vt:lpstr>
      <vt:lpstr>Students – please read this Case Study – next 3 slides - (take 5 minutes)</vt:lpstr>
      <vt:lpstr>PowerPoint Presentation</vt:lpstr>
      <vt:lpstr>PowerPoint Presentation</vt:lpstr>
      <vt:lpstr>   E-commerce Comes to the Dashboard:         The Battle for the “Fourth Screen”</vt:lpstr>
      <vt:lpstr>                             Major Trends</vt:lpstr>
      <vt:lpstr>E-commerce Today </vt:lpstr>
      <vt:lpstr>            The Growth of E-commerce</vt:lpstr>
      <vt:lpstr>        Why E-commerce is Different</vt:lpstr>
      <vt:lpstr>Why E-commerce is Different (cont’)</vt:lpstr>
      <vt:lpstr>Key Concepts in E-commerce – Digital Markets and Digital Goods in a Global Marketplace</vt:lpstr>
      <vt:lpstr>The Benefits of Disintermediation to the Consumer</vt:lpstr>
      <vt:lpstr>                                      Digital vs Traditional Markets</vt:lpstr>
      <vt:lpstr>Digital Goods</vt:lpstr>
      <vt:lpstr>                                  INTERNET Affect on Digital Goods</vt:lpstr>
      <vt:lpstr>Types of E-commerce</vt:lpstr>
      <vt:lpstr>E-commerce Business Models</vt:lpstr>
      <vt:lpstr>E-commerce Revenue Models</vt:lpstr>
      <vt:lpstr>Advertising Revenue Model</vt:lpstr>
      <vt:lpstr>Advertising Revenue Model (cont’)</vt:lpstr>
      <vt:lpstr>     Sales Revenue Model</vt:lpstr>
      <vt:lpstr>     Subscription Revenue Model</vt:lpstr>
      <vt:lpstr>     Free/Freemium Revenue Model</vt:lpstr>
      <vt:lpstr>     Transaction Fee Revenue Model</vt:lpstr>
      <vt:lpstr>          Affiliate Revenue Model</vt:lpstr>
      <vt:lpstr>Students – please read this Case Study – next 3 slides - (take 5 minutes)</vt:lpstr>
      <vt:lpstr>PowerPoint Presentation</vt:lpstr>
      <vt:lpstr>PowerPoint Presentation</vt:lpstr>
      <vt:lpstr> Small Business Loans from a FinTech App - Case Study Questions </vt:lpstr>
      <vt:lpstr>PowerPoint Presentation</vt:lpstr>
      <vt:lpstr>How Has E-commerce Transformed Marketing? </vt:lpstr>
      <vt:lpstr>How Has E-commerce Transformed Marketing? (cont’)</vt:lpstr>
      <vt:lpstr>            Website Visitor Tracking</vt:lpstr>
      <vt:lpstr>            Website Personalization</vt:lpstr>
      <vt:lpstr>   How an Advertising Network Works</vt:lpstr>
      <vt:lpstr>Social E-commerce and Social Network Marketing</vt:lpstr>
      <vt:lpstr>Social E-commerce and Social Network Marketing (cont’)</vt:lpstr>
      <vt:lpstr>How Has E-commerce Affected Business-To Business Transactions?</vt:lpstr>
      <vt:lpstr>Electronic Data Interchange (E D I)</vt:lpstr>
      <vt:lpstr>Electronic Data Interchange (E D I)</vt:lpstr>
      <vt:lpstr>New Ways of B2B Buying and Selling</vt:lpstr>
      <vt:lpstr>Mobile Commerce (M-commerce)</vt:lpstr>
      <vt:lpstr>Mobile Retail Commerce Revenues</vt:lpstr>
      <vt:lpstr>         Location-Based Services</vt:lpstr>
      <vt:lpstr>Other Mobile Commerce Services</vt:lpstr>
      <vt:lpstr>Mobile App Payment Systems</vt:lpstr>
      <vt:lpstr>What Issues Must Be Addressed When Building an E-commerce Presence?</vt:lpstr>
      <vt:lpstr>         E-commerce Presence Map</vt:lpstr>
      <vt:lpstr>PowerPoint Presentation</vt:lpstr>
      <vt:lpstr>PowerPoint Presentation</vt:lpstr>
      <vt:lpstr>Students – please read this Case Study for Homework (answer 4 questions that follow.</vt:lpstr>
      <vt:lpstr>PowerPoint Presentation</vt:lpstr>
      <vt:lpstr>PowerPoint Presentation</vt:lpstr>
      <vt:lpstr>Homework Questions: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Ralph Marra</cp:lastModifiedBy>
  <cp:revision>1125</cp:revision>
  <cp:lastPrinted>2020-10-30T18:38:00Z</cp:lastPrinted>
  <dcterms:created xsi:type="dcterms:W3CDTF">2014-07-14T20:04:21Z</dcterms:created>
  <dcterms:modified xsi:type="dcterms:W3CDTF">2026-01-04T03:18:26Z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0x010100CE90005A41C2144599A24328EF6B3CE9</vt:lpwstr>
  </property>
</Properties>
</file>