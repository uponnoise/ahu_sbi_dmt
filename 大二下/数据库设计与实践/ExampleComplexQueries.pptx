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 id="2147483684" r:id="rId2"/>
  </p:sldMasterIdLst>
  <p:notesMasterIdLst>
    <p:notesMasterId r:id="rId13"/>
  </p:notesMasterIdLst>
  <p:sldIdLst>
    <p:sldId id="268" r:id="rId3"/>
    <p:sldId id="270" r:id="rId4"/>
    <p:sldId id="352" r:id="rId5"/>
    <p:sldId id="349" r:id="rId6"/>
    <p:sldId id="353" r:id="rId7"/>
    <p:sldId id="350" r:id="rId8"/>
    <p:sldId id="354" r:id="rId9"/>
    <p:sldId id="357" r:id="rId10"/>
    <p:sldId id="351" r:id="rId11"/>
    <p:sldId id="35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6BF706-1BA9-41F1-95C8-66CE1CF911FF}" type="datetimeFigureOut">
              <a:rPr lang="en-US" smtClean="0"/>
              <a:t>6/17/2025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8343F6-9F05-484D-934F-56682052D92F}" type="slidenum">
              <a:rPr lang="en-US" smtClean="0"/>
              <a:t>‹#›</a:t>
            </a:fld>
            <a:endParaRPr lang="en-US"/>
          </a:p>
        </p:txBody>
      </p:sp>
    </p:spTree>
    <p:extLst>
      <p:ext uri="{BB962C8B-B14F-4D97-AF65-F5344CB8AC3E}">
        <p14:creationId xmlns:p14="http://schemas.microsoft.com/office/powerpoint/2010/main" val="1278471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938DFF-218C-4948-B31E-06D658EB2B3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38769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BU Full Page Photo">
    <p:spTree>
      <p:nvGrpSpPr>
        <p:cNvPr id="1" name=""/>
        <p:cNvGrpSpPr/>
        <p:nvPr/>
      </p:nvGrpSpPr>
      <p:grpSpPr>
        <a:xfrm>
          <a:off x="0" y="0"/>
          <a:ext cx="0" cy="0"/>
          <a:chOff x="0" y="0"/>
          <a:chExt cx="0" cy="0"/>
        </a:xfrm>
      </p:grpSpPr>
      <p:cxnSp>
        <p:nvCxnSpPr>
          <p:cNvPr id="7" name="Straight Connector 6"/>
          <p:cNvCxnSpPr/>
          <p:nvPr userDrawn="1"/>
        </p:nvCxnSpPr>
        <p:spPr>
          <a:xfrm>
            <a:off x="0" y="1082675"/>
            <a:ext cx="12192000" cy="1588"/>
          </a:xfrm>
          <a:prstGeom prst="line">
            <a:avLst/>
          </a:prstGeom>
          <a:ln w="12700">
            <a:solidFill>
              <a:srgbClr val="B60225"/>
            </a:solidFill>
          </a:ln>
          <a:effectLst/>
        </p:spPr>
        <p:style>
          <a:lnRef idx="2">
            <a:schemeClr val="accent1"/>
          </a:lnRef>
          <a:fillRef idx="0">
            <a:schemeClr val="accent1"/>
          </a:fillRef>
          <a:effectRef idx="1">
            <a:schemeClr val="accent1"/>
          </a:effectRef>
          <a:fontRef idx="minor">
            <a:schemeClr val="tx1"/>
          </a:fontRef>
        </p:style>
      </p:cxnSp>
      <p:sp>
        <p:nvSpPr>
          <p:cNvPr id="6" name="Text Placeholder 12"/>
          <p:cNvSpPr>
            <a:spLocks noGrp="1"/>
          </p:cNvSpPr>
          <p:nvPr>
            <p:ph type="body" sz="quarter" idx="14"/>
          </p:nvPr>
        </p:nvSpPr>
        <p:spPr>
          <a:xfrm>
            <a:off x="0" y="6288062"/>
            <a:ext cx="12192000" cy="467416"/>
          </a:xfrm>
          <a:prstGeom prst="rect">
            <a:avLst/>
          </a:prstGeom>
        </p:spPr>
        <p:txBody>
          <a:bodyPr anchor="ctr"/>
          <a:lstStyle>
            <a:lvl1pPr algn="ctr">
              <a:buFontTx/>
              <a:buNone/>
              <a:defRPr sz="2000" baseline="0">
                <a:solidFill>
                  <a:srgbClr val="FFFFFF"/>
                </a:solidFill>
                <a:latin typeface="Helvetica"/>
                <a:cs typeface="Helvetica"/>
              </a:defRPr>
            </a:lvl1pPr>
          </a:lstStyle>
          <a:p>
            <a:pPr lvl="0"/>
            <a:r>
              <a:rPr lang="en-US" dirty="0"/>
              <a:t>Click to edit Master text styles</a:t>
            </a:r>
          </a:p>
        </p:txBody>
      </p:sp>
      <p:sp>
        <p:nvSpPr>
          <p:cNvPr id="9" name="Picture Placeholder 2"/>
          <p:cNvSpPr>
            <a:spLocks noGrp="1"/>
          </p:cNvSpPr>
          <p:nvPr>
            <p:ph type="pic" idx="1"/>
          </p:nvPr>
        </p:nvSpPr>
        <p:spPr>
          <a:xfrm>
            <a:off x="0" y="1091260"/>
            <a:ext cx="12192000" cy="5205623"/>
          </a:xfrm>
          <a:solidFill>
            <a:schemeClr val="bg1">
              <a:lumMod val="85000"/>
            </a:schemeClr>
          </a:solidFill>
        </p:spPr>
        <p:txBody>
          <a:bodyPr rtlCol="0">
            <a:normAutofit/>
          </a:bodyPr>
          <a:lstStyle>
            <a:lvl1pPr marL="0" indent="0">
              <a:buNone/>
              <a:defRPr sz="32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Tree>
    <p:extLst>
      <p:ext uri="{BB962C8B-B14F-4D97-AF65-F5344CB8AC3E}">
        <p14:creationId xmlns:p14="http://schemas.microsoft.com/office/powerpoint/2010/main" val="2569774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BU Title Slide">
    <p:spTree>
      <p:nvGrpSpPr>
        <p:cNvPr id="1" name=""/>
        <p:cNvGrpSpPr/>
        <p:nvPr/>
      </p:nvGrpSpPr>
      <p:grpSpPr>
        <a:xfrm>
          <a:off x="0" y="0"/>
          <a:ext cx="0" cy="0"/>
          <a:chOff x="0" y="0"/>
          <a:chExt cx="0" cy="0"/>
        </a:xfrm>
      </p:grpSpPr>
      <p:sp>
        <p:nvSpPr>
          <p:cNvPr id="7" name="Text Placeholder 12"/>
          <p:cNvSpPr>
            <a:spLocks noGrp="1"/>
          </p:cNvSpPr>
          <p:nvPr>
            <p:ph type="body" sz="quarter" idx="14"/>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dirty="0"/>
              <a:t>Click to edit Master text styles</a:t>
            </a:r>
          </a:p>
        </p:txBody>
      </p:sp>
      <p:sp>
        <p:nvSpPr>
          <p:cNvPr id="6" name="Text Placeholder 7"/>
          <p:cNvSpPr>
            <a:spLocks noGrp="1"/>
          </p:cNvSpPr>
          <p:nvPr>
            <p:ph type="body" sz="quarter" idx="15"/>
          </p:nvPr>
        </p:nvSpPr>
        <p:spPr>
          <a:xfrm>
            <a:off x="609600" y="1066801"/>
            <a:ext cx="10972800" cy="5211917"/>
          </a:xfrm>
        </p:spPr>
        <p:txBody>
          <a:bodyPr tIns="0" rIns="0" bIns="0" anchor="ctr"/>
          <a:lstStyle>
            <a:lvl1pPr algn="ctr">
              <a:buFontTx/>
              <a:buNone/>
              <a:defRPr sz="4400">
                <a:solidFill>
                  <a:srgbClr val="B60225"/>
                </a:solidFill>
              </a:defRPr>
            </a:lvl1pPr>
            <a:lvl2pPr marL="228600" indent="-228600" algn="ctr">
              <a:buClr>
                <a:srgbClr val="C03137"/>
              </a:buClr>
              <a:buFontTx/>
              <a:buNone/>
              <a:defRPr sz="2400"/>
            </a:lvl2pPr>
            <a:lvl3pPr marL="458788" indent="-230188" algn="ctr">
              <a:buFontTx/>
              <a:buNone/>
              <a:defRPr/>
            </a:lvl3pPr>
            <a:lvl4pPr marL="458788" indent="-230188" algn="ctr">
              <a:buFontTx/>
              <a:buNone/>
              <a:defRPr/>
            </a:lvl4pPr>
            <a:lvl5pPr marL="458788" indent="-230188" algn="ctr">
              <a:buFontTx/>
              <a:buNone/>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756642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BU Left Bulleted Text">
    <p:spTree>
      <p:nvGrpSpPr>
        <p:cNvPr id="1" name=""/>
        <p:cNvGrpSpPr/>
        <p:nvPr/>
      </p:nvGrpSpPr>
      <p:grpSpPr>
        <a:xfrm>
          <a:off x="0" y="0"/>
          <a:ext cx="0" cy="0"/>
          <a:chOff x="0" y="0"/>
          <a:chExt cx="0" cy="0"/>
        </a:xfrm>
      </p:grpSpPr>
      <p:sp>
        <p:nvSpPr>
          <p:cNvPr id="5" name="Text Placeholder 12"/>
          <p:cNvSpPr>
            <a:spLocks noGrp="1"/>
          </p:cNvSpPr>
          <p:nvPr>
            <p:ph type="body" sz="quarter" idx="14"/>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dirty="0"/>
              <a:t>Click to edit Master text styles</a:t>
            </a:r>
          </a:p>
        </p:txBody>
      </p:sp>
      <p:sp>
        <p:nvSpPr>
          <p:cNvPr id="8" name="Text Placeholder 7"/>
          <p:cNvSpPr>
            <a:spLocks noGrp="1"/>
          </p:cNvSpPr>
          <p:nvPr>
            <p:ph type="body" sz="quarter" idx="15"/>
          </p:nvPr>
        </p:nvSpPr>
        <p:spPr>
          <a:xfrm>
            <a:off x="609600" y="1367658"/>
            <a:ext cx="10972800" cy="4804543"/>
          </a:xfrm>
        </p:spPr>
        <p:txBody>
          <a:bodyPr tIns="0" rIns="0" bIns="0"/>
          <a:lstStyle>
            <a:lvl1pPr>
              <a:buFontTx/>
              <a:buNone/>
              <a:defRPr>
                <a:solidFill>
                  <a:srgbClr val="B60225"/>
                </a:solidFill>
              </a:defRPr>
            </a:lvl1pPr>
            <a:lvl2pPr marL="228600" indent="-228600">
              <a:buClr>
                <a:srgbClr val="C03137"/>
              </a:buClr>
              <a:buFont typeface="Arial"/>
              <a:buChar char="•"/>
              <a:defRPr sz="2400"/>
            </a:lvl2pPr>
            <a:lvl3pPr marL="458788" indent="-230188">
              <a:defRPr/>
            </a:lvl3pPr>
            <a:lvl4pPr marL="458788" indent="-230188">
              <a:defRPr/>
            </a:lvl4pPr>
            <a:lvl5pPr marL="458788" indent="-230188">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61311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BU Bulleted Text 3 Photo">
    <p:spTree>
      <p:nvGrpSpPr>
        <p:cNvPr id="1" name=""/>
        <p:cNvGrpSpPr/>
        <p:nvPr/>
      </p:nvGrpSpPr>
      <p:grpSpPr>
        <a:xfrm>
          <a:off x="0" y="0"/>
          <a:ext cx="0" cy="0"/>
          <a:chOff x="0" y="0"/>
          <a:chExt cx="0" cy="0"/>
        </a:xfrm>
      </p:grpSpPr>
      <p:sp>
        <p:nvSpPr>
          <p:cNvPr id="4" name="Content Placeholder 2"/>
          <p:cNvSpPr>
            <a:spLocks noGrp="1"/>
          </p:cNvSpPr>
          <p:nvPr>
            <p:ph idx="12"/>
          </p:nvPr>
        </p:nvSpPr>
        <p:spPr>
          <a:xfrm>
            <a:off x="609599" y="1384048"/>
            <a:ext cx="7034288" cy="4788153"/>
          </a:xfrm>
        </p:spPr>
        <p:txBody>
          <a:bodyPr tIns="0"/>
          <a:lstStyle>
            <a:lvl1pPr marL="0" indent="0">
              <a:buNone/>
              <a:defRPr sz="2600">
                <a:solidFill>
                  <a:srgbClr val="B60225"/>
                </a:solidFill>
              </a:defRPr>
            </a:lvl1pPr>
            <a:lvl2pPr marL="228600" indent="-228600" algn="l">
              <a:buClr>
                <a:srgbClr val="B60225"/>
              </a:buClr>
              <a:buFont typeface="Arial"/>
              <a:buChar char="•"/>
              <a:defRPr sz="2200"/>
            </a:lvl2pPr>
          </a:lstStyle>
          <a:p>
            <a:pPr lvl="0"/>
            <a:r>
              <a:rPr lang="en-US" dirty="0"/>
              <a:t>Click to edit Master text styles</a:t>
            </a:r>
          </a:p>
          <a:p>
            <a:pPr lvl="1"/>
            <a:r>
              <a:rPr lang="en-US" dirty="0"/>
              <a:t>Second level</a:t>
            </a:r>
          </a:p>
        </p:txBody>
      </p:sp>
      <p:sp>
        <p:nvSpPr>
          <p:cNvPr id="8" name="Text Placeholder 12"/>
          <p:cNvSpPr>
            <a:spLocks noGrp="1"/>
          </p:cNvSpPr>
          <p:nvPr>
            <p:ph type="body" sz="quarter" idx="15"/>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a:t>Click to edit Master text styles</a:t>
            </a:r>
          </a:p>
        </p:txBody>
      </p:sp>
      <p:sp>
        <p:nvSpPr>
          <p:cNvPr id="11" name="Picture Placeholder 2"/>
          <p:cNvSpPr>
            <a:spLocks noGrp="1"/>
          </p:cNvSpPr>
          <p:nvPr>
            <p:ph type="pic" idx="17"/>
          </p:nvPr>
        </p:nvSpPr>
        <p:spPr>
          <a:xfrm>
            <a:off x="8116291" y="1094980"/>
            <a:ext cx="4075709" cy="1661390"/>
          </a:xfr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15" name="Picture Placeholder 2"/>
          <p:cNvSpPr>
            <a:spLocks noGrp="1"/>
          </p:cNvSpPr>
          <p:nvPr>
            <p:ph type="pic" idx="21"/>
          </p:nvPr>
        </p:nvSpPr>
        <p:spPr>
          <a:xfrm>
            <a:off x="8116291" y="4619039"/>
            <a:ext cx="4075709" cy="1655702"/>
          </a:xfr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16" name="Picture Placeholder 2"/>
          <p:cNvSpPr>
            <a:spLocks noGrp="1"/>
          </p:cNvSpPr>
          <p:nvPr>
            <p:ph type="pic" idx="22"/>
          </p:nvPr>
        </p:nvSpPr>
        <p:spPr>
          <a:xfrm>
            <a:off x="8116291" y="2850446"/>
            <a:ext cx="4075709" cy="1655702"/>
          </a:xfr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Tree>
    <p:extLst>
      <p:ext uri="{BB962C8B-B14F-4D97-AF65-F5344CB8AC3E}">
        <p14:creationId xmlns:p14="http://schemas.microsoft.com/office/powerpoint/2010/main" val="3909653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BU Bulleted Text 1 Photo">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6714862" y="1094981"/>
            <a:ext cx="5477137" cy="5173084"/>
          </a:xfr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8" name="Text Placeholder 12"/>
          <p:cNvSpPr>
            <a:spLocks noGrp="1"/>
          </p:cNvSpPr>
          <p:nvPr>
            <p:ph type="body" sz="quarter" idx="15"/>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a:t>Click to edit Master text styles</a:t>
            </a:r>
          </a:p>
        </p:txBody>
      </p:sp>
      <p:sp>
        <p:nvSpPr>
          <p:cNvPr id="10" name="Content Placeholder 2"/>
          <p:cNvSpPr>
            <a:spLocks noGrp="1"/>
          </p:cNvSpPr>
          <p:nvPr>
            <p:ph idx="12"/>
          </p:nvPr>
        </p:nvSpPr>
        <p:spPr>
          <a:xfrm>
            <a:off x="609600" y="1392240"/>
            <a:ext cx="5638801" cy="4805361"/>
          </a:xfrm>
        </p:spPr>
        <p:txBody>
          <a:bodyPr tIns="0"/>
          <a:lstStyle>
            <a:lvl1pPr marL="0" indent="0">
              <a:buNone/>
              <a:defRPr sz="2600">
                <a:solidFill>
                  <a:srgbClr val="B60225"/>
                </a:solidFill>
              </a:defRPr>
            </a:lvl1pPr>
            <a:lvl2pPr marL="228600" indent="-228600" algn="l">
              <a:buClr>
                <a:srgbClr val="B60225"/>
              </a:buClr>
              <a:buFont typeface="Arial"/>
              <a:buChar char="•"/>
              <a:defRPr sz="2200"/>
            </a:lvl2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2443312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1" y="169333"/>
            <a:ext cx="11909852" cy="717937"/>
          </a:xfrm>
        </p:spPr>
        <p:txBody>
          <a:bodyPr/>
          <a:lstStyle/>
          <a:p>
            <a:r>
              <a:rPr lang="en-US" dirty="0"/>
              <a:t>Click to edit Master title style</a:t>
            </a:r>
          </a:p>
        </p:txBody>
      </p:sp>
      <p:sp>
        <p:nvSpPr>
          <p:cNvPr id="3" name="Content Placeholder 2"/>
          <p:cNvSpPr>
            <a:spLocks noGrp="1"/>
          </p:cNvSpPr>
          <p:nvPr>
            <p:ph idx="1"/>
          </p:nvPr>
        </p:nvSpPr>
        <p:spPr>
          <a:xfrm>
            <a:off x="198226" y="931863"/>
            <a:ext cx="11813228" cy="5316538"/>
          </a:xfrm>
        </p:spPr>
        <p:txBody>
          <a:bodyPr/>
          <a:lstStyle>
            <a:lvl1pPr>
              <a:spcAft>
                <a:spcPts val="300"/>
              </a:spcAft>
              <a:defRPr>
                <a:latin typeface="Verdana" pitchFamily="34" charset="0"/>
              </a:defRPr>
            </a:lvl1pPr>
            <a:lvl2pPr>
              <a:spcAft>
                <a:spcPts val="300"/>
              </a:spcAft>
              <a:defRPr>
                <a:latin typeface="Verdana" pitchFamily="34" charset="0"/>
              </a:defRPr>
            </a:lvl2pPr>
            <a:lvl3pPr>
              <a:spcAft>
                <a:spcPts val="300"/>
              </a:spcAft>
              <a:defRPr>
                <a:latin typeface="Verdana" pitchFamily="34" charset="0"/>
              </a:defRPr>
            </a:lvl3pPr>
            <a:lvl4pPr>
              <a:spcAft>
                <a:spcPts val="300"/>
              </a:spcAft>
              <a:defRPr>
                <a:latin typeface="Verdana" pitchFamily="34" charset="0"/>
              </a:defRPr>
            </a:lvl4pPr>
            <a:lvl5pPr>
              <a:spcAft>
                <a:spcPts val="300"/>
              </a:spcAft>
              <a:defRPr>
                <a:latin typeface="Verdan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170449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1" y="169333"/>
            <a:ext cx="11909852" cy="717937"/>
          </a:xfrm>
        </p:spPr>
        <p:txBody>
          <a:bodyPr/>
          <a:lstStyle/>
          <a:p>
            <a:r>
              <a:rPr lang="en-US" dirty="0"/>
              <a:t>Click to edit Master title style</a:t>
            </a:r>
          </a:p>
        </p:txBody>
      </p:sp>
      <p:sp>
        <p:nvSpPr>
          <p:cNvPr id="3" name="Content Placeholder 2"/>
          <p:cNvSpPr>
            <a:spLocks noGrp="1"/>
          </p:cNvSpPr>
          <p:nvPr>
            <p:ph idx="1"/>
          </p:nvPr>
        </p:nvSpPr>
        <p:spPr>
          <a:xfrm>
            <a:off x="198226" y="931863"/>
            <a:ext cx="11813228" cy="5316538"/>
          </a:xfrm>
        </p:spPr>
        <p:txBody>
          <a:bodyPr/>
          <a:lstStyle>
            <a:lvl1pPr>
              <a:spcAft>
                <a:spcPts val="300"/>
              </a:spcAft>
              <a:defRPr>
                <a:latin typeface="Verdana" pitchFamily="34" charset="0"/>
              </a:defRPr>
            </a:lvl1pPr>
            <a:lvl2pPr>
              <a:spcAft>
                <a:spcPts val="300"/>
              </a:spcAft>
              <a:defRPr>
                <a:latin typeface="Verdana" pitchFamily="34" charset="0"/>
              </a:defRPr>
            </a:lvl2pPr>
            <a:lvl3pPr>
              <a:spcAft>
                <a:spcPts val="300"/>
              </a:spcAft>
              <a:defRPr>
                <a:latin typeface="Verdana" pitchFamily="34" charset="0"/>
              </a:defRPr>
            </a:lvl3pPr>
            <a:lvl4pPr>
              <a:spcAft>
                <a:spcPts val="300"/>
              </a:spcAft>
              <a:defRPr>
                <a:latin typeface="Verdana" pitchFamily="34" charset="0"/>
              </a:defRPr>
            </a:lvl4pPr>
            <a:lvl5pPr>
              <a:spcAft>
                <a:spcPts val="300"/>
              </a:spcAft>
              <a:defRPr>
                <a:latin typeface="Verdan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1119142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48DA987-F755-88BE-C273-E55F3DB81491}"/>
              </a:ext>
            </a:extLst>
          </p:cNvPr>
          <p:cNvSpPr/>
          <p:nvPr userDrawn="1"/>
        </p:nvSpPr>
        <p:spPr bwMode="auto">
          <a:xfrm>
            <a:off x="1" y="2282757"/>
            <a:ext cx="12192000" cy="2441643"/>
          </a:xfrm>
          <a:prstGeom prst="rect">
            <a:avLst/>
          </a:prstGeom>
          <a:solidFill>
            <a:srgbClr val="8D1A1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
        <p:nvSpPr>
          <p:cNvPr id="3" name="Content Placeholder 2"/>
          <p:cNvSpPr>
            <a:spLocks noGrp="1"/>
          </p:cNvSpPr>
          <p:nvPr>
            <p:ph idx="1" hasCustomPrompt="1"/>
          </p:nvPr>
        </p:nvSpPr>
        <p:spPr>
          <a:xfrm>
            <a:off x="205899" y="2590801"/>
            <a:ext cx="11813228" cy="1905000"/>
          </a:xfrm>
        </p:spPr>
        <p:txBody>
          <a:bodyPr anchor="ctr" anchorCtr="0"/>
          <a:lstStyle>
            <a:lvl1pPr marL="0" indent="0" algn="ctr">
              <a:spcAft>
                <a:spcPts val="300"/>
              </a:spcAft>
              <a:buNone/>
              <a:defRPr sz="3400">
                <a:solidFill>
                  <a:schemeClr val="bg1"/>
                </a:solidFill>
                <a:latin typeface="Verdana" pitchFamily="34" charset="0"/>
              </a:defRPr>
            </a:lvl1pPr>
            <a:lvl2pPr>
              <a:spcAft>
                <a:spcPts val="300"/>
              </a:spcAft>
              <a:defRPr>
                <a:latin typeface="Verdana" pitchFamily="34" charset="0"/>
              </a:defRPr>
            </a:lvl2pPr>
            <a:lvl3pPr>
              <a:spcAft>
                <a:spcPts val="300"/>
              </a:spcAft>
              <a:defRPr>
                <a:latin typeface="Verdana" pitchFamily="34" charset="0"/>
              </a:defRPr>
            </a:lvl3pPr>
            <a:lvl4pPr>
              <a:spcAft>
                <a:spcPts val="300"/>
              </a:spcAft>
              <a:defRPr>
                <a:latin typeface="Verdana" pitchFamily="34" charset="0"/>
              </a:defRPr>
            </a:lvl4pPr>
            <a:lvl5pPr>
              <a:spcAft>
                <a:spcPts val="300"/>
              </a:spcAft>
              <a:defRPr>
                <a:latin typeface="Verdana" pitchFamily="34" charset="0"/>
              </a:defRPr>
            </a:lvl5pPr>
          </a:lstStyle>
          <a:p>
            <a:pPr lvl="0"/>
            <a:r>
              <a:rPr lang="en-US" dirty="0"/>
              <a:t>Common Tabe Expressions </a:t>
            </a:r>
          </a:p>
          <a:p>
            <a:pPr lvl="0"/>
            <a:r>
              <a:rPr lang="en-US" dirty="0"/>
              <a:t>and Recursive Queries</a:t>
            </a:r>
          </a:p>
        </p:txBody>
      </p:sp>
      <p:sp>
        <p:nvSpPr>
          <p:cNvPr id="4" name="Rectangle 3">
            <a:extLst>
              <a:ext uri="{FF2B5EF4-FFF2-40B4-BE49-F238E27FC236}">
                <a16:creationId xmlns:a16="http://schemas.microsoft.com/office/drawing/2014/main" id="{C1C57061-B223-29B6-C8FE-305EDC1AD3FD}"/>
              </a:ext>
            </a:extLst>
          </p:cNvPr>
          <p:cNvSpPr/>
          <p:nvPr userDrawn="1"/>
        </p:nvSpPr>
        <p:spPr bwMode="auto">
          <a:xfrm>
            <a:off x="0" y="4876800"/>
            <a:ext cx="12192000" cy="1981200"/>
          </a:xfrm>
          <a:prstGeom prst="rect">
            <a:avLst/>
          </a:pr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cxnSp>
        <p:nvCxnSpPr>
          <p:cNvPr id="13" name="Straight Connector 12">
            <a:extLst>
              <a:ext uri="{FF2B5EF4-FFF2-40B4-BE49-F238E27FC236}">
                <a16:creationId xmlns:a16="http://schemas.microsoft.com/office/drawing/2014/main" id="{FB37A6CC-31BA-59FE-B641-46A1E17BF830}"/>
              </a:ext>
            </a:extLst>
          </p:cNvPr>
          <p:cNvCxnSpPr/>
          <p:nvPr userDrawn="1"/>
        </p:nvCxnSpPr>
        <p:spPr bwMode="auto">
          <a:xfrm>
            <a:off x="0" y="4330439"/>
            <a:ext cx="12192000" cy="0"/>
          </a:xfrm>
          <a:prstGeom prst="line">
            <a:avLst/>
          </a:prstGeom>
          <a:noFill/>
          <a:ln w="12700" cap="flat" cmpd="sng" algn="ctr">
            <a:solidFill>
              <a:schemeClr val="tx1"/>
            </a:solidFill>
            <a:prstDash val="solid"/>
            <a:round/>
            <a:headEnd type="none" w="med" len="med"/>
            <a:tailEnd type="none" w="med" len="med"/>
          </a:ln>
          <a:effectLst/>
        </p:spPr>
      </p:cxnSp>
      <p:cxnSp>
        <p:nvCxnSpPr>
          <p:cNvPr id="14" name="Straight Connector 13">
            <a:extLst>
              <a:ext uri="{FF2B5EF4-FFF2-40B4-BE49-F238E27FC236}">
                <a16:creationId xmlns:a16="http://schemas.microsoft.com/office/drawing/2014/main" id="{3BADC6BC-4043-8EA5-9FDD-134773F612DB}"/>
              </a:ext>
            </a:extLst>
          </p:cNvPr>
          <p:cNvCxnSpPr/>
          <p:nvPr userDrawn="1"/>
        </p:nvCxnSpPr>
        <p:spPr bwMode="auto">
          <a:xfrm>
            <a:off x="0" y="4343401"/>
            <a:ext cx="12192000" cy="0"/>
          </a:xfrm>
          <a:prstGeom prst="line">
            <a:avLst/>
          </a:prstGeom>
          <a:noFill/>
          <a:ln w="12700" cap="flat" cmpd="sng" algn="ctr">
            <a:solidFill>
              <a:schemeClr val="bg1"/>
            </a:solidFill>
            <a:prstDash val="solid"/>
            <a:round/>
            <a:headEnd type="none" w="med" len="med"/>
            <a:tailEnd type="none" w="med" len="med"/>
          </a:ln>
          <a:effectLst/>
        </p:spPr>
      </p:cxnSp>
      <p:cxnSp>
        <p:nvCxnSpPr>
          <p:cNvPr id="17" name="Straight Connector 16">
            <a:extLst>
              <a:ext uri="{FF2B5EF4-FFF2-40B4-BE49-F238E27FC236}">
                <a16:creationId xmlns:a16="http://schemas.microsoft.com/office/drawing/2014/main" id="{67A22648-D334-3753-E71E-73FC38FC9F50}"/>
              </a:ext>
            </a:extLst>
          </p:cNvPr>
          <p:cNvCxnSpPr/>
          <p:nvPr userDrawn="1"/>
        </p:nvCxnSpPr>
        <p:spPr bwMode="auto">
          <a:xfrm>
            <a:off x="0" y="2688083"/>
            <a:ext cx="12192000" cy="0"/>
          </a:xfrm>
          <a:prstGeom prst="line">
            <a:avLst/>
          </a:prstGeom>
          <a:noFill/>
          <a:ln w="12700" cap="flat" cmpd="sng" algn="ctr">
            <a:solidFill>
              <a:schemeClr val="tx1"/>
            </a:solidFill>
            <a:prstDash val="solid"/>
            <a:round/>
            <a:headEnd type="none" w="med" len="med"/>
            <a:tailEnd type="none" w="med" len="med"/>
          </a:ln>
          <a:effectLst/>
        </p:spPr>
      </p:cxnSp>
      <p:cxnSp>
        <p:nvCxnSpPr>
          <p:cNvPr id="18" name="Straight Connector 17">
            <a:extLst>
              <a:ext uri="{FF2B5EF4-FFF2-40B4-BE49-F238E27FC236}">
                <a16:creationId xmlns:a16="http://schemas.microsoft.com/office/drawing/2014/main" id="{FBE8D5CE-DBAB-0295-774E-CFA11CEB30D8}"/>
              </a:ext>
            </a:extLst>
          </p:cNvPr>
          <p:cNvCxnSpPr/>
          <p:nvPr userDrawn="1"/>
        </p:nvCxnSpPr>
        <p:spPr bwMode="auto">
          <a:xfrm>
            <a:off x="0" y="2701045"/>
            <a:ext cx="12192000" cy="0"/>
          </a:xfrm>
          <a:prstGeom prst="line">
            <a:avLst/>
          </a:prstGeom>
          <a:noFill/>
          <a:ln w="12700" cap="flat" cmpd="sng" algn="ctr">
            <a:solidFill>
              <a:schemeClr val="bg1"/>
            </a:solidFill>
            <a:prstDash val="solid"/>
            <a:round/>
            <a:headEnd type="none" w="med" len="med"/>
            <a:tailEnd type="none" w="med" len="med"/>
          </a:ln>
          <a:effectLst/>
        </p:spPr>
      </p:cxnSp>
      <p:sp>
        <p:nvSpPr>
          <p:cNvPr id="19" name="Rectangle 18">
            <a:extLst>
              <a:ext uri="{FF2B5EF4-FFF2-40B4-BE49-F238E27FC236}">
                <a16:creationId xmlns:a16="http://schemas.microsoft.com/office/drawing/2014/main" id="{080A516C-91FA-B4EC-0709-8FB583F970D7}"/>
              </a:ext>
            </a:extLst>
          </p:cNvPr>
          <p:cNvSpPr/>
          <p:nvPr userDrawn="1"/>
        </p:nvSpPr>
        <p:spPr bwMode="auto">
          <a:xfrm>
            <a:off x="0" y="-3243"/>
            <a:ext cx="12192000" cy="1981200"/>
          </a:xfrm>
          <a:prstGeom prst="rect">
            <a:avLst/>
          </a:pr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Tree>
    <p:extLst>
      <p:ext uri="{BB962C8B-B14F-4D97-AF65-F5344CB8AC3E}">
        <p14:creationId xmlns:p14="http://schemas.microsoft.com/office/powerpoint/2010/main" val="335944517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67480865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2001" y="1295401"/>
            <a:ext cx="5568951" cy="5408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34151" y="1295401"/>
            <a:ext cx="5568949" cy="5408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052345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353846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801590008"/>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870160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3622332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4419600"/>
            <a:ext cx="11506200" cy="727705"/>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304800" y="612775"/>
            <a:ext cx="11506200" cy="449262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304800" y="5367338"/>
            <a:ext cx="11506200" cy="10334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46677042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041586"/>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351" y="515939"/>
            <a:ext cx="2851149" cy="61880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23900" y="515939"/>
            <a:ext cx="8350251" cy="61880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410592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image" Target="../media/image2.jpeg"/><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EE2E6FD-974C-B638-4D91-11E757995767}"/>
              </a:ext>
            </a:extLst>
          </p:cNvPr>
          <p:cNvSpPr/>
          <p:nvPr userDrawn="1"/>
        </p:nvSpPr>
        <p:spPr>
          <a:xfrm>
            <a:off x="0" y="0"/>
            <a:ext cx="12192000" cy="1081087"/>
          </a:xfrm>
          <a:prstGeom prst="rect">
            <a:avLst/>
          </a:prstGeom>
          <a:solidFill>
            <a:srgbClr val="8D1A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23" name="Text Placeholder 2"/>
          <p:cNvSpPr>
            <a:spLocks noGrp="1"/>
          </p:cNvSpPr>
          <p:nvPr>
            <p:ph type="body" idx="1"/>
          </p:nvPr>
        </p:nvSpPr>
        <p:spPr bwMode="auto">
          <a:xfrm>
            <a:off x="228600" y="1330326"/>
            <a:ext cx="11658600" cy="48687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p:cNvSpPr/>
          <p:nvPr/>
        </p:nvSpPr>
        <p:spPr>
          <a:xfrm>
            <a:off x="0" y="6278564"/>
            <a:ext cx="12192000" cy="579437"/>
          </a:xfrm>
          <a:prstGeom prst="rect">
            <a:avLst/>
          </a:prstGeom>
          <a:solidFill>
            <a:srgbClr val="8D1A1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457200" fontAlgn="base">
              <a:spcBef>
                <a:spcPct val="0"/>
              </a:spcBef>
              <a:spcAft>
                <a:spcPct val="0"/>
              </a:spcAft>
              <a:defRPr/>
            </a:pPr>
            <a:endParaRPr lang="en-US" sz="1800">
              <a:solidFill>
                <a:prstClr val="white"/>
              </a:solidFill>
            </a:endParaRPr>
          </a:p>
        </p:txBody>
      </p:sp>
      <p:cxnSp>
        <p:nvCxnSpPr>
          <p:cNvPr id="6" name="Straight Connector 5"/>
          <p:cNvCxnSpPr/>
          <p:nvPr/>
        </p:nvCxnSpPr>
        <p:spPr>
          <a:xfrm>
            <a:off x="0" y="1082675"/>
            <a:ext cx="12192000" cy="1588"/>
          </a:xfrm>
          <a:prstGeom prst="line">
            <a:avLst/>
          </a:prstGeom>
          <a:ln w="12700">
            <a:solidFill>
              <a:srgbClr val="B60225"/>
            </a:solidFill>
          </a:ln>
          <a:effectLst/>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2930A759-D337-62C7-B0C6-99A2684EBDF5}"/>
              </a:ext>
            </a:extLst>
          </p:cNvPr>
          <p:cNvPicPr>
            <a:picLocks noChangeAspect="1"/>
          </p:cNvPicPr>
          <p:nvPr userDrawn="1"/>
        </p:nvPicPr>
        <p:blipFill>
          <a:blip r:embed="rId8"/>
          <a:stretch>
            <a:fillRect/>
          </a:stretch>
        </p:blipFill>
        <p:spPr>
          <a:xfrm>
            <a:off x="9448800" y="85877"/>
            <a:ext cx="2606546" cy="886508"/>
          </a:xfrm>
          <a:prstGeom prst="rect">
            <a:avLst/>
          </a:prstGeom>
        </p:spPr>
      </p:pic>
    </p:spTree>
    <p:extLst>
      <p:ext uri="{BB962C8B-B14F-4D97-AF65-F5344CB8AC3E}">
        <p14:creationId xmlns:p14="http://schemas.microsoft.com/office/powerpoint/2010/main" val="78313732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Lst>
  <p:txStyles>
    <p:titleStyle>
      <a:lvl1pPr algn="r" defTabSz="457200" rtl="0" eaLnBrk="0" fontAlgn="base" hangingPunct="0">
        <a:spcBef>
          <a:spcPct val="0"/>
        </a:spcBef>
        <a:spcAft>
          <a:spcPct val="0"/>
        </a:spcAft>
        <a:defRPr sz="5400" kern="1200" baseline="6000">
          <a:solidFill>
            <a:schemeClr val="bg1"/>
          </a:solidFill>
          <a:latin typeface="Helvetica"/>
          <a:ea typeface="ＭＳ Ｐゴシック" pitchFamily="-112" charset="-128"/>
          <a:cs typeface="Helvetica"/>
        </a:defRPr>
      </a:lvl1pPr>
      <a:lvl2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2pPr>
      <a:lvl3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3pPr>
      <a:lvl4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4pPr>
      <a:lvl5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5pPr>
      <a:lvl6pPr marL="4572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6pPr>
      <a:lvl7pPr marL="9144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7pPr>
      <a:lvl8pPr marL="13716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8pPr>
      <a:lvl9pPr marL="18288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Helvetica"/>
          <a:ea typeface="ＭＳ Ｐゴシック" pitchFamily="-112" charset="-128"/>
          <a:cs typeface="Helvetica"/>
        </a:defRPr>
      </a:lvl1pPr>
      <a:lvl2pPr marL="742950" indent="-285750" algn="l" defTabSz="457200" rtl="0" eaLnBrk="0" fontAlgn="base" hangingPunct="0">
        <a:spcBef>
          <a:spcPct val="20000"/>
        </a:spcBef>
        <a:spcAft>
          <a:spcPct val="0"/>
        </a:spcAft>
        <a:buFont typeface="Lucida Grande" charset="0"/>
        <a:buChar char="–"/>
        <a:defRPr sz="2800" kern="1200">
          <a:solidFill>
            <a:schemeClr val="tx1"/>
          </a:solidFill>
          <a:latin typeface="Helvetica"/>
          <a:ea typeface="ＭＳ Ｐゴシック" pitchFamily="-112" charset="-128"/>
          <a:cs typeface="Helvetica"/>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Helvetica"/>
          <a:ea typeface="ＭＳ Ｐゴシック" pitchFamily="-112" charset="-128"/>
          <a:cs typeface="Helvetica"/>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a:ea typeface="ＭＳ Ｐゴシック" pitchFamily="-112" charset="-128"/>
          <a:cs typeface="Helvetica"/>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a:ea typeface="ＭＳ Ｐゴシック" pitchFamily="-112" charset="-128"/>
          <a:cs typeface="Helvetic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title"/>
          </p:nvPr>
        </p:nvSpPr>
        <p:spPr bwMode="auto">
          <a:xfrm>
            <a:off x="289872" y="152400"/>
            <a:ext cx="11673527" cy="779462"/>
          </a:xfrm>
          <a:prstGeom prst="rect">
            <a:avLst/>
          </a:prstGeom>
          <a:noFill/>
          <a:ln w="9525">
            <a:noFill/>
            <a:miter lim="800000"/>
            <a:headEnd/>
            <a:tailEnd/>
          </a:ln>
        </p:spPr>
        <p:txBody>
          <a:bodyPr vert="horz" wrap="square" lIns="0" tIns="0" rIns="91440" bIns="45720" numCol="1" anchor="ctr" anchorCtr="0" compatLnSpc="1">
            <a:prstTxWarp prst="textNoShape">
              <a:avLst/>
            </a:prstTxWarp>
          </a:bodyPr>
          <a:lstStyle/>
          <a:p>
            <a:pPr lvl="0"/>
            <a:r>
              <a:rPr lang="de-DE" dirty="0"/>
              <a:t>Click to add title</a:t>
            </a:r>
          </a:p>
        </p:txBody>
      </p:sp>
      <p:sp>
        <p:nvSpPr>
          <p:cNvPr id="1028" name="Rectangle 4"/>
          <p:cNvSpPr>
            <a:spLocks noGrp="1" noChangeArrowheads="1"/>
          </p:cNvSpPr>
          <p:nvPr>
            <p:ph type="body" idx="1"/>
          </p:nvPr>
        </p:nvSpPr>
        <p:spPr bwMode="auto">
          <a:xfrm>
            <a:off x="289873" y="946942"/>
            <a:ext cx="11673527" cy="5301458"/>
          </a:xfrm>
          <a:prstGeom prst="rect">
            <a:avLst/>
          </a:prstGeom>
          <a:noFill/>
          <a:ln w="9525">
            <a:noFill/>
            <a:miter lim="800000"/>
            <a:headEnd/>
            <a:tailEnd/>
          </a:ln>
        </p:spPr>
        <p:txBody>
          <a:bodyPr vert="horz" wrap="square" lIns="0" tIns="0" rIns="91440" bIns="45720" numCol="1" anchor="t" anchorCtr="0" compatLnSpc="1">
            <a:prstTxWarp prst="textNoShape">
              <a:avLst/>
            </a:prstTxWarp>
          </a:bodyPr>
          <a:lstStyle/>
          <a:p>
            <a:pPr lvl="0"/>
            <a:r>
              <a:rPr lang="de-DE" dirty="0"/>
              <a:t>Klicken Sie, um die Formate des Vorlagentextes zu bearbeiten</a:t>
            </a:r>
          </a:p>
          <a:p>
            <a:pPr lvl="1"/>
            <a:r>
              <a:rPr lang="de-DE" dirty="0"/>
              <a:t>Level 2</a:t>
            </a:r>
          </a:p>
          <a:p>
            <a:pPr lvl="2"/>
            <a:r>
              <a:rPr lang="de-DE" dirty="0"/>
              <a:t>Level 3</a:t>
            </a:r>
          </a:p>
          <a:p>
            <a:pPr lvl="3"/>
            <a:r>
              <a:rPr lang="de-DE" dirty="0"/>
              <a:t>Level 4</a:t>
            </a:r>
          </a:p>
        </p:txBody>
      </p:sp>
      <p:pic>
        <p:nvPicPr>
          <p:cNvPr id="9" name="Picture 7" descr="PPTbackground_Red.jpg"/>
          <p:cNvPicPr>
            <a:picLocks noChangeAspect="1"/>
          </p:cNvPicPr>
          <p:nvPr userDrawn="1"/>
        </p:nvPicPr>
        <p:blipFill>
          <a:blip r:embed="rId13"/>
          <a:srcRect b="97814"/>
          <a:stretch>
            <a:fillRect/>
          </a:stretch>
        </p:blipFill>
        <p:spPr bwMode="auto">
          <a:xfrm flipH="1">
            <a:off x="0" y="-11905"/>
            <a:ext cx="12192000" cy="149225"/>
          </a:xfrm>
          <a:prstGeom prst="rect">
            <a:avLst/>
          </a:prstGeom>
          <a:noFill/>
          <a:ln w="9525">
            <a:noFill/>
            <a:miter lim="800000"/>
            <a:headEnd/>
            <a:tailEnd/>
          </a:ln>
          <a:effectLst>
            <a:outerShdw blurRad="136525" dist="38100" dir="2700000" algn="tl" rotWithShape="0">
              <a:srgbClr val="000000">
                <a:alpha val="43000"/>
              </a:srgbClr>
            </a:outerShdw>
          </a:effectLst>
        </p:spPr>
      </p:pic>
      <p:sp>
        <p:nvSpPr>
          <p:cNvPr id="11" name="Rectangle 10"/>
          <p:cNvSpPr/>
          <p:nvPr userDrawn="1"/>
        </p:nvSpPr>
        <p:spPr>
          <a:xfrm>
            <a:off x="0" y="6324601"/>
            <a:ext cx="12192000" cy="544290"/>
          </a:xfrm>
          <a:prstGeom prst="rect">
            <a:avLst/>
          </a:prstGeom>
          <a:solidFill>
            <a:srgbClr val="8D1A1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dirty="0">
              <a:solidFill>
                <a:srgbClr val="8D1A11"/>
              </a:solidFill>
            </a:endParaRPr>
          </a:p>
        </p:txBody>
      </p:sp>
      <p:sp>
        <p:nvSpPr>
          <p:cNvPr id="2" name="Rectangle 1">
            <a:extLst>
              <a:ext uri="{FF2B5EF4-FFF2-40B4-BE49-F238E27FC236}">
                <a16:creationId xmlns:a16="http://schemas.microsoft.com/office/drawing/2014/main" id="{4FB0E251-CC22-766A-8CA5-85DFC9747F54}"/>
              </a:ext>
            </a:extLst>
          </p:cNvPr>
          <p:cNvSpPr/>
          <p:nvPr userDrawn="1"/>
        </p:nvSpPr>
        <p:spPr bwMode="auto">
          <a:xfrm>
            <a:off x="-3243" y="0"/>
            <a:ext cx="12191999" cy="137320"/>
          </a:xfrm>
          <a:prstGeom prst="rect">
            <a:avLst/>
          </a:prstGeom>
          <a:solidFill>
            <a:srgbClr val="8D1A1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pic>
        <p:nvPicPr>
          <p:cNvPr id="5" name="Picture 4" descr="A logo with text on it&#10;&#10;AI-generated content may be incorrect.">
            <a:extLst>
              <a:ext uri="{FF2B5EF4-FFF2-40B4-BE49-F238E27FC236}">
                <a16:creationId xmlns:a16="http://schemas.microsoft.com/office/drawing/2014/main" id="{520735B3-D6D0-5F46-233B-DAB85DBEF77C}"/>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1506200" y="155847"/>
            <a:ext cx="609362" cy="609362"/>
          </a:xfrm>
          <a:prstGeom prst="rect">
            <a:avLst/>
          </a:prstGeom>
        </p:spPr>
      </p:pic>
    </p:spTree>
    <p:extLst>
      <p:ext uri="{BB962C8B-B14F-4D97-AF65-F5344CB8AC3E}">
        <p14:creationId xmlns:p14="http://schemas.microsoft.com/office/powerpoint/2010/main" val="232449982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txStyles>
    <p:titleStyle>
      <a:lvl1pPr algn="l" rtl="0" eaLnBrk="1" fontAlgn="base" hangingPunct="1">
        <a:lnSpc>
          <a:spcPct val="95000"/>
        </a:lnSpc>
        <a:spcBef>
          <a:spcPct val="0"/>
        </a:spcBef>
        <a:spcAft>
          <a:spcPct val="0"/>
        </a:spcAft>
        <a:defRPr sz="2600" b="1">
          <a:solidFill>
            <a:srgbClr val="003399"/>
          </a:solidFill>
          <a:latin typeface="Verdana" pitchFamily="34" charset="0"/>
          <a:ea typeface="+mj-ea"/>
          <a:cs typeface="+mj-cs"/>
        </a:defRPr>
      </a:lvl1pPr>
      <a:lvl2pPr algn="l" rtl="0" eaLnBrk="1" fontAlgn="base" hangingPunct="1">
        <a:lnSpc>
          <a:spcPct val="95000"/>
        </a:lnSpc>
        <a:spcBef>
          <a:spcPct val="0"/>
        </a:spcBef>
        <a:spcAft>
          <a:spcPct val="0"/>
        </a:spcAft>
        <a:defRPr sz="2600">
          <a:solidFill>
            <a:srgbClr val="003399"/>
          </a:solidFill>
          <a:latin typeface="Verdana" pitchFamily="34" charset="0"/>
        </a:defRPr>
      </a:lvl2pPr>
      <a:lvl3pPr algn="l" rtl="0" eaLnBrk="1" fontAlgn="base" hangingPunct="1">
        <a:lnSpc>
          <a:spcPct val="95000"/>
        </a:lnSpc>
        <a:spcBef>
          <a:spcPct val="0"/>
        </a:spcBef>
        <a:spcAft>
          <a:spcPct val="0"/>
        </a:spcAft>
        <a:defRPr sz="2600">
          <a:solidFill>
            <a:srgbClr val="003399"/>
          </a:solidFill>
          <a:latin typeface="Verdana" pitchFamily="34" charset="0"/>
        </a:defRPr>
      </a:lvl3pPr>
      <a:lvl4pPr algn="l" rtl="0" eaLnBrk="1" fontAlgn="base" hangingPunct="1">
        <a:lnSpc>
          <a:spcPct val="95000"/>
        </a:lnSpc>
        <a:spcBef>
          <a:spcPct val="0"/>
        </a:spcBef>
        <a:spcAft>
          <a:spcPct val="0"/>
        </a:spcAft>
        <a:defRPr sz="2600">
          <a:solidFill>
            <a:srgbClr val="003399"/>
          </a:solidFill>
          <a:latin typeface="Verdana" pitchFamily="34" charset="0"/>
        </a:defRPr>
      </a:lvl4pPr>
      <a:lvl5pPr algn="l" rtl="0" eaLnBrk="1" fontAlgn="base" hangingPunct="1">
        <a:lnSpc>
          <a:spcPct val="95000"/>
        </a:lnSpc>
        <a:spcBef>
          <a:spcPct val="0"/>
        </a:spcBef>
        <a:spcAft>
          <a:spcPct val="0"/>
        </a:spcAft>
        <a:defRPr sz="2600">
          <a:solidFill>
            <a:srgbClr val="003399"/>
          </a:solidFill>
          <a:latin typeface="Verdana" pitchFamily="34" charset="0"/>
        </a:defRPr>
      </a:lvl5pPr>
      <a:lvl6pPr marL="457200" algn="l" rtl="0" eaLnBrk="1" fontAlgn="base" hangingPunct="1">
        <a:lnSpc>
          <a:spcPct val="95000"/>
        </a:lnSpc>
        <a:spcBef>
          <a:spcPct val="0"/>
        </a:spcBef>
        <a:spcAft>
          <a:spcPct val="0"/>
        </a:spcAft>
        <a:defRPr sz="2600">
          <a:solidFill>
            <a:srgbClr val="003399"/>
          </a:solidFill>
          <a:latin typeface="Arial" charset="0"/>
        </a:defRPr>
      </a:lvl6pPr>
      <a:lvl7pPr marL="914400" algn="l" rtl="0" eaLnBrk="1" fontAlgn="base" hangingPunct="1">
        <a:lnSpc>
          <a:spcPct val="95000"/>
        </a:lnSpc>
        <a:spcBef>
          <a:spcPct val="0"/>
        </a:spcBef>
        <a:spcAft>
          <a:spcPct val="0"/>
        </a:spcAft>
        <a:defRPr sz="2600">
          <a:solidFill>
            <a:srgbClr val="003399"/>
          </a:solidFill>
          <a:latin typeface="Arial" charset="0"/>
        </a:defRPr>
      </a:lvl7pPr>
      <a:lvl8pPr marL="1371600" algn="l" rtl="0" eaLnBrk="1" fontAlgn="base" hangingPunct="1">
        <a:lnSpc>
          <a:spcPct val="95000"/>
        </a:lnSpc>
        <a:spcBef>
          <a:spcPct val="0"/>
        </a:spcBef>
        <a:spcAft>
          <a:spcPct val="0"/>
        </a:spcAft>
        <a:defRPr sz="2600">
          <a:solidFill>
            <a:srgbClr val="003399"/>
          </a:solidFill>
          <a:latin typeface="Arial" charset="0"/>
        </a:defRPr>
      </a:lvl8pPr>
      <a:lvl9pPr marL="1828800" algn="l" rtl="0" eaLnBrk="1" fontAlgn="base" hangingPunct="1">
        <a:lnSpc>
          <a:spcPct val="95000"/>
        </a:lnSpc>
        <a:spcBef>
          <a:spcPct val="0"/>
        </a:spcBef>
        <a:spcAft>
          <a:spcPct val="0"/>
        </a:spcAft>
        <a:defRPr sz="2600">
          <a:solidFill>
            <a:srgbClr val="003399"/>
          </a:solidFill>
          <a:latin typeface="Arial" charset="0"/>
        </a:defRPr>
      </a:lvl9pPr>
    </p:titleStyle>
    <p:bodyStyle>
      <a:lvl1pPr marL="342900" indent="-342900" algn="l" rtl="0" eaLnBrk="1" fontAlgn="base" hangingPunct="1">
        <a:spcBef>
          <a:spcPct val="20000"/>
        </a:spcBef>
        <a:spcAft>
          <a:spcPct val="0"/>
        </a:spcAft>
        <a:buChar char="•"/>
        <a:defRPr sz="2400">
          <a:solidFill>
            <a:schemeClr val="tx1"/>
          </a:solidFill>
          <a:latin typeface="Verdana" pitchFamily="34" charset="0"/>
          <a:ea typeface="+mn-ea"/>
          <a:cs typeface="+mn-cs"/>
        </a:defRPr>
      </a:lvl1pPr>
      <a:lvl2pPr marL="742950" indent="-285750" algn="l" rtl="0" eaLnBrk="1" fontAlgn="base" hangingPunct="1">
        <a:spcBef>
          <a:spcPct val="20000"/>
        </a:spcBef>
        <a:spcAft>
          <a:spcPct val="0"/>
        </a:spcAft>
        <a:buChar char="–"/>
        <a:defRPr sz="2200">
          <a:solidFill>
            <a:schemeClr val="tx1"/>
          </a:solidFill>
          <a:latin typeface="Verdana" pitchFamily="34" charset="0"/>
        </a:defRPr>
      </a:lvl2pPr>
      <a:lvl3pPr marL="1143000" indent="-228600" algn="l" rtl="0" eaLnBrk="1" fontAlgn="base" hangingPunct="1">
        <a:spcBef>
          <a:spcPct val="20000"/>
        </a:spcBef>
        <a:spcAft>
          <a:spcPct val="0"/>
        </a:spcAft>
        <a:buChar char="•"/>
        <a:defRPr>
          <a:solidFill>
            <a:schemeClr val="tx1"/>
          </a:solidFill>
          <a:latin typeface="Verdana" pitchFamily="34" charset="0"/>
        </a:defRPr>
      </a:lvl3pPr>
      <a:lvl4pPr marL="1600200" indent="-228600" algn="l" rtl="0" eaLnBrk="1" fontAlgn="base" hangingPunct="1">
        <a:spcBef>
          <a:spcPct val="20000"/>
        </a:spcBef>
        <a:spcAft>
          <a:spcPct val="0"/>
        </a:spcAft>
        <a:buChar char="–"/>
        <a:defRPr sz="1600">
          <a:solidFill>
            <a:schemeClr val="tx1"/>
          </a:solidFill>
          <a:latin typeface="Verdana" pitchFamily="34" charset="0"/>
        </a:defRPr>
      </a:lvl4pPr>
      <a:lvl5pPr marL="2057400" indent="-228600" algn="l" rtl="0" eaLnBrk="1" fontAlgn="base" hangingPunct="1">
        <a:spcBef>
          <a:spcPct val="20000"/>
        </a:spcBef>
        <a:spcAft>
          <a:spcPct val="0"/>
        </a:spcAft>
        <a:buChar char="»"/>
        <a:defRPr sz="1500">
          <a:solidFill>
            <a:srgbClr val="003399"/>
          </a:solidFill>
          <a:latin typeface="Siemens Sans" pitchFamily="2" charset="0"/>
        </a:defRPr>
      </a:lvl5pPr>
      <a:lvl6pPr marL="2514600" indent="-228600" algn="l" rtl="0" eaLnBrk="1" fontAlgn="base" hangingPunct="1">
        <a:spcBef>
          <a:spcPct val="20000"/>
        </a:spcBef>
        <a:spcAft>
          <a:spcPct val="0"/>
        </a:spcAft>
        <a:buChar char="»"/>
        <a:defRPr sz="1500">
          <a:solidFill>
            <a:srgbClr val="003399"/>
          </a:solidFill>
          <a:latin typeface="Siemens Sans" pitchFamily="2" charset="0"/>
        </a:defRPr>
      </a:lvl6pPr>
      <a:lvl7pPr marL="2971800" indent="-228600" algn="l" rtl="0" eaLnBrk="1" fontAlgn="base" hangingPunct="1">
        <a:spcBef>
          <a:spcPct val="20000"/>
        </a:spcBef>
        <a:spcAft>
          <a:spcPct val="0"/>
        </a:spcAft>
        <a:buChar char="»"/>
        <a:defRPr sz="1500">
          <a:solidFill>
            <a:srgbClr val="003399"/>
          </a:solidFill>
          <a:latin typeface="Siemens Sans" pitchFamily="2" charset="0"/>
        </a:defRPr>
      </a:lvl7pPr>
      <a:lvl8pPr marL="3429000" indent="-228600" algn="l" rtl="0" eaLnBrk="1" fontAlgn="base" hangingPunct="1">
        <a:spcBef>
          <a:spcPct val="20000"/>
        </a:spcBef>
        <a:spcAft>
          <a:spcPct val="0"/>
        </a:spcAft>
        <a:buChar char="»"/>
        <a:defRPr sz="1500">
          <a:solidFill>
            <a:srgbClr val="003399"/>
          </a:solidFill>
          <a:latin typeface="Siemens Sans" pitchFamily="2" charset="0"/>
        </a:defRPr>
      </a:lvl8pPr>
      <a:lvl9pPr marL="3886200" indent="-228600" algn="l" rtl="0" eaLnBrk="1" fontAlgn="base" hangingPunct="1">
        <a:spcBef>
          <a:spcPct val="20000"/>
        </a:spcBef>
        <a:spcAft>
          <a:spcPct val="0"/>
        </a:spcAft>
        <a:buChar char="»"/>
        <a:defRPr sz="1500">
          <a:solidFill>
            <a:srgbClr val="003399"/>
          </a:solidFill>
          <a:latin typeface="Siemens Sans" pitchFamily="2"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a:xfrm>
            <a:off x="354243" y="2637335"/>
            <a:ext cx="11430000" cy="1219200"/>
          </a:xfrm>
        </p:spPr>
        <p:txBody>
          <a:bodyPr/>
          <a:lstStyle/>
          <a:p>
            <a:r>
              <a:rPr lang="en-US" sz="4000" dirty="0">
                <a:solidFill>
                  <a:schemeClr val="tx1"/>
                </a:solidFill>
              </a:rPr>
              <a:t>Example Complex Queries:</a:t>
            </a:r>
          </a:p>
          <a:p>
            <a:r>
              <a:rPr lang="en-US" sz="4000" dirty="0">
                <a:solidFill>
                  <a:schemeClr val="tx1"/>
                </a:solidFill>
              </a:rPr>
              <a:t>30-day Readmission Queries for Hospitals</a:t>
            </a:r>
          </a:p>
        </p:txBody>
      </p:sp>
    </p:spTree>
    <p:extLst>
      <p:ext uri="{BB962C8B-B14F-4D97-AF65-F5344CB8AC3E}">
        <p14:creationId xmlns:p14="http://schemas.microsoft.com/office/powerpoint/2010/main" val="3648664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F4397-A3B3-ADF3-9003-681CE20E52AC}"/>
              </a:ext>
            </a:extLst>
          </p:cNvPr>
          <p:cNvSpPr>
            <a:spLocks noGrp="1"/>
          </p:cNvSpPr>
          <p:nvPr>
            <p:ph type="title"/>
          </p:nvPr>
        </p:nvSpPr>
        <p:spPr/>
        <p:txBody>
          <a:bodyPr/>
          <a:lstStyle/>
          <a:p>
            <a:r>
              <a:rPr lang="en-US" dirty="0"/>
              <a:t>30-day Hospital </a:t>
            </a:r>
            <a:r>
              <a:rPr lang="en-US" dirty="0" err="1"/>
              <a:t>Readmisisions</a:t>
            </a:r>
            <a:endParaRPr lang="en-US" dirty="0"/>
          </a:p>
        </p:txBody>
      </p:sp>
      <p:sp>
        <p:nvSpPr>
          <p:cNvPr id="3" name="Content Placeholder 2">
            <a:extLst>
              <a:ext uri="{FF2B5EF4-FFF2-40B4-BE49-F238E27FC236}">
                <a16:creationId xmlns:a16="http://schemas.microsoft.com/office/drawing/2014/main" id="{A3D3DBC8-00DD-2EFD-1B88-BB18CE5FC034}"/>
              </a:ext>
            </a:extLst>
          </p:cNvPr>
          <p:cNvSpPr>
            <a:spLocks noGrp="1"/>
          </p:cNvSpPr>
          <p:nvPr>
            <p:ph idx="1"/>
          </p:nvPr>
        </p:nvSpPr>
        <p:spPr>
          <a:xfrm>
            <a:off x="198226" y="931863"/>
            <a:ext cx="7784486" cy="5316538"/>
          </a:xfrm>
        </p:spPr>
        <p:txBody>
          <a:bodyPr/>
          <a:lstStyle/>
          <a:p>
            <a:r>
              <a:rPr lang="en-US" dirty="0"/>
              <a:t>The risk of death for patients that were readmitted to the hospital within 30 days of discharge was approximately two times that of patients that were not readmitted within 30 days</a:t>
            </a:r>
          </a:p>
          <a:p>
            <a:r>
              <a:rPr lang="en-US" dirty="0"/>
              <a:t>US hospitals get penalty if they have two many readmitted patients in 30 days</a:t>
            </a:r>
          </a:p>
          <a:p>
            <a:r>
              <a:rPr lang="en-US" dirty="0"/>
              <a:t>The entire stay of a patient in a hospital is called an “encounter”</a:t>
            </a:r>
          </a:p>
        </p:txBody>
      </p:sp>
      <p:pic>
        <p:nvPicPr>
          <p:cNvPr id="1026" name="Picture 2">
            <a:extLst>
              <a:ext uri="{FF2B5EF4-FFF2-40B4-BE49-F238E27FC236}">
                <a16:creationId xmlns:a16="http://schemas.microsoft.com/office/drawing/2014/main" id="{7419B65F-246B-DC24-1D71-5A5FFA27E0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5300" y="0"/>
            <a:ext cx="40767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854447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B4884-4CB6-E627-4980-2F8463A9F620}"/>
              </a:ext>
            </a:extLst>
          </p:cNvPr>
          <p:cNvSpPr>
            <a:spLocks noGrp="1"/>
          </p:cNvSpPr>
          <p:nvPr>
            <p:ph type="title"/>
          </p:nvPr>
        </p:nvSpPr>
        <p:spPr/>
        <p:txBody>
          <a:bodyPr/>
          <a:lstStyle/>
          <a:p>
            <a:r>
              <a:rPr lang="en-US" dirty="0"/>
              <a:t>Example Data</a:t>
            </a:r>
          </a:p>
        </p:txBody>
      </p:sp>
      <p:pic>
        <p:nvPicPr>
          <p:cNvPr id="7" name="Picture 6">
            <a:extLst>
              <a:ext uri="{FF2B5EF4-FFF2-40B4-BE49-F238E27FC236}">
                <a16:creationId xmlns:a16="http://schemas.microsoft.com/office/drawing/2014/main" id="{886A5E0E-698B-B66E-F772-5F494B848874}"/>
              </a:ext>
            </a:extLst>
          </p:cNvPr>
          <p:cNvPicPr>
            <a:picLocks noChangeAspect="1"/>
          </p:cNvPicPr>
          <p:nvPr/>
        </p:nvPicPr>
        <p:blipFill>
          <a:blip r:embed="rId2"/>
          <a:stretch>
            <a:fillRect/>
          </a:stretch>
        </p:blipFill>
        <p:spPr>
          <a:xfrm>
            <a:off x="870857" y="1316505"/>
            <a:ext cx="10024907" cy="4289971"/>
          </a:xfrm>
          <a:prstGeom prst="rect">
            <a:avLst/>
          </a:prstGeom>
          <a:ln w="19050">
            <a:solidFill>
              <a:schemeClr val="bg1">
                <a:lumMod val="50000"/>
              </a:schemeClr>
            </a:solidFill>
          </a:ln>
          <a:effectLst>
            <a:outerShdw blurRad="292100" dist="139700" dir="2700000" algn="tl" rotWithShape="0">
              <a:srgbClr val="333333">
                <a:alpha val="65000"/>
              </a:srgbClr>
            </a:outerShdw>
          </a:effectLst>
        </p:spPr>
      </p:pic>
      <p:grpSp>
        <p:nvGrpSpPr>
          <p:cNvPr id="12" name="Group 11">
            <a:extLst>
              <a:ext uri="{FF2B5EF4-FFF2-40B4-BE49-F238E27FC236}">
                <a16:creationId xmlns:a16="http://schemas.microsoft.com/office/drawing/2014/main" id="{B3CD82FE-154C-334A-AF18-CBB994F04F9A}"/>
              </a:ext>
            </a:extLst>
          </p:cNvPr>
          <p:cNvGrpSpPr/>
          <p:nvPr/>
        </p:nvGrpSpPr>
        <p:grpSpPr>
          <a:xfrm>
            <a:off x="10828774" y="2013020"/>
            <a:ext cx="310239" cy="2352990"/>
            <a:chOff x="10828774" y="2013020"/>
            <a:chExt cx="310239" cy="2352990"/>
          </a:xfrm>
        </p:grpSpPr>
        <p:sp>
          <p:nvSpPr>
            <p:cNvPr id="8" name="Arrow: Curved Left 7">
              <a:extLst>
                <a:ext uri="{FF2B5EF4-FFF2-40B4-BE49-F238E27FC236}">
                  <a16:creationId xmlns:a16="http://schemas.microsoft.com/office/drawing/2014/main" id="{7E61A9A8-0B0F-916E-952F-77CA390EE4E1}"/>
                </a:ext>
              </a:extLst>
            </p:cNvPr>
            <p:cNvSpPr/>
            <p:nvPr/>
          </p:nvSpPr>
          <p:spPr bwMode="auto">
            <a:xfrm>
              <a:off x="10828774" y="2013020"/>
              <a:ext cx="291401" cy="478971"/>
            </a:xfrm>
            <a:prstGeom prst="curvedLeftArrow">
              <a:avLst/>
            </a:prstGeom>
            <a:solidFill>
              <a:srgbClr val="FFC000"/>
            </a:solidFill>
            <a:ln w="127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
          <p:nvSpPr>
            <p:cNvPr id="9" name="Arrow: Curved Left 8">
              <a:extLst>
                <a:ext uri="{FF2B5EF4-FFF2-40B4-BE49-F238E27FC236}">
                  <a16:creationId xmlns:a16="http://schemas.microsoft.com/office/drawing/2014/main" id="{1D56AFE7-F888-45D3-0CBD-BA6130076BB9}"/>
                </a:ext>
              </a:extLst>
            </p:cNvPr>
            <p:cNvSpPr/>
            <p:nvPr/>
          </p:nvSpPr>
          <p:spPr bwMode="auto">
            <a:xfrm>
              <a:off x="10866453" y="2542232"/>
              <a:ext cx="253721" cy="429236"/>
            </a:xfrm>
            <a:prstGeom prst="curvedLeftArrow">
              <a:avLst/>
            </a:prstGeom>
            <a:solidFill>
              <a:srgbClr val="FFC000"/>
            </a:solidFill>
            <a:ln w="127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
          <p:nvSpPr>
            <p:cNvPr id="10" name="Arrow: Curved Left 9">
              <a:extLst>
                <a:ext uri="{FF2B5EF4-FFF2-40B4-BE49-F238E27FC236}">
                  <a16:creationId xmlns:a16="http://schemas.microsoft.com/office/drawing/2014/main" id="{5BC2191A-5A0A-2802-C67A-F7976905A24B}"/>
                </a:ext>
              </a:extLst>
            </p:cNvPr>
            <p:cNvSpPr/>
            <p:nvPr/>
          </p:nvSpPr>
          <p:spPr bwMode="auto">
            <a:xfrm>
              <a:off x="10828774" y="3021710"/>
              <a:ext cx="291401" cy="429235"/>
            </a:xfrm>
            <a:prstGeom prst="curvedLeftArrow">
              <a:avLst/>
            </a:prstGeom>
            <a:solidFill>
              <a:srgbClr val="FFC000"/>
            </a:solidFill>
            <a:ln w="127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
          <p:nvSpPr>
            <p:cNvPr id="11" name="Arrow: Curved Left 10">
              <a:extLst>
                <a:ext uri="{FF2B5EF4-FFF2-40B4-BE49-F238E27FC236}">
                  <a16:creationId xmlns:a16="http://schemas.microsoft.com/office/drawing/2014/main" id="{8D9F4268-71E6-275A-F614-680FFB5B5866}"/>
                </a:ext>
              </a:extLst>
            </p:cNvPr>
            <p:cNvSpPr/>
            <p:nvPr/>
          </p:nvSpPr>
          <p:spPr bwMode="auto">
            <a:xfrm>
              <a:off x="10847612" y="3936775"/>
              <a:ext cx="291401" cy="429235"/>
            </a:xfrm>
            <a:prstGeom prst="curvedLeftArrow">
              <a:avLst/>
            </a:prstGeom>
            <a:solidFill>
              <a:srgbClr val="FFC000"/>
            </a:solidFill>
            <a:ln w="127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grpSp>
    </p:spTree>
    <p:extLst>
      <p:ext uri="{BB962C8B-B14F-4D97-AF65-F5344CB8AC3E}">
        <p14:creationId xmlns:p14="http://schemas.microsoft.com/office/powerpoint/2010/main" val="12800646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250" fill="hold"/>
                                        <p:tgtEl>
                                          <p:spTgt spid="12"/>
                                        </p:tgtEl>
                                        <p:attrNameLst>
                                          <p:attrName>ppt_x</p:attrName>
                                        </p:attrNameLst>
                                      </p:cBhvr>
                                      <p:tavLst>
                                        <p:tav tm="0">
                                          <p:val>
                                            <p:strVal val="1+#ppt_w/2"/>
                                          </p:val>
                                        </p:tav>
                                        <p:tav tm="100000">
                                          <p:val>
                                            <p:strVal val="#ppt_x"/>
                                          </p:val>
                                        </p:tav>
                                      </p:tavLst>
                                    </p:anim>
                                    <p:anim calcmode="lin" valueType="num">
                                      <p:cBhvr additive="base">
                                        <p:cTn id="8" dur="25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EC970-20B4-4877-92C1-29C657077D20}"/>
              </a:ext>
            </a:extLst>
          </p:cNvPr>
          <p:cNvSpPr>
            <a:spLocks noGrp="1"/>
          </p:cNvSpPr>
          <p:nvPr>
            <p:ph type="title"/>
          </p:nvPr>
        </p:nvSpPr>
        <p:spPr/>
        <p:txBody>
          <a:bodyPr/>
          <a:lstStyle/>
          <a:p>
            <a:r>
              <a:rPr lang="en-US" dirty="0"/>
              <a:t>Example Queries: 30-day </a:t>
            </a:r>
            <a:r>
              <a:rPr lang="en-US" dirty="0" err="1"/>
              <a:t>Readmisisions</a:t>
            </a:r>
            <a:endParaRPr lang="en-US" dirty="0"/>
          </a:p>
        </p:txBody>
      </p:sp>
      <p:pic>
        <p:nvPicPr>
          <p:cNvPr id="5" name="Picture 4">
            <a:extLst>
              <a:ext uri="{FF2B5EF4-FFF2-40B4-BE49-F238E27FC236}">
                <a16:creationId xmlns:a16="http://schemas.microsoft.com/office/drawing/2014/main" id="{7C431E79-0A26-B10D-9FD5-7F20B4352770}"/>
              </a:ext>
            </a:extLst>
          </p:cNvPr>
          <p:cNvPicPr>
            <a:picLocks noChangeAspect="1"/>
          </p:cNvPicPr>
          <p:nvPr/>
        </p:nvPicPr>
        <p:blipFill>
          <a:blip r:embed="rId2"/>
          <a:stretch>
            <a:fillRect/>
          </a:stretch>
        </p:blipFill>
        <p:spPr>
          <a:xfrm>
            <a:off x="1541519" y="948915"/>
            <a:ext cx="9108962" cy="542293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738918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DDAE8-3AB4-CE51-A285-3A2CB1068C70}"/>
              </a:ext>
            </a:extLst>
          </p:cNvPr>
          <p:cNvSpPr>
            <a:spLocks noGrp="1"/>
          </p:cNvSpPr>
          <p:nvPr>
            <p:ph type="title"/>
          </p:nvPr>
        </p:nvSpPr>
        <p:spPr/>
        <p:txBody>
          <a:bodyPr/>
          <a:lstStyle/>
          <a:p>
            <a:r>
              <a:rPr lang="en-US" dirty="0"/>
              <a:t>Exercise: Write a Query to Find all 30-day Readmissions</a:t>
            </a:r>
          </a:p>
        </p:txBody>
      </p:sp>
      <p:sp>
        <p:nvSpPr>
          <p:cNvPr id="3" name="Content Placeholder 2">
            <a:extLst>
              <a:ext uri="{FF2B5EF4-FFF2-40B4-BE49-F238E27FC236}">
                <a16:creationId xmlns:a16="http://schemas.microsoft.com/office/drawing/2014/main" id="{F236B094-5910-5B80-94CD-CF84B10E5B7A}"/>
              </a:ext>
            </a:extLst>
          </p:cNvPr>
          <p:cNvSpPr>
            <a:spLocks noGrp="1"/>
          </p:cNvSpPr>
          <p:nvPr>
            <p:ph idx="1"/>
          </p:nvPr>
        </p:nvSpPr>
        <p:spPr/>
        <p:txBody>
          <a:bodyPr/>
          <a:lstStyle/>
          <a:p>
            <a:r>
              <a:rPr lang="en-US" dirty="0"/>
              <a:t>The admission date of the readmission is &lt; 30 days from the discharge date of the </a:t>
            </a:r>
            <a:r>
              <a:rPr lang="en-US" dirty="0">
                <a:solidFill>
                  <a:schemeClr val="accent6"/>
                </a:solidFill>
              </a:rPr>
              <a:t>most recent admission </a:t>
            </a:r>
            <a:r>
              <a:rPr lang="en-US" dirty="0"/>
              <a:t>(index admission)</a:t>
            </a:r>
          </a:p>
          <a:p>
            <a:r>
              <a:rPr lang="en-US" dirty="0"/>
              <a:t>Return all readmissions with their index admission for each patient (each admission is represented by </a:t>
            </a:r>
            <a:r>
              <a:rPr lang="en-US" dirty="0" err="1"/>
              <a:t>pid</a:t>
            </a:r>
            <a:r>
              <a:rPr lang="en-US" dirty="0"/>
              <a:t> and </a:t>
            </a:r>
            <a:r>
              <a:rPr lang="en-US" dirty="0" err="1"/>
              <a:t>admissiondate</a:t>
            </a:r>
            <a:r>
              <a:rPr lang="en-US" dirty="0"/>
              <a:t>)</a:t>
            </a:r>
          </a:p>
          <a:p>
            <a:r>
              <a:rPr lang="en-US" dirty="0"/>
              <a:t>Difference of dates: </a:t>
            </a:r>
            <a:r>
              <a:rPr lang="en-US" b="1" dirty="0">
                <a:solidFill>
                  <a:srgbClr val="000080"/>
                </a:solidFill>
                <a:latin typeface="Consolas" panose="020B0609020204030204" pitchFamily="49" charset="0"/>
              </a:rPr>
              <a:t>DATEDIFF</a:t>
            </a:r>
            <a:r>
              <a:rPr lang="en-US" dirty="0">
                <a:solidFill>
                  <a:srgbClr val="000000"/>
                </a:solidFill>
                <a:latin typeface="Consolas" panose="020B0609020204030204" pitchFamily="49" charset="0"/>
              </a:rPr>
              <a:t>(</a:t>
            </a:r>
            <a:r>
              <a:rPr lang="en-US" i="1" dirty="0">
                <a:solidFill>
                  <a:srgbClr val="8E00C6"/>
                </a:solidFill>
                <a:latin typeface="Consolas" panose="020B0609020204030204" pitchFamily="49" charset="0"/>
              </a:rPr>
              <a:t>in2</a:t>
            </a:r>
            <a:r>
              <a:rPr lang="en-US" dirty="0">
                <a:solidFill>
                  <a:srgbClr val="000000"/>
                </a:solidFill>
                <a:latin typeface="Consolas" panose="020B0609020204030204" pitchFamily="49" charset="0"/>
              </a:rPr>
              <a:t>.admissiondate, </a:t>
            </a:r>
            <a:r>
              <a:rPr lang="en-US" i="1" dirty="0">
                <a:solidFill>
                  <a:srgbClr val="8E00C6"/>
                </a:solidFill>
                <a:latin typeface="Consolas" panose="020B0609020204030204" pitchFamily="49" charset="0"/>
              </a:rPr>
              <a:t>in1</a:t>
            </a:r>
            <a:r>
              <a:rPr lang="en-US" dirty="0">
                <a:solidFill>
                  <a:srgbClr val="000000"/>
                </a:solidFill>
                <a:latin typeface="Consolas" panose="020B0609020204030204" pitchFamily="49" charset="0"/>
              </a:rPr>
              <a:t>.dischargedate) </a:t>
            </a:r>
          </a:p>
          <a:p>
            <a:r>
              <a:rPr lang="en-US" dirty="0"/>
              <a:t>Hints:</a:t>
            </a:r>
          </a:p>
          <a:p>
            <a:endParaRPr lang="en-US" dirty="0"/>
          </a:p>
          <a:p>
            <a:endParaRPr lang="en-US" dirty="0"/>
          </a:p>
          <a:p>
            <a:pPr marL="457200" indent="-457200">
              <a:buAutoNum type="alphaUcPeriod"/>
            </a:pPr>
            <a:r>
              <a:rPr lang="en-US" dirty="0"/>
              <a:t>Find all pairs of visits, calculate the gap, take the index visit with minimal gap</a:t>
            </a:r>
          </a:p>
          <a:p>
            <a:pPr marL="457200" indent="-457200">
              <a:buAutoNum type="alphaUcPeriod"/>
            </a:pPr>
            <a:r>
              <a:rPr lang="en-US" dirty="0"/>
              <a:t>Moving window: each record has a preceding record (using LAG; or using window preceding 1)</a:t>
            </a:r>
          </a:p>
        </p:txBody>
      </p:sp>
      <p:cxnSp>
        <p:nvCxnSpPr>
          <p:cNvPr id="5" name="Straight Arrow Connector 4">
            <a:extLst>
              <a:ext uri="{FF2B5EF4-FFF2-40B4-BE49-F238E27FC236}">
                <a16:creationId xmlns:a16="http://schemas.microsoft.com/office/drawing/2014/main" id="{8051CCAE-0986-A948-FF6A-823DA6628412}"/>
              </a:ext>
            </a:extLst>
          </p:cNvPr>
          <p:cNvCxnSpPr>
            <a:cxnSpLocks/>
          </p:cNvCxnSpPr>
          <p:nvPr/>
        </p:nvCxnSpPr>
        <p:spPr bwMode="auto">
          <a:xfrm>
            <a:off x="3328617" y="3886519"/>
            <a:ext cx="664612" cy="0"/>
          </a:xfrm>
          <a:prstGeom prst="straightConnector1">
            <a:avLst/>
          </a:prstGeom>
          <a:noFill/>
          <a:ln w="38100" cap="flat" cmpd="sng" algn="ctr">
            <a:solidFill>
              <a:srgbClr val="FF9900"/>
            </a:solidFill>
            <a:prstDash val="solid"/>
            <a:round/>
            <a:headEnd type="oval" w="med" len="med"/>
            <a:tailEnd type="triangle"/>
          </a:ln>
          <a:effectLst/>
        </p:spPr>
      </p:cxnSp>
      <p:cxnSp>
        <p:nvCxnSpPr>
          <p:cNvPr id="8" name="Straight Arrow Connector 7">
            <a:extLst>
              <a:ext uri="{FF2B5EF4-FFF2-40B4-BE49-F238E27FC236}">
                <a16:creationId xmlns:a16="http://schemas.microsoft.com/office/drawing/2014/main" id="{7C15B558-666A-F4C6-7FF7-A34648E31C75}"/>
              </a:ext>
            </a:extLst>
          </p:cNvPr>
          <p:cNvCxnSpPr>
            <a:cxnSpLocks/>
          </p:cNvCxnSpPr>
          <p:nvPr/>
        </p:nvCxnSpPr>
        <p:spPr bwMode="auto">
          <a:xfrm>
            <a:off x="4404747" y="3886519"/>
            <a:ext cx="664612" cy="0"/>
          </a:xfrm>
          <a:prstGeom prst="straightConnector1">
            <a:avLst/>
          </a:prstGeom>
          <a:noFill/>
          <a:ln w="38100" cap="flat" cmpd="sng" algn="ctr">
            <a:solidFill>
              <a:schemeClr val="accent2"/>
            </a:solidFill>
            <a:prstDash val="solid"/>
            <a:round/>
            <a:headEnd type="oval" w="med" len="med"/>
            <a:tailEnd type="triangle"/>
          </a:ln>
          <a:effectLst/>
        </p:spPr>
      </p:cxnSp>
      <p:cxnSp>
        <p:nvCxnSpPr>
          <p:cNvPr id="9" name="Straight Arrow Connector 8">
            <a:extLst>
              <a:ext uri="{FF2B5EF4-FFF2-40B4-BE49-F238E27FC236}">
                <a16:creationId xmlns:a16="http://schemas.microsoft.com/office/drawing/2014/main" id="{6CE0DDF5-FF94-4F2D-6660-AB97B6957F04}"/>
              </a:ext>
            </a:extLst>
          </p:cNvPr>
          <p:cNvCxnSpPr>
            <a:cxnSpLocks/>
          </p:cNvCxnSpPr>
          <p:nvPr/>
        </p:nvCxnSpPr>
        <p:spPr bwMode="auto">
          <a:xfrm>
            <a:off x="5659714" y="3886519"/>
            <a:ext cx="395853" cy="0"/>
          </a:xfrm>
          <a:prstGeom prst="straightConnector1">
            <a:avLst/>
          </a:prstGeom>
          <a:noFill/>
          <a:ln w="38100" cap="flat" cmpd="sng" algn="ctr">
            <a:solidFill>
              <a:srgbClr val="FF0000"/>
            </a:solidFill>
            <a:prstDash val="solid"/>
            <a:round/>
            <a:headEnd type="oval" w="med" len="med"/>
            <a:tailEnd type="triangle"/>
          </a:ln>
          <a:effectLst/>
        </p:spPr>
      </p:cxnSp>
      <p:cxnSp>
        <p:nvCxnSpPr>
          <p:cNvPr id="11" name="Straight Arrow Connector 10">
            <a:extLst>
              <a:ext uri="{FF2B5EF4-FFF2-40B4-BE49-F238E27FC236}">
                <a16:creationId xmlns:a16="http://schemas.microsoft.com/office/drawing/2014/main" id="{49114ADD-6340-1083-70D6-F95720214033}"/>
              </a:ext>
            </a:extLst>
          </p:cNvPr>
          <p:cNvCxnSpPr>
            <a:cxnSpLocks/>
          </p:cNvCxnSpPr>
          <p:nvPr/>
        </p:nvCxnSpPr>
        <p:spPr bwMode="auto">
          <a:xfrm>
            <a:off x="6917791" y="3886519"/>
            <a:ext cx="664612" cy="0"/>
          </a:xfrm>
          <a:prstGeom prst="straightConnector1">
            <a:avLst/>
          </a:prstGeom>
          <a:noFill/>
          <a:ln w="38100" cap="flat" cmpd="sng" algn="ctr">
            <a:solidFill>
              <a:srgbClr val="00B050"/>
            </a:solidFill>
            <a:prstDash val="solid"/>
            <a:round/>
            <a:headEnd type="oval" w="med" len="med"/>
            <a:tailEnd type="triangle"/>
          </a:ln>
          <a:effectLst/>
        </p:spPr>
      </p:cxnSp>
      <p:sp>
        <p:nvSpPr>
          <p:cNvPr id="19" name="Freeform: Shape 18">
            <a:extLst>
              <a:ext uri="{FF2B5EF4-FFF2-40B4-BE49-F238E27FC236}">
                <a16:creationId xmlns:a16="http://schemas.microsoft.com/office/drawing/2014/main" id="{87639565-D5B4-F62D-390A-CE2C503AB3DE}"/>
              </a:ext>
            </a:extLst>
          </p:cNvPr>
          <p:cNvSpPr/>
          <p:nvPr/>
        </p:nvSpPr>
        <p:spPr bwMode="auto">
          <a:xfrm>
            <a:off x="5038202" y="3376339"/>
            <a:ext cx="1913117" cy="503853"/>
          </a:xfrm>
          <a:custGeom>
            <a:avLst/>
            <a:gdLst>
              <a:gd name="connsiteX0" fmla="*/ 18990 w 1913117"/>
              <a:gd name="connsiteY0" fmla="*/ 503853 h 503853"/>
              <a:gd name="connsiteX1" fmla="*/ 14324 w 1913117"/>
              <a:gd name="connsiteY1" fmla="*/ 480527 h 503853"/>
              <a:gd name="connsiteX2" fmla="*/ 328 w 1913117"/>
              <a:gd name="connsiteY2" fmla="*/ 457200 h 503853"/>
              <a:gd name="connsiteX3" fmla="*/ 9659 w 1913117"/>
              <a:gd name="connsiteY3" fmla="*/ 317241 h 503853"/>
              <a:gd name="connsiteX4" fmla="*/ 56312 w 1913117"/>
              <a:gd name="connsiteY4" fmla="*/ 209939 h 503853"/>
              <a:gd name="connsiteX5" fmla="*/ 84304 w 1913117"/>
              <a:gd name="connsiteY5" fmla="*/ 186613 h 503853"/>
              <a:gd name="connsiteX6" fmla="*/ 219598 w 1913117"/>
              <a:gd name="connsiteY6" fmla="*/ 102637 h 503853"/>
              <a:gd name="connsiteX7" fmla="*/ 270916 w 1913117"/>
              <a:gd name="connsiteY7" fmla="*/ 83976 h 503853"/>
              <a:gd name="connsiteX8" fmla="*/ 359557 w 1913117"/>
              <a:gd name="connsiteY8" fmla="*/ 55984 h 503853"/>
              <a:gd name="connsiteX9" fmla="*/ 490186 w 1913117"/>
              <a:gd name="connsiteY9" fmla="*/ 18662 h 503853"/>
              <a:gd name="connsiteX10" fmla="*/ 541504 w 1913117"/>
              <a:gd name="connsiteY10" fmla="*/ 13996 h 503853"/>
              <a:gd name="connsiteX11" fmla="*/ 602153 w 1913117"/>
              <a:gd name="connsiteY11" fmla="*/ 4666 h 503853"/>
              <a:gd name="connsiteX12" fmla="*/ 765439 w 1913117"/>
              <a:gd name="connsiteY12" fmla="*/ 0 h 503853"/>
              <a:gd name="connsiteX13" fmla="*/ 1110671 w 1913117"/>
              <a:gd name="connsiteY13" fmla="*/ 13996 h 503853"/>
              <a:gd name="connsiteX14" fmla="*/ 1194647 w 1913117"/>
              <a:gd name="connsiteY14" fmla="*/ 27992 h 503853"/>
              <a:gd name="connsiteX15" fmla="*/ 1231969 w 1913117"/>
              <a:gd name="connsiteY15" fmla="*/ 32658 h 503853"/>
              <a:gd name="connsiteX16" fmla="*/ 1315945 w 1913117"/>
              <a:gd name="connsiteY16" fmla="*/ 69980 h 503853"/>
              <a:gd name="connsiteX17" fmla="*/ 1483896 w 1913117"/>
              <a:gd name="connsiteY17" fmla="*/ 121298 h 503853"/>
              <a:gd name="connsiteX18" fmla="*/ 1577202 w 1913117"/>
              <a:gd name="connsiteY18" fmla="*/ 158621 h 503853"/>
              <a:gd name="connsiteX19" fmla="*/ 1661177 w 1913117"/>
              <a:gd name="connsiteY19" fmla="*/ 195943 h 503853"/>
              <a:gd name="connsiteX20" fmla="*/ 1684504 w 1913117"/>
              <a:gd name="connsiteY20" fmla="*/ 214604 h 503853"/>
              <a:gd name="connsiteX21" fmla="*/ 1721826 w 1913117"/>
              <a:gd name="connsiteY21" fmla="*/ 233266 h 503853"/>
              <a:gd name="connsiteX22" fmla="*/ 1759149 w 1913117"/>
              <a:gd name="connsiteY22" fmla="*/ 256592 h 503853"/>
              <a:gd name="connsiteX23" fmla="*/ 1843124 w 1913117"/>
              <a:gd name="connsiteY23" fmla="*/ 312576 h 503853"/>
              <a:gd name="connsiteX24" fmla="*/ 1880447 w 1913117"/>
              <a:gd name="connsiteY24" fmla="*/ 354564 h 503853"/>
              <a:gd name="connsiteX25" fmla="*/ 1903773 w 1913117"/>
              <a:gd name="connsiteY25" fmla="*/ 396551 h 503853"/>
              <a:gd name="connsiteX26" fmla="*/ 1913104 w 1913117"/>
              <a:gd name="connsiteY26" fmla="*/ 466531 h 503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913117" h="503853" extrusionOk="0">
                <a:moveTo>
                  <a:pt x="18990" y="503853"/>
                </a:moveTo>
                <a:cubicBezTo>
                  <a:pt x="16519" y="495513"/>
                  <a:pt x="16298" y="488254"/>
                  <a:pt x="14324" y="480527"/>
                </a:cubicBezTo>
                <a:cubicBezTo>
                  <a:pt x="12740" y="472484"/>
                  <a:pt x="-640" y="466303"/>
                  <a:pt x="328" y="457200"/>
                </a:cubicBezTo>
                <a:cubicBezTo>
                  <a:pt x="-3624" y="413019"/>
                  <a:pt x="459" y="369877"/>
                  <a:pt x="9659" y="317241"/>
                </a:cubicBezTo>
                <a:cubicBezTo>
                  <a:pt x="8247" y="302094"/>
                  <a:pt x="41545" y="232477"/>
                  <a:pt x="56312" y="209939"/>
                </a:cubicBezTo>
                <a:cubicBezTo>
                  <a:pt x="66508" y="200895"/>
                  <a:pt x="74329" y="192922"/>
                  <a:pt x="84304" y="186613"/>
                </a:cubicBezTo>
                <a:cubicBezTo>
                  <a:pt x="125925" y="157044"/>
                  <a:pt x="162820" y="127268"/>
                  <a:pt x="219598" y="102637"/>
                </a:cubicBezTo>
                <a:cubicBezTo>
                  <a:pt x="236288" y="92448"/>
                  <a:pt x="252983" y="90656"/>
                  <a:pt x="270916" y="83976"/>
                </a:cubicBezTo>
                <a:cubicBezTo>
                  <a:pt x="381659" y="55821"/>
                  <a:pt x="271928" y="90619"/>
                  <a:pt x="359557" y="55984"/>
                </a:cubicBezTo>
                <a:cubicBezTo>
                  <a:pt x="401943" y="39014"/>
                  <a:pt x="438536" y="26774"/>
                  <a:pt x="490186" y="18662"/>
                </a:cubicBezTo>
                <a:cubicBezTo>
                  <a:pt x="507983" y="18136"/>
                  <a:pt x="524841" y="20069"/>
                  <a:pt x="541504" y="13996"/>
                </a:cubicBezTo>
                <a:cubicBezTo>
                  <a:pt x="563000" y="13307"/>
                  <a:pt x="583410" y="7988"/>
                  <a:pt x="602153" y="4666"/>
                </a:cubicBezTo>
                <a:cubicBezTo>
                  <a:pt x="663533" y="-4891"/>
                  <a:pt x="711573" y="-1091"/>
                  <a:pt x="765439" y="0"/>
                </a:cubicBezTo>
                <a:cubicBezTo>
                  <a:pt x="859214" y="8163"/>
                  <a:pt x="973235" y="-9029"/>
                  <a:pt x="1110671" y="13996"/>
                </a:cubicBezTo>
                <a:cubicBezTo>
                  <a:pt x="1133006" y="15418"/>
                  <a:pt x="1163861" y="18097"/>
                  <a:pt x="1194647" y="27992"/>
                </a:cubicBezTo>
                <a:cubicBezTo>
                  <a:pt x="1207134" y="28608"/>
                  <a:pt x="1218776" y="31542"/>
                  <a:pt x="1231969" y="32658"/>
                </a:cubicBezTo>
                <a:cubicBezTo>
                  <a:pt x="1259486" y="45949"/>
                  <a:pt x="1291627" y="63215"/>
                  <a:pt x="1315945" y="69980"/>
                </a:cubicBezTo>
                <a:cubicBezTo>
                  <a:pt x="1370682" y="100886"/>
                  <a:pt x="1434352" y="93449"/>
                  <a:pt x="1483896" y="121298"/>
                </a:cubicBezTo>
                <a:cubicBezTo>
                  <a:pt x="1549512" y="157941"/>
                  <a:pt x="1512053" y="144634"/>
                  <a:pt x="1577202" y="158621"/>
                </a:cubicBezTo>
                <a:cubicBezTo>
                  <a:pt x="1702242" y="257392"/>
                  <a:pt x="1530600" y="160584"/>
                  <a:pt x="1661177" y="195943"/>
                </a:cubicBezTo>
                <a:cubicBezTo>
                  <a:pt x="1670712" y="197683"/>
                  <a:pt x="1673941" y="209267"/>
                  <a:pt x="1684504" y="214604"/>
                </a:cubicBezTo>
                <a:cubicBezTo>
                  <a:pt x="1698028" y="223338"/>
                  <a:pt x="1709528" y="226976"/>
                  <a:pt x="1721826" y="233266"/>
                </a:cubicBezTo>
                <a:cubicBezTo>
                  <a:pt x="1733108" y="243480"/>
                  <a:pt x="1746268" y="248840"/>
                  <a:pt x="1759149" y="256592"/>
                </a:cubicBezTo>
                <a:cubicBezTo>
                  <a:pt x="1796437" y="278016"/>
                  <a:pt x="1812738" y="278509"/>
                  <a:pt x="1843124" y="312576"/>
                </a:cubicBezTo>
                <a:cubicBezTo>
                  <a:pt x="1856709" y="325514"/>
                  <a:pt x="1869273" y="339685"/>
                  <a:pt x="1880447" y="354564"/>
                </a:cubicBezTo>
                <a:cubicBezTo>
                  <a:pt x="1909597" y="413886"/>
                  <a:pt x="1866735" y="345347"/>
                  <a:pt x="1903773" y="396551"/>
                </a:cubicBezTo>
                <a:cubicBezTo>
                  <a:pt x="1916799" y="454937"/>
                  <a:pt x="1914875" y="430541"/>
                  <a:pt x="1913104" y="466531"/>
                </a:cubicBezTo>
              </a:path>
            </a:pathLst>
          </a:custGeom>
          <a:noFill/>
          <a:ln w="12700" cap="flat" cmpd="sng" algn="ctr">
            <a:solidFill>
              <a:srgbClr val="FF0000"/>
            </a:solidFill>
            <a:prstDash val="sysDash"/>
            <a:round/>
            <a:headEnd type="none" w="med" len="med"/>
            <a:tailEnd type="triangle" w="med" len="med"/>
            <a:extLst>
              <a:ext uri="{C807C97D-BFC1-408E-A445-0C87EB9F89A2}">
                <ask:lineSketchStyleProps xmlns:ask="http://schemas.microsoft.com/office/drawing/2018/sketchyshapes" sd="1219033472">
                  <a:custGeom>
                    <a:avLst/>
                    <a:gdLst>
                      <a:gd name="connsiteX0" fmla="*/ 18990 w 1913117"/>
                      <a:gd name="connsiteY0" fmla="*/ 503853 h 503853"/>
                      <a:gd name="connsiteX1" fmla="*/ 14324 w 1913117"/>
                      <a:gd name="connsiteY1" fmla="*/ 480527 h 503853"/>
                      <a:gd name="connsiteX2" fmla="*/ 328 w 1913117"/>
                      <a:gd name="connsiteY2" fmla="*/ 457200 h 503853"/>
                      <a:gd name="connsiteX3" fmla="*/ 9659 w 1913117"/>
                      <a:gd name="connsiteY3" fmla="*/ 317241 h 503853"/>
                      <a:gd name="connsiteX4" fmla="*/ 56312 w 1913117"/>
                      <a:gd name="connsiteY4" fmla="*/ 209939 h 503853"/>
                      <a:gd name="connsiteX5" fmla="*/ 84304 w 1913117"/>
                      <a:gd name="connsiteY5" fmla="*/ 186613 h 503853"/>
                      <a:gd name="connsiteX6" fmla="*/ 219598 w 1913117"/>
                      <a:gd name="connsiteY6" fmla="*/ 102637 h 503853"/>
                      <a:gd name="connsiteX7" fmla="*/ 270916 w 1913117"/>
                      <a:gd name="connsiteY7" fmla="*/ 83976 h 503853"/>
                      <a:gd name="connsiteX8" fmla="*/ 359557 w 1913117"/>
                      <a:gd name="connsiteY8" fmla="*/ 55984 h 503853"/>
                      <a:gd name="connsiteX9" fmla="*/ 490186 w 1913117"/>
                      <a:gd name="connsiteY9" fmla="*/ 18662 h 503853"/>
                      <a:gd name="connsiteX10" fmla="*/ 541504 w 1913117"/>
                      <a:gd name="connsiteY10" fmla="*/ 13996 h 503853"/>
                      <a:gd name="connsiteX11" fmla="*/ 602153 w 1913117"/>
                      <a:gd name="connsiteY11" fmla="*/ 4666 h 503853"/>
                      <a:gd name="connsiteX12" fmla="*/ 765439 w 1913117"/>
                      <a:gd name="connsiteY12" fmla="*/ 0 h 503853"/>
                      <a:gd name="connsiteX13" fmla="*/ 1110671 w 1913117"/>
                      <a:gd name="connsiteY13" fmla="*/ 13996 h 503853"/>
                      <a:gd name="connsiteX14" fmla="*/ 1194647 w 1913117"/>
                      <a:gd name="connsiteY14" fmla="*/ 27992 h 503853"/>
                      <a:gd name="connsiteX15" fmla="*/ 1231969 w 1913117"/>
                      <a:gd name="connsiteY15" fmla="*/ 32658 h 503853"/>
                      <a:gd name="connsiteX16" fmla="*/ 1315945 w 1913117"/>
                      <a:gd name="connsiteY16" fmla="*/ 69980 h 503853"/>
                      <a:gd name="connsiteX17" fmla="*/ 1483896 w 1913117"/>
                      <a:gd name="connsiteY17" fmla="*/ 121298 h 503853"/>
                      <a:gd name="connsiteX18" fmla="*/ 1577202 w 1913117"/>
                      <a:gd name="connsiteY18" fmla="*/ 158621 h 503853"/>
                      <a:gd name="connsiteX19" fmla="*/ 1661177 w 1913117"/>
                      <a:gd name="connsiteY19" fmla="*/ 195943 h 503853"/>
                      <a:gd name="connsiteX20" fmla="*/ 1684504 w 1913117"/>
                      <a:gd name="connsiteY20" fmla="*/ 214604 h 503853"/>
                      <a:gd name="connsiteX21" fmla="*/ 1721826 w 1913117"/>
                      <a:gd name="connsiteY21" fmla="*/ 233266 h 503853"/>
                      <a:gd name="connsiteX22" fmla="*/ 1759149 w 1913117"/>
                      <a:gd name="connsiteY22" fmla="*/ 256592 h 503853"/>
                      <a:gd name="connsiteX23" fmla="*/ 1843124 w 1913117"/>
                      <a:gd name="connsiteY23" fmla="*/ 312576 h 503853"/>
                      <a:gd name="connsiteX24" fmla="*/ 1880447 w 1913117"/>
                      <a:gd name="connsiteY24" fmla="*/ 354564 h 503853"/>
                      <a:gd name="connsiteX25" fmla="*/ 1903773 w 1913117"/>
                      <a:gd name="connsiteY25" fmla="*/ 396551 h 503853"/>
                      <a:gd name="connsiteX26" fmla="*/ 1913104 w 1913117"/>
                      <a:gd name="connsiteY26" fmla="*/ 466531 h 503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913117" h="503853">
                        <a:moveTo>
                          <a:pt x="18990" y="503853"/>
                        </a:moveTo>
                        <a:cubicBezTo>
                          <a:pt x="17435" y="496078"/>
                          <a:pt x="17269" y="487889"/>
                          <a:pt x="14324" y="480527"/>
                        </a:cubicBezTo>
                        <a:cubicBezTo>
                          <a:pt x="10956" y="472108"/>
                          <a:pt x="587" y="466264"/>
                          <a:pt x="328" y="457200"/>
                        </a:cubicBezTo>
                        <a:cubicBezTo>
                          <a:pt x="-1007" y="410463"/>
                          <a:pt x="1648" y="363306"/>
                          <a:pt x="9659" y="317241"/>
                        </a:cubicBezTo>
                        <a:cubicBezTo>
                          <a:pt x="11942" y="304115"/>
                          <a:pt x="38674" y="231105"/>
                          <a:pt x="56312" y="209939"/>
                        </a:cubicBezTo>
                        <a:cubicBezTo>
                          <a:pt x="64088" y="200608"/>
                          <a:pt x="74154" y="193283"/>
                          <a:pt x="84304" y="186613"/>
                        </a:cubicBezTo>
                        <a:cubicBezTo>
                          <a:pt x="128662" y="157463"/>
                          <a:pt x="169715" y="120776"/>
                          <a:pt x="219598" y="102637"/>
                        </a:cubicBezTo>
                        <a:cubicBezTo>
                          <a:pt x="236704" y="96417"/>
                          <a:pt x="253648" y="89732"/>
                          <a:pt x="270916" y="83976"/>
                        </a:cubicBezTo>
                        <a:cubicBezTo>
                          <a:pt x="371852" y="50331"/>
                          <a:pt x="265681" y="89117"/>
                          <a:pt x="359557" y="55984"/>
                        </a:cubicBezTo>
                        <a:cubicBezTo>
                          <a:pt x="405848" y="39646"/>
                          <a:pt x="434778" y="23700"/>
                          <a:pt x="490186" y="18662"/>
                        </a:cubicBezTo>
                        <a:cubicBezTo>
                          <a:pt x="507292" y="17107"/>
                          <a:pt x="524460" y="16127"/>
                          <a:pt x="541504" y="13996"/>
                        </a:cubicBezTo>
                        <a:cubicBezTo>
                          <a:pt x="561800" y="11459"/>
                          <a:pt x="581739" y="5942"/>
                          <a:pt x="602153" y="4666"/>
                        </a:cubicBezTo>
                        <a:cubicBezTo>
                          <a:pt x="656498" y="1269"/>
                          <a:pt x="711010" y="1555"/>
                          <a:pt x="765439" y="0"/>
                        </a:cubicBezTo>
                        <a:cubicBezTo>
                          <a:pt x="880516" y="4665"/>
                          <a:pt x="995743" y="6501"/>
                          <a:pt x="1110671" y="13996"/>
                        </a:cubicBezTo>
                        <a:cubicBezTo>
                          <a:pt x="1138989" y="15843"/>
                          <a:pt x="1166599" y="23677"/>
                          <a:pt x="1194647" y="27992"/>
                        </a:cubicBezTo>
                        <a:cubicBezTo>
                          <a:pt x="1207039" y="29898"/>
                          <a:pt x="1219528" y="31103"/>
                          <a:pt x="1231969" y="32658"/>
                        </a:cubicBezTo>
                        <a:cubicBezTo>
                          <a:pt x="1259961" y="45099"/>
                          <a:pt x="1287049" y="59813"/>
                          <a:pt x="1315945" y="69980"/>
                        </a:cubicBezTo>
                        <a:cubicBezTo>
                          <a:pt x="1371165" y="89409"/>
                          <a:pt x="1431538" y="95118"/>
                          <a:pt x="1483896" y="121298"/>
                        </a:cubicBezTo>
                        <a:cubicBezTo>
                          <a:pt x="1551349" y="155025"/>
                          <a:pt x="1519638" y="144230"/>
                          <a:pt x="1577202" y="158621"/>
                        </a:cubicBezTo>
                        <a:cubicBezTo>
                          <a:pt x="1690507" y="234157"/>
                          <a:pt x="1552152" y="149219"/>
                          <a:pt x="1661177" y="195943"/>
                        </a:cubicBezTo>
                        <a:cubicBezTo>
                          <a:pt x="1670330" y="199865"/>
                          <a:pt x="1676024" y="209385"/>
                          <a:pt x="1684504" y="214604"/>
                        </a:cubicBezTo>
                        <a:cubicBezTo>
                          <a:pt x="1696350" y="221894"/>
                          <a:pt x="1709703" y="226447"/>
                          <a:pt x="1721826" y="233266"/>
                        </a:cubicBezTo>
                        <a:cubicBezTo>
                          <a:pt x="1734613" y="240459"/>
                          <a:pt x="1746504" y="249154"/>
                          <a:pt x="1759149" y="256592"/>
                        </a:cubicBezTo>
                        <a:cubicBezTo>
                          <a:pt x="1794580" y="277434"/>
                          <a:pt x="1812924" y="282377"/>
                          <a:pt x="1843124" y="312576"/>
                        </a:cubicBezTo>
                        <a:cubicBezTo>
                          <a:pt x="1854963" y="324414"/>
                          <a:pt x="1871865" y="339116"/>
                          <a:pt x="1880447" y="354564"/>
                        </a:cubicBezTo>
                        <a:cubicBezTo>
                          <a:pt x="1910990" y="409542"/>
                          <a:pt x="1867738" y="348505"/>
                          <a:pt x="1903773" y="396551"/>
                        </a:cubicBezTo>
                        <a:cubicBezTo>
                          <a:pt x="1913871" y="457137"/>
                          <a:pt x="1913104" y="433616"/>
                          <a:pt x="1913104" y="466531"/>
                        </a:cubicBezTo>
                      </a:path>
                    </a:pathLst>
                  </a:custGeom>
                  <ask:type>
                    <ask:lineSketchFreehand/>
                  </ask:type>
                </ask:lineSketchStyleProps>
              </a:ext>
            </a:extLst>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
        <p:nvSpPr>
          <p:cNvPr id="20" name="Freeform: Shape 19">
            <a:extLst>
              <a:ext uri="{FF2B5EF4-FFF2-40B4-BE49-F238E27FC236}">
                <a16:creationId xmlns:a16="http://schemas.microsoft.com/office/drawing/2014/main" id="{FA593EB6-A325-9E8F-97F8-432263A0770D}"/>
              </a:ext>
            </a:extLst>
          </p:cNvPr>
          <p:cNvSpPr/>
          <p:nvPr/>
        </p:nvSpPr>
        <p:spPr bwMode="auto">
          <a:xfrm>
            <a:off x="6055567" y="3654755"/>
            <a:ext cx="832964" cy="238091"/>
          </a:xfrm>
          <a:custGeom>
            <a:avLst/>
            <a:gdLst>
              <a:gd name="connsiteX0" fmla="*/ 0 w 601824"/>
              <a:gd name="connsiteY0" fmla="*/ 228600 h 228600"/>
              <a:gd name="connsiteX1" fmla="*/ 27992 w 601824"/>
              <a:gd name="connsiteY1" fmla="*/ 172616 h 228600"/>
              <a:gd name="connsiteX2" fmla="*/ 55984 w 601824"/>
              <a:gd name="connsiteY2" fmla="*/ 163286 h 228600"/>
              <a:gd name="connsiteX3" fmla="*/ 121298 w 601824"/>
              <a:gd name="connsiteY3" fmla="*/ 97971 h 228600"/>
              <a:gd name="connsiteX4" fmla="*/ 144624 w 601824"/>
              <a:gd name="connsiteY4" fmla="*/ 83975 h 228600"/>
              <a:gd name="connsiteX5" fmla="*/ 163286 w 601824"/>
              <a:gd name="connsiteY5" fmla="*/ 69980 h 228600"/>
              <a:gd name="connsiteX6" fmla="*/ 172616 w 601824"/>
              <a:gd name="connsiteY6" fmla="*/ 51318 h 228600"/>
              <a:gd name="connsiteX7" fmla="*/ 270588 w 601824"/>
              <a:gd name="connsiteY7" fmla="*/ 4665 h 228600"/>
              <a:gd name="connsiteX8" fmla="*/ 312575 w 601824"/>
              <a:gd name="connsiteY8" fmla="*/ 0 h 228600"/>
              <a:gd name="connsiteX9" fmla="*/ 461865 w 601824"/>
              <a:gd name="connsiteY9" fmla="*/ 9331 h 228600"/>
              <a:gd name="connsiteX10" fmla="*/ 499188 w 601824"/>
              <a:gd name="connsiteY10" fmla="*/ 27992 h 228600"/>
              <a:gd name="connsiteX11" fmla="*/ 555171 w 601824"/>
              <a:gd name="connsiteY11" fmla="*/ 60649 h 228600"/>
              <a:gd name="connsiteX12" fmla="*/ 559837 w 601824"/>
              <a:gd name="connsiteY12" fmla="*/ 74645 h 228600"/>
              <a:gd name="connsiteX13" fmla="*/ 578498 w 601824"/>
              <a:gd name="connsiteY13" fmla="*/ 116633 h 228600"/>
              <a:gd name="connsiteX14" fmla="*/ 597159 w 601824"/>
              <a:gd name="connsiteY14" fmla="*/ 205273 h 228600"/>
              <a:gd name="connsiteX15" fmla="*/ 601824 w 601824"/>
              <a:gd name="connsiteY15" fmla="*/ 214604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01824" h="228600">
                <a:moveTo>
                  <a:pt x="0" y="228600"/>
                </a:moveTo>
                <a:cubicBezTo>
                  <a:pt x="9331" y="209939"/>
                  <a:pt x="14414" y="188457"/>
                  <a:pt x="27992" y="172616"/>
                </a:cubicBezTo>
                <a:cubicBezTo>
                  <a:pt x="34393" y="165149"/>
                  <a:pt x="55984" y="163286"/>
                  <a:pt x="55984" y="163286"/>
                </a:cubicBezTo>
                <a:cubicBezTo>
                  <a:pt x="83629" y="131032"/>
                  <a:pt x="85988" y="125133"/>
                  <a:pt x="121298" y="97971"/>
                </a:cubicBezTo>
                <a:cubicBezTo>
                  <a:pt x="128485" y="92442"/>
                  <a:pt x="137079" y="89005"/>
                  <a:pt x="144624" y="83975"/>
                </a:cubicBezTo>
                <a:cubicBezTo>
                  <a:pt x="151094" y="79662"/>
                  <a:pt x="157065" y="74645"/>
                  <a:pt x="163286" y="69980"/>
                </a:cubicBezTo>
                <a:cubicBezTo>
                  <a:pt x="166396" y="63759"/>
                  <a:pt x="167360" y="55873"/>
                  <a:pt x="172616" y="51318"/>
                </a:cubicBezTo>
                <a:cubicBezTo>
                  <a:pt x="225864" y="5169"/>
                  <a:pt x="217897" y="10864"/>
                  <a:pt x="270588" y="4665"/>
                </a:cubicBezTo>
                <a:lnTo>
                  <a:pt x="312575" y="0"/>
                </a:lnTo>
                <a:cubicBezTo>
                  <a:pt x="362338" y="3110"/>
                  <a:pt x="412556" y="1935"/>
                  <a:pt x="461865" y="9331"/>
                </a:cubicBezTo>
                <a:cubicBezTo>
                  <a:pt x="475620" y="11394"/>
                  <a:pt x="486895" y="21484"/>
                  <a:pt x="499188" y="27992"/>
                </a:cubicBezTo>
                <a:cubicBezTo>
                  <a:pt x="537146" y="48087"/>
                  <a:pt x="530981" y="44522"/>
                  <a:pt x="555171" y="60649"/>
                </a:cubicBezTo>
                <a:cubicBezTo>
                  <a:pt x="556726" y="65314"/>
                  <a:pt x="557840" y="70151"/>
                  <a:pt x="559837" y="74645"/>
                </a:cubicBezTo>
                <a:cubicBezTo>
                  <a:pt x="581430" y="123231"/>
                  <a:pt x="567987" y="85106"/>
                  <a:pt x="578498" y="116633"/>
                </a:cubicBezTo>
                <a:cubicBezTo>
                  <a:pt x="582074" y="141664"/>
                  <a:pt x="587160" y="185273"/>
                  <a:pt x="597159" y="205273"/>
                </a:cubicBezTo>
                <a:lnTo>
                  <a:pt x="601824" y="214604"/>
                </a:lnTo>
              </a:path>
            </a:pathLst>
          </a:custGeom>
          <a:noFill/>
          <a:ln w="12700" cap="flat" cmpd="sng" algn="ctr">
            <a:solidFill>
              <a:srgbClr val="C00000"/>
            </a:solidFill>
            <a:prstDash val="sysDash"/>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
        <p:nvSpPr>
          <p:cNvPr id="21" name="TextBox 20">
            <a:extLst>
              <a:ext uri="{FF2B5EF4-FFF2-40B4-BE49-F238E27FC236}">
                <a16:creationId xmlns:a16="http://schemas.microsoft.com/office/drawing/2014/main" id="{ADC03E51-953F-46FB-D5B6-4E13516D7938}"/>
              </a:ext>
            </a:extLst>
          </p:cNvPr>
          <p:cNvSpPr txBox="1"/>
          <p:nvPr/>
        </p:nvSpPr>
        <p:spPr>
          <a:xfrm>
            <a:off x="3480319" y="4046768"/>
            <a:ext cx="3954993" cy="369332"/>
          </a:xfrm>
          <a:prstGeom prst="rect">
            <a:avLst/>
          </a:prstGeom>
          <a:noFill/>
        </p:spPr>
        <p:txBody>
          <a:bodyPr wrap="none" rtlCol="0">
            <a:spAutoFit/>
          </a:bodyPr>
          <a:lstStyle/>
          <a:p>
            <a:r>
              <a:rPr lang="en-US" dirty="0"/>
              <a:t>A               B               C                   D</a:t>
            </a:r>
          </a:p>
        </p:txBody>
      </p:sp>
    </p:spTree>
    <p:extLst>
      <p:ext uri="{BB962C8B-B14F-4D97-AF65-F5344CB8AC3E}">
        <p14:creationId xmlns:p14="http://schemas.microsoft.com/office/powerpoint/2010/main" val="33560736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25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25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 calcmode="lin" valueType="num">
                                      <p:cBhvr additive="base">
                                        <p:cTn id="13" dur="25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4" dur="25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D6158-5475-4D73-9A25-25E9C4F726ED}"/>
              </a:ext>
            </a:extLst>
          </p:cNvPr>
          <p:cNvSpPr>
            <a:spLocks noGrp="1"/>
          </p:cNvSpPr>
          <p:nvPr>
            <p:ph type="title"/>
          </p:nvPr>
        </p:nvSpPr>
        <p:spPr/>
        <p:txBody>
          <a:bodyPr/>
          <a:lstStyle/>
          <a:p>
            <a:r>
              <a:rPr lang="en-US" dirty="0"/>
              <a:t>30-day Readmissions: Self-Join</a:t>
            </a:r>
          </a:p>
        </p:txBody>
      </p:sp>
      <p:sp>
        <p:nvSpPr>
          <p:cNvPr id="5" name="TextBox 4">
            <a:extLst>
              <a:ext uri="{FF2B5EF4-FFF2-40B4-BE49-F238E27FC236}">
                <a16:creationId xmlns:a16="http://schemas.microsoft.com/office/drawing/2014/main" id="{0A6CFCC1-CBA9-30F5-B9FA-22D78B6785C5}"/>
              </a:ext>
            </a:extLst>
          </p:cNvPr>
          <p:cNvSpPr txBox="1"/>
          <p:nvPr/>
        </p:nvSpPr>
        <p:spPr>
          <a:xfrm>
            <a:off x="263702" y="767005"/>
            <a:ext cx="11765050" cy="5940088"/>
          </a:xfrm>
          <a:prstGeom prst="rect">
            <a:avLst/>
          </a:prstGeom>
          <a:solidFill>
            <a:schemeClr val="bg1"/>
          </a:solidFill>
          <a:ln>
            <a:solidFill>
              <a:schemeClr val="bg2"/>
            </a:solidFill>
          </a:ln>
          <a:effectLst>
            <a:outerShdw blurRad="63500" dist="76200" dir="2700000" algn="tl" rotWithShape="0">
              <a:prstClr val="black">
                <a:alpha val="40000"/>
              </a:prstClr>
            </a:outerShdw>
          </a:effectLst>
        </p:spPr>
        <p:txBody>
          <a:bodyPr wrap="square">
            <a:spAutoFit/>
          </a:bodyPr>
          <a:lstStyle/>
          <a:p>
            <a:pPr marL="0" marR="0">
              <a:buNone/>
            </a:pPr>
            <a:r>
              <a:rPr lang="en-US" sz="2000" dirty="0">
                <a:solidFill>
                  <a:srgbClr val="808080"/>
                </a:solidFill>
                <a:effectLst/>
                <a:latin typeface="Consolas" panose="020B0609020204030204" pitchFamily="49" charset="0"/>
              </a:rPr>
              <a:t>-- Find visit pairs - temporally ordered</a:t>
            </a:r>
            <a:endParaRPr lang="en-US" sz="2000" dirty="0">
              <a:solidFill>
                <a:srgbClr val="000000"/>
              </a:solidFill>
              <a:effectLst/>
              <a:latin typeface="Consolas" panose="020B0609020204030204" pitchFamily="49" charset="0"/>
            </a:endParaRPr>
          </a:p>
          <a:p>
            <a:pPr marL="0" marR="0">
              <a:buNone/>
            </a:pPr>
            <a:r>
              <a:rPr lang="en-US" sz="2000" b="1" dirty="0">
                <a:solidFill>
                  <a:srgbClr val="800000"/>
                </a:solidFill>
                <a:effectLst/>
                <a:latin typeface="Consolas" panose="020B0609020204030204" pitchFamily="49" charset="0"/>
              </a:rPr>
              <a:t>WITH</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visitpairs</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pid</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idxadmissiondate</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idxdischargedate</a:t>
            </a:r>
            <a:r>
              <a:rPr lang="en-US" sz="2000" dirty="0">
                <a:solidFill>
                  <a:srgbClr val="000000"/>
                </a:solidFill>
                <a:effectLst/>
                <a:latin typeface="Consolas" panose="020B0609020204030204" pitchFamily="49" charset="0"/>
              </a:rPr>
              <a:t>, </a:t>
            </a:r>
          </a:p>
          <a:p>
            <a:pPr marL="0" marR="0">
              <a:buNone/>
            </a:pP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readmissiondate</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redischargedate</a:t>
            </a:r>
            <a:r>
              <a:rPr lang="en-US" sz="2000" dirty="0">
                <a:solidFill>
                  <a:srgbClr val="000000"/>
                </a:solidFill>
                <a:effectLst/>
                <a:latin typeface="Consolas" panose="020B0609020204030204" pitchFamily="49" charset="0"/>
              </a:rPr>
              <a:t>, gap) </a:t>
            </a:r>
            <a:r>
              <a:rPr lang="en-US" sz="2000" b="1" dirty="0">
                <a:solidFill>
                  <a:srgbClr val="800000"/>
                </a:solidFill>
                <a:effectLst/>
                <a:latin typeface="Consolas" panose="020B0609020204030204" pitchFamily="49" charset="0"/>
              </a:rPr>
              <a:t>AS</a:t>
            </a:r>
            <a:r>
              <a:rPr lang="en-US" sz="2000" dirty="0">
                <a:solidFill>
                  <a:srgbClr val="000000"/>
                </a:solidFill>
                <a:effectLst/>
                <a:latin typeface="Consolas" panose="020B0609020204030204" pitchFamily="49" charset="0"/>
              </a:rPr>
              <a:t> (</a:t>
            </a:r>
          </a:p>
          <a:p>
            <a:pPr marL="0" marR="0">
              <a:buNone/>
            </a:pPr>
            <a:r>
              <a:rPr lang="en-US" sz="2000" b="1" dirty="0">
                <a:solidFill>
                  <a:srgbClr val="800000"/>
                </a:solidFill>
                <a:effectLst/>
                <a:latin typeface="Consolas" panose="020B0609020204030204" pitchFamily="49" charset="0"/>
              </a:rPr>
              <a:t>SELECT</a:t>
            </a:r>
            <a:r>
              <a:rPr lang="en-US" sz="2000" dirty="0">
                <a:solidFill>
                  <a:srgbClr val="000000"/>
                </a:solidFill>
                <a:effectLst/>
                <a:latin typeface="Consolas" panose="020B0609020204030204" pitchFamily="49" charset="0"/>
              </a:rPr>
              <a:t> </a:t>
            </a:r>
            <a:r>
              <a:rPr lang="en-US" sz="2000" i="1" dirty="0">
                <a:solidFill>
                  <a:srgbClr val="8E00C6"/>
                </a:solidFill>
                <a:effectLst/>
                <a:latin typeface="Consolas" panose="020B0609020204030204" pitchFamily="49" charset="0"/>
              </a:rPr>
              <a:t>in1</a:t>
            </a:r>
            <a:r>
              <a:rPr lang="en-US" sz="2000" dirty="0">
                <a:solidFill>
                  <a:srgbClr val="000000"/>
                </a:solidFill>
                <a:effectLst/>
                <a:latin typeface="Consolas" panose="020B0609020204030204" pitchFamily="49" charset="0"/>
              </a:rPr>
              <a:t>.pid, </a:t>
            </a:r>
            <a:r>
              <a:rPr lang="en-US" sz="2000" i="1" dirty="0">
                <a:solidFill>
                  <a:srgbClr val="8E00C6"/>
                </a:solidFill>
                <a:effectLst/>
                <a:latin typeface="Consolas" panose="020B0609020204030204" pitchFamily="49" charset="0"/>
              </a:rPr>
              <a:t>in1</a:t>
            </a:r>
            <a:r>
              <a:rPr lang="en-US" sz="2000" dirty="0">
                <a:solidFill>
                  <a:srgbClr val="000000"/>
                </a:solidFill>
                <a:effectLst/>
                <a:latin typeface="Consolas" panose="020B0609020204030204" pitchFamily="49" charset="0"/>
              </a:rPr>
              <a:t>.admissiondate </a:t>
            </a:r>
            <a:r>
              <a:rPr lang="en-US" sz="2000" b="1" dirty="0">
                <a:solidFill>
                  <a:srgbClr val="800000"/>
                </a:solidFill>
                <a:effectLst/>
                <a:latin typeface="Consolas" panose="020B0609020204030204" pitchFamily="49" charset="0"/>
              </a:rPr>
              <a:t>AS</a:t>
            </a:r>
            <a:r>
              <a:rPr lang="en-US" sz="2000" dirty="0">
                <a:solidFill>
                  <a:srgbClr val="000000"/>
                </a:solidFill>
                <a:effectLst/>
                <a:latin typeface="Consolas" panose="020B0609020204030204" pitchFamily="49" charset="0"/>
              </a:rPr>
              <a:t> </a:t>
            </a:r>
            <a:r>
              <a:rPr lang="en-US" sz="2000" i="1" dirty="0" err="1">
                <a:solidFill>
                  <a:srgbClr val="006464"/>
                </a:solidFill>
                <a:effectLst/>
                <a:latin typeface="Consolas" panose="020B0609020204030204" pitchFamily="49" charset="0"/>
              </a:rPr>
              <a:t>idxadmissiondate</a:t>
            </a:r>
            <a:r>
              <a:rPr lang="en-US" sz="2000" dirty="0">
                <a:solidFill>
                  <a:srgbClr val="000000"/>
                </a:solidFill>
                <a:effectLst/>
                <a:latin typeface="Consolas" panose="020B0609020204030204" pitchFamily="49" charset="0"/>
              </a:rPr>
              <a:t>, </a:t>
            </a:r>
            <a:r>
              <a:rPr lang="en-US" sz="2000" i="1" dirty="0">
                <a:solidFill>
                  <a:srgbClr val="8E00C6"/>
                </a:solidFill>
                <a:effectLst/>
                <a:latin typeface="Consolas" panose="020B0609020204030204" pitchFamily="49" charset="0"/>
              </a:rPr>
              <a:t>in1</a:t>
            </a:r>
            <a:r>
              <a:rPr lang="en-US" sz="2000" dirty="0">
                <a:solidFill>
                  <a:srgbClr val="000000"/>
                </a:solidFill>
                <a:effectLst/>
                <a:latin typeface="Consolas" panose="020B0609020204030204" pitchFamily="49" charset="0"/>
              </a:rPr>
              <a:t>.dischargedate, </a:t>
            </a:r>
          </a:p>
          <a:p>
            <a:pPr marL="0" marR="0">
              <a:buNone/>
            </a:pPr>
            <a:r>
              <a:rPr lang="en-US" sz="2000" i="1" dirty="0">
                <a:solidFill>
                  <a:srgbClr val="8E00C6"/>
                </a:solidFill>
                <a:effectLst/>
                <a:latin typeface="Consolas" panose="020B0609020204030204" pitchFamily="49" charset="0"/>
              </a:rPr>
              <a:t>in2</a:t>
            </a:r>
            <a:r>
              <a:rPr lang="en-US" sz="2000" dirty="0">
                <a:solidFill>
                  <a:srgbClr val="000000"/>
                </a:solidFill>
                <a:effectLst/>
                <a:latin typeface="Consolas" panose="020B0609020204030204" pitchFamily="49" charset="0"/>
              </a:rPr>
              <a:t>.admissiondate, </a:t>
            </a:r>
            <a:r>
              <a:rPr lang="en-US" sz="2000" i="1" dirty="0">
                <a:solidFill>
                  <a:srgbClr val="8E00C6"/>
                </a:solidFill>
                <a:effectLst/>
                <a:latin typeface="Consolas" panose="020B0609020204030204" pitchFamily="49" charset="0"/>
              </a:rPr>
              <a:t>in2</a:t>
            </a:r>
            <a:r>
              <a:rPr lang="en-US" sz="2000" dirty="0">
                <a:solidFill>
                  <a:srgbClr val="000000"/>
                </a:solidFill>
                <a:effectLst/>
                <a:latin typeface="Consolas" panose="020B0609020204030204" pitchFamily="49" charset="0"/>
              </a:rPr>
              <a:t>.dischargedate,</a:t>
            </a:r>
          </a:p>
          <a:p>
            <a:pPr marL="0" marR="0">
              <a:buNone/>
            </a:pPr>
            <a:r>
              <a:rPr lang="en-US" sz="2000" b="1" dirty="0">
                <a:solidFill>
                  <a:srgbClr val="000080"/>
                </a:solidFill>
                <a:effectLst/>
                <a:latin typeface="Consolas" panose="020B0609020204030204" pitchFamily="49" charset="0"/>
              </a:rPr>
              <a:t>DATEDIFF</a:t>
            </a:r>
            <a:r>
              <a:rPr lang="en-US" sz="2000" dirty="0">
                <a:solidFill>
                  <a:srgbClr val="000000"/>
                </a:solidFill>
                <a:effectLst/>
                <a:latin typeface="Consolas" panose="020B0609020204030204" pitchFamily="49" charset="0"/>
              </a:rPr>
              <a:t>(</a:t>
            </a:r>
            <a:r>
              <a:rPr lang="en-US" sz="2000" i="1" dirty="0">
                <a:solidFill>
                  <a:srgbClr val="8E00C6"/>
                </a:solidFill>
                <a:effectLst/>
                <a:latin typeface="Consolas" panose="020B0609020204030204" pitchFamily="49" charset="0"/>
              </a:rPr>
              <a:t>in2</a:t>
            </a:r>
            <a:r>
              <a:rPr lang="en-US" sz="2000" dirty="0">
                <a:solidFill>
                  <a:srgbClr val="000000"/>
                </a:solidFill>
                <a:effectLst/>
                <a:latin typeface="Consolas" panose="020B0609020204030204" pitchFamily="49" charset="0"/>
              </a:rPr>
              <a:t>.admissiondate, </a:t>
            </a:r>
            <a:r>
              <a:rPr lang="en-US" sz="2000" i="1" dirty="0">
                <a:solidFill>
                  <a:srgbClr val="8E00C6"/>
                </a:solidFill>
                <a:effectLst/>
                <a:latin typeface="Consolas" panose="020B0609020204030204" pitchFamily="49" charset="0"/>
              </a:rPr>
              <a:t>in1</a:t>
            </a:r>
            <a:r>
              <a:rPr lang="en-US" sz="2000" dirty="0">
                <a:solidFill>
                  <a:srgbClr val="000000"/>
                </a:solidFill>
                <a:effectLst/>
                <a:latin typeface="Consolas" panose="020B0609020204030204" pitchFamily="49" charset="0"/>
              </a:rPr>
              <a:t>.dischargedate) </a:t>
            </a:r>
            <a:r>
              <a:rPr lang="en-US" sz="2000" b="1" dirty="0">
                <a:solidFill>
                  <a:srgbClr val="800000"/>
                </a:solidFill>
                <a:effectLst/>
                <a:latin typeface="Consolas" panose="020B0609020204030204" pitchFamily="49" charset="0"/>
              </a:rPr>
              <a:t>AS</a:t>
            </a:r>
            <a:r>
              <a:rPr lang="en-US" sz="2000" dirty="0">
                <a:solidFill>
                  <a:srgbClr val="000000"/>
                </a:solidFill>
                <a:effectLst/>
                <a:latin typeface="Consolas" panose="020B0609020204030204" pitchFamily="49" charset="0"/>
              </a:rPr>
              <a:t> </a:t>
            </a:r>
            <a:r>
              <a:rPr lang="en-US" sz="2000" i="1" dirty="0">
                <a:solidFill>
                  <a:srgbClr val="006464"/>
                </a:solidFill>
                <a:effectLst/>
                <a:latin typeface="Consolas" panose="020B0609020204030204" pitchFamily="49" charset="0"/>
              </a:rPr>
              <a:t>gap</a:t>
            </a:r>
            <a:endParaRPr lang="en-US" sz="2000" dirty="0">
              <a:solidFill>
                <a:srgbClr val="000000"/>
              </a:solidFill>
              <a:effectLst/>
              <a:latin typeface="Consolas" panose="020B0609020204030204" pitchFamily="49" charset="0"/>
            </a:endParaRPr>
          </a:p>
          <a:p>
            <a:pPr marL="0" marR="0">
              <a:buNone/>
            </a:pPr>
            <a:r>
              <a:rPr lang="en-US" sz="2000" b="1" dirty="0">
                <a:solidFill>
                  <a:srgbClr val="800000"/>
                </a:solidFill>
                <a:effectLst/>
                <a:latin typeface="Consolas" panose="020B0609020204030204" pitchFamily="49" charset="0"/>
              </a:rPr>
              <a:t>FROM</a:t>
            </a:r>
            <a:r>
              <a:rPr lang="en-US" sz="2000" dirty="0">
                <a:solidFill>
                  <a:srgbClr val="000000"/>
                </a:solidFill>
                <a:effectLst/>
                <a:latin typeface="Consolas" panose="020B0609020204030204" pitchFamily="49" charset="0"/>
              </a:rPr>
              <a:t> </a:t>
            </a:r>
            <a:r>
              <a:rPr lang="en-US" sz="2000" u="sng" dirty="0">
                <a:solidFill>
                  <a:srgbClr val="6C5151"/>
                </a:solidFill>
                <a:effectLst/>
                <a:latin typeface="Consolas" panose="020B0609020204030204" pitchFamily="49" charset="0"/>
              </a:rPr>
              <a:t>inpatient</a:t>
            </a:r>
            <a:r>
              <a:rPr lang="en-US" sz="2000" dirty="0">
                <a:solidFill>
                  <a:srgbClr val="000000"/>
                </a:solidFill>
                <a:effectLst/>
                <a:latin typeface="Consolas" panose="020B0609020204030204" pitchFamily="49" charset="0"/>
              </a:rPr>
              <a:t> </a:t>
            </a:r>
            <a:r>
              <a:rPr lang="en-US" sz="2000" i="1" dirty="0">
                <a:solidFill>
                  <a:srgbClr val="8E00C6"/>
                </a:solidFill>
                <a:effectLst/>
                <a:latin typeface="Consolas" panose="020B0609020204030204" pitchFamily="49" charset="0"/>
              </a:rPr>
              <a:t>in1</a:t>
            </a:r>
            <a:r>
              <a:rPr lang="en-US" sz="2000" dirty="0">
                <a:solidFill>
                  <a:srgbClr val="000000"/>
                </a:solidFill>
                <a:effectLst/>
                <a:latin typeface="Consolas" panose="020B0609020204030204" pitchFamily="49" charset="0"/>
              </a:rPr>
              <a:t>, </a:t>
            </a:r>
            <a:r>
              <a:rPr lang="en-US" sz="2000" u="sng" dirty="0">
                <a:solidFill>
                  <a:srgbClr val="6C5151"/>
                </a:solidFill>
                <a:effectLst/>
                <a:latin typeface="Consolas" panose="020B0609020204030204" pitchFamily="49" charset="0"/>
              </a:rPr>
              <a:t>inpatient</a:t>
            </a:r>
            <a:r>
              <a:rPr lang="en-US" sz="2000" dirty="0">
                <a:solidFill>
                  <a:srgbClr val="000000"/>
                </a:solidFill>
                <a:effectLst/>
                <a:latin typeface="Consolas" panose="020B0609020204030204" pitchFamily="49" charset="0"/>
              </a:rPr>
              <a:t> </a:t>
            </a:r>
            <a:r>
              <a:rPr lang="en-US" sz="2000" i="1" dirty="0">
                <a:solidFill>
                  <a:srgbClr val="8E00C6"/>
                </a:solidFill>
                <a:effectLst/>
                <a:latin typeface="Consolas" panose="020B0609020204030204" pitchFamily="49" charset="0"/>
              </a:rPr>
              <a:t>in2</a:t>
            </a:r>
            <a:endParaRPr lang="en-US" sz="2000" dirty="0">
              <a:solidFill>
                <a:srgbClr val="000000"/>
              </a:solidFill>
              <a:effectLst/>
              <a:latin typeface="Consolas" panose="020B0609020204030204" pitchFamily="49" charset="0"/>
            </a:endParaRPr>
          </a:p>
          <a:p>
            <a:pPr marL="0" marR="0">
              <a:buNone/>
            </a:pPr>
            <a:r>
              <a:rPr lang="en-US" sz="2000" b="1" dirty="0">
                <a:solidFill>
                  <a:srgbClr val="800000"/>
                </a:solidFill>
                <a:effectLst/>
                <a:latin typeface="Consolas" panose="020B0609020204030204" pitchFamily="49" charset="0"/>
              </a:rPr>
              <a:t>WHERE</a:t>
            </a:r>
            <a:r>
              <a:rPr lang="en-US" sz="2000" dirty="0">
                <a:solidFill>
                  <a:srgbClr val="000000"/>
                </a:solidFill>
                <a:effectLst/>
                <a:latin typeface="Consolas" panose="020B0609020204030204" pitchFamily="49" charset="0"/>
              </a:rPr>
              <a:t> </a:t>
            </a:r>
            <a:r>
              <a:rPr lang="en-US" sz="2000" i="1" dirty="0">
                <a:solidFill>
                  <a:srgbClr val="8E00C6"/>
                </a:solidFill>
                <a:effectLst/>
                <a:latin typeface="Consolas" panose="020B0609020204030204" pitchFamily="49" charset="0"/>
              </a:rPr>
              <a:t>in1</a:t>
            </a:r>
            <a:r>
              <a:rPr lang="en-US" sz="2000" dirty="0">
                <a:solidFill>
                  <a:srgbClr val="000000"/>
                </a:solidFill>
                <a:effectLst/>
                <a:latin typeface="Consolas" panose="020B0609020204030204" pitchFamily="49" charset="0"/>
              </a:rPr>
              <a:t>.pid = </a:t>
            </a:r>
            <a:r>
              <a:rPr lang="en-US" sz="2000" i="1" dirty="0">
                <a:solidFill>
                  <a:srgbClr val="8E00C6"/>
                </a:solidFill>
                <a:effectLst/>
                <a:latin typeface="Consolas" panose="020B0609020204030204" pitchFamily="49" charset="0"/>
              </a:rPr>
              <a:t>in2</a:t>
            </a:r>
            <a:r>
              <a:rPr lang="en-US" sz="2000" dirty="0">
                <a:solidFill>
                  <a:srgbClr val="000000"/>
                </a:solidFill>
                <a:effectLst/>
                <a:latin typeface="Consolas" panose="020B0609020204030204" pitchFamily="49" charset="0"/>
              </a:rPr>
              <a:t>.pid </a:t>
            </a:r>
            <a:r>
              <a:rPr lang="en-US" sz="2000" b="1" dirty="0">
                <a:solidFill>
                  <a:srgbClr val="800000"/>
                </a:solidFill>
                <a:effectLst/>
                <a:latin typeface="Consolas" panose="020B0609020204030204" pitchFamily="49" charset="0"/>
              </a:rPr>
              <a:t>AND</a:t>
            </a:r>
            <a:endParaRPr lang="en-US" sz="2000" dirty="0">
              <a:solidFill>
                <a:srgbClr val="000000"/>
              </a:solidFill>
              <a:effectLst/>
              <a:latin typeface="Consolas" panose="020B0609020204030204" pitchFamily="49" charset="0"/>
            </a:endParaRPr>
          </a:p>
          <a:p>
            <a:pPr marL="0" marR="0">
              <a:buNone/>
            </a:pPr>
            <a:r>
              <a:rPr lang="en-US" sz="2000" i="1" dirty="0">
                <a:solidFill>
                  <a:srgbClr val="8E00C6"/>
                </a:solidFill>
                <a:effectLst/>
                <a:latin typeface="Consolas" panose="020B0609020204030204" pitchFamily="49" charset="0"/>
              </a:rPr>
              <a:t>in1</a:t>
            </a:r>
            <a:r>
              <a:rPr lang="en-US" sz="2000" dirty="0">
                <a:solidFill>
                  <a:srgbClr val="000000"/>
                </a:solidFill>
                <a:effectLst/>
                <a:latin typeface="Consolas" panose="020B0609020204030204" pitchFamily="49" charset="0"/>
              </a:rPr>
              <a:t>.dischargedate &lt; </a:t>
            </a:r>
            <a:r>
              <a:rPr lang="en-US" sz="2000" i="1" dirty="0">
                <a:solidFill>
                  <a:srgbClr val="8E00C6"/>
                </a:solidFill>
                <a:effectLst/>
                <a:latin typeface="Consolas" panose="020B0609020204030204" pitchFamily="49" charset="0"/>
              </a:rPr>
              <a:t>in2</a:t>
            </a:r>
            <a:r>
              <a:rPr lang="en-US" sz="2000" dirty="0">
                <a:solidFill>
                  <a:srgbClr val="000000"/>
                </a:solidFill>
                <a:effectLst/>
                <a:latin typeface="Consolas" panose="020B0609020204030204" pitchFamily="49" charset="0"/>
              </a:rPr>
              <a:t>.admissiondate</a:t>
            </a:r>
          </a:p>
          <a:p>
            <a:pPr marL="0" marR="0">
              <a:buNone/>
            </a:pPr>
            <a:r>
              <a:rPr lang="en-US" sz="2000" dirty="0">
                <a:solidFill>
                  <a:srgbClr val="000000"/>
                </a:solidFill>
                <a:effectLst/>
                <a:latin typeface="Consolas" panose="020B0609020204030204" pitchFamily="49" charset="0"/>
              </a:rPr>
              <a:t>),</a:t>
            </a:r>
          </a:p>
          <a:p>
            <a:pPr marL="0" marR="0">
              <a:buNone/>
            </a:pPr>
            <a:r>
              <a:rPr lang="en-US" sz="2000" dirty="0">
                <a:solidFill>
                  <a:srgbClr val="808080"/>
                </a:solidFill>
                <a:effectLst/>
                <a:latin typeface="Consolas" panose="020B0609020204030204" pitchFamily="49" charset="0"/>
              </a:rPr>
              <a:t>-- Join index admission and visit pairs to find the readmission with min gap</a:t>
            </a:r>
            <a:endParaRPr lang="en-US" sz="2000" dirty="0">
              <a:solidFill>
                <a:srgbClr val="000000"/>
              </a:solidFill>
              <a:effectLst/>
              <a:latin typeface="Consolas" panose="020B0609020204030204" pitchFamily="49" charset="0"/>
            </a:endParaRPr>
          </a:p>
          <a:p>
            <a:pPr marL="0" marR="0">
              <a:buNone/>
            </a:pPr>
            <a:r>
              <a:rPr lang="en-US" sz="2000" dirty="0" err="1">
                <a:solidFill>
                  <a:srgbClr val="000000"/>
                </a:solidFill>
                <a:effectLst/>
                <a:latin typeface="Consolas" panose="020B0609020204030204" pitchFamily="49" charset="0"/>
              </a:rPr>
              <a:t>idxvisit</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pid</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idxadmissiondate</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idxdischargedate</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mingap</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AS</a:t>
            </a:r>
            <a:r>
              <a:rPr lang="en-US" sz="2000" dirty="0">
                <a:solidFill>
                  <a:srgbClr val="000000"/>
                </a:solidFill>
                <a:effectLst/>
                <a:latin typeface="Consolas" panose="020B0609020204030204" pitchFamily="49" charset="0"/>
              </a:rPr>
              <a:t> (</a:t>
            </a:r>
          </a:p>
          <a:p>
            <a:pPr marL="0" marR="0">
              <a:buNone/>
            </a:pPr>
            <a:r>
              <a:rPr lang="en-US" sz="2000" b="1" dirty="0">
                <a:solidFill>
                  <a:srgbClr val="800000"/>
                </a:solidFill>
                <a:effectLst/>
                <a:latin typeface="Consolas" panose="020B0609020204030204" pitchFamily="49" charset="0"/>
              </a:rPr>
              <a:t>SELECT</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pid</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idxadmissiondate</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idxdischargedate</a:t>
            </a:r>
            <a:r>
              <a:rPr lang="en-US" sz="2000" dirty="0">
                <a:solidFill>
                  <a:srgbClr val="000000"/>
                </a:solidFill>
                <a:effectLst/>
                <a:latin typeface="Consolas" panose="020B0609020204030204" pitchFamily="49" charset="0"/>
              </a:rPr>
              <a:t>, </a:t>
            </a:r>
            <a:r>
              <a:rPr lang="en-US" sz="2000" b="1" dirty="0">
                <a:solidFill>
                  <a:srgbClr val="000080"/>
                </a:solidFill>
                <a:effectLst/>
                <a:latin typeface="Consolas" panose="020B0609020204030204" pitchFamily="49" charset="0"/>
              </a:rPr>
              <a:t>MIN</a:t>
            </a:r>
            <a:r>
              <a:rPr lang="en-US" sz="2000" dirty="0">
                <a:solidFill>
                  <a:srgbClr val="000000"/>
                </a:solidFill>
                <a:effectLst/>
                <a:latin typeface="Consolas" panose="020B0609020204030204" pitchFamily="49" charset="0"/>
              </a:rPr>
              <a:t>(gap) </a:t>
            </a:r>
            <a:r>
              <a:rPr lang="en-US" sz="2000" b="1" dirty="0">
                <a:solidFill>
                  <a:srgbClr val="800000"/>
                </a:solidFill>
                <a:effectLst/>
                <a:latin typeface="Consolas" panose="020B0609020204030204" pitchFamily="49" charset="0"/>
              </a:rPr>
              <a:t>AS</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mingap</a:t>
            </a:r>
            <a:endParaRPr lang="en-US" sz="2000" dirty="0">
              <a:solidFill>
                <a:srgbClr val="000000"/>
              </a:solidFill>
              <a:effectLst/>
              <a:latin typeface="Consolas" panose="020B0609020204030204" pitchFamily="49" charset="0"/>
            </a:endParaRPr>
          </a:p>
          <a:p>
            <a:pPr marL="0" marR="0">
              <a:buNone/>
            </a:pPr>
            <a:r>
              <a:rPr lang="en-US" sz="2000" b="1" dirty="0">
                <a:solidFill>
                  <a:srgbClr val="800000"/>
                </a:solidFill>
                <a:effectLst/>
                <a:latin typeface="Consolas" panose="020B0609020204030204" pitchFamily="49" charset="0"/>
              </a:rPr>
              <a:t>FROM</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visitpairs</a:t>
            </a:r>
            <a:endParaRPr lang="en-US" sz="2000" dirty="0">
              <a:solidFill>
                <a:srgbClr val="000000"/>
              </a:solidFill>
              <a:effectLst/>
              <a:latin typeface="Consolas" panose="020B0609020204030204" pitchFamily="49" charset="0"/>
            </a:endParaRPr>
          </a:p>
          <a:p>
            <a:pPr marL="0" marR="0">
              <a:buNone/>
            </a:pPr>
            <a:r>
              <a:rPr lang="en-US" sz="2000" b="1" dirty="0">
                <a:solidFill>
                  <a:srgbClr val="800000"/>
                </a:solidFill>
                <a:effectLst/>
                <a:latin typeface="Consolas" panose="020B0609020204030204" pitchFamily="49" charset="0"/>
              </a:rPr>
              <a:t>GROUP</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BY</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pid</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idxadmissiondate</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idxdischargedate</a:t>
            </a:r>
            <a:endParaRPr lang="en-US" sz="2000" dirty="0">
              <a:solidFill>
                <a:srgbClr val="000000"/>
              </a:solidFill>
              <a:effectLst/>
              <a:latin typeface="Consolas" panose="020B0609020204030204" pitchFamily="49" charset="0"/>
            </a:endParaRPr>
          </a:p>
          <a:p>
            <a:pPr marL="0" marR="0">
              <a:buNone/>
            </a:pPr>
            <a:r>
              <a:rPr lang="en-US" sz="2000" dirty="0">
                <a:solidFill>
                  <a:srgbClr val="000000"/>
                </a:solidFill>
                <a:effectLst/>
                <a:latin typeface="Consolas" panose="020B0609020204030204" pitchFamily="49" charset="0"/>
              </a:rPr>
              <a:t>)</a:t>
            </a:r>
          </a:p>
          <a:p>
            <a:pPr marL="0" marR="0">
              <a:buNone/>
            </a:pPr>
            <a:r>
              <a:rPr lang="en-US" sz="2000" dirty="0">
                <a:solidFill>
                  <a:srgbClr val="808080"/>
                </a:solidFill>
                <a:effectLst/>
                <a:latin typeface="Consolas" panose="020B0609020204030204" pitchFamily="49" charset="0"/>
              </a:rPr>
              <a:t>-- Return all those with min gap less than 30</a:t>
            </a:r>
            <a:endParaRPr lang="en-US" sz="2000" dirty="0">
              <a:solidFill>
                <a:srgbClr val="000000"/>
              </a:solidFill>
              <a:effectLst/>
              <a:latin typeface="Consolas" panose="020B0609020204030204" pitchFamily="49" charset="0"/>
            </a:endParaRPr>
          </a:p>
          <a:p>
            <a:pPr marL="0" marR="0">
              <a:buNone/>
            </a:pPr>
            <a:r>
              <a:rPr lang="en-US" sz="2000" b="1" dirty="0">
                <a:solidFill>
                  <a:srgbClr val="800000"/>
                </a:solidFill>
                <a:effectLst/>
                <a:latin typeface="Consolas" panose="020B0609020204030204" pitchFamily="49" charset="0"/>
              </a:rPr>
              <a:t>SELECT</a:t>
            </a:r>
            <a:r>
              <a:rPr lang="en-US" sz="2000" dirty="0">
                <a:solidFill>
                  <a:srgbClr val="000000"/>
                </a:solidFill>
                <a:effectLst/>
                <a:latin typeface="Consolas" panose="020B0609020204030204" pitchFamily="49" charset="0"/>
              </a:rPr>
              <a:t> * </a:t>
            </a:r>
            <a:r>
              <a:rPr lang="en-US" sz="2000" b="1" dirty="0">
                <a:solidFill>
                  <a:srgbClr val="800000"/>
                </a:solidFill>
                <a:effectLst/>
                <a:latin typeface="Consolas" panose="020B0609020204030204" pitchFamily="49" charset="0"/>
              </a:rPr>
              <a:t>FROM</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idxvisit</a:t>
            </a:r>
            <a:endParaRPr lang="en-US" sz="2000" dirty="0">
              <a:solidFill>
                <a:srgbClr val="000000"/>
              </a:solidFill>
              <a:effectLst/>
              <a:latin typeface="Consolas" panose="020B0609020204030204" pitchFamily="49" charset="0"/>
            </a:endParaRPr>
          </a:p>
          <a:p>
            <a:pPr marL="0" marR="0"/>
            <a:r>
              <a:rPr lang="en-US" sz="2000" b="1" dirty="0">
                <a:solidFill>
                  <a:srgbClr val="800000"/>
                </a:solidFill>
                <a:effectLst/>
                <a:latin typeface="Consolas" panose="020B0609020204030204" pitchFamily="49" charset="0"/>
              </a:rPr>
              <a:t>WHERE</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mingap</a:t>
            </a:r>
            <a:r>
              <a:rPr lang="en-US" sz="2000" dirty="0">
                <a:solidFill>
                  <a:srgbClr val="000000"/>
                </a:solidFill>
                <a:effectLst/>
                <a:latin typeface="Consolas" panose="020B0609020204030204" pitchFamily="49" charset="0"/>
              </a:rPr>
              <a:t> &lt; </a:t>
            </a:r>
            <a:r>
              <a:rPr lang="en-US" sz="2000" dirty="0">
                <a:solidFill>
                  <a:srgbClr val="0000FF"/>
                </a:solidFill>
                <a:effectLst/>
                <a:latin typeface="Consolas" panose="020B0609020204030204" pitchFamily="49" charset="0"/>
              </a:rPr>
              <a:t>30</a:t>
            </a:r>
            <a:r>
              <a:rPr lang="en-US" sz="2000" dirty="0">
                <a:solidFill>
                  <a:srgbClr val="FF0000"/>
                </a:solidFill>
                <a:effectLst/>
                <a:latin typeface="Consolas" panose="020B0609020204030204" pitchFamily="49" charset="0"/>
              </a:rPr>
              <a:t>;</a:t>
            </a:r>
            <a:endParaRPr lang="en-US" sz="200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179085639"/>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6F817-1652-F9D0-8769-BA48B6FFBD3C}"/>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85622CBF-5527-A866-C9D2-7598F212E3F9}"/>
              </a:ext>
            </a:extLst>
          </p:cNvPr>
          <p:cNvSpPr>
            <a:spLocks noGrp="1"/>
          </p:cNvSpPr>
          <p:nvPr>
            <p:ph idx="1"/>
          </p:nvPr>
        </p:nvSpPr>
        <p:spPr/>
        <p:txBody>
          <a:bodyPr/>
          <a:lstStyle/>
          <a:p>
            <a:pPr marL="0" indent="0">
              <a:buNone/>
            </a:pPr>
            <a:r>
              <a:rPr lang="en-US" sz="2000" dirty="0"/>
              <a:t>Visit pairs</a:t>
            </a:r>
          </a:p>
        </p:txBody>
      </p:sp>
      <p:pic>
        <p:nvPicPr>
          <p:cNvPr id="5" name="Picture 4">
            <a:extLst>
              <a:ext uri="{FF2B5EF4-FFF2-40B4-BE49-F238E27FC236}">
                <a16:creationId xmlns:a16="http://schemas.microsoft.com/office/drawing/2014/main" id="{3957F0E4-E2C7-E168-BBBE-8E7978CE5B27}"/>
              </a:ext>
            </a:extLst>
          </p:cNvPr>
          <p:cNvPicPr>
            <a:picLocks noChangeAspect="1"/>
          </p:cNvPicPr>
          <p:nvPr/>
        </p:nvPicPr>
        <p:blipFill>
          <a:blip r:embed="rId2"/>
          <a:stretch>
            <a:fillRect/>
          </a:stretch>
        </p:blipFill>
        <p:spPr>
          <a:xfrm>
            <a:off x="180546" y="1253182"/>
            <a:ext cx="6096000" cy="2100558"/>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6DF075BB-909A-8DBA-895A-631CC29853B2}"/>
              </a:ext>
            </a:extLst>
          </p:cNvPr>
          <p:cNvPicPr>
            <a:picLocks noChangeAspect="1"/>
          </p:cNvPicPr>
          <p:nvPr/>
        </p:nvPicPr>
        <p:blipFill>
          <a:blip r:embed="rId3"/>
          <a:stretch>
            <a:fillRect/>
          </a:stretch>
        </p:blipFill>
        <p:spPr>
          <a:xfrm>
            <a:off x="218557" y="3560570"/>
            <a:ext cx="6142046" cy="1430722"/>
          </a:xfrm>
          <a:prstGeom prst="rect">
            <a:avLst/>
          </a:prstGeom>
          <a:ln>
            <a:noFill/>
          </a:ln>
          <a:effectLst>
            <a:outerShdw blurRad="292100" dist="139700" dir="2700000" algn="tl" rotWithShape="0">
              <a:srgbClr val="333333">
                <a:alpha val="65000"/>
              </a:srgbClr>
            </a:outerShdw>
          </a:effectLst>
        </p:spPr>
      </p:pic>
      <p:sp>
        <p:nvSpPr>
          <p:cNvPr id="8" name="Content Placeholder 2">
            <a:extLst>
              <a:ext uri="{FF2B5EF4-FFF2-40B4-BE49-F238E27FC236}">
                <a16:creationId xmlns:a16="http://schemas.microsoft.com/office/drawing/2014/main" id="{549D7C05-8E4B-0AFF-15C4-A8645ACE8336}"/>
              </a:ext>
            </a:extLst>
          </p:cNvPr>
          <p:cNvSpPr txBox="1">
            <a:spLocks/>
          </p:cNvSpPr>
          <p:nvPr/>
        </p:nvSpPr>
        <p:spPr bwMode="auto">
          <a:xfrm>
            <a:off x="5549771" y="5638060"/>
            <a:ext cx="4888217" cy="464270"/>
          </a:xfrm>
          <a:prstGeom prst="rect">
            <a:avLst/>
          </a:prstGeom>
          <a:noFill/>
          <a:ln w="9525">
            <a:noFill/>
            <a:miter lim="800000"/>
            <a:headEnd/>
            <a:tailEnd/>
          </a:ln>
        </p:spPr>
        <p:txBody>
          <a:bodyPr vert="horz" wrap="square" lIns="0" tIns="0" rIns="91440" bIns="45720" numCol="1" anchor="t" anchorCtr="0" compatLnSpc="1">
            <a:prstTxWarp prst="textNoShape">
              <a:avLst/>
            </a:prstTxWarp>
          </a:bodyPr>
          <a:lstStyle>
            <a:lvl1pPr marL="342900" indent="-342900" algn="l" rtl="0" eaLnBrk="1" fontAlgn="base" hangingPunct="1">
              <a:spcBef>
                <a:spcPct val="20000"/>
              </a:spcBef>
              <a:spcAft>
                <a:spcPts val="300"/>
              </a:spcAft>
              <a:buChar char="•"/>
              <a:defRPr sz="2400">
                <a:solidFill>
                  <a:schemeClr val="tx1"/>
                </a:solidFill>
                <a:latin typeface="Verdana" pitchFamily="34" charset="0"/>
                <a:ea typeface="+mn-ea"/>
                <a:cs typeface="+mn-cs"/>
              </a:defRPr>
            </a:lvl1pPr>
            <a:lvl2pPr marL="742950" indent="-285750" algn="l" rtl="0" eaLnBrk="1" fontAlgn="base" hangingPunct="1">
              <a:spcBef>
                <a:spcPct val="20000"/>
              </a:spcBef>
              <a:spcAft>
                <a:spcPts val="300"/>
              </a:spcAft>
              <a:buChar char="–"/>
              <a:defRPr sz="2200">
                <a:solidFill>
                  <a:schemeClr val="tx1"/>
                </a:solidFill>
                <a:latin typeface="Verdana" pitchFamily="34" charset="0"/>
              </a:defRPr>
            </a:lvl2pPr>
            <a:lvl3pPr marL="1143000" indent="-228600" algn="l" rtl="0" eaLnBrk="1" fontAlgn="base" hangingPunct="1">
              <a:spcBef>
                <a:spcPct val="20000"/>
              </a:spcBef>
              <a:spcAft>
                <a:spcPts val="300"/>
              </a:spcAft>
              <a:buChar char="•"/>
              <a:defRPr>
                <a:solidFill>
                  <a:schemeClr val="tx1"/>
                </a:solidFill>
                <a:latin typeface="Verdana" pitchFamily="34" charset="0"/>
              </a:defRPr>
            </a:lvl3pPr>
            <a:lvl4pPr marL="1600200" indent="-228600" algn="l" rtl="0" eaLnBrk="1" fontAlgn="base" hangingPunct="1">
              <a:spcBef>
                <a:spcPct val="20000"/>
              </a:spcBef>
              <a:spcAft>
                <a:spcPts val="300"/>
              </a:spcAft>
              <a:buChar char="–"/>
              <a:defRPr sz="1600">
                <a:solidFill>
                  <a:schemeClr val="tx1"/>
                </a:solidFill>
                <a:latin typeface="Verdana" pitchFamily="34" charset="0"/>
              </a:defRPr>
            </a:lvl4pPr>
            <a:lvl5pPr marL="2057400" indent="-228600" algn="l" rtl="0" eaLnBrk="1" fontAlgn="base" hangingPunct="1">
              <a:spcBef>
                <a:spcPct val="20000"/>
              </a:spcBef>
              <a:spcAft>
                <a:spcPts val="300"/>
              </a:spcAft>
              <a:buChar char="»"/>
              <a:defRPr sz="1500">
                <a:solidFill>
                  <a:srgbClr val="003399"/>
                </a:solidFill>
                <a:latin typeface="Verdana" pitchFamily="34" charset="0"/>
              </a:defRPr>
            </a:lvl5pPr>
            <a:lvl6pPr marL="2514600" indent="-228600" algn="l" rtl="0" eaLnBrk="1" fontAlgn="base" hangingPunct="1">
              <a:spcBef>
                <a:spcPct val="20000"/>
              </a:spcBef>
              <a:spcAft>
                <a:spcPct val="0"/>
              </a:spcAft>
              <a:buChar char="»"/>
              <a:defRPr sz="1500">
                <a:solidFill>
                  <a:srgbClr val="003399"/>
                </a:solidFill>
                <a:latin typeface="Siemens Sans" pitchFamily="2" charset="0"/>
              </a:defRPr>
            </a:lvl6pPr>
            <a:lvl7pPr marL="2971800" indent="-228600" algn="l" rtl="0" eaLnBrk="1" fontAlgn="base" hangingPunct="1">
              <a:spcBef>
                <a:spcPct val="20000"/>
              </a:spcBef>
              <a:spcAft>
                <a:spcPct val="0"/>
              </a:spcAft>
              <a:buChar char="»"/>
              <a:defRPr sz="1500">
                <a:solidFill>
                  <a:srgbClr val="003399"/>
                </a:solidFill>
                <a:latin typeface="Siemens Sans" pitchFamily="2" charset="0"/>
              </a:defRPr>
            </a:lvl7pPr>
            <a:lvl8pPr marL="3429000" indent="-228600" algn="l" rtl="0" eaLnBrk="1" fontAlgn="base" hangingPunct="1">
              <a:spcBef>
                <a:spcPct val="20000"/>
              </a:spcBef>
              <a:spcAft>
                <a:spcPct val="0"/>
              </a:spcAft>
              <a:buChar char="»"/>
              <a:defRPr sz="1500">
                <a:solidFill>
                  <a:srgbClr val="003399"/>
                </a:solidFill>
                <a:latin typeface="Siemens Sans" pitchFamily="2" charset="0"/>
              </a:defRPr>
            </a:lvl8pPr>
            <a:lvl9pPr marL="3886200" indent="-228600" algn="l" rtl="0" eaLnBrk="1" fontAlgn="base" hangingPunct="1">
              <a:spcBef>
                <a:spcPct val="20000"/>
              </a:spcBef>
              <a:spcAft>
                <a:spcPct val="0"/>
              </a:spcAft>
              <a:buChar char="»"/>
              <a:defRPr sz="1500">
                <a:solidFill>
                  <a:srgbClr val="003399"/>
                </a:solidFill>
                <a:latin typeface="Siemens Sans" pitchFamily="2" charset="0"/>
              </a:defRPr>
            </a:lvl9pPr>
          </a:lstStyle>
          <a:p>
            <a:pPr marL="0" indent="0">
              <a:buFontTx/>
              <a:buNone/>
            </a:pPr>
            <a:r>
              <a:rPr lang="en-US" sz="2000" kern="0" dirty="0"/>
              <a:t>30-day readmission visits</a:t>
            </a:r>
          </a:p>
        </p:txBody>
      </p:sp>
      <p:pic>
        <p:nvPicPr>
          <p:cNvPr id="10" name="Picture 9">
            <a:extLst>
              <a:ext uri="{FF2B5EF4-FFF2-40B4-BE49-F238E27FC236}">
                <a16:creationId xmlns:a16="http://schemas.microsoft.com/office/drawing/2014/main" id="{94909553-C926-C874-11E8-7D9AADD38273}"/>
              </a:ext>
            </a:extLst>
          </p:cNvPr>
          <p:cNvPicPr>
            <a:picLocks noChangeAspect="1"/>
          </p:cNvPicPr>
          <p:nvPr/>
        </p:nvPicPr>
        <p:blipFill>
          <a:blip r:embed="rId4"/>
          <a:stretch>
            <a:fillRect/>
          </a:stretch>
        </p:blipFill>
        <p:spPr>
          <a:xfrm>
            <a:off x="218557" y="5233361"/>
            <a:ext cx="4962455" cy="1187168"/>
          </a:xfrm>
          <a:prstGeom prst="rect">
            <a:avLst/>
          </a:prstGeom>
          <a:ln>
            <a:noFill/>
          </a:ln>
          <a:effectLst>
            <a:outerShdw blurRad="292100" dist="139700" dir="2700000" algn="tl" rotWithShape="0">
              <a:srgbClr val="333333">
                <a:alpha val="65000"/>
              </a:srgbClr>
            </a:outerShdw>
          </a:effectLst>
        </p:spPr>
      </p:pic>
      <p:sp>
        <p:nvSpPr>
          <p:cNvPr id="11" name="Content Placeholder 2">
            <a:extLst>
              <a:ext uri="{FF2B5EF4-FFF2-40B4-BE49-F238E27FC236}">
                <a16:creationId xmlns:a16="http://schemas.microsoft.com/office/drawing/2014/main" id="{BA0DF826-06A9-E064-72E6-55B01AF876D7}"/>
              </a:ext>
            </a:extLst>
          </p:cNvPr>
          <p:cNvSpPr txBox="1">
            <a:spLocks/>
          </p:cNvSpPr>
          <p:nvPr/>
        </p:nvSpPr>
        <p:spPr bwMode="auto">
          <a:xfrm>
            <a:off x="6488746" y="3715242"/>
            <a:ext cx="4763058" cy="464270"/>
          </a:xfrm>
          <a:prstGeom prst="rect">
            <a:avLst/>
          </a:prstGeom>
          <a:noFill/>
          <a:ln w="9525">
            <a:noFill/>
            <a:miter lim="800000"/>
            <a:headEnd/>
            <a:tailEnd/>
          </a:ln>
        </p:spPr>
        <p:txBody>
          <a:bodyPr vert="horz" wrap="square" lIns="0" tIns="0" rIns="91440" bIns="45720" numCol="1" anchor="t" anchorCtr="0" compatLnSpc="1">
            <a:prstTxWarp prst="textNoShape">
              <a:avLst/>
            </a:prstTxWarp>
          </a:bodyPr>
          <a:lstStyle>
            <a:lvl1pPr marL="342900" indent="-342900" algn="l" rtl="0" eaLnBrk="1" fontAlgn="base" hangingPunct="1">
              <a:spcBef>
                <a:spcPct val="20000"/>
              </a:spcBef>
              <a:spcAft>
                <a:spcPts val="300"/>
              </a:spcAft>
              <a:buChar char="•"/>
              <a:defRPr sz="2400">
                <a:solidFill>
                  <a:schemeClr val="tx1"/>
                </a:solidFill>
                <a:latin typeface="Verdana" pitchFamily="34" charset="0"/>
                <a:ea typeface="+mn-ea"/>
                <a:cs typeface="+mn-cs"/>
              </a:defRPr>
            </a:lvl1pPr>
            <a:lvl2pPr marL="742950" indent="-285750" algn="l" rtl="0" eaLnBrk="1" fontAlgn="base" hangingPunct="1">
              <a:spcBef>
                <a:spcPct val="20000"/>
              </a:spcBef>
              <a:spcAft>
                <a:spcPts val="300"/>
              </a:spcAft>
              <a:buChar char="–"/>
              <a:defRPr sz="2200">
                <a:solidFill>
                  <a:schemeClr val="tx1"/>
                </a:solidFill>
                <a:latin typeface="Verdana" pitchFamily="34" charset="0"/>
              </a:defRPr>
            </a:lvl2pPr>
            <a:lvl3pPr marL="1143000" indent="-228600" algn="l" rtl="0" eaLnBrk="1" fontAlgn="base" hangingPunct="1">
              <a:spcBef>
                <a:spcPct val="20000"/>
              </a:spcBef>
              <a:spcAft>
                <a:spcPts val="300"/>
              </a:spcAft>
              <a:buChar char="•"/>
              <a:defRPr>
                <a:solidFill>
                  <a:schemeClr val="tx1"/>
                </a:solidFill>
                <a:latin typeface="Verdana" pitchFamily="34" charset="0"/>
              </a:defRPr>
            </a:lvl3pPr>
            <a:lvl4pPr marL="1600200" indent="-228600" algn="l" rtl="0" eaLnBrk="1" fontAlgn="base" hangingPunct="1">
              <a:spcBef>
                <a:spcPct val="20000"/>
              </a:spcBef>
              <a:spcAft>
                <a:spcPts val="300"/>
              </a:spcAft>
              <a:buChar char="–"/>
              <a:defRPr sz="1600">
                <a:solidFill>
                  <a:schemeClr val="tx1"/>
                </a:solidFill>
                <a:latin typeface="Verdana" pitchFamily="34" charset="0"/>
              </a:defRPr>
            </a:lvl4pPr>
            <a:lvl5pPr marL="2057400" indent="-228600" algn="l" rtl="0" eaLnBrk="1" fontAlgn="base" hangingPunct="1">
              <a:spcBef>
                <a:spcPct val="20000"/>
              </a:spcBef>
              <a:spcAft>
                <a:spcPts val="300"/>
              </a:spcAft>
              <a:buChar char="»"/>
              <a:defRPr sz="1500">
                <a:solidFill>
                  <a:srgbClr val="003399"/>
                </a:solidFill>
                <a:latin typeface="Verdana" pitchFamily="34" charset="0"/>
              </a:defRPr>
            </a:lvl5pPr>
            <a:lvl6pPr marL="2514600" indent="-228600" algn="l" rtl="0" eaLnBrk="1" fontAlgn="base" hangingPunct="1">
              <a:spcBef>
                <a:spcPct val="20000"/>
              </a:spcBef>
              <a:spcAft>
                <a:spcPct val="0"/>
              </a:spcAft>
              <a:buChar char="»"/>
              <a:defRPr sz="1500">
                <a:solidFill>
                  <a:srgbClr val="003399"/>
                </a:solidFill>
                <a:latin typeface="Siemens Sans" pitchFamily="2" charset="0"/>
              </a:defRPr>
            </a:lvl6pPr>
            <a:lvl7pPr marL="2971800" indent="-228600" algn="l" rtl="0" eaLnBrk="1" fontAlgn="base" hangingPunct="1">
              <a:spcBef>
                <a:spcPct val="20000"/>
              </a:spcBef>
              <a:spcAft>
                <a:spcPct val="0"/>
              </a:spcAft>
              <a:buChar char="»"/>
              <a:defRPr sz="1500">
                <a:solidFill>
                  <a:srgbClr val="003399"/>
                </a:solidFill>
                <a:latin typeface="Siemens Sans" pitchFamily="2" charset="0"/>
              </a:defRPr>
            </a:lvl7pPr>
            <a:lvl8pPr marL="3429000" indent="-228600" algn="l" rtl="0" eaLnBrk="1" fontAlgn="base" hangingPunct="1">
              <a:spcBef>
                <a:spcPct val="20000"/>
              </a:spcBef>
              <a:spcAft>
                <a:spcPct val="0"/>
              </a:spcAft>
              <a:buChar char="»"/>
              <a:defRPr sz="1500">
                <a:solidFill>
                  <a:srgbClr val="003399"/>
                </a:solidFill>
                <a:latin typeface="Siemens Sans" pitchFamily="2" charset="0"/>
              </a:defRPr>
            </a:lvl8pPr>
            <a:lvl9pPr marL="3886200" indent="-228600" algn="l" rtl="0" eaLnBrk="1" fontAlgn="base" hangingPunct="1">
              <a:spcBef>
                <a:spcPct val="20000"/>
              </a:spcBef>
              <a:spcAft>
                <a:spcPct val="0"/>
              </a:spcAft>
              <a:buChar char="»"/>
              <a:defRPr sz="1500">
                <a:solidFill>
                  <a:srgbClr val="003399"/>
                </a:solidFill>
                <a:latin typeface="Siemens Sans" pitchFamily="2" charset="0"/>
              </a:defRPr>
            </a:lvl9pPr>
          </a:lstStyle>
          <a:p>
            <a:pPr marL="0" indent="0">
              <a:buFontTx/>
              <a:buNone/>
            </a:pPr>
            <a:r>
              <a:rPr lang="en-US" sz="2000" kern="0" dirty="0"/>
              <a:t>Index visits</a:t>
            </a:r>
          </a:p>
        </p:txBody>
      </p:sp>
    </p:spTree>
    <p:extLst>
      <p:ext uri="{BB962C8B-B14F-4D97-AF65-F5344CB8AC3E}">
        <p14:creationId xmlns:p14="http://schemas.microsoft.com/office/powerpoint/2010/main" val="268513816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5332-D95C-430C-3CB4-E656FCD8F3E2}"/>
              </a:ext>
            </a:extLst>
          </p:cNvPr>
          <p:cNvSpPr>
            <a:spLocks noGrp="1"/>
          </p:cNvSpPr>
          <p:nvPr>
            <p:ph type="title"/>
          </p:nvPr>
        </p:nvSpPr>
        <p:spPr/>
        <p:txBody>
          <a:bodyPr/>
          <a:lstStyle/>
          <a:p>
            <a:r>
              <a:rPr lang="en-US" dirty="0"/>
              <a:t>30-day Readmission: Window Query</a:t>
            </a:r>
          </a:p>
        </p:txBody>
      </p:sp>
      <p:sp>
        <p:nvSpPr>
          <p:cNvPr id="3" name="Content Placeholder 2">
            <a:extLst>
              <a:ext uri="{FF2B5EF4-FFF2-40B4-BE49-F238E27FC236}">
                <a16:creationId xmlns:a16="http://schemas.microsoft.com/office/drawing/2014/main" id="{7DCD033E-2E26-07BF-E010-5F68A8D5950E}"/>
              </a:ext>
            </a:extLst>
          </p:cNvPr>
          <p:cNvSpPr>
            <a:spLocks noGrp="1"/>
          </p:cNvSpPr>
          <p:nvPr>
            <p:ph idx="1"/>
          </p:nvPr>
        </p:nvSpPr>
        <p:spPr/>
        <p:txBody>
          <a:bodyPr/>
          <a:lstStyle/>
          <a:p>
            <a:pPr marL="0" marR="0">
              <a:spcBef>
                <a:spcPts val="200"/>
              </a:spcBef>
              <a:buNone/>
            </a:pPr>
            <a:r>
              <a:rPr lang="en-US" sz="2000" dirty="0">
                <a:solidFill>
                  <a:srgbClr val="808080"/>
                </a:solidFill>
                <a:effectLst/>
                <a:latin typeface="Consolas" panose="020B0609020204030204" pitchFamily="49" charset="0"/>
              </a:rPr>
              <a:t>-- Generate adjacent pairs of admissions</a:t>
            </a:r>
            <a:endParaRPr lang="en-US" sz="2000" dirty="0">
              <a:solidFill>
                <a:srgbClr val="000000"/>
              </a:solidFill>
              <a:effectLst/>
              <a:latin typeface="Consolas" panose="020B0609020204030204" pitchFamily="49" charset="0"/>
            </a:endParaRPr>
          </a:p>
          <a:p>
            <a:pPr marL="0" marR="0">
              <a:spcBef>
                <a:spcPts val="200"/>
              </a:spcBef>
              <a:buNone/>
            </a:pPr>
            <a:r>
              <a:rPr lang="en-US" sz="2000" b="1" dirty="0">
                <a:solidFill>
                  <a:srgbClr val="800000"/>
                </a:solidFill>
                <a:effectLst/>
                <a:latin typeface="Consolas" panose="020B0609020204030204" pitchFamily="49" charset="0"/>
              </a:rPr>
              <a:t>WITH</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visitpairs</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AS</a:t>
            </a:r>
            <a:r>
              <a:rPr lang="en-US" sz="2000" dirty="0">
                <a:solidFill>
                  <a:srgbClr val="000000"/>
                </a:solidFill>
                <a:effectLst/>
                <a:latin typeface="Consolas" panose="020B0609020204030204" pitchFamily="49" charset="0"/>
              </a:rPr>
              <a:t> (</a:t>
            </a:r>
          </a:p>
          <a:p>
            <a:pPr marL="0" marR="0">
              <a:spcBef>
                <a:spcPts val="200"/>
              </a:spcBef>
              <a:buNone/>
            </a:pPr>
            <a:r>
              <a:rPr lang="en-US" sz="2000" b="1" dirty="0">
                <a:solidFill>
                  <a:srgbClr val="800000"/>
                </a:solidFill>
                <a:effectLst/>
                <a:latin typeface="Consolas" panose="020B0609020204030204" pitchFamily="49" charset="0"/>
              </a:rPr>
              <a:t>SELECT</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pid</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admissiondate</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dischargedate</a:t>
            </a:r>
            <a:r>
              <a:rPr lang="en-US" sz="2000" dirty="0">
                <a:solidFill>
                  <a:srgbClr val="000000"/>
                </a:solidFill>
                <a:effectLst/>
                <a:latin typeface="Consolas" panose="020B0609020204030204" pitchFamily="49" charset="0"/>
              </a:rPr>
              <a:t>,</a:t>
            </a:r>
          </a:p>
          <a:p>
            <a:pPr marL="0" marR="0">
              <a:spcBef>
                <a:spcPts val="200"/>
              </a:spcBef>
              <a:buNone/>
            </a:pPr>
            <a:r>
              <a:rPr lang="en-US" sz="2000" b="1" dirty="0">
                <a:solidFill>
                  <a:srgbClr val="000080"/>
                </a:solidFill>
                <a:effectLst/>
                <a:latin typeface="Consolas" panose="020B0609020204030204" pitchFamily="49" charset="0"/>
              </a:rPr>
              <a:t>LAG</a:t>
            </a:r>
            <a:r>
              <a:rPr lang="en-US" sz="2000" dirty="0">
                <a:solidFill>
                  <a:srgbClr val="000000"/>
                </a:solidFill>
                <a:effectLst/>
                <a:latin typeface="Consolas" panose="020B0609020204030204" pitchFamily="49" charset="0"/>
              </a:rPr>
              <a:t>(</a:t>
            </a:r>
            <a:r>
              <a:rPr lang="en-US" sz="2000" dirty="0" err="1">
                <a:solidFill>
                  <a:srgbClr val="000000"/>
                </a:solidFill>
                <a:effectLst/>
                <a:latin typeface="Consolas" panose="020B0609020204030204" pitchFamily="49" charset="0"/>
              </a:rPr>
              <a:t>admissiondate</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OVER</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PARTITION</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BY</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pid</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ORDER</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BY</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admissiondate</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AS</a:t>
            </a:r>
            <a:r>
              <a:rPr lang="en-US" sz="2000" dirty="0">
                <a:solidFill>
                  <a:srgbClr val="000000"/>
                </a:solidFill>
                <a:effectLst/>
                <a:latin typeface="Consolas" panose="020B0609020204030204" pitchFamily="49" charset="0"/>
              </a:rPr>
              <a:t> </a:t>
            </a:r>
            <a:r>
              <a:rPr lang="en-US" sz="2000" i="1" dirty="0" err="1">
                <a:solidFill>
                  <a:srgbClr val="006464"/>
                </a:solidFill>
                <a:effectLst/>
                <a:latin typeface="Consolas" panose="020B0609020204030204" pitchFamily="49" charset="0"/>
              </a:rPr>
              <a:t>idxadmissiondate</a:t>
            </a:r>
            <a:r>
              <a:rPr lang="en-US" sz="2000" dirty="0">
                <a:solidFill>
                  <a:srgbClr val="000000"/>
                </a:solidFill>
                <a:effectLst/>
                <a:latin typeface="Consolas" panose="020B0609020204030204" pitchFamily="49" charset="0"/>
              </a:rPr>
              <a:t>,</a:t>
            </a:r>
          </a:p>
          <a:p>
            <a:pPr marL="0" marR="0">
              <a:spcBef>
                <a:spcPts val="200"/>
              </a:spcBef>
              <a:buNone/>
            </a:pPr>
            <a:r>
              <a:rPr lang="en-US" sz="2000" b="1" dirty="0">
                <a:solidFill>
                  <a:srgbClr val="000080"/>
                </a:solidFill>
                <a:effectLst/>
                <a:latin typeface="Consolas" panose="020B0609020204030204" pitchFamily="49" charset="0"/>
              </a:rPr>
              <a:t>LAG</a:t>
            </a:r>
            <a:r>
              <a:rPr lang="en-US" sz="2000" dirty="0">
                <a:solidFill>
                  <a:srgbClr val="000000"/>
                </a:solidFill>
                <a:effectLst/>
                <a:latin typeface="Consolas" panose="020B0609020204030204" pitchFamily="49" charset="0"/>
              </a:rPr>
              <a:t>(</a:t>
            </a:r>
            <a:r>
              <a:rPr lang="en-US" sz="2000" dirty="0" err="1">
                <a:solidFill>
                  <a:srgbClr val="000000"/>
                </a:solidFill>
                <a:effectLst/>
                <a:latin typeface="Consolas" panose="020B0609020204030204" pitchFamily="49" charset="0"/>
              </a:rPr>
              <a:t>dischargedate</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OVER</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PARTITION</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BY</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pid</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ORDER</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BY</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dischargedate</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AS</a:t>
            </a:r>
            <a:r>
              <a:rPr lang="en-US" sz="2000" dirty="0">
                <a:solidFill>
                  <a:srgbClr val="000000"/>
                </a:solidFill>
                <a:effectLst/>
                <a:latin typeface="Consolas" panose="020B0609020204030204" pitchFamily="49" charset="0"/>
              </a:rPr>
              <a:t> </a:t>
            </a:r>
            <a:r>
              <a:rPr lang="en-US" sz="2000" i="1" dirty="0" err="1">
                <a:solidFill>
                  <a:srgbClr val="006464"/>
                </a:solidFill>
                <a:effectLst/>
                <a:latin typeface="Consolas" panose="020B0609020204030204" pitchFamily="49" charset="0"/>
              </a:rPr>
              <a:t>idxdischargedate</a:t>
            </a:r>
            <a:endParaRPr lang="en-US" sz="2000" dirty="0">
              <a:solidFill>
                <a:srgbClr val="000000"/>
              </a:solidFill>
              <a:effectLst/>
              <a:latin typeface="Consolas" panose="020B0609020204030204" pitchFamily="49" charset="0"/>
            </a:endParaRPr>
          </a:p>
          <a:p>
            <a:pPr marL="0" marR="0">
              <a:spcBef>
                <a:spcPts val="200"/>
              </a:spcBef>
              <a:buNone/>
            </a:pPr>
            <a:r>
              <a:rPr lang="en-US" sz="2000" b="1" dirty="0">
                <a:solidFill>
                  <a:srgbClr val="800000"/>
                </a:solidFill>
                <a:effectLst/>
                <a:latin typeface="Consolas" panose="020B0609020204030204" pitchFamily="49" charset="0"/>
              </a:rPr>
              <a:t>FROM</a:t>
            </a:r>
            <a:r>
              <a:rPr lang="en-US" sz="2000" dirty="0">
                <a:solidFill>
                  <a:srgbClr val="000000"/>
                </a:solidFill>
                <a:effectLst/>
                <a:latin typeface="Consolas" panose="020B0609020204030204" pitchFamily="49" charset="0"/>
              </a:rPr>
              <a:t> </a:t>
            </a:r>
            <a:r>
              <a:rPr lang="en-US" sz="2000" u="sng" dirty="0">
                <a:solidFill>
                  <a:srgbClr val="6C5151"/>
                </a:solidFill>
                <a:effectLst/>
                <a:latin typeface="Consolas" panose="020B0609020204030204" pitchFamily="49" charset="0"/>
              </a:rPr>
              <a:t>inpatient</a:t>
            </a:r>
            <a:endParaRPr lang="en-US" sz="2000" dirty="0">
              <a:solidFill>
                <a:srgbClr val="000000"/>
              </a:solidFill>
              <a:effectLst/>
              <a:latin typeface="Consolas" panose="020B0609020204030204" pitchFamily="49" charset="0"/>
            </a:endParaRPr>
          </a:p>
          <a:p>
            <a:pPr marL="0" marR="0">
              <a:spcBef>
                <a:spcPts val="200"/>
              </a:spcBef>
              <a:buNone/>
            </a:pPr>
            <a:r>
              <a:rPr lang="en-US" sz="2000" dirty="0">
                <a:solidFill>
                  <a:srgbClr val="000000"/>
                </a:solidFill>
                <a:effectLst/>
                <a:latin typeface="Consolas" panose="020B0609020204030204" pitchFamily="49" charset="0"/>
              </a:rPr>
              <a:t>) </a:t>
            </a:r>
            <a:br>
              <a:rPr lang="en-US" sz="2000" dirty="0">
                <a:solidFill>
                  <a:srgbClr val="000000"/>
                </a:solidFill>
                <a:effectLst/>
                <a:latin typeface="Consolas" panose="020B0609020204030204" pitchFamily="49" charset="0"/>
              </a:rPr>
            </a:br>
            <a:endParaRPr lang="en-US" sz="2000" dirty="0">
              <a:solidFill>
                <a:srgbClr val="000000"/>
              </a:solidFill>
              <a:effectLst/>
              <a:latin typeface="Consolas" panose="020B0609020204030204" pitchFamily="49" charset="0"/>
            </a:endParaRPr>
          </a:p>
          <a:p>
            <a:pPr marL="0" marR="0">
              <a:spcBef>
                <a:spcPts val="200"/>
              </a:spcBef>
              <a:buNone/>
            </a:pPr>
            <a:r>
              <a:rPr lang="en-US" sz="2000" dirty="0">
                <a:solidFill>
                  <a:srgbClr val="808080"/>
                </a:solidFill>
                <a:effectLst/>
                <a:latin typeface="Consolas" panose="020B0609020204030204" pitchFamily="49" charset="0"/>
              </a:rPr>
              <a:t>-- Return those with gap within 30 days</a:t>
            </a:r>
            <a:endParaRPr lang="en-US" sz="2000" dirty="0">
              <a:solidFill>
                <a:srgbClr val="000000"/>
              </a:solidFill>
              <a:effectLst/>
              <a:latin typeface="Consolas" panose="020B0609020204030204" pitchFamily="49" charset="0"/>
            </a:endParaRPr>
          </a:p>
          <a:p>
            <a:pPr marL="0" marR="0">
              <a:spcBef>
                <a:spcPts val="200"/>
              </a:spcBef>
              <a:buNone/>
            </a:pPr>
            <a:r>
              <a:rPr lang="en-US" sz="2000" b="1" dirty="0">
                <a:solidFill>
                  <a:srgbClr val="800000"/>
                </a:solidFill>
                <a:effectLst/>
                <a:latin typeface="Consolas" panose="020B0609020204030204" pitchFamily="49" charset="0"/>
              </a:rPr>
              <a:t>SELECT</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pid</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idxadmissiondate</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idxdischargedate</a:t>
            </a:r>
            <a:r>
              <a:rPr lang="en-US" sz="2000" dirty="0">
                <a:solidFill>
                  <a:srgbClr val="000000"/>
                </a:solidFill>
                <a:effectLst/>
                <a:latin typeface="Consolas" panose="020B0609020204030204" pitchFamily="49" charset="0"/>
              </a:rPr>
              <a:t>, </a:t>
            </a:r>
            <a:r>
              <a:rPr lang="en-US" sz="2000" b="1" dirty="0">
                <a:solidFill>
                  <a:srgbClr val="000080"/>
                </a:solidFill>
                <a:effectLst/>
                <a:latin typeface="Consolas" panose="020B0609020204030204" pitchFamily="49" charset="0"/>
              </a:rPr>
              <a:t>DATEDIFF</a:t>
            </a:r>
            <a:r>
              <a:rPr lang="en-US" sz="2000" dirty="0">
                <a:solidFill>
                  <a:srgbClr val="000000"/>
                </a:solidFill>
                <a:effectLst/>
                <a:latin typeface="Consolas" panose="020B0609020204030204" pitchFamily="49" charset="0"/>
              </a:rPr>
              <a:t>(</a:t>
            </a:r>
            <a:r>
              <a:rPr lang="en-US" sz="2000" dirty="0" err="1">
                <a:solidFill>
                  <a:srgbClr val="000000"/>
                </a:solidFill>
                <a:effectLst/>
                <a:latin typeface="Consolas" panose="020B0609020204030204" pitchFamily="49" charset="0"/>
              </a:rPr>
              <a:t>admissiondate</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idxdischargedate</a:t>
            </a:r>
            <a:r>
              <a:rPr lang="en-US" sz="2000" dirty="0">
                <a:solidFill>
                  <a:srgbClr val="000000"/>
                </a:solidFill>
                <a:effectLst/>
                <a:latin typeface="Consolas" panose="020B0609020204030204" pitchFamily="49" charset="0"/>
              </a:rPr>
              <a:t>) AS </a:t>
            </a:r>
            <a:r>
              <a:rPr lang="en-US" sz="2000" dirty="0" err="1">
                <a:solidFill>
                  <a:srgbClr val="000000"/>
                </a:solidFill>
                <a:effectLst/>
                <a:latin typeface="Consolas" panose="020B0609020204030204" pitchFamily="49" charset="0"/>
              </a:rPr>
              <a:t>mingap</a:t>
            </a:r>
            <a:endParaRPr lang="en-US" sz="2000" dirty="0">
              <a:solidFill>
                <a:srgbClr val="000000"/>
              </a:solidFill>
              <a:effectLst/>
              <a:latin typeface="Consolas" panose="020B0609020204030204" pitchFamily="49" charset="0"/>
            </a:endParaRPr>
          </a:p>
          <a:p>
            <a:pPr marL="0" marR="0">
              <a:spcBef>
                <a:spcPts val="200"/>
              </a:spcBef>
              <a:buNone/>
            </a:pPr>
            <a:r>
              <a:rPr lang="en-US" sz="2000" b="1" dirty="0">
                <a:solidFill>
                  <a:srgbClr val="800000"/>
                </a:solidFill>
                <a:effectLst/>
                <a:latin typeface="Consolas" panose="020B0609020204030204" pitchFamily="49" charset="0"/>
              </a:rPr>
              <a:t>FROM</a:t>
            </a:r>
            <a:r>
              <a:rPr lang="en-US" sz="2000" dirty="0">
                <a:solidFill>
                  <a:srgbClr val="000000"/>
                </a:solidFill>
                <a:effectLst/>
                <a:latin typeface="Consolas" panose="020B0609020204030204" pitchFamily="49" charset="0"/>
              </a:rPr>
              <a:t> </a:t>
            </a:r>
            <a:r>
              <a:rPr lang="en-US" sz="2000" u="sng" dirty="0" err="1">
                <a:solidFill>
                  <a:srgbClr val="6C5151"/>
                </a:solidFill>
                <a:effectLst/>
                <a:latin typeface="Consolas" panose="020B0609020204030204" pitchFamily="49" charset="0"/>
              </a:rPr>
              <a:t>visitpairs</a:t>
            </a:r>
            <a:r>
              <a:rPr lang="en-US" sz="2000" dirty="0">
                <a:solidFill>
                  <a:srgbClr val="000000"/>
                </a:solidFill>
                <a:effectLst/>
                <a:latin typeface="Consolas" panose="020B0609020204030204" pitchFamily="49" charset="0"/>
              </a:rPr>
              <a:t> </a:t>
            </a:r>
          </a:p>
          <a:p>
            <a:pPr marL="0" marR="0">
              <a:spcBef>
                <a:spcPts val="200"/>
              </a:spcBef>
              <a:buNone/>
            </a:pPr>
            <a:r>
              <a:rPr lang="en-US" sz="2000" b="1" dirty="0">
                <a:solidFill>
                  <a:srgbClr val="800000"/>
                </a:solidFill>
                <a:effectLst/>
                <a:latin typeface="Consolas" panose="020B0609020204030204" pitchFamily="49" charset="0"/>
              </a:rPr>
              <a:t>WHERE</a:t>
            </a:r>
            <a:r>
              <a:rPr lang="en-US" sz="2000" dirty="0">
                <a:solidFill>
                  <a:srgbClr val="000000"/>
                </a:solidFill>
                <a:effectLst/>
                <a:latin typeface="Consolas" panose="020B0609020204030204" pitchFamily="49" charset="0"/>
              </a:rPr>
              <a:t> </a:t>
            </a:r>
            <a:r>
              <a:rPr lang="en-US" sz="2000" b="1" dirty="0">
                <a:solidFill>
                  <a:srgbClr val="000080"/>
                </a:solidFill>
                <a:effectLst/>
                <a:latin typeface="Consolas" panose="020B0609020204030204" pitchFamily="49" charset="0"/>
              </a:rPr>
              <a:t>DATEDIFF</a:t>
            </a:r>
            <a:r>
              <a:rPr lang="en-US" sz="2000" dirty="0">
                <a:solidFill>
                  <a:srgbClr val="000000"/>
                </a:solidFill>
                <a:effectLst/>
                <a:latin typeface="Consolas" panose="020B0609020204030204" pitchFamily="49" charset="0"/>
              </a:rPr>
              <a:t>(</a:t>
            </a:r>
            <a:r>
              <a:rPr lang="en-US" sz="2000" dirty="0" err="1">
                <a:solidFill>
                  <a:srgbClr val="000000"/>
                </a:solidFill>
                <a:effectLst/>
                <a:latin typeface="Consolas" panose="020B0609020204030204" pitchFamily="49" charset="0"/>
              </a:rPr>
              <a:t>admissiondate</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idxdischargedate</a:t>
            </a:r>
            <a:r>
              <a:rPr lang="en-US" sz="2000" dirty="0">
                <a:solidFill>
                  <a:srgbClr val="000000"/>
                </a:solidFill>
                <a:effectLst/>
                <a:latin typeface="Consolas" panose="020B0609020204030204" pitchFamily="49" charset="0"/>
              </a:rPr>
              <a:t>) &lt; </a:t>
            </a:r>
            <a:r>
              <a:rPr lang="en-US" sz="2000" dirty="0">
                <a:solidFill>
                  <a:srgbClr val="0000FF"/>
                </a:solidFill>
                <a:effectLst/>
                <a:latin typeface="Consolas" panose="020B0609020204030204" pitchFamily="49" charset="0"/>
              </a:rPr>
              <a:t>30</a:t>
            </a:r>
            <a:r>
              <a:rPr lang="en-US" sz="2000" dirty="0">
                <a:solidFill>
                  <a:srgbClr val="FF0000"/>
                </a:solidFill>
                <a:effectLst/>
                <a:latin typeface="Consolas" panose="020B0609020204030204" pitchFamily="49" charset="0"/>
              </a:rPr>
              <a:t>;</a:t>
            </a:r>
            <a:endParaRPr lang="en-US" sz="2000" dirty="0">
              <a:solidFill>
                <a:srgbClr val="000000"/>
              </a:solidFill>
              <a:effectLst/>
              <a:latin typeface="Consolas" panose="020B0609020204030204" pitchFamily="49" charset="0"/>
            </a:endParaRPr>
          </a:p>
        </p:txBody>
      </p:sp>
      <p:cxnSp>
        <p:nvCxnSpPr>
          <p:cNvPr id="4" name="Straight Arrow Connector 3">
            <a:extLst>
              <a:ext uri="{FF2B5EF4-FFF2-40B4-BE49-F238E27FC236}">
                <a16:creationId xmlns:a16="http://schemas.microsoft.com/office/drawing/2014/main" id="{0D77B1B7-9D0D-A8FD-9F17-1EE258362FA8}"/>
              </a:ext>
            </a:extLst>
          </p:cNvPr>
          <p:cNvCxnSpPr>
            <a:cxnSpLocks/>
          </p:cNvCxnSpPr>
          <p:nvPr/>
        </p:nvCxnSpPr>
        <p:spPr bwMode="auto">
          <a:xfrm>
            <a:off x="8307905" y="755937"/>
            <a:ext cx="395853" cy="0"/>
          </a:xfrm>
          <a:prstGeom prst="straightConnector1">
            <a:avLst/>
          </a:prstGeom>
          <a:noFill/>
          <a:ln w="38100" cap="flat" cmpd="sng" algn="ctr">
            <a:solidFill>
              <a:srgbClr val="FF0000"/>
            </a:solidFill>
            <a:prstDash val="solid"/>
            <a:round/>
            <a:headEnd type="oval" w="med" len="med"/>
            <a:tailEnd type="triangle"/>
          </a:ln>
          <a:effectLst/>
        </p:spPr>
      </p:cxnSp>
      <p:cxnSp>
        <p:nvCxnSpPr>
          <p:cNvPr id="5" name="Straight Arrow Connector 4">
            <a:extLst>
              <a:ext uri="{FF2B5EF4-FFF2-40B4-BE49-F238E27FC236}">
                <a16:creationId xmlns:a16="http://schemas.microsoft.com/office/drawing/2014/main" id="{36B2FC41-B0C7-F6CF-0470-B348F9E900D2}"/>
              </a:ext>
            </a:extLst>
          </p:cNvPr>
          <p:cNvCxnSpPr>
            <a:cxnSpLocks/>
          </p:cNvCxnSpPr>
          <p:nvPr/>
        </p:nvCxnSpPr>
        <p:spPr bwMode="auto">
          <a:xfrm>
            <a:off x="9565982" y="755937"/>
            <a:ext cx="664612" cy="0"/>
          </a:xfrm>
          <a:prstGeom prst="straightConnector1">
            <a:avLst/>
          </a:prstGeom>
          <a:noFill/>
          <a:ln w="38100" cap="flat" cmpd="sng" algn="ctr">
            <a:solidFill>
              <a:srgbClr val="00B050"/>
            </a:solidFill>
            <a:prstDash val="solid"/>
            <a:round/>
            <a:headEnd type="oval" w="med" len="med"/>
            <a:tailEnd type="triangle"/>
          </a:ln>
          <a:effectLst/>
        </p:spPr>
      </p:cxnSp>
      <p:sp>
        <p:nvSpPr>
          <p:cNvPr id="6" name="Freeform: Shape 5">
            <a:extLst>
              <a:ext uri="{FF2B5EF4-FFF2-40B4-BE49-F238E27FC236}">
                <a16:creationId xmlns:a16="http://schemas.microsoft.com/office/drawing/2014/main" id="{232D0E92-5F70-2434-116F-17AA48E78CE5}"/>
              </a:ext>
            </a:extLst>
          </p:cNvPr>
          <p:cNvSpPr/>
          <p:nvPr/>
        </p:nvSpPr>
        <p:spPr bwMode="auto">
          <a:xfrm>
            <a:off x="8703758" y="524173"/>
            <a:ext cx="832964" cy="238091"/>
          </a:xfrm>
          <a:custGeom>
            <a:avLst/>
            <a:gdLst>
              <a:gd name="connsiteX0" fmla="*/ 0 w 601824"/>
              <a:gd name="connsiteY0" fmla="*/ 228600 h 228600"/>
              <a:gd name="connsiteX1" fmla="*/ 27992 w 601824"/>
              <a:gd name="connsiteY1" fmla="*/ 172616 h 228600"/>
              <a:gd name="connsiteX2" fmla="*/ 55984 w 601824"/>
              <a:gd name="connsiteY2" fmla="*/ 163286 h 228600"/>
              <a:gd name="connsiteX3" fmla="*/ 121298 w 601824"/>
              <a:gd name="connsiteY3" fmla="*/ 97971 h 228600"/>
              <a:gd name="connsiteX4" fmla="*/ 144624 w 601824"/>
              <a:gd name="connsiteY4" fmla="*/ 83975 h 228600"/>
              <a:gd name="connsiteX5" fmla="*/ 163286 w 601824"/>
              <a:gd name="connsiteY5" fmla="*/ 69980 h 228600"/>
              <a:gd name="connsiteX6" fmla="*/ 172616 w 601824"/>
              <a:gd name="connsiteY6" fmla="*/ 51318 h 228600"/>
              <a:gd name="connsiteX7" fmla="*/ 270588 w 601824"/>
              <a:gd name="connsiteY7" fmla="*/ 4665 h 228600"/>
              <a:gd name="connsiteX8" fmla="*/ 312575 w 601824"/>
              <a:gd name="connsiteY8" fmla="*/ 0 h 228600"/>
              <a:gd name="connsiteX9" fmla="*/ 461865 w 601824"/>
              <a:gd name="connsiteY9" fmla="*/ 9331 h 228600"/>
              <a:gd name="connsiteX10" fmla="*/ 499188 w 601824"/>
              <a:gd name="connsiteY10" fmla="*/ 27992 h 228600"/>
              <a:gd name="connsiteX11" fmla="*/ 555171 w 601824"/>
              <a:gd name="connsiteY11" fmla="*/ 60649 h 228600"/>
              <a:gd name="connsiteX12" fmla="*/ 559837 w 601824"/>
              <a:gd name="connsiteY12" fmla="*/ 74645 h 228600"/>
              <a:gd name="connsiteX13" fmla="*/ 578498 w 601824"/>
              <a:gd name="connsiteY13" fmla="*/ 116633 h 228600"/>
              <a:gd name="connsiteX14" fmla="*/ 597159 w 601824"/>
              <a:gd name="connsiteY14" fmla="*/ 205273 h 228600"/>
              <a:gd name="connsiteX15" fmla="*/ 601824 w 601824"/>
              <a:gd name="connsiteY15" fmla="*/ 214604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01824" h="228600">
                <a:moveTo>
                  <a:pt x="0" y="228600"/>
                </a:moveTo>
                <a:cubicBezTo>
                  <a:pt x="9331" y="209939"/>
                  <a:pt x="14414" y="188457"/>
                  <a:pt x="27992" y="172616"/>
                </a:cubicBezTo>
                <a:cubicBezTo>
                  <a:pt x="34393" y="165149"/>
                  <a:pt x="55984" y="163286"/>
                  <a:pt x="55984" y="163286"/>
                </a:cubicBezTo>
                <a:cubicBezTo>
                  <a:pt x="83629" y="131032"/>
                  <a:pt x="85988" y="125133"/>
                  <a:pt x="121298" y="97971"/>
                </a:cubicBezTo>
                <a:cubicBezTo>
                  <a:pt x="128485" y="92442"/>
                  <a:pt x="137079" y="89005"/>
                  <a:pt x="144624" y="83975"/>
                </a:cubicBezTo>
                <a:cubicBezTo>
                  <a:pt x="151094" y="79662"/>
                  <a:pt x="157065" y="74645"/>
                  <a:pt x="163286" y="69980"/>
                </a:cubicBezTo>
                <a:cubicBezTo>
                  <a:pt x="166396" y="63759"/>
                  <a:pt x="167360" y="55873"/>
                  <a:pt x="172616" y="51318"/>
                </a:cubicBezTo>
                <a:cubicBezTo>
                  <a:pt x="225864" y="5169"/>
                  <a:pt x="217897" y="10864"/>
                  <a:pt x="270588" y="4665"/>
                </a:cubicBezTo>
                <a:lnTo>
                  <a:pt x="312575" y="0"/>
                </a:lnTo>
                <a:cubicBezTo>
                  <a:pt x="362338" y="3110"/>
                  <a:pt x="412556" y="1935"/>
                  <a:pt x="461865" y="9331"/>
                </a:cubicBezTo>
                <a:cubicBezTo>
                  <a:pt x="475620" y="11394"/>
                  <a:pt x="486895" y="21484"/>
                  <a:pt x="499188" y="27992"/>
                </a:cubicBezTo>
                <a:cubicBezTo>
                  <a:pt x="537146" y="48087"/>
                  <a:pt x="530981" y="44522"/>
                  <a:pt x="555171" y="60649"/>
                </a:cubicBezTo>
                <a:cubicBezTo>
                  <a:pt x="556726" y="65314"/>
                  <a:pt x="557840" y="70151"/>
                  <a:pt x="559837" y="74645"/>
                </a:cubicBezTo>
                <a:cubicBezTo>
                  <a:pt x="581430" y="123231"/>
                  <a:pt x="567987" y="85106"/>
                  <a:pt x="578498" y="116633"/>
                </a:cubicBezTo>
                <a:cubicBezTo>
                  <a:pt x="582074" y="141664"/>
                  <a:pt x="587160" y="185273"/>
                  <a:pt x="597159" y="205273"/>
                </a:cubicBezTo>
                <a:lnTo>
                  <a:pt x="601824" y="214604"/>
                </a:lnTo>
              </a:path>
            </a:pathLst>
          </a:custGeom>
          <a:noFill/>
          <a:ln w="12700" cap="flat" cmpd="sng" algn="ctr">
            <a:solidFill>
              <a:srgbClr val="C00000"/>
            </a:solidFill>
            <a:prstDash val="sysDash"/>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Tree>
    <p:extLst>
      <p:ext uri="{BB962C8B-B14F-4D97-AF65-F5344CB8AC3E}">
        <p14:creationId xmlns:p14="http://schemas.microsoft.com/office/powerpoint/2010/main" val="425881767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78242-77CC-48CA-9FCC-EA53EAFDB2B5}"/>
              </a:ext>
            </a:extLst>
          </p:cNvPr>
          <p:cNvSpPr>
            <a:spLocks noGrp="1"/>
          </p:cNvSpPr>
          <p:nvPr>
            <p:ph type="title"/>
          </p:nvPr>
        </p:nvSpPr>
        <p:spPr/>
        <p:txBody>
          <a:bodyPr/>
          <a:lstStyle/>
          <a:p>
            <a:r>
              <a:rPr lang="en-US" dirty="0"/>
              <a:t>30-day Readmission: Window Query</a:t>
            </a:r>
          </a:p>
        </p:txBody>
      </p:sp>
      <p:sp>
        <p:nvSpPr>
          <p:cNvPr id="5" name="TextBox 4">
            <a:extLst>
              <a:ext uri="{FF2B5EF4-FFF2-40B4-BE49-F238E27FC236}">
                <a16:creationId xmlns:a16="http://schemas.microsoft.com/office/drawing/2014/main" id="{F88B6AD6-0686-F3CE-A193-90861D01999D}"/>
              </a:ext>
            </a:extLst>
          </p:cNvPr>
          <p:cNvSpPr txBox="1"/>
          <p:nvPr/>
        </p:nvSpPr>
        <p:spPr>
          <a:xfrm>
            <a:off x="165037" y="995556"/>
            <a:ext cx="11218127" cy="5324535"/>
          </a:xfrm>
          <a:prstGeom prst="rect">
            <a:avLst/>
          </a:prstGeom>
          <a:noFill/>
        </p:spPr>
        <p:txBody>
          <a:bodyPr wrap="square">
            <a:spAutoFit/>
          </a:bodyPr>
          <a:lstStyle/>
          <a:p>
            <a:pPr marL="0" marR="0">
              <a:buNone/>
            </a:pPr>
            <a:r>
              <a:rPr lang="en-US" sz="2000" b="1" dirty="0">
                <a:solidFill>
                  <a:srgbClr val="800000"/>
                </a:solidFill>
                <a:effectLst/>
                <a:latin typeface="Consolas" panose="020B0609020204030204" pitchFamily="49" charset="0"/>
              </a:rPr>
              <a:t>WITH</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indexreadmtpair</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AS</a:t>
            </a:r>
            <a:r>
              <a:rPr lang="en-US" sz="2000" dirty="0">
                <a:solidFill>
                  <a:srgbClr val="000000"/>
                </a:solidFill>
                <a:effectLst/>
                <a:latin typeface="Consolas" panose="020B0609020204030204" pitchFamily="49" charset="0"/>
              </a:rPr>
              <a:t> (</a:t>
            </a:r>
          </a:p>
          <a:p>
            <a:pPr marL="0" marR="0">
              <a:buNone/>
            </a:pPr>
            <a:r>
              <a:rPr lang="en-US" sz="2000" b="1" dirty="0">
                <a:solidFill>
                  <a:srgbClr val="800000"/>
                </a:solidFill>
                <a:effectLst/>
                <a:latin typeface="Consolas" panose="020B0609020204030204" pitchFamily="49" charset="0"/>
              </a:rPr>
              <a:t>SELECT</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pid</a:t>
            </a:r>
            <a:r>
              <a:rPr lang="en-US" sz="2000" dirty="0">
                <a:solidFill>
                  <a:srgbClr val="000000"/>
                </a:solidFill>
                <a:effectLst/>
                <a:latin typeface="Consolas" panose="020B0609020204030204" pitchFamily="49" charset="0"/>
              </a:rPr>
              <a:t>, </a:t>
            </a:r>
          </a:p>
          <a:p>
            <a:pPr marL="0" marR="0">
              <a:buNone/>
            </a:pPr>
            <a:r>
              <a:rPr lang="en-US" sz="2000" b="1" dirty="0">
                <a:solidFill>
                  <a:srgbClr val="000080"/>
                </a:solidFill>
                <a:effectLst/>
                <a:latin typeface="Consolas" panose="020B0609020204030204" pitchFamily="49" charset="0"/>
              </a:rPr>
              <a:t>MIN</a:t>
            </a:r>
            <a:r>
              <a:rPr lang="en-US" sz="2000" dirty="0">
                <a:solidFill>
                  <a:srgbClr val="000000"/>
                </a:solidFill>
                <a:effectLst/>
                <a:latin typeface="Consolas" panose="020B0609020204030204" pitchFamily="49" charset="0"/>
              </a:rPr>
              <a:t>(</a:t>
            </a:r>
            <a:r>
              <a:rPr lang="en-US" sz="2000" dirty="0" err="1">
                <a:solidFill>
                  <a:srgbClr val="000000"/>
                </a:solidFill>
                <a:effectLst/>
                <a:latin typeface="Consolas" panose="020B0609020204030204" pitchFamily="49" charset="0"/>
              </a:rPr>
              <a:t>admissiondate</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OVER</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PARTITION</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BY</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pid</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ORDER</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BY</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admissiondate</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ROWS</a:t>
            </a:r>
            <a:r>
              <a:rPr lang="en-US" sz="2000" dirty="0">
                <a:solidFill>
                  <a:srgbClr val="000000"/>
                </a:solidFill>
                <a:effectLst/>
                <a:latin typeface="Consolas" panose="020B0609020204030204" pitchFamily="49" charset="0"/>
              </a:rPr>
              <a:t> </a:t>
            </a:r>
            <a:r>
              <a:rPr lang="en-US" sz="2000" dirty="0">
                <a:solidFill>
                  <a:srgbClr val="0000FF"/>
                </a:solidFill>
                <a:effectLst/>
                <a:latin typeface="Consolas" panose="020B0609020204030204" pitchFamily="49" charset="0"/>
              </a:rPr>
              <a:t>1</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PRECEDING</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AS</a:t>
            </a:r>
            <a:r>
              <a:rPr lang="en-US" sz="2000" dirty="0">
                <a:solidFill>
                  <a:srgbClr val="000000"/>
                </a:solidFill>
                <a:effectLst/>
                <a:latin typeface="Consolas" panose="020B0609020204030204" pitchFamily="49" charset="0"/>
              </a:rPr>
              <a:t> </a:t>
            </a:r>
            <a:r>
              <a:rPr lang="en-US" sz="2000" i="1" dirty="0" err="1">
                <a:solidFill>
                  <a:srgbClr val="006464"/>
                </a:solidFill>
                <a:effectLst/>
                <a:latin typeface="Consolas" panose="020B0609020204030204" pitchFamily="49" charset="0"/>
              </a:rPr>
              <a:t>indexadmtdate</a:t>
            </a:r>
            <a:r>
              <a:rPr lang="en-US" sz="2000" dirty="0">
                <a:solidFill>
                  <a:srgbClr val="000000"/>
                </a:solidFill>
                <a:effectLst/>
                <a:latin typeface="Consolas" panose="020B0609020204030204" pitchFamily="49" charset="0"/>
              </a:rPr>
              <a:t>,</a:t>
            </a:r>
          </a:p>
          <a:p>
            <a:pPr marL="0" marR="0">
              <a:buNone/>
            </a:pPr>
            <a:r>
              <a:rPr lang="en-US" sz="2000" b="1" dirty="0">
                <a:solidFill>
                  <a:srgbClr val="000080"/>
                </a:solidFill>
                <a:effectLst/>
                <a:latin typeface="Consolas" panose="020B0609020204030204" pitchFamily="49" charset="0"/>
              </a:rPr>
              <a:t>MIN</a:t>
            </a:r>
            <a:r>
              <a:rPr lang="en-US" sz="2000" dirty="0">
                <a:solidFill>
                  <a:srgbClr val="000000"/>
                </a:solidFill>
                <a:effectLst/>
                <a:latin typeface="Consolas" panose="020B0609020204030204" pitchFamily="49" charset="0"/>
              </a:rPr>
              <a:t>(</a:t>
            </a:r>
            <a:r>
              <a:rPr lang="en-US" sz="2000" dirty="0" err="1">
                <a:solidFill>
                  <a:srgbClr val="000000"/>
                </a:solidFill>
                <a:effectLst/>
                <a:latin typeface="Consolas" panose="020B0609020204030204" pitchFamily="49" charset="0"/>
              </a:rPr>
              <a:t>dischargedate</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OVER</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PARTITION</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BY</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pid</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ORDER</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BY</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dischargedate</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ROWS</a:t>
            </a:r>
            <a:r>
              <a:rPr lang="en-US" sz="2000" dirty="0">
                <a:solidFill>
                  <a:srgbClr val="000000"/>
                </a:solidFill>
                <a:effectLst/>
                <a:latin typeface="Consolas" panose="020B0609020204030204" pitchFamily="49" charset="0"/>
              </a:rPr>
              <a:t> </a:t>
            </a:r>
            <a:r>
              <a:rPr lang="en-US" sz="2000" dirty="0">
                <a:solidFill>
                  <a:srgbClr val="0000FF"/>
                </a:solidFill>
                <a:effectLst/>
                <a:latin typeface="Consolas" panose="020B0609020204030204" pitchFamily="49" charset="0"/>
              </a:rPr>
              <a:t>1</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PRECEDING</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AS</a:t>
            </a:r>
            <a:r>
              <a:rPr lang="en-US" sz="2000" dirty="0">
                <a:solidFill>
                  <a:srgbClr val="000000"/>
                </a:solidFill>
                <a:effectLst/>
                <a:latin typeface="Consolas" panose="020B0609020204030204" pitchFamily="49" charset="0"/>
              </a:rPr>
              <a:t> </a:t>
            </a:r>
            <a:r>
              <a:rPr lang="en-US" sz="2000" i="1" dirty="0" err="1">
                <a:solidFill>
                  <a:srgbClr val="006464"/>
                </a:solidFill>
                <a:effectLst/>
                <a:latin typeface="Consolas" panose="020B0609020204030204" pitchFamily="49" charset="0"/>
              </a:rPr>
              <a:t>indexdischdate</a:t>
            </a:r>
            <a:r>
              <a:rPr lang="en-US" sz="2000" dirty="0">
                <a:solidFill>
                  <a:srgbClr val="000000"/>
                </a:solidFill>
                <a:effectLst/>
                <a:latin typeface="Consolas" panose="020B0609020204030204" pitchFamily="49" charset="0"/>
              </a:rPr>
              <a:t>,</a:t>
            </a:r>
          </a:p>
          <a:p>
            <a:pPr marL="0" marR="0">
              <a:buNone/>
            </a:pPr>
            <a:r>
              <a:rPr lang="en-US" sz="2000" dirty="0" err="1">
                <a:solidFill>
                  <a:srgbClr val="000000"/>
                </a:solidFill>
                <a:effectLst/>
                <a:latin typeface="Consolas" panose="020B0609020204030204" pitchFamily="49" charset="0"/>
              </a:rPr>
              <a:t>admissiondate</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dischargedate</a:t>
            </a:r>
            <a:endParaRPr lang="en-US" sz="2000" dirty="0">
              <a:solidFill>
                <a:srgbClr val="000000"/>
              </a:solidFill>
              <a:effectLst/>
              <a:latin typeface="Consolas" panose="020B0609020204030204" pitchFamily="49" charset="0"/>
            </a:endParaRPr>
          </a:p>
          <a:p>
            <a:pPr marL="0" marR="0">
              <a:buNone/>
            </a:pPr>
            <a:r>
              <a:rPr lang="en-US" sz="2000" b="1" dirty="0">
                <a:solidFill>
                  <a:srgbClr val="800000"/>
                </a:solidFill>
                <a:effectLst/>
                <a:latin typeface="Consolas" panose="020B0609020204030204" pitchFamily="49" charset="0"/>
              </a:rPr>
              <a:t>FROM</a:t>
            </a:r>
            <a:r>
              <a:rPr lang="en-US" sz="2000" dirty="0">
                <a:solidFill>
                  <a:srgbClr val="000000"/>
                </a:solidFill>
                <a:effectLst/>
                <a:latin typeface="Consolas" panose="020B0609020204030204" pitchFamily="49" charset="0"/>
              </a:rPr>
              <a:t> </a:t>
            </a:r>
            <a:r>
              <a:rPr lang="en-US" sz="2000" u="sng" dirty="0">
                <a:solidFill>
                  <a:srgbClr val="6C5151"/>
                </a:solidFill>
                <a:effectLst/>
                <a:latin typeface="Consolas" panose="020B0609020204030204" pitchFamily="49" charset="0"/>
              </a:rPr>
              <a:t>inpatient</a:t>
            </a:r>
            <a:endParaRPr lang="en-US" sz="2000" dirty="0">
              <a:solidFill>
                <a:srgbClr val="000000"/>
              </a:solidFill>
              <a:effectLst/>
              <a:latin typeface="Consolas" panose="020B0609020204030204" pitchFamily="49" charset="0"/>
            </a:endParaRPr>
          </a:p>
          <a:p>
            <a:pPr marL="0" marR="0">
              <a:buNone/>
            </a:pPr>
            <a:r>
              <a:rPr lang="en-US" sz="2000" dirty="0">
                <a:solidFill>
                  <a:srgbClr val="000000"/>
                </a:solidFill>
                <a:effectLst/>
                <a:latin typeface="Consolas" panose="020B0609020204030204" pitchFamily="49" charset="0"/>
              </a:rPr>
              <a:t>) </a:t>
            </a:r>
          </a:p>
          <a:p>
            <a:pPr marL="0" marR="0">
              <a:buNone/>
            </a:pPr>
            <a:endParaRPr lang="en-US" sz="2000" dirty="0">
              <a:solidFill>
                <a:srgbClr val="000000"/>
              </a:solidFill>
              <a:effectLst/>
              <a:latin typeface="Consolas" panose="020B0609020204030204" pitchFamily="49" charset="0"/>
            </a:endParaRPr>
          </a:p>
          <a:p>
            <a:pPr marL="0" marR="0">
              <a:buNone/>
            </a:pPr>
            <a:r>
              <a:rPr lang="en-US" sz="2000" b="1" dirty="0">
                <a:solidFill>
                  <a:srgbClr val="800000"/>
                </a:solidFill>
                <a:effectLst/>
                <a:latin typeface="Consolas" panose="020B0609020204030204" pitchFamily="49" charset="0"/>
              </a:rPr>
              <a:t>SELECT</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pid</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indexadmtdate</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indexdischdate</a:t>
            </a:r>
            <a:r>
              <a:rPr lang="en-US" sz="2000" dirty="0">
                <a:solidFill>
                  <a:srgbClr val="000000"/>
                </a:solidFill>
                <a:effectLst/>
                <a:latin typeface="Consolas" panose="020B0609020204030204" pitchFamily="49" charset="0"/>
              </a:rPr>
              <a:t>, </a:t>
            </a:r>
          </a:p>
          <a:p>
            <a:pPr marL="0" marR="0">
              <a:buNone/>
            </a:pPr>
            <a:r>
              <a:rPr lang="en-US" sz="2000" dirty="0" err="1">
                <a:solidFill>
                  <a:srgbClr val="000000"/>
                </a:solidFill>
                <a:effectLst/>
                <a:latin typeface="Consolas" panose="020B0609020204030204" pitchFamily="49" charset="0"/>
              </a:rPr>
              <a:t>admissiondate</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dischargedate</a:t>
            </a:r>
            <a:r>
              <a:rPr lang="en-US" sz="2000" dirty="0">
                <a:solidFill>
                  <a:srgbClr val="000000"/>
                </a:solidFill>
                <a:effectLst/>
                <a:latin typeface="Consolas" panose="020B0609020204030204" pitchFamily="49" charset="0"/>
              </a:rPr>
              <a:t>, </a:t>
            </a:r>
          </a:p>
          <a:p>
            <a:pPr marL="0" marR="0">
              <a:buNone/>
            </a:pPr>
            <a:r>
              <a:rPr lang="en-US" sz="2000" b="1" dirty="0">
                <a:solidFill>
                  <a:srgbClr val="000080"/>
                </a:solidFill>
                <a:effectLst/>
                <a:latin typeface="Consolas" panose="020B0609020204030204" pitchFamily="49" charset="0"/>
              </a:rPr>
              <a:t>DATEDIFF</a:t>
            </a:r>
            <a:r>
              <a:rPr lang="en-US" sz="2000" dirty="0">
                <a:solidFill>
                  <a:srgbClr val="000000"/>
                </a:solidFill>
                <a:effectLst/>
                <a:latin typeface="Consolas" panose="020B0609020204030204" pitchFamily="49" charset="0"/>
              </a:rPr>
              <a:t>(</a:t>
            </a:r>
            <a:r>
              <a:rPr lang="en-US" sz="2000" dirty="0" err="1">
                <a:solidFill>
                  <a:srgbClr val="000000"/>
                </a:solidFill>
                <a:effectLst/>
                <a:latin typeface="Consolas" panose="020B0609020204030204" pitchFamily="49" charset="0"/>
              </a:rPr>
              <a:t>admissiondate</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indexdischdate</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AS</a:t>
            </a:r>
            <a:r>
              <a:rPr lang="en-US" sz="2000" dirty="0">
                <a:solidFill>
                  <a:srgbClr val="000000"/>
                </a:solidFill>
                <a:effectLst/>
                <a:latin typeface="Consolas" panose="020B0609020204030204" pitchFamily="49" charset="0"/>
              </a:rPr>
              <a:t> </a:t>
            </a:r>
            <a:r>
              <a:rPr lang="en-US" sz="2000" i="1" dirty="0">
                <a:solidFill>
                  <a:srgbClr val="006464"/>
                </a:solidFill>
                <a:effectLst/>
                <a:latin typeface="Consolas" panose="020B0609020204030204" pitchFamily="49" charset="0"/>
              </a:rPr>
              <a:t>gap</a:t>
            </a:r>
            <a:endParaRPr lang="en-US" sz="2000" dirty="0">
              <a:solidFill>
                <a:srgbClr val="000000"/>
              </a:solidFill>
              <a:effectLst/>
              <a:latin typeface="Consolas" panose="020B0609020204030204" pitchFamily="49" charset="0"/>
            </a:endParaRPr>
          </a:p>
          <a:p>
            <a:pPr marL="0" marR="0">
              <a:buNone/>
            </a:pPr>
            <a:r>
              <a:rPr lang="en-US" sz="2000" b="1" dirty="0">
                <a:solidFill>
                  <a:srgbClr val="800000"/>
                </a:solidFill>
                <a:effectLst/>
                <a:latin typeface="Consolas" panose="020B0609020204030204" pitchFamily="49" charset="0"/>
              </a:rPr>
              <a:t>FROM</a:t>
            </a:r>
            <a:r>
              <a:rPr lang="en-US" sz="2000" dirty="0">
                <a:solidFill>
                  <a:srgbClr val="000000"/>
                </a:solidFill>
                <a:effectLst/>
                <a:latin typeface="Consolas" panose="020B0609020204030204" pitchFamily="49" charset="0"/>
              </a:rPr>
              <a:t> </a:t>
            </a:r>
            <a:r>
              <a:rPr lang="en-US" sz="2000" u="sng" dirty="0" err="1">
                <a:solidFill>
                  <a:srgbClr val="6C5151"/>
                </a:solidFill>
                <a:effectLst/>
                <a:latin typeface="Consolas" panose="020B0609020204030204" pitchFamily="49" charset="0"/>
              </a:rPr>
              <a:t>indexreadmtpair</a:t>
            </a:r>
            <a:endParaRPr lang="en-US" sz="2000" dirty="0">
              <a:solidFill>
                <a:srgbClr val="000000"/>
              </a:solidFill>
              <a:effectLst/>
              <a:latin typeface="Consolas" panose="020B0609020204030204" pitchFamily="49" charset="0"/>
            </a:endParaRPr>
          </a:p>
          <a:p>
            <a:pPr marL="0" marR="0">
              <a:buNone/>
            </a:pPr>
            <a:r>
              <a:rPr lang="en-US" sz="2000" b="1" dirty="0">
                <a:solidFill>
                  <a:srgbClr val="800000"/>
                </a:solidFill>
                <a:effectLst/>
                <a:latin typeface="Consolas" panose="020B0609020204030204" pitchFamily="49" charset="0"/>
              </a:rPr>
              <a:t>WHERE</a:t>
            </a:r>
            <a:r>
              <a:rPr lang="en-US" sz="2000" dirty="0">
                <a:solidFill>
                  <a:srgbClr val="000000"/>
                </a:solidFill>
                <a:effectLst/>
                <a:latin typeface="Consolas" panose="020B0609020204030204" pitchFamily="49" charset="0"/>
              </a:rPr>
              <a:t> </a:t>
            </a:r>
          </a:p>
          <a:p>
            <a:pPr marL="0" marR="0">
              <a:buNone/>
            </a:pPr>
            <a:r>
              <a:rPr lang="en-US" sz="2000" b="1" dirty="0">
                <a:solidFill>
                  <a:srgbClr val="000080"/>
                </a:solidFill>
                <a:effectLst/>
                <a:latin typeface="Consolas" panose="020B0609020204030204" pitchFamily="49" charset="0"/>
              </a:rPr>
              <a:t>DATEDIFF</a:t>
            </a:r>
            <a:r>
              <a:rPr lang="en-US" sz="2000" dirty="0">
                <a:solidFill>
                  <a:srgbClr val="000000"/>
                </a:solidFill>
                <a:effectLst/>
                <a:latin typeface="Consolas" panose="020B0609020204030204" pitchFamily="49" charset="0"/>
              </a:rPr>
              <a:t>(</a:t>
            </a:r>
            <a:r>
              <a:rPr lang="en-US" sz="2000" dirty="0" err="1">
                <a:solidFill>
                  <a:srgbClr val="000000"/>
                </a:solidFill>
                <a:effectLst/>
                <a:latin typeface="Consolas" panose="020B0609020204030204" pitchFamily="49" charset="0"/>
              </a:rPr>
              <a:t>admissiondate</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indexdischdate</a:t>
            </a:r>
            <a:r>
              <a:rPr lang="en-US" sz="2000" dirty="0">
                <a:solidFill>
                  <a:srgbClr val="000000"/>
                </a:solidFill>
                <a:effectLst/>
                <a:latin typeface="Consolas" panose="020B0609020204030204" pitchFamily="49" charset="0"/>
              </a:rPr>
              <a:t>) &lt;= </a:t>
            </a:r>
            <a:r>
              <a:rPr lang="en-US" sz="2000" dirty="0">
                <a:solidFill>
                  <a:srgbClr val="0000FF"/>
                </a:solidFill>
                <a:effectLst/>
                <a:latin typeface="Consolas" panose="020B0609020204030204" pitchFamily="49" charset="0"/>
              </a:rPr>
              <a:t>30</a:t>
            </a:r>
            <a:r>
              <a:rPr lang="en-US" sz="2000" dirty="0">
                <a:solidFill>
                  <a:srgbClr val="000000"/>
                </a:solidFill>
                <a:effectLst/>
                <a:latin typeface="Consolas" panose="020B0609020204030204" pitchFamily="49" charset="0"/>
              </a:rPr>
              <a:t> </a:t>
            </a:r>
            <a:r>
              <a:rPr lang="en-US" sz="2000" b="1" dirty="0">
                <a:solidFill>
                  <a:srgbClr val="800000"/>
                </a:solidFill>
                <a:effectLst/>
                <a:latin typeface="Consolas" panose="020B0609020204030204" pitchFamily="49" charset="0"/>
              </a:rPr>
              <a:t>AND</a:t>
            </a:r>
            <a:endParaRPr lang="en-US" sz="2000" dirty="0">
              <a:solidFill>
                <a:srgbClr val="000000"/>
              </a:solidFill>
              <a:effectLst/>
              <a:latin typeface="Consolas" panose="020B0609020204030204" pitchFamily="49" charset="0"/>
            </a:endParaRPr>
          </a:p>
          <a:p>
            <a:pPr marL="0" marR="0"/>
            <a:r>
              <a:rPr lang="en-US" sz="2000" b="1" dirty="0">
                <a:solidFill>
                  <a:srgbClr val="000080"/>
                </a:solidFill>
                <a:effectLst/>
                <a:latin typeface="Consolas" panose="020B0609020204030204" pitchFamily="49" charset="0"/>
              </a:rPr>
              <a:t>DATEDIFF</a:t>
            </a:r>
            <a:r>
              <a:rPr lang="en-US" sz="2000" dirty="0">
                <a:solidFill>
                  <a:srgbClr val="000000"/>
                </a:solidFill>
                <a:effectLst/>
                <a:latin typeface="Consolas" panose="020B0609020204030204" pitchFamily="49" charset="0"/>
              </a:rPr>
              <a:t>(</a:t>
            </a:r>
            <a:r>
              <a:rPr lang="en-US" sz="2000" dirty="0" err="1">
                <a:solidFill>
                  <a:srgbClr val="000000"/>
                </a:solidFill>
                <a:effectLst/>
                <a:latin typeface="Consolas" panose="020B0609020204030204" pitchFamily="49" charset="0"/>
              </a:rPr>
              <a:t>admissiondate</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indexdischdate</a:t>
            </a:r>
            <a:r>
              <a:rPr lang="en-US" sz="2000" dirty="0">
                <a:solidFill>
                  <a:srgbClr val="000000"/>
                </a:solidFill>
                <a:effectLst/>
                <a:latin typeface="Consolas" panose="020B0609020204030204" pitchFamily="49" charset="0"/>
              </a:rPr>
              <a:t>) &gt; </a:t>
            </a:r>
            <a:r>
              <a:rPr lang="en-US" sz="2000" dirty="0">
                <a:solidFill>
                  <a:srgbClr val="0000FF"/>
                </a:solidFill>
                <a:effectLst/>
                <a:latin typeface="Consolas" panose="020B0609020204030204" pitchFamily="49" charset="0"/>
              </a:rPr>
              <a:t>0</a:t>
            </a:r>
            <a:r>
              <a:rPr lang="en-US" sz="2000" dirty="0">
                <a:solidFill>
                  <a:srgbClr val="FF0000"/>
                </a:solidFill>
                <a:effectLst/>
                <a:latin typeface="Consolas" panose="020B0609020204030204" pitchFamily="49" charset="0"/>
              </a:rPr>
              <a:t>;</a:t>
            </a:r>
            <a:endParaRPr lang="en-US" sz="2000" dirty="0">
              <a:solidFill>
                <a:srgbClr val="000000"/>
              </a:solidFill>
              <a:effectLst/>
              <a:latin typeface="Consolas" panose="020B0609020204030204" pitchFamily="49" charset="0"/>
            </a:endParaRPr>
          </a:p>
        </p:txBody>
      </p:sp>
      <p:cxnSp>
        <p:nvCxnSpPr>
          <p:cNvPr id="4" name="Straight Arrow Connector 3">
            <a:extLst>
              <a:ext uri="{FF2B5EF4-FFF2-40B4-BE49-F238E27FC236}">
                <a16:creationId xmlns:a16="http://schemas.microsoft.com/office/drawing/2014/main" id="{520AD262-E3D7-7F89-C715-04F2C4E7287F}"/>
              </a:ext>
            </a:extLst>
          </p:cNvPr>
          <p:cNvCxnSpPr>
            <a:cxnSpLocks/>
          </p:cNvCxnSpPr>
          <p:nvPr/>
        </p:nvCxnSpPr>
        <p:spPr bwMode="auto">
          <a:xfrm>
            <a:off x="8307905" y="755937"/>
            <a:ext cx="395853" cy="0"/>
          </a:xfrm>
          <a:prstGeom prst="straightConnector1">
            <a:avLst/>
          </a:prstGeom>
          <a:noFill/>
          <a:ln w="38100" cap="flat" cmpd="sng" algn="ctr">
            <a:solidFill>
              <a:srgbClr val="FF0000"/>
            </a:solidFill>
            <a:prstDash val="solid"/>
            <a:round/>
            <a:headEnd type="oval" w="med" len="med"/>
            <a:tailEnd type="triangle"/>
          </a:ln>
          <a:effectLst/>
        </p:spPr>
      </p:cxnSp>
      <p:cxnSp>
        <p:nvCxnSpPr>
          <p:cNvPr id="9" name="Straight Arrow Connector 8">
            <a:extLst>
              <a:ext uri="{FF2B5EF4-FFF2-40B4-BE49-F238E27FC236}">
                <a16:creationId xmlns:a16="http://schemas.microsoft.com/office/drawing/2014/main" id="{25EE1E6D-1ECE-4BC0-CB3E-CD919235A3A2}"/>
              </a:ext>
            </a:extLst>
          </p:cNvPr>
          <p:cNvCxnSpPr>
            <a:cxnSpLocks/>
          </p:cNvCxnSpPr>
          <p:nvPr/>
        </p:nvCxnSpPr>
        <p:spPr bwMode="auto">
          <a:xfrm>
            <a:off x="9565982" y="755937"/>
            <a:ext cx="664612" cy="0"/>
          </a:xfrm>
          <a:prstGeom prst="straightConnector1">
            <a:avLst/>
          </a:prstGeom>
          <a:noFill/>
          <a:ln w="38100" cap="flat" cmpd="sng" algn="ctr">
            <a:solidFill>
              <a:srgbClr val="00B050"/>
            </a:solidFill>
            <a:prstDash val="solid"/>
            <a:round/>
            <a:headEnd type="oval" w="med" len="med"/>
            <a:tailEnd type="triangle"/>
          </a:ln>
          <a:effectLst/>
        </p:spPr>
      </p:cxnSp>
      <p:sp>
        <p:nvSpPr>
          <p:cNvPr id="10" name="Freeform: Shape 9">
            <a:extLst>
              <a:ext uri="{FF2B5EF4-FFF2-40B4-BE49-F238E27FC236}">
                <a16:creationId xmlns:a16="http://schemas.microsoft.com/office/drawing/2014/main" id="{26509E7F-23FB-F628-EB04-3AAEE9614F0A}"/>
              </a:ext>
            </a:extLst>
          </p:cNvPr>
          <p:cNvSpPr/>
          <p:nvPr/>
        </p:nvSpPr>
        <p:spPr bwMode="auto">
          <a:xfrm>
            <a:off x="8703758" y="524173"/>
            <a:ext cx="832964" cy="238091"/>
          </a:xfrm>
          <a:custGeom>
            <a:avLst/>
            <a:gdLst>
              <a:gd name="connsiteX0" fmla="*/ 0 w 601824"/>
              <a:gd name="connsiteY0" fmla="*/ 228600 h 228600"/>
              <a:gd name="connsiteX1" fmla="*/ 27992 w 601824"/>
              <a:gd name="connsiteY1" fmla="*/ 172616 h 228600"/>
              <a:gd name="connsiteX2" fmla="*/ 55984 w 601824"/>
              <a:gd name="connsiteY2" fmla="*/ 163286 h 228600"/>
              <a:gd name="connsiteX3" fmla="*/ 121298 w 601824"/>
              <a:gd name="connsiteY3" fmla="*/ 97971 h 228600"/>
              <a:gd name="connsiteX4" fmla="*/ 144624 w 601824"/>
              <a:gd name="connsiteY4" fmla="*/ 83975 h 228600"/>
              <a:gd name="connsiteX5" fmla="*/ 163286 w 601824"/>
              <a:gd name="connsiteY5" fmla="*/ 69980 h 228600"/>
              <a:gd name="connsiteX6" fmla="*/ 172616 w 601824"/>
              <a:gd name="connsiteY6" fmla="*/ 51318 h 228600"/>
              <a:gd name="connsiteX7" fmla="*/ 270588 w 601824"/>
              <a:gd name="connsiteY7" fmla="*/ 4665 h 228600"/>
              <a:gd name="connsiteX8" fmla="*/ 312575 w 601824"/>
              <a:gd name="connsiteY8" fmla="*/ 0 h 228600"/>
              <a:gd name="connsiteX9" fmla="*/ 461865 w 601824"/>
              <a:gd name="connsiteY9" fmla="*/ 9331 h 228600"/>
              <a:gd name="connsiteX10" fmla="*/ 499188 w 601824"/>
              <a:gd name="connsiteY10" fmla="*/ 27992 h 228600"/>
              <a:gd name="connsiteX11" fmla="*/ 555171 w 601824"/>
              <a:gd name="connsiteY11" fmla="*/ 60649 h 228600"/>
              <a:gd name="connsiteX12" fmla="*/ 559837 w 601824"/>
              <a:gd name="connsiteY12" fmla="*/ 74645 h 228600"/>
              <a:gd name="connsiteX13" fmla="*/ 578498 w 601824"/>
              <a:gd name="connsiteY13" fmla="*/ 116633 h 228600"/>
              <a:gd name="connsiteX14" fmla="*/ 597159 w 601824"/>
              <a:gd name="connsiteY14" fmla="*/ 205273 h 228600"/>
              <a:gd name="connsiteX15" fmla="*/ 601824 w 601824"/>
              <a:gd name="connsiteY15" fmla="*/ 214604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01824" h="228600">
                <a:moveTo>
                  <a:pt x="0" y="228600"/>
                </a:moveTo>
                <a:cubicBezTo>
                  <a:pt x="9331" y="209939"/>
                  <a:pt x="14414" y="188457"/>
                  <a:pt x="27992" y="172616"/>
                </a:cubicBezTo>
                <a:cubicBezTo>
                  <a:pt x="34393" y="165149"/>
                  <a:pt x="55984" y="163286"/>
                  <a:pt x="55984" y="163286"/>
                </a:cubicBezTo>
                <a:cubicBezTo>
                  <a:pt x="83629" y="131032"/>
                  <a:pt x="85988" y="125133"/>
                  <a:pt x="121298" y="97971"/>
                </a:cubicBezTo>
                <a:cubicBezTo>
                  <a:pt x="128485" y="92442"/>
                  <a:pt x="137079" y="89005"/>
                  <a:pt x="144624" y="83975"/>
                </a:cubicBezTo>
                <a:cubicBezTo>
                  <a:pt x="151094" y="79662"/>
                  <a:pt x="157065" y="74645"/>
                  <a:pt x="163286" y="69980"/>
                </a:cubicBezTo>
                <a:cubicBezTo>
                  <a:pt x="166396" y="63759"/>
                  <a:pt x="167360" y="55873"/>
                  <a:pt x="172616" y="51318"/>
                </a:cubicBezTo>
                <a:cubicBezTo>
                  <a:pt x="225864" y="5169"/>
                  <a:pt x="217897" y="10864"/>
                  <a:pt x="270588" y="4665"/>
                </a:cubicBezTo>
                <a:lnTo>
                  <a:pt x="312575" y="0"/>
                </a:lnTo>
                <a:cubicBezTo>
                  <a:pt x="362338" y="3110"/>
                  <a:pt x="412556" y="1935"/>
                  <a:pt x="461865" y="9331"/>
                </a:cubicBezTo>
                <a:cubicBezTo>
                  <a:pt x="475620" y="11394"/>
                  <a:pt x="486895" y="21484"/>
                  <a:pt x="499188" y="27992"/>
                </a:cubicBezTo>
                <a:cubicBezTo>
                  <a:pt x="537146" y="48087"/>
                  <a:pt x="530981" y="44522"/>
                  <a:pt x="555171" y="60649"/>
                </a:cubicBezTo>
                <a:cubicBezTo>
                  <a:pt x="556726" y="65314"/>
                  <a:pt x="557840" y="70151"/>
                  <a:pt x="559837" y="74645"/>
                </a:cubicBezTo>
                <a:cubicBezTo>
                  <a:pt x="581430" y="123231"/>
                  <a:pt x="567987" y="85106"/>
                  <a:pt x="578498" y="116633"/>
                </a:cubicBezTo>
                <a:cubicBezTo>
                  <a:pt x="582074" y="141664"/>
                  <a:pt x="587160" y="185273"/>
                  <a:pt x="597159" y="205273"/>
                </a:cubicBezTo>
                <a:lnTo>
                  <a:pt x="601824" y="214604"/>
                </a:lnTo>
              </a:path>
            </a:pathLst>
          </a:custGeom>
          <a:noFill/>
          <a:ln w="12700" cap="flat" cmpd="sng" algn="ctr">
            <a:solidFill>
              <a:srgbClr val="C00000"/>
            </a:solidFill>
            <a:prstDash val="sysDash"/>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Tree>
    <p:extLst>
      <p:ext uri="{BB962C8B-B14F-4D97-AF65-F5344CB8AC3E}">
        <p14:creationId xmlns:p14="http://schemas.microsoft.com/office/powerpoint/2010/main" val="251618506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17206-3D62-0AE4-B4EC-CEB262EC3A73}"/>
              </a:ext>
            </a:extLst>
          </p:cNvPr>
          <p:cNvSpPr>
            <a:spLocks noGrp="1"/>
          </p:cNvSpPr>
          <p:nvPr>
            <p:ph type="title"/>
          </p:nvPr>
        </p:nvSpPr>
        <p:spPr/>
        <p:txBody>
          <a:bodyPr/>
          <a:lstStyle/>
          <a:p>
            <a:r>
              <a:rPr lang="en-US" dirty="0"/>
              <a:t>Remove First Record in Window Query</a:t>
            </a:r>
          </a:p>
        </p:txBody>
      </p:sp>
      <p:sp>
        <p:nvSpPr>
          <p:cNvPr id="4" name="Content Placeholder 3">
            <a:extLst>
              <a:ext uri="{FF2B5EF4-FFF2-40B4-BE49-F238E27FC236}">
                <a16:creationId xmlns:a16="http://schemas.microsoft.com/office/drawing/2014/main" id="{F65923A9-8875-FD4A-3F84-BCBE0CCE53E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5FF4EC1-2A62-AEA1-3952-127BAF74C1BE}"/>
              </a:ext>
            </a:extLst>
          </p:cNvPr>
          <p:cNvPicPr>
            <a:picLocks noChangeAspect="1"/>
          </p:cNvPicPr>
          <p:nvPr/>
        </p:nvPicPr>
        <p:blipFill>
          <a:blip r:embed="rId2"/>
          <a:stretch>
            <a:fillRect/>
          </a:stretch>
        </p:blipFill>
        <p:spPr>
          <a:xfrm>
            <a:off x="785046" y="2540194"/>
            <a:ext cx="10911840" cy="233728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65243857"/>
      </p:ext>
    </p:extLst>
  </p:cSld>
  <p:clrMapOvr>
    <a:masterClrMapping/>
  </p:clrMapOvr>
  <p:transition/>
</p:sld>
</file>

<file path=ppt/theme/theme1.xml><?xml version="1.0" encoding="utf-8"?>
<a:theme xmlns:a="http://schemas.openxmlformats.org/drawingml/2006/main" name="1_Stony Brook Universit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2_Standard">
  <a:themeElements>
    <a:clrScheme name="siemens internal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iemens intern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rgbClr val="FF99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Siemens Sans Black" pitchFamily="2" charset="0"/>
          </a:defRPr>
        </a:defPPr>
      </a:lstStyle>
    </a:spDef>
    <a:lnDef>
      <a:spPr bwMode="auto">
        <a:xfrm>
          <a:off x="0" y="0"/>
          <a:ext cx="1" cy="1"/>
        </a:xfrm>
        <a:custGeom>
          <a:avLst/>
          <a:gdLst/>
          <a:ahLst/>
          <a:cxnLst/>
          <a:rect l="0" t="0" r="0" b="0"/>
          <a:pathLst/>
        </a:custGeom>
        <a:noFill/>
        <a:ln w="12700" cap="flat" cmpd="sng" algn="ctr">
          <a:solidFill>
            <a:srgbClr val="FF99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Siemens Sans Black" pitchFamily="2" charset="0"/>
          </a:defRPr>
        </a:defPPr>
      </a:lstStyle>
    </a:lnDef>
  </a:objectDefaults>
  <a:extraClrSchemeLst>
    <a:extraClrScheme>
      <a:clrScheme name="siemens internal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iemens internal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iemens internal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iemens internal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iemens internal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iemens internal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iemens internal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2247</TotalTime>
  <Words>546</Words>
  <Application>Microsoft Office PowerPoint</Application>
  <PresentationFormat>Widescreen</PresentationFormat>
  <Paragraphs>72</Paragraphs>
  <Slides>10</Slides>
  <Notes>1</Notes>
  <HiddenSlides>1</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10</vt:i4>
      </vt:variant>
    </vt:vector>
  </HeadingPairs>
  <TitlesOfParts>
    <vt:vector size="20" baseType="lpstr">
      <vt:lpstr>Lucida Grande</vt:lpstr>
      <vt:lpstr>Siemens Sans</vt:lpstr>
      <vt:lpstr>Siemens Sans Black</vt:lpstr>
      <vt:lpstr>Arial</vt:lpstr>
      <vt:lpstr>Calibri</vt:lpstr>
      <vt:lpstr>Consolas</vt:lpstr>
      <vt:lpstr>Helvetica</vt:lpstr>
      <vt:lpstr>Verdana</vt:lpstr>
      <vt:lpstr>1_Stony Brook University</vt:lpstr>
      <vt:lpstr>2_Standard</vt:lpstr>
      <vt:lpstr>PowerPoint Presentation</vt:lpstr>
      <vt:lpstr>30-day Hospital Readmisisions</vt:lpstr>
      <vt:lpstr>Example Data</vt:lpstr>
      <vt:lpstr>Example Queries: 30-day Readmisisions</vt:lpstr>
      <vt:lpstr>Exercise: Write a Query to Find all 30-day Readmissions</vt:lpstr>
      <vt:lpstr>30-day Readmissions: Self-Join</vt:lpstr>
      <vt:lpstr>Results</vt:lpstr>
      <vt:lpstr>30-day Readmission: Window Query</vt:lpstr>
      <vt:lpstr>30-day Readmission: Window Query</vt:lpstr>
      <vt:lpstr>Remove First Record in Window Query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DB2 Setup</dc:title>
  <dc:creator>Fusheng  Wang</dc:creator>
  <cp:lastModifiedBy>Fusheng Wang</cp:lastModifiedBy>
  <cp:revision>239</cp:revision>
  <dcterms:created xsi:type="dcterms:W3CDTF">2023-01-17T14:49:53Z</dcterms:created>
  <dcterms:modified xsi:type="dcterms:W3CDTF">2025-06-17T02:06:30Z</dcterms:modified>
</cp:coreProperties>
</file>