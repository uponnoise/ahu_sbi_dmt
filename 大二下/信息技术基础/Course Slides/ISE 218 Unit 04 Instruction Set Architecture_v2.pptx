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550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63" r:id="rId11"/>
    <p:sldId id="272" r:id="rId12"/>
    <p:sldId id="275" r:id="rId13"/>
    <p:sldId id="273" r:id="rId14"/>
    <p:sldId id="276" r:id="rId15"/>
    <p:sldId id="277" r:id="rId16"/>
    <p:sldId id="279" r:id="rId17"/>
    <p:sldId id="280" r:id="rId18"/>
    <p:sldId id="281" r:id="rId19"/>
    <p:sldId id="312" r:id="rId20"/>
    <p:sldId id="313" r:id="rId21"/>
    <p:sldId id="314" r:id="rId22"/>
    <p:sldId id="315" r:id="rId23"/>
    <p:sldId id="278" r:id="rId24"/>
    <p:sldId id="310" r:id="rId25"/>
    <p:sldId id="311" r:id="rId26"/>
    <p:sldId id="282" r:id="rId27"/>
    <p:sldId id="288" r:id="rId28"/>
    <p:sldId id="295" r:id="rId29"/>
    <p:sldId id="293" r:id="rId30"/>
    <p:sldId id="296" r:id="rId31"/>
    <p:sldId id="297" r:id="rId32"/>
    <p:sldId id="298" r:id="rId33"/>
    <p:sldId id="294" r:id="rId34"/>
    <p:sldId id="289" r:id="rId35"/>
    <p:sldId id="290" r:id="rId36"/>
    <p:sldId id="299" r:id="rId37"/>
    <p:sldId id="300" r:id="rId38"/>
    <p:sldId id="301" r:id="rId39"/>
    <p:sldId id="302" r:id="rId40"/>
    <p:sldId id="303" r:id="rId41"/>
    <p:sldId id="308" r:id="rId42"/>
    <p:sldId id="309" r:id="rId43"/>
    <p:sldId id="307" r:id="rId44"/>
    <p:sldId id="306" r:id="rId45"/>
    <p:sldId id="304" r:id="rId46"/>
    <p:sldId id="30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8076A-2C43-40B4-8670-9E3AAE98A339}" v="1" dt="2025-03-14T11:45:32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770" autoAdjust="0"/>
  </p:normalViewPr>
  <p:slideViewPr>
    <p:cSldViewPr snapToGrid="0">
      <p:cViewPr varScale="1">
        <p:scale>
          <a:sx n="83" d="100"/>
          <a:sy n="83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B838076A-2C43-40B4-8670-9E3AAE98A339}"/>
    <pc:docChg chg="custSel modSld">
      <pc:chgData name="于 心瑞 Xinrui YU" userId="e6fcc6d4-2b88-4beb-95d7-57ae4d33a768" providerId="ADAL" clId="{B838076A-2C43-40B4-8670-9E3AAE98A339}" dt="2025-03-14T11:45:35.429" v="2" actId="478"/>
      <pc:docMkLst>
        <pc:docMk/>
      </pc:docMkLst>
      <pc:sldChg chg="addSp delSp modSp mod">
        <pc:chgData name="于 心瑞 Xinrui YU" userId="e6fcc6d4-2b88-4beb-95d7-57ae4d33a768" providerId="ADAL" clId="{B838076A-2C43-40B4-8670-9E3AAE98A339}" dt="2025-03-14T11:45:35.429" v="2" actId="478"/>
        <pc:sldMkLst>
          <pc:docMk/>
          <pc:sldMk cId="3252378307" sldId="550"/>
        </pc:sldMkLst>
        <pc:spChg chg="del">
          <ac:chgData name="于 心瑞 Xinrui YU" userId="e6fcc6d4-2b88-4beb-95d7-57ae4d33a768" providerId="ADAL" clId="{B838076A-2C43-40B4-8670-9E3AAE98A339}" dt="2025-03-14T11:45:28.779" v="0" actId="478"/>
          <ac:spMkLst>
            <pc:docMk/>
            <pc:sldMk cId="3252378307" sldId="550"/>
            <ac:spMk id="3" creationId="{4DCD6985-364C-407E-B0BD-DB3847671993}"/>
          </ac:spMkLst>
        </pc:spChg>
        <pc:spChg chg="add del mod">
          <ac:chgData name="于 心瑞 Xinrui YU" userId="e6fcc6d4-2b88-4beb-95d7-57ae4d33a768" providerId="ADAL" clId="{B838076A-2C43-40B4-8670-9E3AAE98A339}" dt="2025-03-14T11:45:35.429" v="2" actId="478"/>
          <ac:spMkLst>
            <pc:docMk/>
            <pc:sldMk cId="3252378307" sldId="550"/>
            <ac:spMk id="6" creationId="{79A92B6C-42CC-872C-5F9B-997230B6C24A}"/>
          </ac:spMkLst>
        </pc:spChg>
        <pc:spChg chg="add mod">
          <ac:chgData name="于 心瑞 Xinrui YU" userId="e6fcc6d4-2b88-4beb-95d7-57ae4d33a768" providerId="ADAL" clId="{B838076A-2C43-40B4-8670-9E3AAE98A339}" dt="2025-03-14T11:45:32.586" v="1"/>
          <ac:spMkLst>
            <pc:docMk/>
            <pc:sldMk cId="3252378307" sldId="550"/>
            <ac:spMk id="7" creationId="{F081EABD-7BC9-78B1-DE44-414EC454BD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4D0BB-5522-4C10-8135-53B21677EA2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99D46-16F3-4057-B356-6BA1F3AC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552B-82FF-4AB4-9609-C7A7D3BD1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ACFFC-15DD-45C9-8591-64FB971AF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0A81-BD6A-4705-B1A1-53C59C7A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57A9-5704-449B-95E2-D0CCC051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4D6D-FCEB-4AB3-A5AF-D02DB65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7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BB47-85D7-4C03-AFE8-AE56293C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069EB-CBF3-4983-BD1A-BE58482C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7482-8B8C-4ECB-BD8F-227C120E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89392-4818-4C89-9DFA-A27DAB76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3950-D55E-4C81-B644-450FE394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4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DB90-BB39-4756-8952-3A1C2DB8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2473-D10D-42DD-BA3D-583595F89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9556-2CB1-48A8-B892-A9C61964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B00-C4F2-4A0E-94EE-D6A84930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9A8A-E754-4481-87DD-5324EE60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C46B-657D-4B96-AF11-2F595FCF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23D2-5632-40CB-8093-37AFF79E2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FF951-8D8F-459D-8863-B8A35EF8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4D493-34D8-43AD-8A01-CE212CE9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C614-C652-4266-8E09-E7370A0C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A22F-6DAB-4A37-91AA-96D2E04F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1189-EB22-47FF-B37D-14AADFFD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9329-89A8-40CC-B8D1-C0D2D346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7A9D-9C23-42EF-8B31-98A681808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96BC8-4529-4594-A62A-B0490D8B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9B1F9-831C-4959-9FAC-00D6420CA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7478D-9499-493E-87D6-4D06F7A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CEA6-3C43-4928-97C7-2D92EACA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4DCCD-B828-4CFA-B830-C481107B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E580-3584-400F-82B4-86B1D3BA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705-C5F9-457F-BFEC-F13A4482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4B83A-7635-4D97-B096-219D7DB7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72993-E0E3-4A12-8240-710606F6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D6E1-7F80-40E1-BF2F-B05F1E9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12BDF-9915-4950-ACA4-33E3BB3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EA4C-F843-4446-A7B6-4A4B8578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4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D886-60B2-4DD3-8E28-4E27ADA5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CEA3-FD12-4E89-8543-AD44DB043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A5EA-5B38-48D1-878E-F4B7E54C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C3C98-0E0F-4D52-B760-26791C92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22735-0599-4C70-AF7B-5A867BE6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1B80-CA4F-418D-B784-E06AD167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E478-4348-499F-93A8-209D5937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11465-A55C-43F8-BC8B-65C908BBC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AA8CF-35C7-4E7A-8CF2-DD1B3128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A830D-05B3-4113-A934-CE046200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2548-ED48-4FDD-9329-54769D0A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CEB7C-F788-43DF-85B5-0DBA7C07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9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F941-46EF-4311-AED7-D0BB6636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D0C78-72E8-42D8-A8A3-0BD58C4C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E8BB-B3FA-45D6-98E9-9C11F14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C78D-3294-4990-8C81-80D15BB9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B28C-5C64-478B-A901-757A858E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6A487-2590-4615-B417-E2168DE65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70FE8-B807-4A10-88EE-5557BDB62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CCCA-6C6B-4B0E-BBAD-24322C9E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A20AF-9B80-4FBF-9840-ACF1BF2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2727-D5B7-4EF1-B44C-581A9DA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9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B331-D111-4B58-8269-2659FD6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94232-12F2-4F6F-8D85-CA6F5670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F1BF-9115-4CA0-9F58-D0A674347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C8182-8A53-4BCE-8F74-6947BE705CD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B8B1-D0DD-4F6A-9A0C-E4BAD5561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089-E9D4-4D61-92EB-9C11EA500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Text, letter&#10;&#10;Description automatically generated">
            <a:extLst>
              <a:ext uri="{FF2B5EF4-FFF2-40B4-BE49-F238E27FC236}">
                <a16:creationId xmlns:a16="http://schemas.microsoft.com/office/drawing/2014/main" id="{E00B5315-1DCF-0FCD-0AF4-436BC7B08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122232"/>
            <a:ext cx="5982803" cy="2213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2E598-3A9F-494B-94CA-04DD070C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3" y="3429000"/>
            <a:ext cx="10080312" cy="1713305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/>
              <a:t>ISE 218: Fundamentals of Information Technology</a:t>
            </a:r>
            <a:br>
              <a:rPr lang="en-US" sz="3800" dirty="0"/>
            </a:br>
            <a:r>
              <a:rPr lang="en-US" sz="3800" dirty="0"/>
              <a:t>Unit 4: Instruction Set Architecture</a:t>
            </a:r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F081EABD-7BC9-78B1-DE44-414EC454BDEC}"/>
              </a:ext>
            </a:extLst>
          </p:cNvPr>
          <p:cNvSpPr txBox="1">
            <a:spLocks/>
          </p:cNvSpPr>
          <p:nvPr/>
        </p:nvSpPr>
        <p:spPr>
          <a:xfrm>
            <a:off x="1289303" y="5142305"/>
            <a:ext cx="7321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900"/>
            </a:pPr>
            <a:r>
              <a:rPr lang="en-US" sz="1800" dirty="0"/>
              <a:t>Spring 2025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Instructor: Abid Malik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co-Instructor: Xinrui Yu</a:t>
            </a:r>
          </a:p>
        </p:txBody>
      </p:sp>
    </p:spTree>
    <p:extLst>
      <p:ext uri="{BB962C8B-B14F-4D97-AF65-F5344CB8AC3E}">
        <p14:creationId xmlns:p14="http://schemas.microsoft.com/office/powerpoint/2010/main" val="325237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Unit builds upon the ideas in Unit 3.</a:t>
            </a:r>
          </a:p>
          <a:p>
            <a:r>
              <a:rPr lang="en-US" dirty="0"/>
              <a:t>We will take a detailed look at different instruction formats, operand types, and memory access methods.</a:t>
            </a:r>
          </a:p>
          <a:p>
            <a:r>
              <a:rPr lang="en-US" dirty="0"/>
              <a:t>We will see the interrelation between machine organization and instruction formats.</a:t>
            </a:r>
          </a:p>
          <a:p>
            <a:r>
              <a:rPr lang="en-US" dirty="0"/>
              <a:t>This leads to a deeper understanding of computer architecture in general.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1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sets are differentiated by the following:</a:t>
            </a:r>
          </a:p>
          <a:p>
            <a:pPr lvl="1"/>
            <a:r>
              <a:rPr lang="en-US" dirty="0"/>
              <a:t>Number of bits per instruction.</a:t>
            </a:r>
          </a:p>
          <a:p>
            <a:pPr lvl="1"/>
            <a:r>
              <a:rPr lang="en-US" dirty="0"/>
              <a:t>How computations are carried out.</a:t>
            </a:r>
          </a:p>
          <a:p>
            <a:pPr lvl="1"/>
            <a:r>
              <a:rPr lang="en-US" dirty="0"/>
              <a:t>Number of explicit operands per instruction.</a:t>
            </a:r>
          </a:p>
          <a:p>
            <a:pPr lvl="1"/>
            <a:r>
              <a:rPr lang="en-US" dirty="0"/>
              <a:t>Operand location: in registers or main memory</a:t>
            </a:r>
          </a:p>
          <a:p>
            <a:pPr lvl="1"/>
            <a:r>
              <a:rPr lang="en-US" dirty="0"/>
              <a:t>Types of operations.</a:t>
            </a:r>
          </a:p>
          <a:p>
            <a:pPr lvl="1"/>
            <a:r>
              <a:rPr lang="en-US" dirty="0"/>
              <a:t>Type and size of operands.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8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 set architectures are measured according to:</a:t>
            </a:r>
          </a:p>
          <a:p>
            <a:pPr lvl="1"/>
            <a:r>
              <a:rPr lang="en-US" dirty="0"/>
              <a:t>Main memory space occupied by a program.</a:t>
            </a:r>
          </a:p>
          <a:p>
            <a:pPr lvl="1"/>
            <a:r>
              <a:rPr lang="en-US" dirty="0"/>
              <a:t>Instruction complexity.</a:t>
            </a:r>
          </a:p>
          <a:p>
            <a:pPr lvl="1"/>
            <a:r>
              <a:rPr lang="en-US" dirty="0"/>
              <a:t>Instruction length (in bits).</a:t>
            </a:r>
          </a:p>
          <a:p>
            <a:pPr lvl="1"/>
            <a:r>
              <a:rPr lang="en-US" dirty="0"/>
              <a:t>Total number of instructions in the instruction set.</a:t>
            </a:r>
          </a:p>
          <a:p>
            <a:r>
              <a:rPr lang="en-US" dirty="0"/>
              <a:t>In designing an instruction set, consideration is given to:</a:t>
            </a:r>
          </a:p>
          <a:p>
            <a:pPr lvl="1"/>
            <a:r>
              <a:rPr lang="en-US" dirty="0"/>
              <a:t>Instruction length: whether short, long, or variable.</a:t>
            </a:r>
          </a:p>
          <a:p>
            <a:pPr lvl="1"/>
            <a:r>
              <a:rPr lang="en-US" dirty="0"/>
              <a:t>Number of operands.</a:t>
            </a:r>
          </a:p>
          <a:p>
            <a:pPr lvl="1"/>
            <a:r>
              <a:rPr lang="en-US" dirty="0"/>
              <a:t>Number of programmer-accessible registers.</a:t>
            </a:r>
          </a:p>
          <a:p>
            <a:pPr lvl="1"/>
            <a:r>
              <a:rPr lang="en-US" dirty="0"/>
              <a:t>Memory organization: whether byte- or word-addressable.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1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Byte ordering, or </a:t>
            </a:r>
            <a:r>
              <a:rPr lang="en-US" b="1" dirty="0"/>
              <a:t>endianness</a:t>
            </a:r>
            <a:r>
              <a:rPr lang="en-US" dirty="0"/>
              <a:t>, is another major architectural consideration.</a:t>
            </a:r>
          </a:p>
          <a:p>
            <a:r>
              <a:rPr lang="en-US" dirty="0"/>
              <a:t>If we have a two-byte integer, the integer may be stored so that the least significant byte is followed by the most significant byte or vice versa.</a:t>
            </a:r>
          </a:p>
          <a:p>
            <a:pPr lvl="1"/>
            <a:r>
              <a:rPr lang="en-US" dirty="0"/>
              <a:t>In little endian machines, the least significant byte is followed by the most significant byte.</a:t>
            </a:r>
          </a:p>
          <a:p>
            <a:pPr lvl="1"/>
            <a:r>
              <a:rPr lang="en-US" dirty="0"/>
              <a:t>Big endian machines store the most significant byte first (at the lower address). </a:t>
            </a:r>
          </a:p>
          <a:p>
            <a:r>
              <a:rPr lang="en-US" dirty="0"/>
              <a:t>As an example, suppose we have the hexadecimal number 0x12345678.</a:t>
            </a:r>
          </a:p>
          <a:p>
            <a:r>
              <a:rPr lang="en-US" dirty="0"/>
              <a:t>The big endian and small endian arrangements of the bytes are shown below.</a:t>
            </a:r>
          </a:p>
          <a:p>
            <a:endParaRPr lang="en-US" dirty="0"/>
          </a:p>
        </p:txBody>
      </p:sp>
      <p:pic>
        <p:nvPicPr>
          <p:cNvPr id="4" name="Picture 7" descr="C:\wpdocs\Julie\ECOA3e\PPTs\5-1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63" y="5382127"/>
            <a:ext cx="8458200" cy="13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90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3733800" cy="5257800"/>
          </a:xfrm>
        </p:spPr>
        <p:txBody>
          <a:bodyPr/>
          <a:lstStyle/>
          <a:p>
            <a:r>
              <a:rPr lang="en-US" dirty="0"/>
              <a:t>A larger example of endianness: a computer uses 32-bit integers. The values 0xABCD1234, 0x00FE4321, and 0x10 would be stored sequentially in memory, starting at address 0x200, as shown on the right.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545" y="1219199"/>
            <a:ext cx="6959855" cy="4966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39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endian:</a:t>
            </a:r>
          </a:p>
          <a:p>
            <a:pPr lvl="1"/>
            <a:r>
              <a:rPr lang="en-US" dirty="0"/>
              <a:t>Is more intuitive for many people.</a:t>
            </a:r>
          </a:p>
          <a:p>
            <a:pPr lvl="1"/>
            <a:r>
              <a:rPr lang="en-US" dirty="0"/>
              <a:t>The sign of the number can be determined by looking at the byte at address offset 0.</a:t>
            </a:r>
          </a:p>
          <a:p>
            <a:pPr lvl="1"/>
            <a:r>
              <a:rPr lang="en-US" dirty="0"/>
              <a:t>Strings and integers are stored in the same order.</a:t>
            </a:r>
          </a:p>
          <a:p>
            <a:r>
              <a:rPr lang="en-US" dirty="0"/>
              <a:t>Little endian:</a:t>
            </a:r>
          </a:p>
          <a:p>
            <a:pPr lvl="1"/>
            <a:r>
              <a:rPr lang="en-US" dirty="0"/>
              <a:t>Has a more natural connection with the place-values of base-2 integers.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8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you have a byte-addressable machine that uses 32-bit integers and you are storing the hex value 3456 at address 0.</a:t>
            </a:r>
          </a:p>
          <a:p>
            <a:r>
              <a:rPr lang="en-US" dirty="0"/>
              <a:t>How is this value stored on a big endian machine?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2BCD08-F8BE-4344-B505-DC1F554BAC41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3429000"/>
          <a:ext cx="533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42792955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702324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4324518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588510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9331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Address: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4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37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you have a byte-addressable machine that uses 32-bit integers and you are storing the hex value 3456 at address 0.</a:t>
            </a:r>
          </a:p>
          <a:p>
            <a:r>
              <a:rPr lang="en-US" dirty="0"/>
              <a:t>How is this value stored on a little endian machine?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2BCD08-F8BE-4344-B505-DC1F554BAC41}"/>
              </a:ext>
            </a:extLst>
          </p:cNvPr>
          <p:cNvGraphicFramePr>
            <a:graphicFrameLocks noGrp="1"/>
          </p:cNvGraphicFramePr>
          <p:nvPr/>
        </p:nvGraphicFramePr>
        <p:xfrm>
          <a:off x="1283368" y="3429000"/>
          <a:ext cx="533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42792955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702324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4324518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588510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9331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Address: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latin typeface="+mj-lt"/>
                        </a:rPr>
                        <a:t>Bytes:</a:t>
                      </a:r>
                      <a:endParaRPr lang="en-US" sz="2400" b="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4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91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731"/>
            <a:ext cx="10515600" cy="4903232"/>
          </a:xfrm>
        </p:spPr>
        <p:txBody>
          <a:bodyPr/>
          <a:lstStyle/>
          <a:p>
            <a:r>
              <a:rPr lang="en-US" dirty="0"/>
              <a:t>Fill in the following table to show how the given integers are represented, assuming 16 bits are used to store the values and the machine uses two’s complement notation.</a:t>
            </a:r>
          </a:p>
          <a:p>
            <a:endParaRPr lang="en-US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76D0A861-9086-4719-9292-C95BBFB51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5075" y="2506662"/>
            <a:ext cx="0" cy="3109913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E654BD6C-8EAA-469C-9B2E-E0CDAEC62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2506662"/>
            <a:ext cx="0" cy="3109913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6644164-AC3D-4A58-8403-C37FB7631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2506662"/>
            <a:ext cx="0" cy="3109913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4B34A97-5DBD-4082-9D35-CD36800F2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333750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78A70A3D-031A-4093-B30C-124778622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789362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FD5C3396-E998-4E3C-B901-323D7922F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244975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7D209517-893D-44E6-AE4D-F2664C03A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700587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BCA9330C-D8CA-4D9D-8FF6-7B8D4DB04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156200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F780E188-0AEB-4148-80B5-316645EDA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4738" y="2506662"/>
            <a:ext cx="0" cy="3109913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4C774DB3-8723-4D6B-99EE-402891505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9688" y="2506662"/>
            <a:ext cx="0" cy="3109913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60011E8E-A171-4DA7-850E-A5FED0489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514600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82D1736A-3F57-42A6-82D8-818081F45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611812"/>
            <a:ext cx="6596063" cy="0"/>
          </a:xfrm>
          <a:prstGeom prst="line">
            <a:avLst/>
          </a:pr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E1E1EA8E-25B6-4C1E-8EF0-EA2E0CC1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2571750"/>
            <a:ext cx="10313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Integer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F9A24F93-AA9F-4D17-B5BB-F912F258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3" y="2571750"/>
            <a:ext cx="542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Hex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5FC2874D-25D8-4583-9F8D-D549CF08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2571750"/>
            <a:ext cx="14719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4-byte big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95DD8ED9-DCEB-4A53-A146-B200A6DC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2936875"/>
            <a:ext cx="981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endian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F49CF8E8-2057-4EB0-84A1-4F21304CD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2571750"/>
            <a:ext cx="17059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4-byte little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A1077F49-C043-4791-80E7-DC2855F69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2936875"/>
            <a:ext cx="981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endian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3868F5DE-7D51-46E6-BA0D-80CACBB97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3392487"/>
            <a:ext cx="3654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28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39A296E3-7AC9-4058-A207-20F4BBAFF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047" y="339883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2BEBA902-477D-4354-B148-9B984A900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384" y="339883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AE8DB5BF-1AD1-465F-8143-0F9F08285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072" y="339883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1C00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0EC4D6A6-4E9A-4A15-9D31-F7EF70184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3848100"/>
            <a:ext cx="7309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2216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E9C2D147-760F-4FBF-BD35-F272AB710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047" y="3854450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08A8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4076AA56-B378-4808-BAB7-45FC073B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384" y="3854450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08A8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6EA2E736-CE4C-4F38-A15F-08A9829F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072" y="3854450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A808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3E055072-0237-4AC9-83E7-DB2DA9217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4303712"/>
            <a:ext cx="104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6563F255-93B2-4BCE-A192-7F3BE81C8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825" y="4303712"/>
            <a:ext cx="913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18675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DDA3AF3B-D80A-4949-83A9-E4E78E298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047" y="4310062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B70D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91850C35-29E9-40DF-848E-9659FD37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384" y="4310062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B70D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5C9AF6E2-546E-476F-A4F8-649A778CE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072" y="4310062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0DB7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A306FCB4-EF77-4D84-A511-8D9A8C13B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4759325"/>
            <a:ext cx="104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F8AD458E-5C91-4453-A100-9E365668F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825" y="4759325"/>
            <a:ext cx="3654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12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89D182F4-A095-4FA3-A327-EB472B1F6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047" y="4765675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BFA4EFB8-D883-428C-9D1A-2EC64A5C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384" y="4765675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35D9E889-747C-470D-B2D6-F44D515B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072" y="4765675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F4FF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0" name="Rectangle 41">
            <a:extLst>
              <a:ext uri="{FF2B5EF4-FFF2-40B4-BE49-F238E27FC236}">
                <a16:creationId xmlns:a16="http://schemas.microsoft.com/office/drawing/2014/main" id="{E2FAB0C2-224C-4C78-ADF6-DD16F99EE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5214937"/>
            <a:ext cx="913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31456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41" name="Rectangle 42">
            <a:extLst>
              <a:ext uri="{FF2B5EF4-FFF2-40B4-BE49-F238E27FC236}">
                <a16:creationId xmlns:a16="http://schemas.microsoft.com/office/drawing/2014/main" id="{238F53CB-2834-447A-BBC9-FFEFB8765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047" y="522128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7AE0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7EC6B9FB-BD6E-42C6-94E6-ECDF8A3FA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522128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7AE0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3" name="Rectangle 44">
            <a:extLst>
              <a:ext uri="{FF2B5EF4-FFF2-40B4-BE49-F238E27FC236}">
                <a16:creationId xmlns:a16="http://schemas.microsoft.com/office/drawing/2014/main" id="{7A9DBE2C-16E4-49C4-AC35-D166B120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5221287"/>
            <a:ext cx="737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E07A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8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8" grpId="0"/>
      <p:bldP spid="29" grpId="0"/>
      <p:bldP spid="33" grpId="0"/>
      <p:bldP spid="34" grpId="0"/>
      <p:bldP spid="38" grpId="0"/>
      <p:bldP spid="39" grpId="0"/>
      <p:bldP spid="42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7848600" cy="5257800"/>
          </a:xfrm>
        </p:spPr>
        <p:txBody>
          <a:bodyPr/>
          <a:lstStyle/>
          <a:p>
            <a:r>
              <a:rPr lang="en-US" dirty="0"/>
              <a:t>Consider a 32-bit hexadecimal number stored in memory as shown on the right:</a:t>
            </a:r>
          </a:p>
          <a:p>
            <a:r>
              <a:rPr lang="en-US" dirty="0"/>
              <a:t>If the machine is big endian and uses two’s complement representation for integers, write the 32-bit integer number stored at address 100.</a:t>
            </a:r>
          </a:p>
          <a:p>
            <a:r>
              <a:rPr lang="en-US" dirty="0"/>
              <a:t>Answer: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2AC2081B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D77010-E6A8-4DF6-81D6-3F2B0983E041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1219200"/>
          <a:ext cx="28803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304151979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1259428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62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91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1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566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45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24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7848600" cy="5257800"/>
          </a:xfrm>
        </p:spPr>
        <p:txBody>
          <a:bodyPr/>
          <a:lstStyle/>
          <a:p>
            <a:r>
              <a:rPr lang="en-US" dirty="0"/>
              <a:t>Consider a 32-bit hexadecimal number stored in memory as shown on the right:</a:t>
            </a:r>
          </a:p>
          <a:p>
            <a:r>
              <a:rPr lang="en-US" dirty="0"/>
              <a:t>If the machine is little endian and uses two’s complement representation for integers, write the 32-bit integer number stored at address 100.</a:t>
            </a:r>
          </a:p>
          <a:p>
            <a:r>
              <a:rPr lang="en-US" dirty="0"/>
              <a:t>Answer: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1B08C22A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D77010-E6A8-4DF6-81D6-3F2B0983E041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1219200"/>
          <a:ext cx="28803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304151979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1259428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62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91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1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566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45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84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Endianness: Example #6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first two bytes of a 2M x 16 main memory have the following hex values:</a:t>
                </a:r>
              </a:p>
              <a:p>
                <a:pPr lvl="1"/>
                <a:r>
                  <a:rPr lang="en-US" dirty="0"/>
                  <a:t>Byte 0 is FE</a:t>
                </a:r>
              </a:p>
              <a:p>
                <a:pPr lvl="1"/>
                <a:r>
                  <a:rPr lang="en-US" dirty="0"/>
                  <a:t>Byte 1 is 01</a:t>
                </a:r>
              </a:p>
              <a:p>
                <a:r>
                  <a:rPr lang="en-US" dirty="0"/>
                  <a:t>If these bytes hold a 16-bit two’s complement integer, what is its actual decimal value if:</a:t>
                </a:r>
              </a:p>
              <a:p>
                <a:pPr lvl="1"/>
                <a:r>
                  <a:rPr lang="en-US" dirty="0"/>
                  <a:t>memory is big endian?</a:t>
                </a:r>
              </a:p>
              <a:p>
                <a:pPr lvl="1"/>
                <a:r>
                  <a:rPr lang="en-US" dirty="0"/>
                  <a:t>0xFE01 = 1111 1110 0000 0001</a:t>
                </a:r>
                <a:r>
                  <a:rPr lang="en-US" baseline="-25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−511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baseline="-25000" dirty="0"/>
              </a:p>
              <a:p>
                <a:pPr lvl="1"/>
                <a:r>
                  <a:rPr lang="en-US" dirty="0"/>
                  <a:t>memory is little endian?</a:t>
                </a:r>
              </a:p>
              <a:p>
                <a:pPr lvl="1"/>
                <a:r>
                  <a:rPr lang="en-US" dirty="0"/>
                  <a:t>0x01FE = 0000 0001 1111 1110</a:t>
                </a:r>
                <a:r>
                  <a:rPr lang="en-US" baseline="-25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510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baseline="-25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89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next consideration for architecture design concerns how the CPU will store data.</a:t>
            </a:r>
          </a:p>
          <a:p>
            <a:r>
              <a:rPr lang="en-US" dirty="0"/>
              <a:t>We have three choices:</a:t>
            </a:r>
          </a:p>
          <a:p>
            <a:pPr marL="684213" indent="-339725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stack </a:t>
            </a:r>
            <a:r>
              <a:rPr lang="en-US" dirty="0"/>
              <a:t>architecture (a stack is a special kind of </a:t>
            </a:r>
            <a:r>
              <a:rPr lang="en-US" b="1" dirty="0"/>
              <a:t>data structure</a:t>
            </a:r>
            <a:r>
              <a:rPr lang="en-US" dirty="0"/>
              <a:t> from computer science)</a:t>
            </a:r>
          </a:p>
          <a:p>
            <a:pPr marL="684213" indent="-339725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accumulator</a:t>
            </a:r>
            <a:r>
              <a:rPr lang="en-US" dirty="0"/>
              <a:t> architecture (MARIE)</a:t>
            </a:r>
          </a:p>
          <a:p>
            <a:pPr marL="684213" indent="-339725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general purpose register</a:t>
            </a:r>
            <a:r>
              <a:rPr lang="en-US" dirty="0"/>
              <a:t> architecture (what modern computers use)</a:t>
            </a:r>
          </a:p>
          <a:p>
            <a:r>
              <a:rPr lang="en-US" dirty="0"/>
              <a:t>In choosing one over the other, the tradeoffs are simplicity (and cost) of hardware design with execution speed and ease of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2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accumulator architecture, one operand of a binary operation is implicitly in the accumulator.</a:t>
            </a:r>
          </a:p>
          <a:p>
            <a:pPr lvl="1"/>
            <a:r>
              <a:rPr lang="en-US" dirty="0"/>
              <a:t>One operand is in memory, creating lots of bus traffic.</a:t>
            </a:r>
          </a:p>
          <a:p>
            <a:r>
              <a:rPr lang="en-US" dirty="0"/>
              <a:t>In a general purpose register (GPR) architecture, registers can be used instead of memory.</a:t>
            </a:r>
          </a:p>
          <a:p>
            <a:pPr lvl="1"/>
            <a:r>
              <a:rPr lang="en-US" dirty="0"/>
              <a:t>Faster than accumulator architecture (why?)</a:t>
            </a:r>
          </a:p>
          <a:p>
            <a:pPr lvl="2"/>
            <a:r>
              <a:rPr lang="en-US" dirty="0"/>
              <a:t>Fewer trips to memory</a:t>
            </a:r>
          </a:p>
          <a:p>
            <a:pPr lvl="1"/>
            <a:r>
              <a:rPr lang="en-US" dirty="0"/>
              <a:t>Results in longer instructions (why?)</a:t>
            </a:r>
          </a:p>
          <a:p>
            <a:pPr lvl="2"/>
            <a:r>
              <a:rPr lang="en-US" dirty="0"/>
              <a:t>Instruction must identify which registers are involved in the computation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7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systems today are GPR systems.</a:t>
            </a:r>
          </a:p>
          <a:p>
            <a:r>
              <a:rPr lang="en-US" dirty="0"/>
              <a:t>There are three types of GPR architectures:</a:t>
            </a:r>
          </a:p>
          <a:p>
            <a:pPr lvl="1"/>
            <a:r>
              <a:rPr lang="en-US" dirty="0"/>
              <a:t>Memory-memory where two or three operands may be in memory.</a:t>
            </a:r>
          </a:p>
          <a:p>
            <a:pPr lvl="1"/>
            <a:r>
              <a:rPr lang="en-US" dirty="0"/>
              <a:t>Register-memory where at least one operand must be in a register.</a:t>
            </a:r>
          </a:p>
          <a:p>
            <a:pPr lvl="1"/>
            <a:r>
              <a:rPr lang="en-US" dirty="0"/>
              <a:t>Load-store where no operands may be in memory.</a:t>
            </a:r>
          </a:p>
          <a:p>
            <a:r>
              <a:rPr lang="en-US" dirty="0"/>
              <a:t>The number of operands and the number of available registers has a direct effect on instruction length.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94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formatting options:</a:t>
            </a:r>
          </a:p>
          <a:p>
            <a:pPr lvl="1"/>
            <a:r>
              <a:rPr lang="en-US" dirty="0"/>
              <a:t>Fixed length wastes space, but fast</a:t>
            </a:r>
          </a:p>
          <a:p>
            <a:pPr lvl="1"/>
            <a:r>
              <a:rPr lang="en-US" dirty="0"/>
              <a:t>Variable length – complex to decode, but saves space</a:t>
            </a:r>
          </a:p>
          <a:p>
            <a:r>
              <a:rPr lang="en-US" dirty="0"/>
              <a:t>Typical modern computers use 2-3 different instruction lengths</a:t>
            </a:r>
          </a:p>
          <a:p>
            <a:r>
              <a:rPr lang="en-US" dirty="0"/>
              <a:t>Common instruction formats (the word “address” on this slide only means either means a </a:t>
            </a:r>
            <a:r>
              <a:rPr lang="en-US" i="1" dirty="0"/>
              <a:t>memory address</a:t>
            </a:r>
            <a:r>
              <a:rPr lang="en-US" dirty="0"/>
              <a:t> or a </a:t>
            </a:r>
            <a:r>
              <a:rPr lang="en-US" i="1" dirty="0"/>
              <a:t>register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OPCODE only (zero addresses)</a:t>
            </a:r>
          </a:p>
          <a:p>
            <a:pPr lvl="1"/>
            <a:r>
              <a:rPr lang="en-US" dirty="0"/>
              <a:t>OPCODE + 1 Address (usually a memory address)</a:t>
            </a:r>
          </a:p>
          <a:p>
            <a:pPr lvl="1"/>
            <a:r>
              <a:rPr lang="en-US" dirty="0"/>
              <a:t>OPCODE + 2 Addresses (usually two registers)</a:t>
            </a:r>
          </a:p>
          <a:p>
            <a:pPr lvl="1"/>
            <a:r>
              <a:rPr lang="en-US" dirty="0"/>
              <a:t>OPCODE + 3 Addresses (usually registers)</a:t>
            </a:r>
          </a:p>
          <a:p>
            <a:pPr>
              <a:spcBef>
                <a:spcPts val="600"/>
              </a:spcBef>
            </a:pPr>
            <a:endParaRPr lang="en-US" altLang="en-US" dirty="0">
              <a:latin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76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has 32-bit instructions and 12-bit memory addresses. Suppose there are 250 two-address instructions. How many one-address instructions can be formulated?</a:t>
            </a:r>
          </a:p>
          <a:p>
            <a:endParaRPr lang="en-US" dirty="0"/>
          </a:p>
          <a:p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An 8-bit opcode allows for 256 operations </a:t>
            </a:r>
          </a:p>
          <a:p>
            <a:r>
              <a:rPr lang="en-US" dirty="0"/>
              <a:t>250 opcodes for two-address instructions are already taken, leaving 6 opcodes for one-address instructions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FC8C5A-C075-4C21-B06B-C4F42F0FEAD0}"/>
              </a:ext>
            </a:extLst>
          </p:cNvPr>
          <p:cNvGraphicFramePr>
            <a:graphicFrameLocks noGrp="1"/>
          </p:cNvGraphicFramePr>
          <p:nvPr/>
        </p:nvGraphicFramePr>
        <p:xfrm>
          <a:off x="978569" y="3086894"/>
          <a:ext cx="6934201" cy="914400"/>
        </p:xfrm>
        <a:graphic>
          <a:graphicData uri="http://schemas.openxmlformats.org/drawingml/2006/table">
            <a:tbl>
              <a:tblPr firstRow="1" bandRow="1"/>
              <a:tblGrid>
                <a:gridCol w="2048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2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Opcode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(8 bits)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Address 1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(12 bits)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Address 2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</a:rPr>
                        <a:t>(12 bits)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92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computer has a memory unit with 32 bits per word and has 16 general-purpose registers. The instruction set consists of 135 different operations. Some instructions have an opcode part, an address part, and a register part. Other instructions have an opcode part, and two address parts. Each instruction is stored in one word of memory.</a:t>
            </a:r>
          </a:p>
          <a:p>
            <a:r>
              <a:rPr lang="en-US" dirty="0"/>
              <a:t>How many bits are needed for the opcode?</a:t>
            </a:r>
          </a:p>
          <a:p>
            <a:r>
              <a:rPr lang="en-US" dirty="0"/>
              <a:t>The smallest power of 2 that is greater than or equal to 135 is 256, which is 2</a:t>
            </a:r>
            <a:r>
              <a:rPr lang="en-US" baseline="30000" dirty="0"/>
              <a:t>8</a:t>
            </a:r>
            <a:r>
              <a:rPr lang="en-US" dirty="0"/>
              <a:t>. Therefore, 8 bits are needed for the opcode.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32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#2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computer has a memory unit with 32 bits per word and has 16 general-purpose registers. The instruction set consists of 135 different operations. Some instructions have an opcode part, an address part, and a register part. Other instructions have an opcode part, and two address parts. Each instruction is stored in one word of memory.</a:t>
            </a:r>
          </a:p>
          <a:p>
            <a:pPr lvl="0"/>
            <a:r>
              <a:rPr lang="en-US" dirty="0"/>
              <a:t>How many bits are needed to specify a register?</a:t>
            </a:r>
          </a:p>
          <a:p>
            <a:pPr lvl="0"/>
            <a:r>
              <a:rPr lang="en-US" dirty="0"/>
              <a:t>There are 16 registers, so 4 bits are needed because 16 = 2</a:t>
            </a:r>
            <a:r>
              <a:rPr lang="en-US" baseline="30000" dirty="0"/>
              <a:t>4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191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#2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computer has a memory unit with 32 bits per word and has 16 general-purpose registers. The instruction set consists of 135 different operations. Some instructions have an opcode part, an address part, and a register part. Other instructions have an opcode part, and two address parts. Each instruction is stored in one word of memory.</a:t>
            </a:r>
          </a:p>
          <a:p>
            <a:pPr lvl="0"/>
            <a:r>
              <a:rPr lang="en-US" dirty="0"/>
              <a:t>How many bits are needed to specify a memory address?</a:t>
            </a:r>
          </a:p>
          <a:p>
            <a:pPr lvl="0"/>
            <a:r>
              <a:rPr lang="en-US" dirty="0"/>
              <a:t>Tricky! Some instructions require two memory addresses. We have 32 – 8 = 24 bits for memory addresses in that case. 24/2 = 12 bits per address.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81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#2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A computer has a memory unit with 32 bits per word and has 16 general-purpose registers. The instruction set consists of 135 different operations. Some instructions have an opcode part, an address part, and a register part. Other instructions have an opcode part, and two address parts. Each instruction is stored in one word of memory.</a:t>
                </a:r>
              </a:p>
              <a:p>
                <a:pPr lvl="0"/>
                <a:r>
                  <a:rPr lang="en-US" dirty="0"/>
                  <a:t>What is the maximum allowable size for memory, assuming that the memory is word-addressable?</a:t>
                </a:r>
              </a:p>
              <a:p>
                <a:pPr lvl="0"/>
                <a:r>
                  <a:rPr lang="en-US" dirty="0"/>
                  <a:t>We have 2</a:t>
                </a:r>
                <a:r>
                  <a:rPr lang="en-US" baseline="30000" dirty="0"/>
                  <a:t>12</a:t>
                </a:r>
                <a:r>
                  <a:rPr lang="en-US" dirty="0"/>
                  <a:t> words we can address with 4 bytes per word: 2</a:t>
                </a:r>
                <a:r>
                  <a:rPr lang="en-US" baseline="30000" dirty="0"/>
                  <a:t>12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4 bytes = 2</a:t>
                </a:r>
                <a:r>
                  <a:rPr lang="en-US" baseline="30000" dirty="0"/>
                  <a:t>14</a:t>
                </a:r>
                <a:r>
                  <a:rPr lang="en-US" dirty="0"/>
                  <a:t> bytes = 16 KB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268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576"/>
                  </a:spcBef>
                </a:pPr>
                <a:r>
                  <a:rPr lang="en-US" dirty="0"/>
                  <a:t>Suppose we wish to encode the following instructions for a computer with 16 registers (therefore, each register has a 4-bit ID number):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dirty="0"/>
                  <a:t>15 instructions with three registers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dirty="0"/>
                  <a:t>14 instructions with two registers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dirty="0"/>
                  <a:t>31 instructions with one registers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dirty="0"/>
                  <a:t>16 instructions with zero registers</a:t>
                </a:r>
              </a:p>
              <a:p>
                <a:pPr>
                  <a:spcBef>
                    <a:spcPts val="576"/>
                  </a:spcBef>
                  <a:spcAft>
                    <a:spcPts val="600"/>
                  </a:spcAft>
                </a:pPr>
                <a:r>
                  <a:rPr lang="en-US" dirty="0"/>
                  <a:t>We can encode these instructions with 16 bits:</a:t>
                </a:r>
              </a:p>
              <a:p>
                <a:pPr marL="641350" lvl="1" indent="-24130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The first 15 instructions use 15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= 15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12</a:t>
                </a:r>
                <a:r>
                  <a:rPr lang="en-US" dirty="0"/>
                  <a:t> = 61,440 bit patterns.</a:t>
                </a:r>
              </a:p>
              <a:p>
                <a:pPr marL="641350" lvl="1" indent="-24130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The next 14 instructions, use 14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= 14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dirty="0"/>
                  <a:t> 2</a:t>
                </a:r>
                <a:r>
                  <a:rPr lang="en-US" baseline="30000" dirty="0"/>
                  <a:t>8</a:t>
                </a:r>
                <a:r>
                  <a:rPr lang="en-US" dirty="0"/>
                  <a:t> = 3,584 bit patterns.</a:t>
                </a:r>
              </a:p>
              <a:p>
                <a:pPr marL="641350" lvl="1" indent="-24130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The next 31 instructions use 31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 = 496 bit patterns.</a:t>
                </a:r>
              </a:p>
              <a:p>
                <a:pPr marL="641350" lvl="1" indent="-241300">
                  <a:spcBef>
                    <a:spcPts val="0"/>
                  </a:spcBef>
                </a:pPr>
                <a:r>
                  <a:rPr lang="en-US" dirty="0"/>
                  <a:t>The last 16 instructions use 16 bit patterns.</a:t>
                </a:r>
              </a:p>
              <a:p>
                <a:pPr lvl="1">
                  <a:spcBef>
                    <a:spcPts val="576"/>
                  </a:spcBef>
                </a:pPr>
                <a:endParaRPr lang="en-US" dirty="0"/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769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#3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5181600" cy="5257800"/>
          </a:xfrm>
        </p:spPr>
        <p:txBody>
          <a:bodyPr/>
          <a:lstStyle/>
          <a:p>
            <a:r>
              <a:rPr lang="en-US" dirty="0"/>
              <a:t>A challenge: given an instruction, how can we tell what format it’s in? (4-bit, 8-bit, 12-bit, or 16-bit opcode?)</a:t>
            </a:r>
          </a:p>
          <a:p>
            <a:r>
              <a:rPr lang="en-US" dirty="0"/>
              <a:t>The trick is to reserve special bit patterns called </a:t>
            </a:r>
            <a:r>
              <a:rPr lang="en-US" b="1" dirty="0"/>
              <a:t>escape opcodes</a:t>
            </a:r>
            <a:endParaRPr lang="en-US" dirty="0"/>
          </a:p>
          <a:p>
            <a:r>
              <a:rPr lang="en-US" dirty="0"/>
              <a:t>From our example:</a:t>
            </a:r>
          </a:p>
          <a:p>
            <a:pPr lvl="1"/>
            <a:r>
              <a:rPr lang="en-US" dirty="0"/>
              <a:t>15 instructions with 3 operands</a:t>
            </a:r>
          </a:p>
          <a:p>
            <a:pPr lvl="1"/>
            <a:r>
              <a:rPr lang="en-US" dirty="0"/>
              <a:t>14 instructions with 2 operands</a:t>
            </a:r>
          </a:p>
          <a:p>
            <a:pPr lvl="1"/>
            <a:r>
              <a:rPr lang="en-US" dirty="0"/>
              <a:t>31 instructions with 1 operand</a:t>
            </a:r>
          </a:p>
          <a:p>
            <a:pPr lvl="1"/>
            <a:r>
              <a:rPr lang="en-US" dirty="0"/>
              <a:t>16 instructions with 0 operands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143000"/>
            <a:ext cx="4724400" cy="530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2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#3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7694"/>
            <a:ext cx="5181600" cy="4993105"/>
          </a:xfrm>
        </p:spPr>
        <p:txBody>
          <a:bodyPr/>
          <a:lstStyle/>
          <a:p>
            <a:r>
              <a:rPr lang="en-US" dirty="0"/>
              <a:t>First 4 bits are 1111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instruction has 0, 1 or 2 operands</a:t>
            </a:r>
          </a:p>
          <a:p>
            <a:r>
              <a:rPr lang="en-US" dirty="0">
                <a:sym typeface="Wingdings" panose="05000000000000000000" pitchFamily="2" charset="2"/>
              </a:rPr>
              <a:t>First 8 bits are 1111 1110  instruction has 0 or 1 operands</a:t>
            </a:r>
          </a:p>
          <a:p>
            <a:r>
              <a:rPr lang="en-US" dirty="0">
                <a:sym typeface="Wingdings" panose="05000000000000000000" pitchFamily="2" charset="2"/>
              </a:rPr>
              <a:t>First 12 bits are 1111 1111 1111  instruction has 0 operands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143000"/>
            <a:ext cx="4724400" cy="530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5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 computer instruction format, the instruction length is 11 bits and the size of an address field is 4 bits. Show how it would be possible to simultaneously support the following instruction formats by providing the opcode ranges for each instruction type:</a:t>
            </a:r>
          </a:p>
          <a:p>
            <a:pPr marL="801688" lvl="1" indent="-401638">
              <a:buFont typeface="+mj-lt"/>
              <a:buAutoNum type="alphaLcPeriod"/>
            </a:pPr>
            <a:r>
              <a:rPr lang="en-US" dirty="0"/>
              <a:t>5  2-address instructions</a:t>
            </a:r>
          </a:p>
          <a:p>
            <a:pPr marL="801688" lvl="1" indent="-401638">
              <a:buFont typeface="+mj-lt"/>
              <a:buAutoNum type="alphaLcPeriod"/>
            </a:pPr>
            <a:r>
              <a:rPr lang="en-US" dirty="0"/>
              <a:t>45 1-address instructions</a:t>
            </a:r>
          </a:p>
          <a:p>
            <a:pPr marL="801688" lvl="1" indent="-401638">
              <a:buFont typeface="+mj-lt"/>
              <a:buAutoNum type="alphaLcPeriod"/>
            </a:pPr>
            <a:r>
              <a:rPr lang="en-US" dirty="0"/>
              <a:t>32  0-address instructions</a:t>
            </a:r>
          </a:p>
          <a:p>
            <a:r>
              <a:rPr lang="en-US" dirty="0"/>
              <a:t>Answer:</a:t>
            </a:r>
          </a:p>
          <a:p>
            <a:pPr marL="800100" lvl="1" indent="-388938">
              <a:buFont typeface="+mj-lt"/>
              <a:buAutoNum type="alphaLcPeriod"/>
            </a:pPr>
            <a:r>
              <a:rPr lang="en-US" dirty="0"/>
              <a:t>000 </a:t>
            </a:r>
            <a:r>
              <a:rPr lang="en-US" dirty="0" err="1"/>
              <a:t>xxxx</a:t>
            </a:r>
            <a:r>
              <a:rPr lang="en-US" dirty="0"/>
              <a:t> </a:t>
            </a:r>
            <a:r>
              <a:rPr lang="en-US" dirty="0" err="1"/>
              <a:t>xxxx</a:t>
            </a:r>
            <a:r>
              <a:rPr lang="en-US" dirty="0"/>
              <a:t> through 100 </a:t>
            </a:r>
            <a:r>
              <a:rPr lang="en-US" dirty="0" err="1"/>
              <a:t>xxxx</a:t>
            </a:r>
            <a:r>
              <a:rPr lang="en-US" dirty="0"/>
              <a:t> </a:t>
            </a:r>
            <a:r>
              <a:rPr lang="en-US" dirty="0" err="1"/>
              <a:t>xxxx</a:t>
            </a:r>
            <a:r>
              <a:rPr lang="en-US" dirty="0"/>
              <a:t> (5 instructions)</a:t>
            </a:r>
          </a:p>
          <a:p>
            <a:pPr marL="800100" lvl="1" indent="-388938">
              <a:buFont typeface="+mj-lt"/>
              <a:buAutoNum type="alphaLcPeriod"/>
            </a:pPr>
            <a:r>
              <a:rPr lang="en-US" dirty="0"/>
              <a:t>101 is the next available prefix. Use 101</a:t>
            </a:r>
            <a:r>
              <a:rPr lang="en-US" u="sng" dirty="0"/>
              <a:t>0000</a:t>
            </a:r>
            <a:r>
              <a:rPr lang="en-US" dirty="0"/>
              <a:t>–101</a:t>
            </a:r>
            <a:r>
              <a:rPr lang="en-US" u="sng" dirty="0"/>
              <a:t>1111</a:t>
            </a:r>
            <a:r>
              <a:rPr lang="en-US" dirty="0"/>
              <a:t> (16 opcodes), 110</a:t>
            </a:r>
            <a:r>
              <a:rPr lang="en-US" u="sng" dirty="0"/>
              <a:t>0000</a:t>
            </a:r>
            <a:r>
              <a:rPr lang="en-US" dirty="0"/>
              <a:t>–110</a:t>
            </a:r>
            <a:r>
              <a:rPr lang="en-US" u="sng" dirty="0"/>
              <a:t>1111</a:t>
            </a:r>
            <a:r>
              <a:rPr lang="en-US" dirty="0"/>
              <a:t> (16), 111</a:t>
            </a:r>
            <a:r>
              <a:rPr lang="en-US" u="sng" dirty="0"/>
              <a:t>0000</a:t>
            </a:r>
            <a:r>
              <a:rPr lang="en-US" dirty="0"/>
              <a:t>–111</a:t>
            </a:r>
            <a:r>
              <a:rPr lang="en-US" u="sng" dirty="0"/>
              <a:t>1100</a:t>
            </a:r>
            <a:r>
              <a:rPr lang="en-US" dirty="0"/>
              <a:t> (13)</a:t>
            </a:r>
          </a:p>
          <a:p>
            <a:pPr marL="800100" lvl="1" indent="-388938">
              <a:buFont typeface="+mj-lt"/>
              <a:buAutoNum type="alphaLcPeriod"/>
            </a:pPr>
            <a:r>
              <a:rPr lang="en-US" dirty="0"/>
              <a:t>111111  is the next available prefix. Use 111111</a:t>
            </a:r>
            <a:r>
              <a:rPr lang="en-US" u="sng" dirty="0"/>
              <a:t>00000</a:t>
            </a:r>
            <a:r>
              <a:rPr lang="en-US" dirty="0"/>
              <a:t>–111111</a:t>
            </a:r>
            <a:r>
              <a:rPr lang="en-US" u="sng" dirty="0"/>
              <a:t>11111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9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334963" indent="-223838">
                  <a:spcBef>
                    <a:spcPts val="576"/>
                  </a:spcBef>
                </a:pPr>
                <a:r>
                  <a:rPr lang="en-US" altLang="en-US" dirty="0"/>
                  <a:t>Given 8-bit instructions, is it possible to allow the following to be encoded?</a:t>
                </a:r>
              </a:p>
              <a:p>
                <a:pPr marL="635000">
                  <a:spcBef>
                    <a:spcPts val="576"/>
                  </a:spcBef>
                </a:pPr>
                <a:r>
                  <a:rPr lang="en-US" altLang="en-US" dirty="0"/>
                  <a:t>3 instructions with two 3-bit operands</a:t>
                </a:r>
              </a:p>
              <a:p>
                <a:pPr marL="635000">
                  <a:spcBef>
                    <a:spcPts val="576"/>
                  </a:spcBef>
                </a:pPr>
                <a:r>
                  <a:rPr lang="en-US" altLang="en-US" dirty="0"/>
                  <a:t>2 instructions with one 4-bit operand</a:t>
                </a:r>
              </a:p>
              <a:p>
                <a:pPr marL="635000">
                  <a:spcBef>
                    <a:spcPts val="576"/>
                  </a:spcBef>
                </a:pPr>
                <a:r>
                  <a:rPr lang="en-US" altLang="en-US" dirty="0"/>
                  <a:t>4 instructions with one 3-bit operand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For the 3 instructions with two 3-bit operands we need 3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altLang="en-US" dirty="0"/>
                  <a:t> 2</a:t>
                </a:r>
                <a:r>
                  <a:rPr lang="en-US" altLang="en-US" baseline="30000" dirty="0"/>
                  <a:t>3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altLang="en-US" dirty="0"/>
                  <a:t> 2</a:t>
                </a:r>
                <a:r>
                  <a:rPr lang="en-US" altLang="en-US" baseline="30000" dirty="0"/>
                  <a:t>3</a:t>
                </a:r>
                <a:r>
                  <a:rPr lang="en-US" altLang="en-US" dirty="0"/>
                  <a:t> = 192 bit patterns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For the 2 instructions with one 4-bit operand we need 2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altLang="en-US" dirty="0"/>
                  <a:t> 2</a:t>
                </a:r>
                <a:r>
                  <a:rPr lang="en-US" altLang="en-US" baseline="30000" dirty="0"/>
                  <a:t>4</a:t>
                </a:r>
                <a:r>
                  <a:rPr lang="en-US" altLang="en-US" dirty="0"/>
                  <a:t> = 32 bit patterns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For the 4 instructions with one 3-bit operand we need 4 </a:t>
                </a:r>
                <a:r>
                  <a:rPr lang="en-US" altLang="en-US" dirty="0">
                    <a:sym typeface="Symbol" pitchFamily="18" charset="2"/>
                  </a:rPr>
                  <a:t> </a:t>
                </a:r>
                <a:r>
                  <a:rPr lang="en-US" altLang="en-US" dirty="0"/>
                  <a:t>2</a:t>
                </a:r>
                <a:r>
                  <a:rPr lang="en-US" altLang="en-US" baseline="30000" dirty="0"/>
                  <a:t>3</a:t>
                </a:r>
                <a:r>
                  <a:rPr lang="en-US" altLang="en-US" dirty="0"/>
                  <a:t> = 32 bit patterns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dirty="0"/>
                  <a:t>192 + 32 + 32 = 256 bit patterns are needed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dirty="0"/>
                  <a:t>We have 8-bit instructions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dirty="0"/>
                  <a:t>, so we have exactly the right number of bits to encode all of the instructions</a:t>
                </a:r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319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Formats: Example #5 (cont.)</a:t>
            </a:r>
          </a:p>
        </p:txBody>
      </p:sp>
      <p:pic>
        <p:nvPicPr>
          <p:cNvPr id="4" name="Picture 13" descr="ex5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267575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692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 fall into several broad categories, some of which you are familiar with:</a:t>
            </a:r>
          </a:p>
          <a:p>
            <a:pPr lvl="1"/>
            <a:r>
              <a:rPr lang="en-US" dirty="0"/>
              <a:t>Data movement</a:t>
            </a:r>
          </a:p>
          <a:p>
            <a:pPr lvl="1"/>
            <a:r>
              <a:rPr lang="en-US" dirty="0"/>
              <a:t>Arithmetic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Bit manipulation</a:t>
            </a:r>
          </a:p>
          <a:p>
            <a:pPr lvl="1"/>
            <a:r>
              <a:rPr lang="en-US" dirty="0"/>
              <a:t>I/O</a:t>
            </a:r>
          </a:p>
          <a:p>
            <a:pPr lvl="1"/>
            <a:r>
              <a:rPr lang="en-US" dirty="0"/>
              <a:t>Control transfer</a:t>
            </a:r>
          </a:p>
          <a:p>
            <a:pPr lvl="1"/>
            <a:r>
              <a:rPr lang="en-US" dirty="0"/>
              <a:t>Special purpose (e.g., string processing, protection, cache management, others)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91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Addressing modes specify where an operand is located.</a:t>
            </a:r>
          </a:p>
          <a:p>
            <a:r>
              <a:rPr lang="en-US" dirty="0"/>
              <a:t>They can specify a constant, a register, or a memory location.</a:t>
            </a:r>
          </a:p>
          <a:p>
            <a:r>
              <a:rPr lang="en-US" dirty="0"/>
              <a:t>The actual location of an operand is its </a:t>
            </a:r>
            <a:r>
              <a:rPr lang="en-US" b="1" dirty="0"/>
              <a:t>effective address</a:t>
            </a:r>
            <a:r>
              <a:rPr lang="en-US" dirty="0"/>
              <a:t>.</a:t>
            </a:r>
          </a:p>
          <a:p>
            <a:r>
              <a:rPr lang="en-US" dirty="0"/>
              <a:t>Certain addressing modes allow us to determine the address of an operand </a:t>
            </a:r>
            <a:r>
              <a:rPr lang="en-US" b="1" dirty="0"/>
              <a:t>dynamically</a:t>
            </a:r>
            <a:r>
              <a:rPr lang="en-US" dirty="0"/>
              <a:t> by performing a calculation while software is running.</a:t>
            </a:r>
          </a:p>
          <a:p>
            <a:r>
              <a:rPr lang="en-US" dirty="0"/>
              <a:t>Different kinds of addressing modes exist to make it easier for assembly language programmers to write software</a:t>
            </a:r>
          </a:p>
          <a:p>
            <a:pPr marL="334963" indent="-334963"/>
            <a:r>
              <a:rPr lang="en-US" altLang="en-US" b="1" dirty="0"/>
              <a:t>Immediate addressing</a:t>
            </a:r>
            <a:r>
              <a:rPr lang="en-US" altLang="en-US" dirty="0"/>
              <a:t> is where the data is part of the instruction, as a constant.</a:t>
            </a:r>
          </a:p>
          <a:p>
            <a:pPr marL="735013" lvl="1" indent="-334963"/>
            <a:r>
              <a:rPr lang="en-US" dirty="0"/>
              <a:t>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LOADIMMEDIATE 008</a:t>
            </a:r>
            <a:r>
              <a:rPr lang="en-US" dirty="0"/>
              <a:t> loads the numeric value 8 into the AC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54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Direct addressing</a:t>
            </a:r>
            <a:r>
              <a:rPr lang="en-US" dirty="0"/>
              <a:t> is where the address of the data is given in the instruction.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008</a:t>
            </a:r>
            <a:r>
              <a:rPr lang="en-US" dirty="0"/>
              <a:t> with direct addressing loads the value stored in memory location 8 into the AC</a:t>
            </a:r>
          </a:p>
          <a:p>
            <a:r>
              <a:rPr lang="en-US" b="1" dirty="0"/>
              <a:t>Register addressing</a:t>
            </a:r>
            <a:r>
              <a:rPr lang="en-US" dirty="0"/>
              <a:t> is where the data is located in a register.</a:t>
            </a:r>
          </a:p>
          <a:p>
            <a:pPr lvl="1"/>
            <a:r>
              <a:rPr lang="en-US" dirty="0"/>
              <a:t>Same as direct addressing, except the data is located in a register (not memory)</a:t>
            </a:r>
          </a:p>
          <a:p>
            <a:r>
              <a:rPr lang="en-US" b="1" dirty="0"/>
              <a:t>Indirect addressing</a:t>
            </a:r>
            <a:r>
              <a:rPr lang="en-US" dirty="0"/>
              <a:t> gives the </a:t>
            </a:r>
            <a:r>
              <a:rPr lang="en-US" i="1" dirty="0"/>
              <a:t>address of the address </a:t>
            </a:r>
            <a:r>
              <a:rPr lang="en-US" dirty="0"/>
              <a:t>of the data in the instruction. It sounds strange, but this mode can make programming easier.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008</a:t>
            </a:r>
            <a:r>
              <a:rPr lang="en-US" dirty="0"/>
              <a:t> would mean to go to memory address 0x008 and treat the contents of that memory cell as a memory address</a:t>
            </a:r>
          </a:p>
          <a:p>
            <a:pPr lvl="1"/>
            <a:r>
              <a:rPr lang="en-US" dirty="0"/>
              <a:t>Suppose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0x2A0</a:t>
            </a:r>
            <a:r>
              <a:rPr lang="en-US" dirty="0"/>
              <a:t> were stored at memory address 0x008 </a:t>
            </a:r>
          </a:p>
          <a:p>
            <a:pPr lvl="1"/>
            <a:r>
              <a:rPr lang="en-US" dirty="0"/>
              <a:t>This means that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0x2A0</a:t>
            </a:r>
            <a:r>
              <a:rPr lang="en-US" dirty="0"/>
              <a:t> is the “real” address of what we want</a:t>
            </a:r>
          </a:p>
        </p:txBody>
      </p:sp>
    </p:spTree>
    <p:extLst>
      <p:ext uri="{BB962C8B-B14F-4D97-AF65-F5344CB8AC3E}">
        <p14:creationId xmlns:p14="http://schemas.microsoft.com/office/powerpoint/2010/main" val="2972804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instruction shown, what hexadecimal value is loaded into the accumulator for each addressing mode?</a:t>
            </a:r>
          </a:p>
          <a:p>
            <a:r>
              <a:rPr lang="en-US" dirty="0"/>
              <a:t>Memory:					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BF7028-BE55-4234-8409-ABCC411CC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607386"/>
              </p:ext>
            </p:extLst>
          </p:nvPr>
        </p:nvGraphicFramePr>
        <p:xfrm>
          <a:off x="2771273" y="2711114"/>
          <a:ext cx="3019990" cy="426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385636993"/>
                    </a:ext>
                  </a:extLst>
                </a:gridCol>
                <a:gridCol w="1556950">
                  <a:extLst>
                    <a:ext uri="{9D8B030D-6E8A-4147-A177-3AD203B41FA5}">
                      <a16:colId xmlns:a16="http://schemas.microsoft.com/office/drawing/2014/main" val="1015481540"/>
                    </a:ext>
                  </a:extLst>
                </a:gridCol>
              </a:tblGrid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218461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67327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99036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9544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672207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07582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682657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234110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627220"/>
                  </a:ext>
                </a:extLst>
              </a:tr>
              <a:tr h="36299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262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6DCED-9C3C-416F-AEFD-A268F0F23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13684"/>
              </p:ext>
            </p:extLst>
          </p:nvPr>
        </p:nvGraphicFramePr>
        <p:xfrm>
          <a:off x="5970871" y="2514600"/>
          <a:ext cx="49377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424479665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3218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Addressing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Loaded into 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4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31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459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Indirect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44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Courier New" panose="02070309020205020404" pitchFamily="49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0x700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15083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839200" y="3348334"/>
            <a:ext cx="1106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2F2B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0x900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39200" y="3805683"/>
            <a:ext cx="12907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2F2B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7CA4BB-9B60-4562-AE8F-5CFE69AAF400}"/>
              </a:ext>
            </a:extLst>
          </p:cNvPr>
          <p:cNvSpPr/>
          <p:nvPr/>
        </p:nvSpPr>
        <p:spPr>
          <a:xfrm>
            <a:off x="8839200" y="2886669"/>
            <a:ext cx="1106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srgbClr val="2F2B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0x800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808FB-084B-4416-8014-451E7BB12F15}"/>
              </a:ext>
            </a:extLst>
          </p:cNvPr>
          <p:cNvSpPr txBox="1"/>
          <p:nvPr/>
        </p:nvSpPr>
        <p:spPr>
          <a:xfrm>
            <a:off x="6437572" y="5075515"/>
            <a:ext cx="4751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IR: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800</a:t>
            </a:r>
          </a:p>
        </p:txBody>
      </p:sp>
    </p:spTree>
    <p:extLst>
      <p:ext uri="{BB962C8B-B14F-4D97-AF65-F5344CB8AC3E}">
        <p14:creationId xmlns:p14="http://schemas.microsoft.com/office/powerpoint/2010/main" val="422030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 CPUs divide the fetch-decode-execute cycle into smaller steps.</a:t>
            </a:r>
          </a:p>
          <a:p>
            <a:r>
              <a:rPr lang="en-US" dirty="0"/>
              <a:t>These smaller steps can often be executed in parallel to increase throughput.</a:t>
            </a:r>
          </a:p>
          <a:p>
            <a:r>
              <a:rPr lang="en-US" dirty="0"/>
              <a:t>Such parallel execution is called </a:t>
            </a:r>
            <a:r>
              <a:rPr lang="en-US" b="1" dirty="0"/>
              <a:t>instruction pipelining</a:t>
            </a:r>
            <a:r>
              <a:rPr lang="en-US" dirty="0"/>
              <a:t>.</a:t>
            </a:r>
          </a:p>
          <a:p>
            <a:r>
              <a:rPr lang="en-US" dirty="0"/>
              <a:t>Instruction pipelining provides for </a:t>
            </a:r>
            <a:r>
              <a:rPr lang="en-US" b="1" dirty="0"/>
              <a:t>instruction-level parallelism</a:t>
            </a:r>
            <a:r>
              <a:rPr lang="en-US" dirty="0"/>
              <a:t> (ILP)</a:t>
            </a:r>
          </a:p>
          <a:p>
            <a:r>
              <a:rPr lang="en-US" dirty="0"/>
              <a:t>Suppose a fetch-decode-execute cycle were broken into the following smaller steps:</a:t>
            </a:r>
          </a:p>
          <a:p>
            <a:pPr marL="777240" lvl="2" indent="0">
              <a:spcBef>
                <a:spcPct val="100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altLang="en-US" dirty="0"/>
              <a:t>1. Fetch instruction.		4. Fetch operands.</a:t>
            </a:r>
          </a:p>
          <a:p>
            <a:pPr marL="777240" lvl="2" indent="0">
              <a:spcBef>
                <a:spcPct val="100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altLang="en-US" dirty="0"/>
              <a:t>2. Decode opcode.		5. Execute instruction.</a:t>
            </a:r>
          </a:p>
          <a:p>
            <a:pPr marL="777240" lvl="2" indent="0">
              <a:spcBef>
                <a:spcPct val="10000"/>
              </a:spcBef>
              <a:buNone/>
              <a:tabLst>
                <a:tab pos="3657600" algn="l"/>
              </a:tabLst>
            </a:pPr>
            <a:r>
              <a:rPr lang="en-US" altLang="en-US" dirty="0"/>
              <a:t>3. Calculate effective		6. Store result.</a:t>
            </a:r>
          </a:p>
          <a:p>
            <a:pPr marL="777240" lvl="2" indent="0">
              <a:spcBef>
                <a:spcPct val="10000"/>
              </a:spcBef>
              <a:spcAft>
                <a:spcPts val="600"/>
              </a:spcAft>
              <a:buNone/>
            </a:pPr>
            <a:r>
              <a:rPr lang="en-US" altLang="en-US" dirty="0"/>
              <a:t>    address of operands.</a:t>
            </a:r>
          </a:p>
          <a:p>
            <a:pPr>
              <a:spcBef>
                <a:spcPts val="0"/>
              </a:spcBef>
            </a:pPr>
            <a:r>
              <a:rPr lang="en-US" dirty="0"/>
              <a:t>Suppose we have a six-stage pipeline, with stages S1 – S6 corresponding to the above six steps.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79884"/>
            <a:ext cx="4343400" cy="49209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every clock cycle, one small step is carried out, and the stages overlap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S1. Fetch Instruction</a:t>
            </a:r>
          </a:p>
          <a:p>
            <a:pPr marL="0" indent="0">
              <a:buNone/>
            </a:pPr>
            <a:r>
              <a:rPr lang="en-US" dirty="0"/>
              <a:t>S2. Decode opcode</a:t>
            </a:r>
          </a:p>
          <a:p>
            <a:pPr marL="0" indent="0">
              <a:buNone/>
            </a:pPr>
            <a:r>
              <a:rPr lang="en-US" dirty="0"/>
              <a:t>S3. Calculate Effective address of operands</a:t>
            </a:r>
          </a:p>
          <a:p>
            <a:pPr marL="0" indent="0">
              <a:buNone/>
            </a:pPr>
            <a:r>
              <a:rPr lang="en-US" dirty="0"/>
              <a:t>S4. Fetch operands</a:t>
            </a:r>
          </a:p>
          <a:p>
            <a:pPr marL="0" indent="0">
              <a:buNone/>
            </a:pPr>
            <a:r>
              <a:rPr lang="en-US" dirty="0"/>
              <a:t>S5. Execute</a:t>
            </a:r>
          </a:p>
          <a:p>
            <a:pPr marL="0" indent="0">
              <a:buNone/>
            </a:pPr>
            <a:r>
              <a:rPr lang="en-US" dirty="0"/>
              <a:t>S6. </a:t>
            </a:r>
            <a:r>
              <a:rPr lang="en-US"/>
              <a:t>Store result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5_FIG05.jpg">
            <a:extLst>
              <a:ext uri="{FF2B5EF4-FFF2-40B4-BE49-F238E27FC236}">
                <a16:creationId xmlns:a16="http://schemas.microsoft.com/office/drawing/2014/main" id="{A0CB862D-552D-4BCB-BEEF-DCD19F5A6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5" y="1371600"/>
            <a:ext cx="62198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379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The theoretical </a:t>
                </a:r>
                <a:r>
                  <a:rPr lang="en-US" altLang="en-US" b="1" dirty="0"/>
                  <a:t>speedup</a:t>
                </a:r>
                <a:r>
                  <a:rPr lang="en-US" altLang="en-US" dirty="0"/>
                  <a:t> offered by a pipeline can be determined as follows</a:t>
                </a:r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Let </a:t>
                </a:r>
                <a:r>
                  <a:rPr lang="en-US" altLang="en-US" i="1" dirty="0" err="1"/>
                  <a:t>t</a:t>
                </a:r>
                <a:r>
                  <a:rPr lang="en-US" altLang="en-US" i="1" baseline="-25000" dirty="0" err="1"/>
                  <a:t>p</a:t>
                </a:r>
                <a:r>
                  <a:rPr lang="en-US" altLang="en-US" dirty="0"/>
                  <a:t> be the time per stage. Each instruction represents a task, </a:t>
                </a:r>
                <a:r>
                  <a:rPr lang="en-US" altLang="en-US" i="1" dirty="0"/>
                  <a:t>T</a:t>
                </a:r>
                <a:r>
                  <a:rPr lang="en-US" altLang="en-US" dirty="0"/>
                  <a:t>, in the pipeline.</a:t>
                </a:r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The time to complete a task is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𝑡𝑛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The first task (instruction) requires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dirty="0"/>
                  <a:t> time to complete in a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-stage pipeline.</a:t>
                </a:r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The remaining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en-US" dirty="0"/>
                  <a:t> tasks emerge from the pipeline one per cycle.</a:t>
                </a:r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So the total time to complete the remaining tasks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i="1" dirty="0"/>
                  <a:t>.</a:t>
                </a:r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Thus, to complete 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 tasks, a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-stage pipeline requires</a:t>
                </a:r>
                <a:br>
                  <a:rPr lang="en-US" altLang="en-US" dirty="0"/>
                </a:b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alt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dirty="0"/>
                  <a:t> units of time</a:t>
                </a:r>
              </a:p>
              <a:p>
                <a:pPr marL="228600">
                  <a:spcBef>
                    <a:spcPts val="576"/>
                  </a:spcBef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870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966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If we take the time required to complete 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 tasks without a pipeline and divide it by the time it takes to complete 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 tasks using a pipeline, we find:</a:t>
                </a:r>
              </a:p>
              <a:p>
                <a:pPr marL="233363" indent="0">
                  <a:spcBef>
                    <a:spcPts val="576"/>
                  </a:spcBef>
                  <a:buNone/>
                </a:pPr>
                <a:r>
                  <a:rPr lang="en-US" altLang="en-US" dirty="0"/>
                  <a:t>Speedup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𝑛𝑘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en-US" dirty="0"/>
                  <a:t>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If we take the limit as 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 approaches infinity,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en-US" dirty="0"/>
                  <a:t> approaches </a:t>
                </a:r>
                <a:r>
                  <a:rPr lang="en-US" altLang="en-US" i="1" dirty="0"/>
                  <a:t>n,</a:t>
                </a:r>
                <a:r>
                  <a:rPr lang="en-US" altLang="en-US" dirty="0"/>
                  <a:t> which results in a theoretical speedup of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𝑛𝑘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dirty="0"/>
              </a:p>
              <a:p>
                <a:pPr marL="228600">
                  <a:spcBef>
                    <a:spcPts val="576"/>
                  </a:spcBef>
                </a:pPr>
                <a:r>
                  <a:rPr lang="en-US" altLang="en-US" dirty="0"/>
                  <a:t>So in theory, a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-stage pipeline should be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 times faster than a non-pipelined version of the otherwise same CPU. 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/>
                  <a:t> isn’t always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dirty="0"/>
                  <a:t>.</a:t>
                </a:r>
              </a:p>
              <a:p>
                <a:pPr marL="228600"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72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Speedup: </a:t>
                </a:r>
                <a14:m>
                  <m:oMath xmlns:m="http://schemas.openxmlformats.org/officeDocument/2006/math">
                    <m:r>
                      <a:rPr lang="en-US" altLang="en-US" i="1" ker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kern="0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altLang="en-US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altLang="en-US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 nonpipelined system takes 200 ns to process a task. The same task can be processed in a 5-segment pipeline with a clock cycle of 40 ns.</a:t>
                </a:r>
              </a:p>
              <a:p>
                <a:r>
                  <a:rPr lang="en-US" dirty="0"/>
                  <a:t>What is the speedup ratio of the pipeline for 200 tasks?</a:t>
                </a:r>
              </a:p>
              <a:p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altLang="en-US" i="1" dirty="0"/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200×200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𝑛𝑠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5+200−1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×40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𝑛𝑠</m:t>
                        </m:r>
                      </m:den>
                    </m:f>
                  </m:oMath>
                </a14:m>
                <a:r>
                  <a:rPr lang="en-US" altLang="en-US" i="1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40000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204×40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≈4.9019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192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Our neat equations take a number of things for granted.</a:t>
            </a:r>
          </a:p>
          <a:p>
            <a:r>
              <a:rPr lang="en-US" dirty="0"/>
              <a:t>First, we have to assume that the architecture supports fetching instructions and data in parallel.</a:t>
            </a:r>
          </a:p>
          <a:p>
            <a:r>
              <a:rPr lang="en-US" dirty="0"/>
              <a:t>Second, we assume that the pipeline can be kept filled at all times.  This is not always the case. Pipeline </a:t>
            </a:r>
            <a:r>
              <a:rPr lang="en-US" b="1" dirty="0"/>
              <a:t>hazards</a:t>
            </a:r>
            <a:r>
              <a:rPr lang="en-US" dirty="0"/>
              <a:t> arise that cause pipeline conflicts and </a:t>
            </a:r>
            <a:r>
              <a:rPr lang="en-US" b="1" dirty="0"/>
              <a:t>stalls</a:t>
            </a:r>
            <a:r>
              <a:rPr lang="en-US" dirty="0"/>
              <a:t>.</a:t>
            </a:r>
          </a:p>
          <a:p>
            <a:r>
              <a:rPr lang="en-US" dirty="0"/>
              <a:t>An instruction pipeline may stall for any of the following reasons:</a:t>
            </a:r>
          </a:p>
          <a:p>
            <a:pPr lvl="1"/>
            <a:r>
              <a:rPr lang="en-US" dirty="0"/>
              <a:t>Resource conflicts: two instructions want to access memory at the same time</a:t>
            </a:r>
          </a:p>
          <a:p>
            <a:pPr lvl="1"/>
            <a:r>
              <a:rPr lang="en-US" dirty="0"/>
              <a:t>Data dependencies: an instruction needs to read a value from a register but the value hasn’t been written yet by some previous instruction that hasn’t finished executing yet</a:t>
            </a:r>
          </a:p>
          <a:p>
            <a:pPr lvl="1"/>
            <a:r>
              <a:rPr lang="en-US" dirty="0"/>
              <a:t>Conditional branching: program changes order of execution of its instructions</a:t>
            </a:r>
          </a:p>
          <a:p>
            <a:r>
              <a:rPr lang="en-US" dirty="0"/>
              <a:t>Some hazards can be avoided, but not all</a:t>
            </a:r>
          </a:p>
        </p:txBody>
      </p:sp>
    </p:spTree>
    <p:extLst>
      <p:ext uri="{BB962C8B-B14F-4D97-AF65-F5344CB8AC3E}">
        <p14:creationId xmlns:p14="http://schemas.microsoft.com/office/powerpoint/2010/main" val="417210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Kinds of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superscalar</a:t>
            </a:r>
            <a:r>
              <a:rPr lang="en-US" dirty="0"/>
              <a:t> CPU has multiple ALUs and can execute multiple executions simultaneously</a:t>
            </a:r>
          </a:p>
          <a:p>
            <a:pPr lvl="1"/>
            <a:r>
              <a:rPr lang="en-US" dirty="0"/>
              <a:t>It’s like having multiple instruction pipelines</a:t>
            </a:r>
          </a:p>
          <a:p>
            <a:r>
              <a:rPr lang="en-US" b="1" dirty="0"/>
              <a:t>Explicitly parallel instruction computers (EPIC)</a:t>
            </a:r>
            <a:r>
              <a:rPr lang="en-US" dirty="0"/>
              <a:t> have very long instructions that specify multiple operations to be done in parallel</a:t>
            </a:r>
          </a:p>
          <a:p>
            <a:r>
              <a:rPr lang="en-US" dirty="0"/>
              <a:t>In </a:t>
            </a:r>
            <a:r>
              <a:rPr lang="en-US" b="1" dirty="0" err="1"/>
              <a:t>superpipelining</a:t>
            </a:r>
            <a:r>
              <a:rPr lang="en-US" dirty="0"/>
              <a:t>, a typical pipeline is made longer by breaking the stages into sub-stages so that each sub-stage takes less than one-half a clock cycle to complete</a:t>
            </a:r>
          </a:p>
          <a:p>
            <a:pPr lvl="1"/>
            <a:r>
              <a:rPr lang="en-US" dirty="0"/>
              <a:t>The idea is that even more instructions can be executed in parallel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ISAs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return briefly to the Intel and MIPS architectures from the last Unit, using some of the ideas introduced in this chapter.</a:t>
            </a:r>
          </a:p>
          <a:p>
            <a:r>
              <a:rPr lang="en-US" dirty="0"/>
              <a:t>Intel introduced pipelining to its processor line with its Pentium chip.</a:t>
            </a:r>
          </a:p>
          <a:p>
            <a:r>
              <a:rPr lang="en-US" dirty="0"/>
              <a:t>The first Pentium had two five-stage pipelines. Each subsequent Pentium processor had a longer pipeline than its predecessor with the Pentium IV having a 24-stage pipeline.</a:t>
            </a:r>
          </a:p>
          <a:p>
            <a:r>
              <a:rPr lang="en-US" dirty="0"/>
              <a:t>The Itanium (IA-64) has only a 10-stage pipeline.</a:t>
            </a:r>
          </a:p>
          <a:p>
            <a:r>
              <a:rPr lang="en-US" dirty="0"/>
              <a:t>Intel processors support a wide array of addressing modes.</a:t>
            </a:r>
          </a:p>
          <a:p>
            <a:r>
              <a:rPr lang="en-US" dirty="0"/>
              <a:t>The original 8086 provided 17 ways to address memory, most of them variants on the methods presented in this Unit.</a:t>
            </a:r>
          </a:p>
          <a:p>
            <a:r>
              <a:rPr lang="en-US" dirty="0"/>
              <a:t>Owing to their need for backward compatibility, the Pentium chips also support these 17 addressing modes.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70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Generation Intel “</a:t>
            </a:r>
            <a:r>
              <a:rPr lang="en-US" dirty="0" err="1"/>
              <a:t>Skylake</a:t>
            </a:r>
            <a:r>
              <a:rPr lang="en-US" dirty="0"/>
              <a:t>” Quad-core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34" name="Picture 10" descr="File:skylake (quad-core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7696200" cy="526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933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Generation Intel “</a:t>
            </a:r>
            <a:r>
              <a:rPr lang="en-US" dirty="0" err="1"/>
              <a:t>Skylake</a:t>
            </a:r>
            <a:r>
              <a:rPr lang="en-US" dirty="0"/>
              <a:t>” Quad-core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File:skylake (quad-core) (annotated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767562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15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ISAs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MIPS is an acronym for </a:t>
            </a:r>
            <a:r>
              <a:rPr lang="en-US" b="1" dirty="0"/>
              <a:t>Microprocessor without Interlocked Pipeline Stages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RISC architecture</a:t>
            </a:r>
          </a:p>
          <a:p>
            <a:r>
              <a:rPr lang="en-US" dirty="0"/>
              <a:t>The architecture is little endian and word-addressable with three-address, fixed-length instructions.</a:t>
            </a:r>
          </a:p>
          <a:p>
            <a:r>
              <a:rPr lang="en-US" dirty="0"/>
              <a:t>Like Intel, the pipeline size of the MIPS processors has grown: The R2000 and R3000 have five-stage pipelines.; the R4000 and R4400 have eight-stage pipelines.</a:t>
            </a:r>
          </a:p>
          <a:p>
            <a:r>
              <a:rPr lang="en-US" dirty="0"/>
              <a:t>The R10000 has three pipelines: A five-stage pipeline for integer instructions, a seven-stage pipeline for floating-point instructions, and a six-state pipeline for load/store instructions. </a:t>
            </a:r>
          </a:p>
          <a:p>
            <a:r>
              <a:rPr lang="en-US" dirty="0"/>
              <a:t>In all MIPS ISAs, only the load and store instructions can access memory.</a:t>
            </a:r>
          </a:p>
          <a:p>
            <a:r>
              <a:rPr lang="en-US" dirty="0"/>
              <a:t>The ISA uses only a few addressing modes to access data (why only a few?)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54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 Machines       vs.      CISC Machines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97090" y="1127396"/>
            <a:ext cx="5384800" cy="51972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 instructions, few in number</a:t>
            </a:r>
          </a:p>
          <a:p>
            <a:r>
              <a:rPr lang="en-US" dirty="0"/>
              <a:t>Fixed length instructions</a:t>
            </a:r>
          </a:p>
          <a:p>
            <a:r>
              <a:rPr lang="en-US" dirty="0"/>
              <a:t>Complexity in compiler</a:t>
            </a:r>
          </a:p>
          <a:p>
            <a:r>
              <a:rPr lang="en-US" dirty="0"/>
              <a:t>Only load/store instructions access memory</a:t>
            </a:r>
          </a:p>
          <a:p>
            <a:r>
              <a:rPr lang="en-US" dirty="0"/>
              <a:t>Few addressing modes</a:t>
            </a:r>
          </a:p>
          <a:p>
            <a:r>
              <a:rPr lang="en-US" dirty="0"/>
              <a:t>Multiple register sets</a:t>
            </a:r>
          </a:p>
          <a:p>
            <a:r>
              <a:rPr lang="en-US"/>
              <a:t>Three </a:t>
            </a:r>
            <a:r>
              <a:rPr lang="en-US" dirty="0"/>
              <a:t>operands per instruction</a:t>
            </a:r>
          </a:p>
          <a:p>
            <a:r>
              <a:rPr lang="en-US" dirty="0"/>
              <a:t>Single-cycle instructions</a:t>
            </a:r>
          </a:p>
          <a:p>
            <a:r>
              <a:rPr lang="en-US" dirty="0"/>
              <a:t>Highly pipelined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99200" y="1130808"/>
            <a:ext cx="5283200" cy="52699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complex instructions</a:t>
            </a:r>
          </a:p>
          <a:p>
            <a:r>
              <a:rPr lang="en-US" dirty="0"/>
              <a:t>Variable-length instructions</a:t>
            </a:r>
          </a:p>
          <a:p>
            <a:r>
              <a:rPr lang="en-US" dirty="0"/>
              <a:t>Complexity in microcode</a:t>
            </a:r>
          </a:p>
          <a:p>
            <a:r>
              <a:rPr lang="en-US" dirty="0"/>
              <a:t>Many instructions can access memory</a:t>
            </a:r>
          </a:p>
          <a:p>
            <a:r>
              <a:rPr lang="en-US" dirty="0"/>
              <a:t>Many addressing modes</a:t>
            </a:r>
          </a:p>
          <a:p>
            <a:r>
              <a:rPr lang="en-US" dirty="0"/>
              <a:t>Single register set</a:t>
            </a:r>
          </a:p>
          <a:p>
            <a:r>
              <a:rPr lang="en-US" dirty="0"/>
              <a:t>One or two register operands per instruction</a:t>
            </a:r>
          </a:p>
          <a:p>
            <a:r>
              <a:rPr lang="en-US" dirty="0"/>
              <a:t>Multiple-cycle instructions</a:t>
            </a:r>
          </a:p>
          <a:p>
            <a:r>
              <a:rPr lang="en-US" dirty="0"/>
              <a:t>Less pipelined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06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ISAs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might </a:t>
            </a:r>
            <a:r>
              <a:rPr lang="en-US" dirty="0"/>
              <a:t>not have heard of ARM, but most likely you use an ARM processor every day. It is the most widely used 32-bit instruction architecture:</a:t>
            </a:r>
          </a:p>
          <a:p>
            <a:pPr lvl="1"/>
            <a:r>
              <a:rPr lang="en-US" dirty="0"/>
              <a:t>95%+ of smartphones,</a:t>
            </a:r>
          </a:p>
          <a:p>
            <a:pPr lvl="1"/>
            <a:r>
              <a:rPr lang="en-US" dirty="0"/>
              <a:t>80%+ of digital cameras</a:t>
            </a:r>
          </a:p>
          <a:p>
            <a:pPr lvl="1"/>
            <a:r>
              <a:rPr lang="en-US" dirty="0"/>
              <a:t>40%+ of all digital television sets</a:t>
            </a:r>
          </a:p>
          <a:p>
            <a:r>
              <a:rPr lang="en-US" dirty="0"/>
              <a:t>Founded in 1990, by Apple and others, ARM (Advanced RISC Machine) is now a British firm, ARM Holdings.</a:t>
            </a:r>
          </a:p>
          <a:p>
            <a:r>
              <a:rPr lang="en-US" dirty="0"/>
              <a:t>ARM Holdings does not manufacture these processors; it sells licenses to manufacture.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59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ISAs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ARM is a load/store architecture: all data processing must be performed on values in registers, not in memory. </a:t>
            </a:r>
          </a:p>
          <a:p>
            <a:r>
              <a:rPr lang="en-US" dirty="0"/>
              <a:t>It uses fixed-length, three-operand instructions and simple addressing modes</a:t>
            </a:r>
          </a:p>
          <a:p>
            <a:r>
              <a:rPr lang="en-US" dirty="0"/>
              <a:t>ARM processors have a minimum of a three-stage pipeline (consisting of fetch, decode, and execute).</a:t>
            </a:r>
          </a:p>
          <a:p>
            <a:r>
              <a:rPr lang="en-US" dirty="0"/>
              <a:t>Newer ARM processors have deeper pipelines (more stages).  </a:t>
            </a:r>
          </a:p>
          <a:p>
            <a:r>
              <a:rPr lang="en-US" dirty="0"/>
              <a:t>ARM has 37 total registers but their visibility depends on the processor mode.</a:t>
            </a:r>
          </a:p>
          <a:p>
            <a:r>
              <a:rPr lang="en-US" dirty="0"/>
              <a:t>ARM allows multiple register transfers at once. </a:t>
            </a:r>
          </a:p>
          <a:p>
            <a:pPr lvl="1"/>
            <a:r>
              <a:rPr lang="en-US" dirty="0"/>
              <a:t>It can simultaneously load or store any subset of the 16 general-purpose registers from/to sequential memory addresses. </a:t>
            </a:r>
          </a:p>
          <a:p>
            <a:r>
              <a:rPr lang="en-US" dirty="0"/>
              <a:t>Most ARM instructions execute in a single cycle, provided there are no pipeline hazards or memory accesses.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01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396D4F3FBE81459556FDCA3F477A03" ma:contentTypeVersion="4" ma:contentTypeDescription="Create a new document." ma:contentTypeScope="" ma:versionID="b755ac89c73d1625610c43508c66eda4">
  <xsd:schema xmlns:xsd="http://www.w3.org/2001/XMLSchema" xmlns:xs="http://www.w3.org/2001/XMLSchema" xmlns:p="http://schemas.microsoft.com/office/2006/metadata/properties" xmlns:ns2="1a22e323-47b0-4d47-8cfa-1000afc68f2b" targetNamespace="http://schemas.microsoft.com/office/2006/metadata/properties" ma:root="true" ma:fieldsID="58f068782b86ca64c32db991266d7ab4" ns2:_="">
    <xsd:import namespace="1a22e323-47b0-4d47-8cfa-1000afc68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2e323-47b0-4d47-8cfa-1000afc68f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DA2AD6-EECB-49AF-8447-EE66D8696CF7}"/>
</file>

<file path=customXml/itemProps2.xml><?xml version="1.0" encoding="utf-8"?>
<ds:datastoreItem xmlns:ds="http://schemas.openxmlformats.org/officeDocument/2006/customXml" ds:itemID="{DA8B9F49-3000-46F0-B628-735B3E4E87A1}"/>
</file>

<file path=customXml/itemProps3.xml><?xml version="1.0" encoding="utf-8"?>
<ds:datastoreItem xmlns:ds="http://schemas.openxmlformats.org/officeDocument/2006/customXml" ds:itemID="{3A03C1C0-1E6C-467F-A52C-3F434F5120AA}"/>
</file>

<file path=docProps/app.xml><?xml version="1.0" encoding="utf-8"?>
<Properties xmlns="http://schemas.openxmlformats.org/officeDocument/2006/extended-properties" xmlns:vt="http://schemas.openxmlformats.org/officeDocument/2006/docPropsVTypes">
  <TotalTime>13297</TotalTime>
  <Words>3616</Words>
  <Application>Microsoft Office PowerPoint</Application>
  <PresentationFormat>Widescreen</PresentationFormat>
  <Paragraphs>413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Office Theme</vt:lpstr>
      <vt:lpstr>ISE 218: Fundamentals of Information Technology Unit 4: Instruction Set Architecture</vt:lpstr>
      <vt:lpstr>Introduction</vt:lpstr>
      <vt:lpstr>Instruction Formats</vt:lpstr>
      <vt:lpstr>Instruction Formats</vt:lpstr>
      <vt:lpstr>Instruction Formats</vt:lpstr>
      <vt:lpstr>Instruction Formats</vt:lpstr>
      <vt:lpstr>Instruction Formats</vt:lpstr>
      <vt:lpstr>Endianness: Example #1</vt:lpstr>
      <vt:lpstr>Endianness: Example #2</vt:lpstr>
      <vt:lpstr>Endianness: Example #3</vt:lpstr>
      <vt:lpstr>Endianness: Example #4</vt:lpstr>
      <vt:lpstr>Endianness: Example #5</vt:lpstr>
      <vt:lpstr>Endianness: Example #6</vt:lpstr>
      <vt:lpstr>Instruction Formats</vt:lpstr>
      <vt:lpstr>Instruction Formats</vt:lpstr>
      <vt:lpstr>Instruction Formats</vt:lpstr>
      <vt:lpstr>Instruction Formats</vt:lpstr>
      <vt:lpstr>Instruction Formats: Example #1</vt:lpstr>
      <vt:lpstr>Instruction Formats: Example #2</vt:lpstr>
      <vt:lpstr>Instruction Formats: Example #2 (cont.)</vt:lpstr>
      <vt:lpstr>Instruction Formats: Example #2 (cont.)</vt:lpstr>
      <vt:lpstr>Instruction Formats: Example #2 (cont.)</vt:lpstr>
      <vt:lpstr>Instruction Formats: Example #3</vt:lpstr>
      <vt:lpstr>Instruction Formats: Example #3 (cont.)</vt:lpstr>
      <vt:lpstr>Instruction Formats: Example #3 (cont.)</vt:lpstr>
      <vt:lpstr>Instruction Formats: Example #4</vt:lpstr>
      <vt:lpstr>Instruction Formats: Example #5</vt:lpstr>
      <vt:lpstr>Instruction Formats: Example #5 (cont.)</vt:lpstr>
      <vt:lpstr>Instruction Types</vt:lpstr>
      <vt:lpstr>Addressing Modes</vt:lpstr>
      <vt:lpstr>Addressing Modes</vt:lpstr>
      <vt:lpstr>Addressing Modes: Example</vt:lpstr>
      <vt:lpstr>Instruction Pipelining</vt:lpstr>
      <vt:lpstr>Instruction Pipelining</vt:lpstr>
      <vt:lpstr>Instruction Pipelining</vt:lpstr>
      <vt:lpstr>Instruction Pipelining</vt:lpstr>
      <vt:lpstr>Instruction Pipelining: Example</vt:lpstr>
      <vt:lpstr>Instruction Pipelining</vt:lpstr>
      <vt:lpstr>Other Kinds of Pipelining</vt:lpstr>
      <vt:lpstr>Real-world Examples of ISAs</vt:lpstr>
      <vt:lpstr>9th Generation Intel “Skylake” Quad-core CPU</vt:lpstr>
      <vt:lpstr>9th Generation Intel “Skylake” Quad-core CPU</vt:lpstr>
      <vt:lpstr>Real-world Examples of ISAs</vt:lpstr>
      <vt:lpstr>RISC Machines       vs.      CISC Machines</vt:lpstr>
      <vt:lpstr>Real-world Examples of ISAs</vt:lpstr>
      <vt:lpstr>Real-world Examples of ISAs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Raza, Ali x58396</dc:creator>
  <cp:lastModifiedBy>于 心瑞 Xinrui YU</cp:lastModifiedBy>
  <cp:revision>58</cp:revision>
  <dcterms:created xsi:type="dcterms:W3CDTF">2019-09-11T14:18:50Z</dcterms:created>
  <dcterms:modified xsi:type="dcterms:W3CDTF">2025-03-14T11:45:38Z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0x010100AC396D4F3FBE81459556FDCA3F477A03</vt:lpwstr>
  </property>
</Properties>
</file>