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1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 roundtripDataSignature="AMtx7mhMIFUDXyPLlgPe6bp/1I1uj61TS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D51B27-7B1E-43D6-BC91-4D3898508F20}" v="6" dt="2025-02-21T12:19:39.0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customschemas.google.com/relationships/presentationmetadata" Target="meta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于 心瑞 Xinrui YU" userId="S::25402@ahu.edu.cn::e6fcc6d4-2b88-4beb-95d7-57ae4d33a768" providerId="AD" clId="Web-{31D51B27-7B1E-43D6-BC91-4D3898508F20}"/>
    <pc:docChg chg="modSld">
      <pc:chgData name="于 心瑞 Xinrui YU" userId="S::25402@ahu.edu.cn::e6fcc6d4-2b88-4beb-95d7-57ae4d33a768" providerId="AD" clId="Web-{31D51B27-7B1E-43D6-BC91-4D3898508F20}" dt="2025-02-21T12:19:39.031" v="2" actId="20577"/>
      <pc:docMkLst>
        <pc:docMk/>
      </pc:docMkLst>
      <pc:sldChg chg="modSp">
        <pc:chgData name="于 心瑞 Xinrui YU" userId="S::25402@ahu.edu.cn::e6fcc6d4-2b88-4beb-95d7-57ae4d33a768" providerId="AD" clId="Web-{31D51B27-7B1E-43D6-BC91-4D3898508F20}" dt="2025-02-21T12:19:39.031" v="2" actId="20577"/>
        <pc:sldMkLst>
          <pc:docMk/>
          <pc:sldMk cId="0" sldId="263"/>
        </pc:sldMkLst>
        <pc:spChg chg="mod">
          <ac:chgData name="于 心瑞 Xinrui YU" userId="S::25402@ahu.edu.cn::e6fcc6d4-2b88-4beb-95d7-57ae4d33a768" providerId="AD" clId="Web-{31D51B27-7B1E-43D6-BC91-4D3898508F20}" dt="2025-02-21T12:19:39.031" v="2" actId="20577"/>
          <ac:spMkLst>
            <pc:docMk/>
            <pc:sldMk cId="0" sldId="263"/>
            <ac:spMk id="14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351fb045d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351fb045dd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g3351fb045dd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7"/>
        <p:cNvGrpSpPr/>
        <p:nvPr/>
      </p:nvGrpSpPr>
      <p:grpSpPr>
        <a:xfrm>
          <a:off x="0" y="0"/>
          <a:ext cx="0" cy="0"/>
          <a:chOff x="0" y="0"/>
          <a:chExt cx="0" cy="0"/>
        </a:xfrm>
      </p:grpSpPr>
      <p:sp>
        <p:nvSpPr>
          <p:cNvPr id="28" name="Google Shape;28;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1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1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1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7" name="Google Shape;37;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3"/>
          <p:cNvSpPr>
            <a:spLocks noGrp="1"/>
          </p:cNvSpPr>
          <p:nvPr>
            <p:ph type="pic" idx="2"/>
          </p:nvPr>
        </p:nvSpPr>
        <p:spPr>
          <a:xfrm>
            <a:off x="5183188" y="987425"/>
            <a:ext cx="6172200" cy="4873625"/>
          </a:xfrm>
          <a:prstGeom prst="rect">
            <a:avLst/>
          </a:prstGeom>
          <a:noFill/>
          <a:ln>
            <a:noFill/>
          </a:ln>
        </p:spPr>
      </p:sp>
      <p:sp>
        <p:nvSpPr>
          <p:cNvPr id="68" name="Google Shape;68;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descr="Text, letter&#10;&#10;Description automatically generated"/>
          <p:cNvPicPr preferRelativeResize="0"/>
          <p:nvPr/>
        </p:nvPicPr>
        <p:blipFill rotWithShape="1">
          <a:blip r:embed="rId3">
            <a:alphaModFix/>
          </a:blip>
          <a:srcRect/>
          <a:stretch/>
        </p:blipFill>
        <p:spPr>
          <a:xfrm>
            <a:off x="1289303" y="1122232"/>
            <a:ext cx="5982803" cy="2213635"/>
          </a:xfrm>
          <a:prstGeom prst="rect">
            <a:avLst/>
          </a:prstGeom>
          <a:noFill/>
          <a:ln>
            <a:noFill/>
          </a:ln>
        </p:spPr>
      </p:pic>
      <p:sp>
        <p:nvSpPr>
          <p:cNvPr id="89" name="Google Shape;89;p1"/>
          <p:cNvSpPr txBox="1">
            <a:spLocks noGrp="1"/>
          </p:cNvSpPr>
          <p:nvPr>
            <p:ph type="ctrTitle"/>
          </p:nvPr>
        </p:nvSpPr>
        <p:spPr>
          <a:xfrm>
            <a:off x="1289303" y="3429000"/>
            <a:ext cx="10080312" cy="1713305"/>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3800"/>
              <a:buFont typeface="Calibri"/>
              <a:buNone/>
            </a:pPr>
            <a:r>
              <a:rPr lang="en-US" sz="3800"/>
              <a:t>ISE 218: Fundamentals of Information Technology</a:t>
            </a:r>
            <a:br>
              <a:rPr lang="en-US" sz="3800"/>
            </a:br>
            <a:r>
              <a:rPr lang="en-US" sz="3800"/>
              <a:t>Course Overview</a:t>
            </a:r>
            <a:endParaRPr/>
          </a:p>
        </p:txBody>
      </p:sp>
      <p:sp>
        <p:nvSpPr>
          <p:cNvPr id="90" name="Google Shape;90;p1"/>
          <p:cNvSpPr txBox="1">
            <a:spLocks noGrp="1"/>
          </p:cNvSpPr>
          <p:nvPr>
            <p:ph type="subTitle" idx="1"/>
          </p:nvPr>
        </p:nvSpPr>
        <p:spPr>
          <a:xfrm>
            <a:off x="1289303" y="5142305"/>
            <a:ext cx="7321200" cy="1096800"/>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dk1"/>
              </a:buClr>
              <a:buSzPts val="1900"/>
              <a:buNone/>
            </a:pPr>
            <a:r>
              <a:rPr lang="en-US" sz="1800"/>
              <a:t>Spring 2025</a:t>
            </a:r>
            <a:endParaRPr sz="1800"/>
          </a:p>
          <a:p>
            <a:pPr marL="0" lvl="0" indent="0" algn="l" rtl="0">
              <a:lnSpc>
                <a:spcPct val="90000"/>
              </a:lnSpc>
              <a:spcBef>
                <a:spcPts val="1000"/>
              </a:spcBef>
              <a:spcAft>
                <a:spcPts val="0"/>
              </a:spcAft>
              <a:buClr>
                <a:schemeClr val="dk1"/>
              </a:buClr>
              <a:buSzPts val="1900"/>
              <a:buNone/>
            </a:pPr>
            <a:r>
              <a:rPr lang="en-US" sz="1800"/>
              <a:t>Instructor: Abid Malik</a:t>
            </a:r>
            <a:endParaRPr sz="1800"/>
          </a:p>
          <a:p>
            <a:pPr marL="0" lvl="0" indent="0" algn="l" rtl="0">
              <a:lnSpc>
                <a:spcPct val="90000"/>
              </a:lnSpc>
              <a:spcBef>
                <a:spcPts val="1000"/>
              </a:spcBef>
              <a:spcAft>
                <a:spcPts val="0"/>
              </a:spcAft>
              <a:buClr>
                <a:schemeClr val="dk1"/>
              </a:buClr>
              <a:buSzPts val="1900"/>
              <a:buNone/>
            </a:pPr>
            <a:r>
              <a:rPr lang="en-US" sz="1800"/>
              <a:t>co-Instructor: Xinrui Yu</a:t>
            </a:r>
            <a:endParaRPr sz="1800"/>
          </a:p>
        </p:txBody>
      </p:sp>
      <p:sp>
        <p:nvSpPr>
          <p:cNvPr id="91" name="Google Shape;91;p1"/>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Course Overview</a:t>
            </a:r>
            <a:endParaRPr/>
          </a:p>
        </p:txBody>
      </p:sp>
      <p:sp>
        <p:nvSpPr>
          <p:cNvPr id="97" name="Google Shape;9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ISE 218 is a hardware-focused course primarily for ISE majors.</a:t>
            </a:r>
            <a:endParaRPr/>
          </a:p>
          <a:p>
            <a:pPr marL="228600" lvl="0" indent="-228600" algn="l" rtl="0">
              <a:lnSpc>
                <a:spcPct val="90000"/>
              </a:lnSpc>
              <a:spcBef>
                <a:spcPts val="1000"/>
              </a:spcBef>
              <a:spcAft>
                <a:spcPts val="0"/>
              </a:spcAft>
              <a:buClr>
                <a:schemeClr val="dk1"/>
              </a:buClr>
              <a:buSzPts val="2800"/>
              <a:buChar char="•"/>
            </a:pPr>
            <a:r>
              <a:rPr lang="en-US"/>
              <a:t>We will look at some of the internals of the computer, such as how the hardware executes software, how the software drives the hardware, computer networks fundamentals, and other topics that are </a:t>
            </a:r>
            <a:r>
              <a:rPr lang="en-US" i="1"/>
              <a:t>timeless</a:t>
            </a:r>
            <a:r>
              <a:rPr lang="en-US"/>
              <a:t> (more or less)</a:t>
            </a:r>
            <a:endParaRPr/>
          </a:p>
          <a:p>
            <a:pPr marL="228600" lvl="0" indent="-228600" algn="l" rtl="0">
              <a:lnSpc>
                <a:spcPct val="90000"/>
              </a:lnSpc>
              <a:spcBef>
                <a:spcPts val="1000"/>
              </a:spcBef>
              <a:spcAft>
                <a:spcPts val="0"/>
              </a:spcAft>
              <a:buClr>
                <a:schemeClr val="dk1"/>
              </a:buClr>
              <a:buSzPts val="2800"/>
              <a:buChar char="•"/>
            </a:pPr>
            <a:r>
              <a:rPr lang="en-US"/>
              <a:t>The idea is that we will not only look at current technologies, but look at important hardware/software </a:t>
            </a:r>
            <a:r>
              <a:rPr lang="en-US" i="1"/>
              <a:t>concepts</a:t>
            </a:r>
            <a:r>
              <a:rPr lang="en-US"/>
              <a:t> that will apply to the next generation of technologies too</a:t>
            </a:r>
            <a:endParaRPr/>
          </a:p>
        </p:txBody>
      </p:sp>
      <p:sp>
        <p:nvSpPr>
          <p:cNvPr id="98" name="Google Shape;98;p2"/>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g3351fb045dd_0_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Course Overview</a:t>
            </a:r>
            <a:endParaRPr/>
          </a:p>
        </p:txBody>
      </p:sp>
      <p:sp>
        <p:nvSpPr>
          <p:cNvPr id="105" name="Google Shape;105;g3351fb045dd_0_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pic>
        <p:nvPicPr>
          <p:cNvPr id="106" name="Google Shape;106;g3351fb045dd_0_0"/>
          <p:cNvPicPr preferRelativeResize="0"/>
          <p:nvPr/>
        </p:nvPicPr>
        <p:blipFill>
          <a:blip r:embed="rId3">
            <a:alphaModFix/>
          </a:blip>
          <a:stretch>
            <a:fillRect/>
          </a:stretch>
        </p:blipFill>
        <p:spPr>
          <a:xfrm>
            <a:off x="4143825" y="2175325"/>
            <a:ext cx="3326625" cy="32370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800"/>
              <a:buFont typeface="Calibri"/>
              <a:buNone/>
            </a:pPr>
            <a:r>
              <a:rPr lang="en-US" sz="4800"/>
              <a:t>Major Course Topics</a:t>
            </a:r>
            <a:endParaRPr/>
          </a:p>
        </p:txBody>
      </p:sp>
      <p:sp>
        <p:nvSpPr>
          <p:cNvPr id="112" name="Google Shape;112;p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Measures of storage, time, and space</a:t>
            </a:r>
            <a:endParaRPr/>
          </a:p>
          <a:p>
            <a:pPr marL="228600" lvl="0" indent="-228600" algn="l" rtl="0">
              <a:lnSpc>
                <a:spcPct val="90000"/>
              </a:lnSpc>
              <a:spcBef>
                <a:spcPts val="1000"/>
              </a:spcBef>
              <a:spcAft>
                <a:spcPts val="0"/>
              </a:spcAft>
              <a:buClr>
                <a:schemeClr val="dk1"/>
              </a:buClr>
              <a:buSzPts val="2800"/>
              <a:buChar char="•"/>
            </a:pPr>
            <a:r>
              <a:rPr lang="en-US"/>
              <a:t>Number systems</a:t>
            </a:r>
            <a:endParaRPr/>
          </a:p>
          <a:p>
            <a:pPr marL="228600" lvl="0" indent="-228600" algn="l" rtl="0">
              <a:lnSpc>
                <a:spcPct val="90000"/>
              </a:lnSpc>
              <a:spcBef>
                <a:spcPts val="1000"/>
              </a:spcBef>
              <a:spcAft>
                <a:spcPts val="0"/>
              </a:spcAft>
              <a:buClr>
                <a:schemeClr val="dk1"/>
              </a:buClr>
              <a:buSzPts val="2800"/>
              <a:buChar char="•"/>
            </a:pPr>
            <a:r>
              <a:rPr lang="en-US"/>
              <a:t>Representing numerical data</a:t>
            </a:r>
            <a:endParaRPr/>
          </a:p>
          <a:p>
            <a:pPr marL="228600" lvl="0" indent="-228600" algn="l" rtl="0">
              <a:lnSpc>
                <a:spcPct val="90000"/>
              </a:lnSpc>
              <a:spcBef>
                <a:spcPts val="1000"/>
              </a:spcBef>
              <a:spcAft>
                <a:spcPts val="0"/>
              </a:spcAft>
              <a:buClr>
                <a:schemeClr val="dk1"/>
              </a:buClr>
              <a:buSzPts val="2800"/>
              <a:buChar char="•"/>
            </a:pPr>
            <a:r>
              <a:rPr lang="en-US"/>
              <a:t>Computer components</a:t>
            </a:r>
            <a:endParaRPr/>
          </a:p>
          <a:p>
            <a:pPr marL="228600" lvl="0" indent="-228600" algn="l" rtl="0">
              <a:lnSpc>
                <a:spcPct val="90000"/>
              </a:lnSpc>
              <a:spcBef>
                <a:spcPts val="1000"/>
              </a:spcBef>
              <a:spcAft>
                <a:spcPts val="0"/>
              </a:spcAft>
              <a:buClr>
                <a:schemeClr val="dk1"/>
              </a:buClr>
              <a:buSzPts val="2800"/>
              <a:buChar char="•"/>
            </a:pPr>
            <a:r>
              <a:rPr lang="en-US"/>
              <a:t>Simplified processor study</a:t>
            </a:r>
            <a:endParaRPr/>
          </a:p>
          <a:p>
            <a:pPr marL="228600" lvl="0" indent="-228600" algn="l" rtl="0">
              <a:lnSpc>
                <a:spcPct val="90000"/>
              </a:lnSpc>
              <a:spcBef>
                <a:spcPts val="1000"/>
              </a:spcBef>
              <a:spcAft>
                <a:spcPts val="0"/>
              </a:spcAft>
              <a:buClr>
                <a:schemeClr val="dk1"/>
              </a:buClr>
              <a:buSzPts val="2800"/>
              <a:buChar char="•"/>
            </a:pPr>
            <a:r>
              <a:rPr lang="en-US"/>
              <a:t>Memory</a:t>
            </a:r>
            <a:endParaRPr/>
          </a:p>
        </p:txBody>
      </p:sp>
      <p:sp>
        <p:nvSpPr>
          <p:cNvPr id="113" name="Google Shape;113;p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I/O devices</a:t>
            </a:r>
            <a:endParaRPr/>
          </a:p>
          <a:p>
            <a:pPr marL="228600" lvl="0" indent="-228600" algn="l" rtl="0">
              <a:lnSpc>
                <a:spcPct val="90000"/>
              </a:lnSpc>
              <a:spcBef>
                <a:spcPts val="1000"/>
              </a:spcBef>
              <a:spcAft>
                <a:spcPts val="0"/>
              </a:spcAft>
              <a:buClr>
                <a:schemeClr val="dk1"/>
              </a:buClr>
              <a:buSzPts val="2800"/>
              <a:buChar char="•"/>
            </a:pPr>
            <a:r>
              <a:rPr lang="en-US"/>
              <a:t>Alternate architectures</a:t>
            </a:r>
            <a:endParaRPr/>
          </a:p>
          <a:p>
            <a:pPr marL="228600" lvl="0" indent="-228600" algn="l" rtl="0">
              <a:lnSpc>
                <a:spcPct val="90000"/>
              </a:lnSpc>
              <a:spcBef>
                <a:spcPts val="1000"/>
              </a:spcBef>
              <a:spcAft>
                <a:spcPts val="0"/>
              </a:spcAft>
              <a:buClr>
                <a:schemeClr val="dk1"/>
              </a:buClr>
              <a:buSzPts val="2800"/>
              <a:buChar char="•"/>
            </a:pPr>
            <a:r>
              <a:rPr lang="en-US"/>
              <a:t>Data communications</a:t>
            </a:r>
            <a:endParaRPr/>
          </a:p>
          <a:p>
            <a:pPr marL="228600" lvl="0" indent="-228600" algn="l" rtl="0">
              <a:lnSpc>
                <a:spcPct val="90000"/>
              </a:lnSpc>
              <a:spcBef>
                <a:spcPts val="1000"/>
              </a:spcBef>
              <a:spcAft>
                <a:spcPts val="0"/>
              </a:spcAft>
              <a:buClr>
                <a:schemeClr val="dk1"/>
              </a:buClr>
              <a:buSzPts val="2800"/>
              <a:buChar char="•"/>
            </a:pPr>
            <a:r>
              <a:rPr lang="en-US"/>
              <a:t>Wireless communications</a:t>
            </a:r>
            <a:endParaRPr/>
          </a:p>
          <a:p>
            <a:pPr marL="228600" lvl="0" indent="-228600" algn="l" rtl="0">
              <a:lnSpc>
                <a:spcPct val="90000"/>
              </a:lnSpc>
              <a:spcBef>
                <a:spcPts val="1000"/>
              </a:spcBef>
              <a:spcAft>
                <a:spcPts val="0"/>
              </a:spcAft>
              <a:buClr>
                <a:schemeClr val="dk1"/>
              </a:buClr>
              <a:buSzPts val="2800"/>
              <a:buChar char="•"/>
            </a:pPr>
            <a:r>
              <a:rPr lang="en-US"/>
              <a:t>System performance metrics</a:t>
            </a:r>
            <a:endParaRPr/>
          </a:p>
          <a:p>
            <a:pPr marL="228600" lvl="0" indent="-228600" algn="l" rtl="0">
              <a:lnSpc>
                <a:spcPct val="90000"/>
              </a:lnSpc>
              <a:spcBef>
                <a:spcPts val="1000"/>
              </a:spcBef>
              <a:spcAft>
                <a:spcPts val="0"/>
              </a:spcAft>
              <a:buClr>
                <a:schemeClr val="dk1"/>
              </a:buClr>
              <a:buSzPts val="2800"/>
              <a:buChar char="•"/>
            </a:pPr>
            <a:r>
              <a:rPr lang="en-US"/>
              <a:t>Others!</a:t>
            </a:r>
            <a:endParaRPr/>
          </a:p>
          <a:p>
            <a:pPr marL="228600" lvl="0" indent="-50800" algn="l" rtl="0">
              <a:lnSpc>
                <a:spcPct val="90000"/>
              </a:lnSpc>
              <a:spcBef>
                <a:spcPts val="1000"/>
              </a:spcBef>
              <a:spcAft>
                <a:spcPts val="0"/>
              </a:spcAft>
              <a:buClr>
                <a:schemeClr val="dk1"/>
              </a:buClr>
              <a:buSzPts val="2800"/>
              <a:buNone/>
            </a:pPr>
            <a:endParaRPr/>
          </a:p>
        </p:txBody>
      </p:sp>
      <p:sp>
        <p:nvSpPr>
          <p:cNvPr id="114" name="Google Shape;114;p3"/>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800"/>
              <a:buFont typeface="Calibri"/>
              <a:buNone/>
            </a:pPr>
            <a:r>
              <a:rPr lang="en-US" sz="4800"/>
              <a:t>Major Course Objectives</a:t>
            </a:r>
            <a:endParaRPr/>
          </a:p>
        </p:txBody>
      </p:sp>
      <p:sp>
        <p:nvSpPr>
          <p:cNvPr id="120" name="Google Shape;120;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Char char="•"/>
            </a:pPr>
            <a:r>
              <a:rPr lang="en-US"/>
              <a:t>Understand how numerical and non-numerical data are represented in digital computers</a:t>
            </a:r>
            <a:endParaRPr/>
          </a:p>
          <a:p>
            <a:pPr marL="228600" lvl="0" indent="-228600" algn="l" rtl="0">
              <a:lnSpc>
                <a:spcPct val="90000"/>
              </a:lnSpc>
              <a:spcBef>
                <a:spcPts val="1000"/>
              </a:spcBef>
              <a:spcAft>
                <a:spcPts val="0"/>
              </a:spcAft>
              <a:buClr>
                <a:schemeClr val="dk1"/>
              </a:buClr>
              <a:buSzPts val="2800"/>
              <a:buChar char="•"/>
            </a:pPr>
            <a:r>
              <a:rPr lang="en-US"/>
              <a:t>Understand the functions performed by components of a computer-based device</a:t>
            </a:r>
            <a:endParaRPr/>
          </a:p>
          <a:p>
            <a:pPr marL="228600" lvl="0" indent="-228600" algn="l" rtl="0">
              <a:lnSpc>
                <a:spcPct val="90000"/>
              </a:lnSpc>
              <a:spcBef>
                <a:spcPts val="1000"/>
              </a:spcBef>
              <a:spcAft>
                <a:spcPts val="0"/>
              </a:spcAft>
              <a:buClr>
                <a:schemeClr val="dk1"/>
              </a:buClr>
              <a:buSzPts val="2800"/>
              <a:buChar char="•"/>
            </a:pPr>
            <a:r>
              <a:rPr lang="en-US"/>
              <a:t>Indicate strengths and weaknesses inherent in different components and different architectures</a:t>
            </a:r>
            <a:endParaRPr/>
          </a:p>
          <a:p>
            <a:pPr marL="228600" lvl="0" indent="-228600" algn="l" rtl="0">
              <a:lnSpc>
                <a:spcPct val="90000"/>
              </a:lnSpc>
              <a:spcBef>
                <a:spcPts val="1000"/>
              </a:spcBef>
              <a:spcAft>
                <a:spcPts val="0"/>
              </a:spcAft>
              <a:buClr>
                <a:schemeClr val="dk1"/>
              </a:buClr>
              <a:buSzPts val="2800"/>
              <a:buChar char="•"/>
            </a:pPr>
            <a:r>
              <a:rPr lang="en-US"/>
              <a:t>Understand the specification sheet of a typical computer-based device</a:t>
            </a:r>
            <a:endParaRPr/>
          </a:p>
          <a:p>
            <a:pPr marL="228600" lvl="0" indent="-50800" algn="l" rtl="0">
              <a:lnSpc>
                <a:spcPct val="90000"/>
              </a:lnSpc>
              <a:spcBef>
                <a:spcPts val="1000"/>
              </a:spcBef>
              <a:spcAft>
                <a:spcPts val="0"/>
              </a:spcAft>
              <a:buClr>
                <a:schemeClr val="dk1"/>
              </a:buClr>
              <a:buSzPts val="2800"/>
              <a:buNone/>
            </a:pPr>
            <a:endParaRPr/>
          </a:p>
        </p:txBody>
      </p:sp>
      <p:sp>
        <p:nvSpPr>
          <p:cNvPr id="121" name="Google Shape;121;p4"/>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800"/>
              <a:buFont typeface="Calibri"/>
              <a:buNone/>
            </a:pPr>
            <a:r>
              <a:rPr lang="en-US" sz="4800"/>
              <a:t>Instructor Information</a:t>
            </a:r>
            <a:endParaRPr/>
          </a:p>
        </p:txBody>
      </p:sp>
      <p:sp>
        <p:nvSpPr>
          <p:cNvPr id="127" name="Google Shape;127;p5"/>
          <p:cNvSpPr txBox="1">
            <a:spLocks noGrp="1"/>
          </p:cNvSpPr>
          <p:nvPr>
            <p:ph type="body" idx="1"/>
          </p:nvPr>
        </p:nvSpPr>
        <p:spPr>
          <a:xfrm>
            <a:off x="838200" y="1825625"/>
            <a:ext cx="10515600" cy="2419500"/>
          </a:xfrm>
          <a:prstGeom prst="rect">
            <a:avLst/>
          </a:prstGeom>
          <a:noFill/>
          <a:ln>
            <a:noFill/>
          </a:ln>
        </p:spPr>
        <p:txBody>
          <a:bodyPr spcFirstLastPara="1" wrap="square" lIns="91425" tIns="45700" rIns="91425" bIns="45700" anchor="t" anchorCtr="0">
            <a:spAutoFit/>
          </a:bodyPr>
          <a:lstStyle/>
          <a:p>
            <a:pPr marL="457200" lvl="0" indent="-342900" algn="l" rtl="0">
              <a:lnSpc>
                <a:spcPct val="90000"/>
              </a:lnSpc>
              <a:spcBef>
                <a:spcPts val="0"/>
              </a:spcBef>
              <a:spcAft>
                <a:spcPts val="0"/>
              </a:spcAft>
              <a:buSzPts val="1800"/>
              <a:buChar char="•"/>
            </a:pPr>
            <a:r>
              <a:rPr lang="en-US"/>
              <a:t>Prof. Abid Malik from SBU</a:t>
            </a:r>
            <a:endParaRPr/>
          </a:p>
          <a:p>
            <a:pPr marL="457200" lvl="0" indent="-342900" algn="l" rtl="0">
              <a:lnSpc>
                <a:spcPct val="90000"/>
              </a:lnSpc>
              <a:spcBef>
                <a:spcPts val="0"/>
              </a:spcBef>
              <a:spcAft>
                <a:spcPts val="0"/>
              </a:spcAft>
              <a:buSzPts val="1800"/>
              <a:buChar char="•"/>
            </a:pPr>
            <a:r>
              <a:rPr lang="en-US" b="1"/>
              <a:t>Prof. </a:t>
            </a:r>
            <a:r>
              <a:rPr lang="en-US" b="1">
                <a:solidFill>
                  <a:srgbClr val="222222"/>
                </a:solidFill>
                <a:highlight>
                  <a:srgbClr val="FFFFFF"/>
                </a:highlight>
              </a:rPr>
              <a:t>Xinrui Yu from SBU at Anhui university</a:t>
            </a:r>
            <a:endParaRPr b="1"/>
          </a:p>
          <a:p>
            <a:pPr marL="457200" lvl="0" indent="-342900" algn="l" rtl="0">
              <a:lnSpc>
                <a:spcPct val="90000"/>
              </a:lnSpc>
              <a:spcBef>
                <a:spcPts val="0"/>
              </a:spcBef>
              <a:spcAft>
                <a:spcPts val="0"/>
              </a:spcAft>
              <a:buSzPts val="1800"/>
              <a:buChar char="•"/>
            </a:pPr>
            <a:r>
              <a:rPr lang="en-US"/>
              <a:t>Office hours: TBD</a:t>
            </a:r>
            <a:endParaRPr/>
          </a:p>
          <a:p>
            <a:pPr marL="457200" lvl="0" indent="-342900" algn="l" rtl="0">
              <a:lnSpc>
                <a:spcPct val="90000"/>
              </a:lnSpc>
              <a:spcBef>
                <a:spcPts val="0"/>
              </a:spcBef>
              <a:spcAft>
                <a:spcPts val="0"/>
              </a:spcAft>
              <a:buSzPts val="1800"/>
              <a:buChar char="•"/>
            </a:pPr>
            <a:r>
              <a:rPr lang="en-US"/>
              <a:t>Email: amalik@cs.stonybrook.edu </a:t>
            </a:r>
            <a:endParaRPr/>
          </a:p>
          <a:p>
            <a:pPr marL="457200" lvl="0" indent="-342900" algn="l" rtl="0">
              <a:lnSpc>
                <a:spcPct val="90000"/>
              </a:lnSpc>
              <a:spcBef>
                <a:spcPts val="0"/>
              </a:spcBef>
              <a:spcAft>
                <a:spcPts val="0"/>
              </a:spcAft>
              <a:buSzPts val="1800"/>
              <a:buChar char="•"/>
            </a:pPr>
            <a:r>
              <a:rPr lang="en-US"/>
              <a:t>Please use this email address only to set up an appointment to meet with me.</a:t>
            </a:r>
            <a:endParaRPr/>
          </a:p>
        </p:txBody>
      </p:sp>
      <p:sp>
        <p:nvSpPr>
          <p:cNvPr id="128" name="Google Shape;128;p5"/>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800"/>
              <a:buFont typeface="Calibri"/>
              <a:buNone/>
            </a:pPr>
            <a:r>
              <a:rPr lang="en-US" sz="4800"/>
              <a:t>Textbook</a:t>
            </a:r>
            <a:endParaRPr/>
          </a:p>
        </p:txBody>
      </p:sp>
      <p:sp>
        <p:nvSpPr>
          <p:cNvPr id="134" name="Google Shape;134;p6"/>
          <p:cNvSpPr txBox="1">
            <a:spLocks noGrp="1"/>
          </p:cNvSpPr>
          <p:nvPr>
            <p:ph type="body" idx="1"/>
          </p:nvPr>
        </p:nvSpPr>
        <p:spPr>
          <a:xfrm>
            <a:off x="838200" y="1825625"/>
            <a:ext cx="10515600" cy="2288400"/>
          </a:xfrm>
          <a:prstGeom prst="rect">
            <a:avLst/>
          </a:prstGeom>
          <a:noFill/>
          <a:ln>
            <a:noFill/>
          </a:ln>
        </p:spPr>
        <p:txBody>
          <a:bodyPr spcFirstLastPara="1" wrap="square" lIns="91425" tIns="45700" rIns="91425" bIns="45700" anchor="t" anchorCtr="0">
            <a:spAutoFit/>
          </a:bodyPr>
          <a:lstStyle/>
          <a:p>
            <a:pPr marL="228600" lvl="0" indent="-228600" algn="l" rtl="0">
              <a:lnSpc>
                <a:spcPct val="90000"/>
              </a:lnSpc>
              <a:spcBef>
                <a:spcPts val="0"/>
              </a:spcBef>
              <a:spcAft>
                <a:spcPts val="0"/>
              </a:spcAft>
              <a:buClr>
                <a:schemeClr val="dk1"/>
              </a:buClr>
              <a:buSzPts val="2800"/>
              <a:buChar char="•"/>
            </a:pPr>
            <a:r>
              <a:rPr lang="en-US" i="1"/>
              <a:t>Essentials of Computer Organization and Architecture</a:t>
            </a:r>
            <a:r>
              <a:rPr lang="en-US"/>
              <a:t> (5th edition) by Linda Null and Julia Lobur. Jones &amp; Bartlett Learning, 2018. ISBN 978-1284123036</a:t>
            </a:r>
            <a:endParaRPr/>
          </a:p>
          <a:p>
            <a:pPr marL="228600" lvl="0" indent="-228600" algn="l" rtl="0">
              <a:lnSpc>
                <a:spcPct val="90000"/>
              </a:lnSpc>
              <a:spcBef>
                <a:spcPts val="1000"/>
              </a:spcBef>
              <a:spcAft>
                <a:spcPts val="0"/>
              </a:spcAft>
              <a:buClr>
                <a:schemeClr val="dk1"/>
              </a:buClr>
              <a:buSzPts val="2800"/>
              <a:buChar char="•"/>
            </a:pPr>
            <a:r>
              <a:rPr lang="en-US"/>
              <a:t>The 4th edition is also satisfactory.</a:t>
            </a:r>
            <a:endParaRPr/>
          </a:p>
          <a:p>
            <a:pPr marL="228600" lvl="0" indent="-50800" algn="l" rtl="0">
              <a:lnSpc>
                <a:spcPct val="90000"/>
              </a:lnSpc>
              <a:spcBef>
                <a:spcPts val="1000"/>
              </a:spcBef>
              <a:spcAft>
                <a:spcPts val="0"/>
              </a:spcAft>
              <a:buClr>
                <a:schemeClr val="dk1"/>
              </a:buClr>
              <a:buSzPts val="2800"/>
              <a:buNone/>
            </a:pPr>
            <a:endParaRPr/>
          </a:p>
        </p:txBody>
      </p:sp>
      <p:sp>
        <p:nvSpPr>
          <p:cNvPr id="135" name="Google Shape;135;p6"/>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Lecture Meetings</a:t>
            </a:r>
            <a:endParaRPr/>
          </a:p>
        </p:txBody>
      </p:sp>
      <p:sp>
        <p:nvSpPr>
          <p:cNvPr id="141" name="Google Shape;141;p7"/>
          <p:cNvSpPr txBox="1">
            <a:spLocks noGrp="1"/>
          </p:cNvSpPr>
          <p:nvPr>
            <p:ph type="body" idx="1"/>
          </p:nvPr>
        </p:nvSpPr>
        <p:spPr>
          <a:xfrm>
            <a:off x="838200" y="1825625"/>
            <a:ext cx="10515600" cy="1256100"/>
          </a:xfrm>
          <a:prstGeom prst="rect">
            <a:avLst/>
          </a:prstGeom>
          <a:noFill/>
          <a:ln>
            <a:noFill/>
          </a:ln>
        </p:spPr>
        <p:txBody>
          <a:bodyPr spcFirstLastPara="1" wrap="square" lIns="91425" tIns="45700" rIns="91425" bIns="45700" anchor="t" anchorCtr="0">
            <a:spAutoFit/>
          </a:bodyPr>
          <a:lstStyle/>
          <a:p>
            <a:pPr marL="457200" lvl="0" indent="-342900" algn="l" rtl="0">
              <a:lnSpc>
                <a:spcPct val="90000"/>
              </a:lnSpc>
              <a:spcBef>
                <a:spcPts val="0"/>
              </a:spcBef>
              <a:spcAft>
                <a:spcPts val="0"/>
              </a:spcAft>
              <a:buSzPts val="1800"/>
              <a:buChar char="•"/>
            </a:pPr>
            <a:r>
              <a:rPr lang="en-US"/>
              <a:t>Lixi Building 314</a:t>
            </a:r>
            <a:endParaRPr/>
          </a:p>
          <a:p>
            <a:pPr marL="457200" lvl="0" indent="0" algn="l" rtl="0">
              <a:lnSpc>
                <a:spcPct val="90000"/>
              </a:lnSpc>
              <a:spcBef>
                <a:spcPts val="0"/>
              </a:spcBef>
              <a:spcAft>
                <a:spcPts val="0"/>
              </a:spcAft>
              <a:buNone/>
            </a:pPr>
            <a:endParaRPr/>
          </a:p>
          <a:p>
            <a:pPr>
              <a:spcBef>
                <a:spcPts val="0"/>
              </a:spcBef>
            </a:pPr>
            <a:r>
              <a:rPr lang="en-US"/>
              <a:t>Course hours: Friday (09:50 AM - 12:15 PM) - China Time</a:t>
            </a:r>
            <a:endParaRPr/>
          </a:p>
        </p:txBody>
      </p:sp>
      <p:sp>
        <p:nvSpPr>
          <p:cNvPr id="142" name="Google Shape;142;p7"/>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Homework (20% of Grade)</a:t>
            </a:r>
            <a:endParaRPr/>
          </a:p>
        </p:txBody>
      </p:sp>
      <p:sp>
        <p:nvSpPr>
          <p:cNvPr id="148" name="Google Shape;148;p8"/>
          <p:cNvSpPr txBox="1">
            <a:spLocks noGrp="1"/>
          </p:cNvSpPr>
          <p:nvPr>
            <p:ph type="body" idx="1"/>
          </p:nvPr>
        </p:nvSpPr>
        <p:spPr>
          <a:xfrm>
            <a:off x="609600" y="1690700"/>
            <a:ext cx="10972800" cy="4105200"/>
          </a:xfrm>
          <a:prstGeom prst="rect">
            <a:avLst/>
          </a:prstGeom>
          <a:noFill/>
          <a:ln>
            <a:noFill/>
          </a:ln>
        </p:spPr>
        <p:txBody>
          <a:bodyPr spcFirstLastPara="1" wrap="square" lIns="91425" tIns="45700" rIns="91425" bIns="45700" anchor="t" anchorCtr="0">
            <a:spAutoFit/>
          </a:bodyPr>
          <a:lstStyle/>
          <a:p>
            <a:pPr marL="228600" lvl="0" indent="-228600" algn="l" rtl="0">
              <a:lnSpc>
                <a:spcPct val="90000"/>
              </a:lnSpc>
              <a:spcBef>
                <a:spcPts val="0"/>
              </a:spcBef>
              <a:spcAft>
                <a:spcPts val="0"/>
              </a:spcAft>
              <a:buClr>
                <a:schemeClr val="dk1"/>
              </a:buClr>
              <a:buSzPts val="2800"/>
              <a:buChar char="•"/>
            </a:pPr>
            <a:r>
              <a:rPr lang="en-US"/>
              <a:t>Over the course of the term you will be required to solve problems on paper and submit them during class time</a:t>
            </a:r>
            <a:endParaRPr/>
          </a:p>
          <a:p>
            <a:pPr marL="228600" lvl="0" indent="-228600" algn="l" rtl="0">
              <a:lnSpc>
                <a:spcPct val="90000"/>
              </a:lnSpc>
              <a:spcBef>
                <a:spcPts val="1000"/>
              </a:spcBef>
              <a:spcAft>
                <a:spcPts val="0"/>
              </a:spcAft>
              <a:buClr>
                <a:schemeClr val="dk1"/>
              </a:buClr>
              <a:buSzPts val="2800"/>
              <a:buChar char="•"/>
            </a:pPr>
            <a:r>
              <a:rPr lang="en-US"/>
              <a:t>These homework assignments will reinforce concepts from class and will consist largely of performing computations</a:t>
            </a:r>
            <a:endParaRPr/>
          </a:p>
          <a:p>
            <a:pPr marL="228600" lvl="0" indent="-228600" algn="l" rtl="0">
              <a:lnSpc>
                <a:spcPct val="90000"/>
              </a:lnSpc>
              <a:spcBef>
                <a:spcPts val="1000"/>
              </a:spcBef>
              <a:spcAft>
                <a:spcPts val="0"/>
              </a:spcAft>
              <a:buClr>
                <a:schemeClr val="dk1"/>
              </a:buClr>
              <a:buSzPts val="2800"/>
              <a:buChar char="•"/>
            </a:pPr>
            <a:r>
              <a:rPr lang="en-US"/>
              <a:t>All work will due on fixed dates and times</a:t>
            </a:r>
            <a:endParaRPr/>
          </a:p>
          <a:p>
            <a:pPr marL="685800" lvl="1" indent="-228600" algn="l" rtl="0">
              <a:lnSpc>
                <a:spcPct val="90000"/>
              </a:lnSpc>
              <a:spcBef>
                <a:spcPts val="500"/>
              </a:spcBef>
              <a:spcAft>
                <a:spcPts val="0"/>
              </a:spcAft>
              <a:buClr>
                <a:schemeClr val="dk1"/>
              </a:buClr>
              <a:buSzPts val="2400"/>
              <a:buChar char="•"/>
            </a:pPr>
            <a:r>
              <a:rPr lang="en-US"/>
              <a:t>No late submission of work will be permitted</a:t>
            </a:r>
            <a:endParaRPr/>
          </a:p>
          <a:p>
            <a:pPr marL="228600" lvl="0" indent="-228600" algn="l" rtl="0">
              <a:lnSpc>
                <a:spcPct val="90000"/>
              </a:lnSpc>
              <a:spcBef>
                <a:spcPts val="1000"/>
              </a:spcBef>
              <a:spcAft>
                <a:spcPts val="0"/>
              </a:spcAft>
              <a:buClr>
                <a:schemeClr val="dk1"/>
              </a:buClr>
              <a:buSzPts val="2800"/>
              <a:buChar char="•"/>
            </a:pPr>
            <a:r>
              <a:rPr lang="en-US"/>
              <a:t>All work will be completed on an individual basis</a:t>
            </a:r>
            <a:endParaRPr/>
          </a:p>
          <a:p>
            <a:pPr marL="228600" lvl="0" indent="-228600" algn="l" rtl="0">
              <a:lnSpc>
                <a:spcPct val="90000"/>
              </a:lnSpc>
              <a:spcBef>
                <a:spcPts val="1000"/>
              </a:spcBef>
              <a:spcAft>
                <a:spcPts val="0"/>
              </a:spcAft>
              <a:buClr>
                <a:schemeClr val="dk1"/>
              </a:buClr>
              <a:buSzPts val="2800"/>
              <a:buChar char="•"/>
            </a:pPr>
            <a:r>
              <a:rPr lang="en-US"/>
              <a:t>Please start early on the assignments so that you have time to ask for help if you need it</a:t>
            </a:r>
            <a:endParaRPr/>
          </a:p>
        </p:txBody>
      </p:sp>
      <p:sp>
        <p:nvSpPr>
          <p:cNvPr id="149" name="Google Shape;149;p8"/>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Academic Integrity</a:t>
            </a:r>
            <a:endParaRPr/>
          </a:p>
        </p:txBody>
      </p:sp>
      <p:sp>
        <p:nvSpPr>
          <p:cNvPr id="155" name="Google Shape;155;p9"/>
          <p:cNvSpPr txBox="1">
            <a:spLocks noGrp="1"/>
          </p:cNvSpPr>
          <p:nvPr>
            <p:ph type="body" idx="1"/>
          </p:nvPr>
        </p:nvSpPr>
        <p:spPr>
          <a:xfrm>
            <a:off x="609600" y="1690700"/>
            <a:ext cx="10972800" cy="4096500"/>
          </a:xfrm>
          <a:prstGeom prst="rect">
            <a:avLst/>
          </a:prstGeom>
          <a:noFill/>
          <a:ln>
            <a:noFill/>
          </a:ln>
        </p:spPr>
        <p:txBody>
          <a:bodyPr spcFirstLastPara="1" wrap="square" lIns="91425" tIns="45700" rIns="91425" bIns="45700" anchor="t" anchorCtr="0">
            <a:spAutoFit/>
          </a:bodyPr>
          <a:lstStyle/>
          <a:p>
            <a:pPr marL="228600" lvl="0" indent="-228600" algn="l" rtl="0">
              <a:lnSpc>
                <a:spcPct val="90000"/>
              </a:lnSpc>
              <a:spcBef>
                <a:spcPts val="0"/>
              </a:spcBef>
              <a:spcAft>
                <a:spcPts val="0"/>
              </a:spcAft>
              <a:buClr>
                <a:schemeClr val="dk1"/>
              </a:buClr>
              <a:buSzPts val="2800"/>
              <a:buChar char="•"/>
            </a:pPr>
            <a:r>
              <a:rPr lang="en-US"/>
              <a:t>You may discuss general concepts related to assignments with other students, such as explaining how in general to solve the kinds of problems we see in class</a:t>
            </a:r>
            <a:endParaRPr/>
          </a:p>
          <a:p>
            <a:pPr marL="228600" lvl="0" indent="-228600" algn="l" rtl="0">
              <a:lnSpc>
                <a:spcPct val="90000"/>
              </a:lnSpc>
              <a:spcBef>
                <a:spcPts val="1000"/>
              </a:spcBef>
              <a:spcAft>
                <a:spcPts val="0"/>
              </a:spcAft>
              <a:buClr>
                <a:schemeClr val="dk1"/>
              </a:buClr>
              <a:buSzPts val="2800"/>
              <a:buChar char="•"/>
            </a:pPr>
            <a:r>
              <a:rPr lang="en-US"/>
              <a:t>You </a:t>
            </a:r>
            <a:r>
              <a:rPr lang="en-US" b="1"/>
              <a:t>may not</a:t>
            </a:r>
            <a:r>
              <a:rPr lang="en-US"/>
              <a:t> share assignments or other answers by copying, looking at or supplying answers</a:t>
            </a:r>
            <a:endParaRPr/>
          </a:p>
          <a:p>
            <a:pPr marL="228600" lvl="0" indent="-228600" algn="l" rtl="0">
              <a:lnSpc>
                <a:spcPct val="90000"/>
              </a:lnSpc>
              <a:spcBef>
                <a:spcPts val="1000"/>
              </a:spcBef>
              <a:spcAft>
                <a:spcPts val="0"/>
              </a:spcAft>
              <a:buClr>
                <a:schemeClr val="dk1"/>
              </a:buClr>
              <a:buSzPts val="2800"/>
              <a:buChar char="•"/>
            </a:pPr>
            <a:r>
              <a:rPr lang="en-US"/>
              <a:t>This includes downloading materials off the Internet</a:t>
            </a:r>
            <a:endParaRPr/>
          </a:p>
          <a:p>
            <a:pPr marL="228600" lvl="0" indent="-228600" algn="l" rtl="0">
              <a:lnSpc>
                <a:spcPct val="90000"/>
              </a:lnSpc>
              <a:spcBef>
                <a:spcPts val="1000"/>
              </a:spcBef>
              <a:spcAft>
                <a:spcPts val="0"/>
              </a:spcAft>
              <a:buClr>
                <a:schemeClr val="dk1"/>
              </a:buClr>
              <a:buSzPts val="2800"/>
              <a:buChar char="•"/>
            </a:pPr>
            <a:r>
              <a:rPr lang="en-US"/>
              <a:t>If you cheat, you will be brought up on academic dishonesty charges, the penalties for which can include expulsion from the University</a:t>
            </a:r>
            <a:endParaRPr/>
          </a:p>
          <a:p>
            <a:pPr marL="228600" lvl="0" indent="-50800" algn="l" rtl="0">
              <a:lnSpc>
                <a:spcPct val="90000"/>
              </a:lnSpc>
              <a:spcBef>
                <a:spcPts val="1000"/>
              </a:spcBef>
              <a:spcAft>
                <a:spcPts val="0"/>
              </a:spcAft>
              <a:buClr>
                <a:schemeClr val="dk1"/>
              </a:buClr>
              <a:buSzPts val="2800"/>
              <a:buNone/>
            </a:pPr>
            <a:endParaRPr/>
          </a:p>
        </p:txBody>
      </p:sp>
      <p:sp>
        <p:nvSpPr>
          <p:cNvPr id="156" name="Google Shape;156;p9"/>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Quizzes (20% of Grade)</a:t>
            </a:r>
            <a:endParaRPr/>
          </a:p>
        </p:txBody>
      </p:sp>
      <p:sp>
        <p:nvSpPr>
          <p:cNvPr id="162" name="Google Shape;162;p10"/>
          <p:cNvSpPr txBox="1">
            <a:spLocks noGrp="1"/>
          </p:cNvSpPr>
          <p:nvPr>
            <p:ph type="body" idx="1"/>
          </p:nvPr>
        </p:nvSpPr>
        <p:spPr>
          <a:xfrm>
            <a:off x="563400" y="1817700"/>
            <a:ext cx="10972800" cy="1772100"/>
          </a:xfrm>
          <a:prstGeom prst="rect">
            <a:avLst/>
          </a:prstGeom>
          <a:noFill/>
          <a:ln>
            <a:noFill/>
          </a:ln>
        </p:spPr>
        <p:txBody>
          <a:bodyPr spcFirstLastPara="1" wrap="square" lIns="91425" tIns="45700" rIns="91425" bIns="45700" anchor="t" anchorCtr="0">
            <a:spAutoFit/>
          </a:bodyPr>
          <a:lstStyle/>
          <a:p>
            <a:pPr marL="228600" lvl="0" indent="-228600" algn="l" rtl="0">
              <a:lnSpc>
                <a:spcPct val="90000"/>
              </a:lnSpc>
              <a:spcBef>
                <a:spcPts val="0"/>
              </a:spcBef>
              <a:spcAft>
                <a:spcPts val="0"/>
              </a:spcAft>
              <a:buClr>
                <a:schemeClr val="dk1"/>
              </a:buClr>
              <a:buSzPts val="2800"/>
              <a:buChar char="•"/>
            </a:pPr>
            <a:r>
              <a:rPr lang="en-US"/>
              <a:t>Periodically we will have brief, in-class quizzes that cover material from the course</a:t>
            </a:r>
            <a:endParaRPr/>
          </a:p>
          <a:p>
            <a:pPr marL="228600" lvl="0" indent="-228600" algn="l" rtl="0">
              <a:lnSpc>
                <a:spcPct val="90000"/>
              </a:lnSpc>
              <a:spcBef>
                <a:spcPts val="1000"/>
              </a:spcBef>
              <a:spcAft>
                <a:spcPts val="0"/>
              </a:spcAft>
              <a:buClr>
                <a:schemeClr val="dk1"/>
              </a:buClr>
              <a:buSzPts val="2800"/>
              <a:buChar char="•"/>
            </a:pPr>
            <a:r>
              <a:rPr lang="en-US"/>
              <a:t>The best way to prepare for the quizzes is to do your homework and complete the assigned readings</a:t>
            </a:r>
            <a:endParaRPr/>
          </a:p>
        </p:txBody>
      </p:sp>
      <p:sp>
        <p:nvSpPr>
          <p:cNvPr id="163" name="Google Shape;163;p1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Examinations (60% of Grade)</a:t>
            </a:r>
            <a:endParaRPr/>
          </a:p>
        </p:txBody>
      </p:sp>
      <p:sp>
        <p:nvSpPr>
          <p:cNvPr id="169" name="Google Shape;169;p11"/>
          <p:cNvSpPr txBox="1">
            <a:spLocks noGrp="1"/>
          </p:cNvSpPr>
          <p:nvPr>
            <p:ph type="body" idx="1"/>
          </p:nvPr>
        </p:nvSpPr>
        <p:spPr>
          <a:xfrm>
            <a:off x="838200" y="1825625"/>
            <a:ext cx="10515600" cy="2509800"/>
          </a:xfrm>
          <a:prstGeom prst="rect">
            <a:avLst/>
          </a:prstGeom>
          <a:noFill/>
          <a:ln>
            <a:noFill/>
          </a:ln>
        </p:spPr>
        <p:txBody>
          <a:bodyPr spcFirstLastPara="1" wrap="square" lIns="91425" tIns="45700" rIns="91425" bIns="45700" anchor="t" anchorCtr="0">
            <a:spAutoFit/>
          </a:bodyPr>
          <a:lstStyle/>
          <a:p>
            <a:pPr marL="228600" lvl="0" indent="-228600" algn="l" rtl="0">
              <a:lnSpc>
                <a:spcPct val="90000"/>
              </a:lnSpc>
              <a:spcBef>
                <a:spcPts val="0"/>
              </a:spcBef>
              <a:spcAft>
                <a:spcPts val="0"/>
              </a:spcAft>
              <a:buClr>
                <a:schemeClr val="dk1"/>
              </a:buClr>
              <a:buSzPts val="2800"/>
              <a:buChar char="•"/>
            </a:pPr>
            <a:r>
              <a:rPr lang="en-US"/>
              <a:t>Examinations will be on these dates:</a:t>
            </a:r>
            <a:endParaRPr/>
          </a:p>
          <a:p>
            <a:pPr marL="685800" lvl="1" indent="-228600" algn="l" rtl="0">
              <a:lnSpc>
                <a:spcPct val="90000"/>
              </a:lnSpc>
              <a:spcBef>
                <a:spcPts val="0"/>
              </a:spcBef>
              <a:spcAft>
                <a:spcPts val="0"/>
              </a:spcAft>
              <a:buSzPts val="1800"/>
              <a:buChar char="•"/>
            </a:pPr>
            <a:r>
              <a:rPr lang="en-US"/>
              <a:t>Exam 1	April 18</a:t>
            </a:r>
            <a:endParaRPr/>
          </a:p>
          <a:p>
            <a:pPr marL="685800" lvl="1" indent="-228600" algn="l" rtl="0">
              <a:lnSpc>
                <a:spcPct val="90000"/>
              </a:lnSpc>
              <a:spcBef>
                <a:spcPts val="0"/>
              </a:spcBef>
              <a:spcAft>
                <a:spcPts val="0"/>
              </a:spcAft>
              <a:buSzPts val="1800"/>
              <a:buChar char="•"/>
            </a:pPr>
            <a:r>
              <a:rPr lang="en-US"/>
              <a:t>Exam 2	May 30</a:t>
            </a:r>
            <a:endParaRPr/>
          </a:p>
          <a:p>
            <a:pPr marL="685800" lvl="1" indent="-228600" algn="l" rtl="0">
              <a:lnSpc>
                <a:spcPct val="90000"/>
              </a:lnSpc>
              <a:spcBef>
                <a:spcPts val="0"/>
              </a:spcBef>
              <a:spcAft>
                <a:spcPts val="0"/>
              </a:spcAft>
              <a:buSzPts val="1800"/>
              <a:buChar char="•"/>
            </a:pPr>
            <a:r>
              <a:rPr lang="en-US"/>
              <a:t>Exam 3	TBD</a:t>
            </a:r>
            <a:endParaRPr/>
          </a:p>
          <a:p>
            <a:pPr marL="228600" lvl="0" indent="-228600" algn="l" rtl="0">
              <a:lnSpc>
                <a:spcPct val="90000"/>
              </a:lnSpc>
              <a:spcBef>
                <a:spcPts val="1000"/>
              </a:spcBef>
              <a:spcAft>
                <a:spcPts val="0"/>
              </a:spcAft>
              <a:buClr>
                <a:schemeClr val="dk1"/>
              </a:buClr>
              <a:buSzPts val="2800"/>
              <a:buChar char="•"/>
            </a:pPr>
            <a:r>
              <a:rPr lang="en-US"/>
              <a:t>Do not miss exams – there will be no make-ups! </a:t>
            </a:r>
            <a:endParaRPr/>
          </a:p>
          <a:p>
            <a:pPr marL="228600" lvl="0" indent="0" algn="l" rtl="0">
              <a:lnSpc>
                <a:spcPct val="90000"/>
              </a:lnSpc>
              <a:spcBef>
                <a:spcPts val="1000"/>
              </a:spcBef>
              <a:spcAft>
                <a:spcPts val="0"/>
              </a:spcAft>
              <a:buNone/>
            </a:pPr>
            <a:endParaRPr/>
          </a:p>
        </p:txBody>
      </p:sp>
      <p:sp>
        <p:nvSpPr>
          <p:cNvPr id="170" name="Google Shape;170;p11"/>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800"/>
              <a:buFont typeface="Calibri"/>
              <a:buNone/>
            </a:pPr>
            <a:r>
              <a:rPr lang="en-US" sz="4800"/>
              <a:t>Disability</a:t>
            </a:r>
            <a:endParaRPr/>
          </a:p>
        </p:txBody>
      </p:sp>
      <p:sp>
        <p:nvSpPr>
          <p:cNvPr id="176" name="Google Shape;176;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a:bodyPr>
          <a:lstStyle/>
          <a:p>
            <a:pPr marL="228600" lvl="0" indent="-228600" algn="l" rtl="0">
              <a:lnSpc>
                <a:spcPct val="90000"/>
              </a:lnSpc>
              <a:spcBef>
                <a:spcPts val="0"/>
              </a:spcBef>
              <a:spcAft>
                <a:spcPts val="0"/>
              </a:spcAft>
              <a:buClr>
                <a:schemeClr val="dk1"/>
              </a:buClr>
              <a:buSzPct val="100000"/>
              <a:buChar char="•"/>
            </a:pPr>
            <a:r>
              <a:rPr lang="en-US"/>
              <a:t>If you have a physical, psychological, medical or learning disability, please contact the Student Accessibility Support Center at room 128 in the Educational Communications Center. </a:t>
            </a:r>
            <a:endParaRPr/>
          </a:p>
          <a:p>
            <a:pPr marL="228600" lvl="0" indent="-228600" algn="l" rtl="0">
              <a:lnSpc>
                <a:spcPct val="90000"/>
              </a:lnSpc>
              <a:spcBef>
                <a:spcPts val="1000"/>
              </a:spcBef>
              <a:spcAft>
                <a:spcPts val="0"/>
              </a:spcAft>
              <a:buClr>
                <a:schemeClr val="dk1"/>
              </a:buClr>
              <a:buSzPct val="100000"/>
              <a:buChar char="•"/>
            </a:pPr>
            <a:r>
              <a:rPr lang="en-US"/>
              <a:t>Disability-related accommodations will be make only for those students officially registered with the Student Accessibility Support Center</a:t>
            </a:r>
            <a:endParaRPr/>
          </a:p>
          <a:p>
            <a:pPr marL="228600" lvl="0" indent="-228600" algn="l" rtl="0">
              <a:lnSpc>
                <a:spcPct val="90000"/>
              </a:lnSpc>
              <a:spcBef>
                <a:spcPts val="1000"/>
              </a:spcBef>
              <a:spcAft>
                <a:spcPts val="0"/>
              </a:spcAft>
              <a:buClr>
                <a:schemeClr val="dk1"/>
              </a:buClr>
              <a:buSzPct val="100000"/>
              <a:buChar char="•"/>
            </a:pPr>
            <a:r>
              <a:rPr lang="en-US"/>
              <a:t>Their phone number is 632-6748/TDD</a:t>
            </a:r>
            <a:endParaRPr/>
          </a:p>
          <a:p>
            <a:pPr marL="228600" lvl="0" indent="-228600" algn="l" rtl="0">
              <a:lnSpc>
                <a:spcPct val="90000"/>
              </a:lnSpc>
              <a:spcBef>
                <a:spcPts val="1000"/>
              </a:spcBef>
              <a:spcAft>
                <a:spcPts val="0"/>
              </a:spcAft>
              <a:buClr>
                <a:schemeClr val="dk1"/>
              </a:buClr>
              <a:buSzPct val="100000"/>
              <a:buChar char="•"/>
            </a:pPr>
            <a:r>
              <a:rPr lang="en-US"/>
              <a:t>If you are planning to take an exam at the Student Accessibility Support Center, you need to tell me at least three days ahead of time for every exam so that proper arrangements can be made</a:t>
            </a:r>
            <a:endParaRPr/>
          </a:p>
          <a:p>
            <a:pPr marL="228600" lvl="0" indent="-228600" algn="l" rtl="0">
              <a:lnSpc>
                <a:spcPct val="90000"/>
              </a:lnSpc>
              <a:spcBef>
                <a:spcPts val="1000"/>
              </a:spcBef>
              <a:spcAft>
                <a:spcPts val="0"/>
              </a:spcAft>
              <a:buClr>
                <a:schemeClr val="dk1"/>
              </a:buClr>
              <a:buSzPct val="100000"/>
              <a:buChar char="•"/>
            </a:pPr>
            <a:r>
              <a:rPr lang="en-US"/>
              <a:t>All documentation of disability is confidential</a:t>
            </a:r>
            <a:endParaRPr/>
          </a:p>
          <a:p>
            <a:pPr marL="228600" lvl="0" indent="-64135" algn="l" rtl="0">
              <a:lnSpc>
                <a:spcPct val="90000"/>
              </a:lnSpc>
              <a:spcBef>
                <a:spcPts val="1000"/>
              </a:spcBef>
              <a:spcAft>
                <a:spcPts val="0"/>
              </a:spcAft>
              <a:buClr>
                <a:schemeClr val="dk1"/>
              </a:buClr>
              <a:buSzPct val="100000"/>
              <a:buNone/>
            </a:pPr>
            <a:endParaRPr/>
          </a:p>
          <a:p>
            <a:pPr marL="228600" lvl="0" indent="-64135" algn="l" rtl="0">
              <a:lnSpc>
                <a:spcPct val="90000"/>
              </a:lnSpc>
              <a:spcBef>
                <a:spcPts val="1000"/>
              </a:spcBef>
              <a:spcAft>
                <a:spcPts val="0"/>
              </a:spcAft>
              <a:buClr>
                <a:schemeClr val="dk1"/>
              </a:buClr>
              <a:buSzPct val="100000"/>
              <a:buNone/>
            </a:pPr>
            <a:endParaRPr/>
          </a:p>
        </p:txBody>
      </p:sp>
      <p:sp>
        <p:nvSpPr>
          <p:cNvPr id="177" name="Google Shape;177;p12"/>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3"/>
          <p:cNvSpPr txBox="1">
            <a:spLocks noGrp="1"/>
          </p:cNvSpPr>
          <p:nvPr>
            <p:ph type="title"/>
          </p:nvPr>
        </p:nvSpPr>
        <p:spPr>
          <a:xfrm>
            <a:off x="1981200" y="274638"/>
            <a:ext cx="8229600" cy="5973762"/>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a:t>Welcome and Good Luck!</a:t>
            </a:r>
            <a:br>
              <a:rPr lang="en-US"/>
            </a:br>
            <a:br>
              <a:rPr lang="en-US"/>
            </a:br>
            <a:r>
              <a:rPr lang="en-US"/>
              <a:t>Any questions?</a:t>
            </a:r>
            <a:endParaRPr/>
          </a:p>
        </p:txBody>
      </p:sp>
      <p:sp>
        <p:nvSpPr>
          <p:cNvPr id="183" name="Google Shape;183;p13"/>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文档" ma:contentTypeID="0x010100AC396D4F3FBE81459556FDCA3F477A03" ma:contentTypeVersion="4" ma:contentTypeDescription="新建文档。" ma:contentTypeScope="" ma:versionID="55aa3372f6c1d9a176cf9fb509a991c9">
  <xsd:schema xmlns:xsd="http://www.w3.org/2001/XMLSchema" xmlns:xs="http://www.w3.org/2001/XMLSchema" xmlns:p="http://schemas.microsoft.com/office/2006/metadata/properties" xmlns:ns2="1a22e323-47b0-4d47-8cfa-1000afc68f2b" targetNamespace="http://schemas.microsoft.com/office/2006/metadata/properties" ma:root="true" ma:fieldsID="1fe6ba4ebcf481dd53cc4fde1f8919a0" ns2:_="">
    <xsd:import namespace="1a22e323-47b0-4d47-8cfa-1000afc68f2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22e323-47b0-4d47-8cfa-1000afc68f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内容类型"/>
        <xsd:element ref="dc:title" minOccurs="0" maxOccurs="1" ma:index="4" ma:displayName="标题"/>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86A4D42-0027-449D-B064-FF1C4ADE0F69}">
  <ds:schemaRefs>
    <ds:schemaRef ds:uri="http://schemas.microsoft.com/sharepoint/v3/contenttype/forms"/>
  </ds:schemaRefs>
</ds:datastoreItem>
</file>

<file path=customXml/itemProps2.xml><?xml version="1.0" encoding="utf-8"?>
<ds:datastoreItem xmlns:ds="http://schemas.openxmlformats.org/officeDocument/2006/customXml" ds:itemID="{5C20582B-8CA5-400D-B325-D3911821B71D}"/>
</file>

<file path=customXml/itemProps3.xml><?xml version="1.0" encoding="utf-8"?>
<ds:datastoreItem xmlns:ds="http://schemas.openxmlformats.org/officeDocument/2006/customXml" ds:itemID="{89E7AECD-3690-4460-9973-7AAE4B5B0BD0}">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14</Slides>
  <Notes>14</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ISE 218: Fundamentals of Information Technology Course Overview</vt:lpstr>
      <vt:lpstr>Course Overview</vt:lpstr>
      <vt:lpstr>Course Overview</vt:lpstr>
      <vt:lpstr>Major Course Topics</vt:lpstr>
      <vt:lpstr>Major Course Objectives</vt:lpstr>
      <vt:lpstr>Instructor Information</vt:lpstr>
      <vt:lpstr>Textbook</vt:lpstr>
      <vt:lpstr>Lecture Meetings</vt:lpstr>
      <vt:lpstr>Homework (20% of Grade)</vt:lpstr>
      <vt:lpstr>Academic Integrity</vt:lpstr>
      <vt:lpstr>Quizzes (20% of Grade)</vt:lpstr>
      <vt:lpstr>Examinations (60% of Grade)</vt:lpstr>
      <vt:lpstr>Disability</vt:lpstr>
      <vt:lpstr>Welcome and Good Luck!  Any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Raza, Ali x58396</dc:creator>
  <cp:revision>2</cp:revision>
  <dcterms:created xsi:type="dcterms:W3CDTF">2019-08-30T03:29:21Z</dcterms:created>
  <dcterms:modified xsi:type="dcterms:W3CDTF">2025-02-21T12:19:43Z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0x010100AC396D4F3FBE81459556FDCA3F477A03</vt:lpwstr>
  </property>
</Properties>
</file>