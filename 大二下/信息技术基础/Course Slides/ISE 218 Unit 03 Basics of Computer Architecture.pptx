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550" r:id="rId2"/>
    <p:sldId id="333" r:id="rId3"/>
    <p:sldId id="262" r:id="rId4"/>
    <p:sldId id="265" r:id="rId5"/>
    <p:sldId id="266" r:id="rId6"/>
    <p:sldId id="263" r:id="rId7"/>
    <p:sldId id="264" r:id="rId8"/>
    <p:sldId id="269" r:id="rId9"/>
    <p:sldId id="267" r:id="rId10"/>
    <p:sldId id="270" r:id="rId11"/>
    <p:sldId id="271" r:id="rId12"/>
    <p:sldId id="331" r:id="rId13"/>
    <p:sldId id="272" r:id="rId14"/>
    <p:sldId id="273" r:id="rId15"/>
    <p:sldId id="274" r:id="rId16"/>
    <p:sldId id="275" r:id="rId17"/>
    <p:sldId id="280" r:id="rId18"/>
    <p:sldId id="268" r:id="rId19"/>
    <p:sldId id="276" r:id="rId20"/>
    <p:sldId id="277" r:id="rId21"/>
    <p:sldId id="281" r:id="rId22"/>
    <p:sldId id="282" r:id="rId23"/>
    <p:sldId id="283" r:id="rId24"/>
    <p:sldId id="334" r:id="rId25"/>
    <p:sldId id="335" r:id="rId26"/>
    <p:sldId id="336" r:id="rId27"/>
    <p:sldId id="278" r:id="rId28"/>
    <p:sldId id="284" r:id="rId29"/>
    <p:sldId id="290" r:id="rId30"/>
    <p:sldId id="291" r:id="rId31"/>
    <p:sldId id="292" r:id="rId32"/>
    <p:sldId id="294" r:id="rId33"/>
    <p:sldId id="295" r:id="rId34"/>
    <p:sldId id="296" r:id="rId35"/>
    <p:sldId id="297" r:id="rId36"/>
    <p:sldId id="337" r:id="rId37"/>
    <p:sldId id="338" r:id="rId38"/>
    <p:sldId id="287" r:id="rId39"/>
    <p:sldId id="288" r:id="rId40"/>
    <p:sldId id="289" r:id="rId41"/>
    <p:sldId id="285" r:id="rId42"/>
    <p:sldId id="286" r:id="rId43"/>
    <p:sldId id="298" r:id="rId44"/>
    <p:sldId id="299" r:id="rId45"/>
    <p:sldId id="279" r:id="rId46"/>
    <p:sldId id="301" r:id="rId47"/>
    <p:sldId id="302" r:id="rId48"/>
    <p:sldId id="311" r:id="rId49"/>
    <p:sldId id="304" r:id="rId50"/>
    <p:sldId id="312" r:id="rId51"/>
    <p:sldId id="313" r:id="rId52"/>
    <p:sldId id="305" r:id="rId53"/>
    <p:sldId id="306" r:id="rId54"/>
    <p:sldId id="314" r:id="rId55"/>
    <p:sldId id="303" r:id="rId56"/>
    <p:sldId id="315" r:id="rId57"/>
    <p:sldId id="316" r:id="rId58"/>
    <p:sldId id="317" r:id="rId59"/>
    <p:sldId id="320" r:id="rId60"/>
    <p:sldId id="321" r:id="rId61"/>
    <p:sldId id="322" r:id="rId62"/>
    <p:sldId id="325" r:id="rId63"/>
    <p:sldId id="326" r:id="rId64"/>
    <p:sldId id="327" r:id="rId65"/>
    <p:sldId id="328" r:id="rId66"/>
    <p:sldId id="330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4770" autoAdjust="0"/>
  </p:normalViewPr>
  <p:slideViewPr>
    <p:cSldViewPr snapToGrid="0">
      <p:cViewPr varScale="1">
        <p:scale>
          <a:sx n="160" d="100"/>
          <a:sy n="160" d="100"/>
        </p:scale>
        <p:origin x="34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75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4D0BB-5522-4C10-8135-53B21677EA29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99D46-16F3-4057-B356-6BA1F3AC7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23B165-5D6B-4219-8D0B-E4E7E0CDDBAA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22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552B-82FF-4AB4-9609-C7A7D3BD1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AACFFC-15DD-45C9-8591-64FB971AF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250A81-BD6A-4705-B1A1-53C59C7A7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757A9-5704-449B-95E2-D0CCC051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4D6D-FCEB-4AB3-A5AF-D02DB65DB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077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FBB47-85D7-4C03-AFE8-AE56293C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069EB-CBF3-4983-BD1A-BE58482CA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77482-8B8C-4ECB-BD8F-227C120E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89392-4818-4C89-9DFA-A27DAB76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A93950-D55E-4C81-B644-450FE3946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14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DB90-BB39-4756-8952-3A1C2DB83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32473-D10D-42DD-BA3D-583595F89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A9556-2CB1-48A8-B892-A9C619640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C7B00-C4F2-4A0E-94EE-D6A849306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89A8A-E754-4481-87DD-5324EE60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1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AC46B-657D-4B96-AF11-2F595FCF3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E23D2-5632-40CB-8093-37AFF79E26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FF951-8D8F-459D-8863-B8A35EF88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4D493-34D8-43AD-8A01-CE212CE9D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FC614-C652-4266-8E09-E7370A0C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BA22F-6DAB-4A37-91AA-96D2E04F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5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51189-EB22-47FF-B37D-14AADFFD0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C39329-89A8-40CC-B8D1-C0D2D3463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47A9D-9C23-42EF-8B31-98A681808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96BC8-4529-4594-A62A-B0490D8B91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9B1F9-831C-4959-9FAC-00D6420CAC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17478D-9499-493E-87D6-4D06F7A00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3CEA6-3C43-4928-97C7-2D92EACA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04DCCD-B828-4CFA-B830-C481107B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12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7E580-3584-400F-82B4-86B1D3BA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27705-C5F9-457F-BFEC-F13A44823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4B83A-7635-4D97-B096-219D7DB7C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472993-E0E3-4A12-8240-710606F6C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38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34D6E1-7F80-40E1-BF2F-B05F1E975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12BDF-9915-4950-ACA4-33E3BB3BB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6EA4C-F843-4446-A7B6-4A4B8578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4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D886-60B2-4DD3-8E28-4E27ADA5E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BCEA3-FD12-4E89-8543-AD44DB043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1A5EA-5B38-48D1-878E-F4B7E54C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9C3C98-0E0F-4D52-B760-26791C92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22735-0599-4C70-AF7B-5A867BE6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A1B80-CA4F-418D-B784-E06AD1677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47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3E478-4348-499F-93A8-209D59372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11465-A55C-43F8-BC8B-65C908BBC1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AA8CF-35C7-4E7A-8CF2-DD1B31289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A830D-05B3-4113-A934-CE046200F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E2548-ED48-4FDD-9329-54769D0A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DCEB7C-F788-43DF-85B5-0DBA7C07C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91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F941-46EF-4311-AED7-D0BB6636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D0C78-72E8-42D8-A8A3-0BD58C4C3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4E8BB-B3FA-45D6-98E9-9C11F14E2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EC78D-3294-4990-8C81-80D15BB9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B28C-5C64-478B-A901-757A858E5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725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86A487-2590-4615-B417-E2168DE65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70FE8-B807-4A10-88EE-5557BDB62C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ABCCCA-6C6B-4B0E-BBAD-24322C9E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A20AF-9B80-4FBF-9840-ACF1BF23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92727-D5B7-4EF1-B44C-581A9DA0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9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35B331-D111-4B58-8269-2659FD67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94232-12F2-4F6F-8D85-CA6F56708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CF1BF-9115-4CA0-9F58-D0A674347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CC8182-8A53-4BCE-8F74-6947BE705CD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3B8B1-D0DD-4F6A-9A0C-E4BAD5561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3B089-E9D4-4D61-92EB-9C11EA500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3CDD-6085-4522-82B4-4228FE4EDF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87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 descr="Text, letter&#10;&#10;Description automatically generated">
            <a:extLst>
              <a:ext uri="{FF2B5EF4-FFF2-40B4-BE49-F238E27FC236}">
                <a16:creationId xmlns:a16="http://schemas.microsoft.com/office/drawing/2014/main" id="{E00B5315-1DCF-0FCD-0AF4-436BC7B08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303" y="1122232"/>
            <a:ext cx="5982803" cy="2213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72E598-3A9F-494B-94CA-04DD070C9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9303" y="3429000"/>
            <a:ext cx="10080312" cy="1713305"/>
          </a:xfrm>
        </p:spPr>
        <p:txBody>
          <a:bodyPr anchor="b">
            <a:normAutofit/>
          </a:bodyPr>
          <a:lstStyle/>
          <a:p>
            <a:pPr algn="l"/>
            <a:r>
              <a:rPr lang="en-US" sz="3800" dirty="0"/>
              <a:t>ISE 218: Fundamentals of Information Technology</a:t>
            </a:r>
            <a:br>
              <a:rPr lang="en-US" sz="3800" dirty="0"/>
            </a:br>
            <a:r>
              <a:rPr lang="en-US" sz="3800" dirty="0"/>
              <a:t>Unit 3: Basics of Computer Architecture</a:t>
            </a:r>
          </a:p>
        </p:txBody>
      </p:sp>
      <p:sp>
        <p:nvSpPr>
          <p:cNvPr id="7" name="Google Shape;90;p1">
            <a:extLst>
              <a:ext uri="{FF2B5EF4-FFF2-40B4-BE49-F238E27FC236}">
                <a16:creationId xmlns:a16="http://schemas.microsoft.com/office/drawing/2014/main" id="{A1027D42-B7B0-1EDD-D1C4-C8FD49871116}"/>
              </a:ext>
            </a:extLst>
          </p:cNvPr>
          <p:cNvSpPr txBox="1">
            <a:spLocks/>
          </p:cNvSpPr>
          <p:nvPr/>
        </p:nvSpPr>
        <p:spPr>
          <a:xfrm>
            <a:off x="1289303" y="5142305"/>
            <a:ext cx="7321200" cy="109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1900"/>
            </a:pPr>
            <a:r>
              <a:rPr lang="en-US" sz="1800" dirty="0"/>
              <a:t>Spring 2025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 dirty="0"/>
              <a:t>Instructor: Abid Malik</a:t>
            </a:r>
          </a:p>
          <a:p>
            <a:pPr algn="l">
              <a:buClr>
                <a:schemeClr val="dk1"/>
              </a:buClr>
              <a:buSzPts val="1900"/>
            </a:pPr>
            <a:r>
              <a:rPr lang="en-US" sz="1800" dirty="0"/>
              <a:t>co-Instructor: Xinrui Yu</a:t>
            </a:r>
          </a:p>
        </p:txBody>
      </p:sp>
    </p:spTree>
    <p:extLst>
      <p:ext uri="{BB962C8B-B14F-4D97-AF65-F5344CB8AC3E}">
        <p14:creationId xmlns:p14="http://schemas.microsoft.com/office/powerpoint/2010/main" val="3252378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1BCE-FC7E-42E6-91E1-EBB40B7F1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EBAAC-C8CE-472F-9416-4419C8D8D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Learn the components common to every modern computer system.</a:t>
            </a:r>
          </a:p>
          <a:p>
            <a:r>
              <a:rPr lang="en-US" altLang="en-US" dirty="0"/>
              <a:t>Be able to explain how each component contributes to program execution.</a:t>
            </a:r>
          </a:p>
          <a:p>
            <a:r>
              <a:rPr lang="en-US" altLang="en-US" dirty="0"/>
              <a:t>Understand a simple architecture invented to illuminate these basic concepts, and how it relates to some real architectures.</a:t>
            </a:r>
          </a:p>
          <a:p>
            <a:r>
              <a:rPr lang="en-US" altLang="en-US" dirty="0"/>
              <a:t>Know how the program assembly process 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413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CPU</a:t>
            </a:r>
            <a:r>
              <a:rPr lang="en-US" altLang="en-US" dirty="0">
                <a:solidFill>
                  <a:schemeClr val="tx1"/>
                </a:solidFill>
              </a:rPr>
              <a:t> Basics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Unit 1 presented a general overview of computer systems.</a:t>
            </a:r>
          </a:p>
          <a:p>
            <a:r>
              <a:rPr lang="en-US" dirty="0"/>
              <a:t>In Unit 2, we discussed how data is stored and manipulated by various computer system components.</a:t>
            </a:r>
          </a:p>
          <a:p>
            <a:r>
              <a:rPr lang="en-US" dirty="0"/>
              <a:t>Having this background, we can now start to understand how computer components work, and how they fit together to create useful computer systems.</a:t>
            </a:r>
          </a:p>
          <a:p>
            <a:r>
              <a:rPr lang="en-US" dirty="0"/>
              <a:t>The computer’s CPU fetches, decodes and executes program instructions.</a:t>
            </a:r>
          </a:p>
          <a:p>
            <a:r>
              <a:rPr lang="en-US" dirty="0"/>
              <a:t>The two principal parts of the CPU are the </a:t>
            </a:r>
            <a:r>
              <a:rPr lang="en-US" b="1" dirty="0"/>
              <a:t>datapath</a:t>
            </a:r>
            <a:r>
              <a:rPr lang="en-US" dirty="0"/>
              <a:t> and the </a:t>
            </a:r>
            <a:r>
              <a:rPr lang="en-US" b="1" dirty="0"/>
              <a:t>control unit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datapath consists of an </a:t>
            </a:r>
            <a:r>
              <a:rPr lang="en-US" b="1" dirty="0"/>
              <a:t>arithmetic/logic unit</a:t>
            </a:r>
            <a:r>
              <a:rPr lang="en-US" dirty="0"/>
              <a:t> and storage units (</a:t>
            </a:r>
            <a:r>
              <a:rPr lang="en-US" b="1" dirty="0"/>
              <a:t>registers</a:t>
            </a:r>
            <a:r>
              <a:rPr lang="en-US" dirty="0"/>
              <a:t>) that are interconnected by a data bus that is also connected to main memory.  </a:t>
            </a:r>
          </a:p>
          <a:p>
            <a:pPr lvl="1"/>
            <a:r>
              <a:rPr lang="en-US" dirty="0"/>
              <a:t>Various CPU components perform sequenced operations according to electrical signals provided by its control unit.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21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CPU</a:t>
            </a:r>
            <a:r>
              <a:rPr lang="en-US" altLang="en-US" dirty="0">
                <a:solidFill>
                  <a:schemeClr val="tx1"/>
                </a:solidFill>
              </a:rPr>
              <a:t> </a:t>
            </a:r>
            <a:r>
              <a:rPr lang="en-US" altLang="en-US" dirty="0"/>
              <a:t>Basics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Registers hold data that can be readily accessed by the CPU.</a:t>
            </a:r>
          </a:p>
          <a:p>
            <a:r>
              <a:rPr lang="en-US" dirty="0"/>
              <a:t>The arithmetic/logic unit (ALU) carries out logical and arithmetic operations as directed by the control unit.</a:t>
            </a:r>
          </a:p>
          <a:p>
            <a:r>
              <a:rPr lang="en-US" dirty="0"/>
              <a:t>The control unit determines which actions to carry out according to the values in a </a:t>
            </a:r>
            <a:r>
              <a:rPr lang="en-US" b="1" dirty="0"/>
              <a:t>program counter</a:t>
            </a:r>
            <a:r>
              <a:rPr lang="en-US" dirty="0"/>
              <a:t> register and a </a:t>
            </a:r>
            <a:r>
              <a:rPr lang="en-US" b="1" dirty="0"/>
              <a:t>status register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program counter contains the memory address of the next instruction to execute.</a:t>
            </a:r>
          </a:p>
          <a:p>
            <a:pPr lvl="1"/>
            <a:r>
              <a:rPr lang="en-US" dirty="0"/>
              <a:t>The status register records any special circumstances, such as whether the CPU performed a calculation that caused an overflow.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68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System Bus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CPU shares data with other system components by way of a </a:t>
            </a:r>
            <a:r>
              <a:rPr lang="en-US" b="1" dirty="0"/>
              <a:t>data bus</a:t>
            </a:r>
            <a:r>
              <a:rPr lang="en-US" dirty="0"/>
              <a:t> (what problems could this sharing cause?)</a:t>
            </a:r>
          </a:p>
          <a:p>
            <a:r>
              <a:rPr lang="en-US" dirty="0"/>
              <a:t>A bus is a set of wires that simultaneously convey a single bit along each line.</a:t>
            </a:r>
          </a:p>
          <a:p>
            <a:r>
              <a:rPr lang="en-US" dirty="0"/>
              <a:t>Two types of buses are commonly found in computer systems: </a:t>
            </a:r>
            <a:r>
              <a:rPr lang="en-US" b="1" dirty="0"/>
              <a:t>point-to-point</a:t>
            </a:r>
            <a:r>
              <a:rPr lang="en-US" dirty="0"/>
              <a:t> and </a:t>
            </a:r>
            <a:r>
              <a:rPr lang="en-US" b="1" dirty="0"/>
              <a:t>multipoint</a:t>
            </a:r>
            <a:r>
              <a:rPr lang="en-US" dirty="0"/>
              <a:t> buses.</a:t>
            </a:r>
          </a:p>
          <a:p>
            <a:r>
              <a:rPr lang="en-US" dirty="0"/>
              <a:t>These are point-to-point buses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  <a:p>
            <a:r>
              <a:rPr lang="en-US" dirty="0"/>
              <a:t>A multi-point bus has multiple </a:t>
            </a:r>
            <a:br>
              <a:rPr lang="en-US" dirty="0"/>
            </a:br>
            <a:r>
              <a:rPr lang="en-US" dirty="0"/>
              <a:t>entrances/exits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7" descr="C:\wpdocs\Julie\ECOA3e\PPTs\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3132" y="3048000"/>
            <a:ext cx="5934483" cy="285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737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System Bus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Buses are generally slower than CPUs and certain other components like the main memory</a:t>
            </a:r>
          </a:p>
          <a:p>
            <a:r>
              <a:rPr lang="en-US" dirty="0"/>
              <a:t>What problems/issues could this speed difference cause?</a:t>
            </a:r>
          </a:p>
          <a:p>
            <a:pPr lvl="1"/>
            <a:r>
              <a:rPr lang="en-US" dirty="0"/>
              <a:t>Communications bottleneck</a:t>
            </a:r>
          </a:p>
          <a:p>
            <a:r>
              <a:rPr lang="en-US" dirty="0"/>
              <a:t>Buses consist of </a:t>
            </a:r>
            <a:r>
              <a:rPr lang="en-US" b="1" dirty="0"/>
              <a:t>data lines</a:t>
            </a:r>
            <a:r>
              <a:rPr lang="en-US" dirty="0"/>
              <a:t>, </a:t>
            </a:r>
            <a:r>
              <a:rPr lang="en-US" b="1" dirty="0"/>
              <a:t>control lines</a:t>
            </a:r>
            <a:r>
              <a:rPr lang="en-US" dirty="0"/>
              <a:t>, and </a:t>
            </a:r>
            <a:r>
              <a:rPr lang="en-US" b="1" dirty="0"/>
              <a:t>address lines</a:t>
            </a:r>
            <a:r>
              <a:rPr lang="en-US" dirty="0"/>
              <a:t>.</a:t>
            </a:r>
          </a:p>
          <a:p>
            <a:r>
              <a:rPr lang="en-US" dirty="0"/>
              <a:t>While the data lines convey bits from one device to another, control lines determine the direction of data flow, and when each device can access the bus.</a:t>
            </a:r>
          </a:p>
          <a:p>
            <a:r>
              <a:rPr lang="en-US" dirty="0"/>
              <a:t>Address lines determine the location of the source or destination of the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7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System Bus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295400"/>
            <a:ext cx="8664822" cy="485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94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System Bus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multipoint bus is shown below.</a:t>
            </a:r>
          </a:p>
          <a:p>
            <a:r>
              <a:rPr lang="en-US" dirty="0"/>
              <a:t>Because a multipoint bus is a shared resource, access to it is controlled through </a:t>
            </a:r>
            <a:r>
              <a:rPr lang="en-US" b="1" dirty="0"/>
              <a:t>protocols</a:t>
            </a:r>
            <a:r>
              <a:rPr lang="en-US" dirty="0"/>
              <a:t>, which are built into the hardware.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362200"/>
            <a:ext cx="8491538" cy="399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2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System Bus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a </a:t>
            </a:r>
            <a:r>
              <a:rPr lang="en-US" b="1" dirty="0"/>
              <a:t>master-slave</a:t>
            </a:r>
            <a:r>
              <a:rPr lang="en-US" dirty="0"/>
              <a:t> configuration, where more than one device can be in control of the bus, concurrent bus master requests must be </a:t>
            </a:r>
            <a:r>
              <a:rPr lang="en-US" b="1" dirty="0"/>
              <a:t>arbitrated</a:t>
            </a:r>
            <a:r>
              <a:rPr lang="en-US" dirty="0"/>
              <a:t>.</a:t>
            </a:r>
          </a:p>
          <a:p>
            <a:r>
              <a:rPr lang="en-US" dirty="0"/>
              <a:t>Four categories of bus arbitration are:</a:t>
            </a:r>
          </a:p>
          <a:p>
            <a:pPr lvl="1"/>
            <a:r>
              <a:rPr lang="en-US" dirty="0"/>
              <a:t>Daisy chain: permissions are passed from the highest-priority device to the lowest. Simple, but </a:t>
            </a:r>
            <a:r>
              <a:rPr lang="en-US" b="1" dirty="0"/>
              <a:t>starvation</a:t>
            </a:r>
            <a:r>
              <a:rPr lang="en-US" dirty="0"/>
              <a:t> is a possibility.</a:t>
            </a:r>
          </a:p>
          <a:p>
            <a:pPr lvl="1"/>
            <a:r>
              <a:rPr lang="en-US" dirty="0"/>
              <a:t>Centralized parallel: each device is directly connected to an arbitration circuit that selects who gets the bus.</a:t>
            </a:r>
          </a:p>
          <a:p>
            <a:pPr lvl="1"/>
            <a:r>
              <a:rPr lang="en-US" dirty="0"/>
              <a:t>Distributed using self-detection: devices use priorities to decide among themselves which gets the bus.</a:t>
            </a:r>
          </a:p>
          <a:p>
            <a:pPr lvl="1"/>
            <a:r>
              <a:rPr lang="en-US" dirty="0"/>
              <a:t>Distributed using collision-detection: any device can try to use the bus. If its data collides with the data of another device, it tries again.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93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Clocks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Every computer contains at least one clock that synchronizes the activities of its components.</a:t>
                </a:r>
              </a:p>
              <a:p>
                <a:r>
                  <a:rPr lang="en-US" dirty="0"/>
                  <a:t>A fixed number of </a:t>
                </a:r>
                <a:r>
                  <a:rPr lang="en-US" b="1" dirty="0"/>
                  <a:t>clock cycles</a:t>
                </a:r>
                <a:r>
                  <a:rPr lang="en-US" dirty="0"/>
                  <a:t> is required to carry out each data movement or computational operation.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clock frequency</a:t>
                </a:r>
                <a:r>
                  <a:rPr lang="en-US" dirty="0"/>
                  <a:t>, measured in megahertz or gigahertz, determines the speed with which all operations are carried out.</a:t>
                </a:r>
              </a:p>
              <a:p>
                <a:r>
                  <a:rPr lang="en-US" dirty="0"/>
                  <a:t>Clock cycle time is the reciprocal of clock frequency.</a:t>
                </a:r>
              </a:p>
              <a:p>
                <a:pPr lvl="1"/>
                <a:r>
                  <a:rPr lang="en-US" dirty="0"/>
                  <a:t>For example, an 800 MHz clock has a cycle time of 1.25 ns.</a:t>
                </a:r>
              </a:p>
              <a:p>
                <a:pPr lvl="1"/>
                <a:r>
                  <a:rPr lang="en-US" dirty="0"/>
                  <a:t>Why? 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1/800000000×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=1.25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 r="-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604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Clocks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Clock speed should not be confused with CPU performance.</a:t>
                </a:r>
              </a:p>
              <a:p>
                <a:r>
                  <a:rPr lang="en-US" dirty="0"/>
                  <a:t>The CPU time required to run a program is given by the general performance equation: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CPU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time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seconds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program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instructions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program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. 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cycles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instruction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seconds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cycle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see that we can improve CPU throughput when we reduce the number of instructions in a program, reduce the number of cycles per instruction, or reduce the number of nanoseconds per clock cycle.</a:t>
                </a:r>
              </a:p>
              <a:p>
                <a:r>
                  <a:rPr lang="en-US" dirty="0"/>
                  <a:t>We’ll come back to this formula again later in the semester when we study system performance metrics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5822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0CC5-801F-47F4-A9A2-8EADD4D31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Overclocking?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956A5-AF74-4312-A00E-55EFA6CC0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Overclocking involves running a computer component at a higher clock speed than intended</a:t>
            </a:r>
          </a:p>
          <a:p>
            <a:pPr lvl="1"/>
            <a:r>
              <a:rPr lang="en-US" dirty="0"/>
              <a:t>The CPU, system bus and GPU (</a:t>
            </a:r>
            <a:r>
              <a:rPr lang="en-US" b="1" dirty="0"/>
              <a:t>graphics processing unit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can all be overclocked</a:t>
            </a:r>
          </a:p>
          <a:p>
            <a:r>
              <a:rPr lang="en-US" dirty="0"/>
              <a:t>The idea is to eke out more performance from the computer, </a:t>
            </a:r>
            <a:br>
              <a:rPr lang="en-US" dirty="0"/>
            </a:br>
            <a:r>
              <a:rPr lang="en-US" dirty="0"/>
              <a:t>at the expense of generating more heat, which can damage </a:t>
            </a:r>
            <a:br>
              <a:rPr lang="en-US" dirty="0"/>
            </a:br>
            <a:r>
              <a:rPr lang="en-US" dirty="0"/>
              <a:t>components</a:t>
            </a:r>
          </a:p>
          <a:p>
            <a:r>
              <a:rPr lang="en-US" dirty="0"/>
              <a:t>Is it worth it to overclock the CPU? Probably not, nowadays.</a:t>
            </a:r>
          </a:p>
          <a:p>
            <a:pPr lvl="1"/>
            <a:r>
              <a:rPr lang="en-US" dirty="0"/>
              <a:t>With computer gaming, for example, the bottleneck is more </a:t>
            </a:r>
            <a:br>
              <a:rPr lang="en-US" dirty="0"/>
            </a:br>
            <a:r>
              <a:rPr lang="en-US" dirty="0"/>
              <a:t>likely to be the GPU, so we could overclock that</a:t>
            </a:r>
          </a:p>
          <a:p>
            <a:pPr lvl="1"/>
            <a:r>
              <a:rPr lang="en-US" dirty="0"/>
              <a:t>And only then if you are playing a really graphics-intensive </a:t>
            </a:r>
            <a:br>
              <a:rPr lang="en-US" dirty="0"/>
            </a:br>
            <a:r>
              <a:rPr lang="en-US" dirty="0"/>
              <a:t>game at very high resolution</a:t>
            </a:r>
          </a:p>
          <a:p>
            <a:endParaRPr lang="en-US" dirty="0"/>
          </a:p>
        </p:txBody>
      </p:sp>
      <p:pic>
        <p:nvPicPr>
          <p:cNvPr id="1026" name="Picture 2" descr="Nuke">
            <a:extLst>
              <a:ext uri="{FF2B5EF4-FFF2-40B4-BE49-F238E27FC236}">
                <a16:creationId xmlns:a16="http://schemas.microsoft.com/office/drawing/2014/main" id="{FA70B186-4820-46C5-8216-063B0E38D9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4" t="8935" r="13114"/>
          <a:stretch/>
        </p:blipFill>
        <p:spPr bwMode="auto">
          <a:xfrm>
            <a:off x="9228666" y="2057400"/>
            <a:ext cx="2359378" cy="388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9301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 err="1"/>
              <a:t>Input/Output</a:t>
            </a:r>
            <a:r>
              <a:rPr lang="en-US" altLang="en-US" dirty="0"/>
              <a:t> Subsystem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computer communicates with the outside world through its </a:t>
            </a:r>
            <a:r>
              <a:rPr lang="en-US" b="1" dirty="0"/>
              <a:t>input/output (I/O) subsystem</a:t>
            </a:r>
            <a:r>
              <a:rPr lang="en-US" dirty="0"/>
              <a:t>.</a:t>
            </a:r>
          </a:p>
          <a:p>
            <a:r>
              <a:rPr lang="en-US" dirty="0"/>
              <a:t>I/O devices connect to the CPU through various interfaces.</a:t>
            </a:r>
          </a:p>
          <a:p>
            <a:r>
              <a:rPr lang="en-US" dirty="0"/>
              <a:t>I/O can be </a:t>
            </a:r>
            <a:r>
              <a:rPr lang="en-US" b="1" dirty="0"/>
              <a:t>instruction-based</a:t>
            </a:r>
            <a:r>
              <a:rPr lang="en-US" dirty="0"/>
              <a:t>, where the CPU has a specialized I/O instruction set.</a:t>
            </a:r>
          </a:p>
          <a:p>
            <a:r>
              <a:rPr lang="en-US" dirty="0"/>
              <a:t>I/O can be </a:t>
            </a:r>
            <a:r>
              <a:rPr lang="en-US" b="1" dirty="0"/>
              <a:t>memory-mapped</a:t>
            </a:r>
            <a:r>
              <a:rPr lang="en-US" dirty="0"/>
              <a:t>, where the I/O device behaves like main memory from CPU’s point of view.</a:t>
            </a:r>
          </a:p>
          <a:p>
            <a:pPr lvl="1"/>
            <a:r>
              <a:rPr lang="en-US" dirty="0"/>
              <a:t>Registers in the I/O device’s interface are mapped to memory cells in the main memory</a:t>
            </a:r>
          </a:p>
          <a:p>
            <a:pPr lvl="1"/>
            <a:r>
              <a:rPr lang="en-US" dirty="0"/>
              <a:t>CPU reads/writes a memory cell to communicate with the 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09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Memory Organization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Computer memory consists of a linear array of addressable storage cells that are similar to registers.</a:t>
                </a:r>
              </a:p>
              <a:p>
                <a:r>
                  <a:rPr lang="en-US" dirty="0"/>
                  <a:t>Memory can be </a:t>
                </a:r>
                <a:r>
                  <a:rPr lang="en-US" b="1" dirty="0"/>
                  <a:t>byte-addressable</a:t>
                </a:r>
                <a:r>
                  <a:rPr lang="en-US" dirty="0"/>
                  <a:t>, or </a:t>
                </a:r>
                <a:r>
                  <a:rPr lang="en-US" b="1" dirty="0"/>
                  <a:t>word-addressable</a:t>
                </a:r>
                <a:r>
                  <a:rPr lang="en-US" dirty="0"/>
                  <a:t>, where a word typically consists of two or more bytes.</a:t>
                </a:r>
              </a:p>
              <a:p>
                <a:pPr lvl="1"/>
                <a:r>
                  <a:rPr lang="en-US" dirty="0"/>
                  <a:t>Each individual </a:t>
                </a:r>
                <a:r>
                  <a:rPr lang="en-US" i="1" dirty="0"/>
                  <a:t>byte</a:t>
                </a:r>
                <a:r>
                  <a:rPr lang="en-US" dirty="0"/>
                  <a:t> has a unique address vs. each individual </a:t>
                </a:r>
                <a:r>
                  <a:rPr lang="en-US" i="1" dirty="0"/>
                  <a:t>word</a:t>
                </a:r>
                <a:r>
                  <a:rPr lang="en-US" dirty="0"/>
                  <a:t> has a unique address</a:t>
                </a:r>
              </a:p>
              <a:p>
                <a:r>
                  <a:rPr lang="en-US" dirty="0"/>
                  <a:t>Memory is constructed of RAM chips (arranged into </a:t>
                </a:r>
                <a:r>
                  <a:rPr lang="en-US" b="1" dirty="0"/>
                  <a:t>memory modules</a:t>
                </a:r>
                <a:r>
                  <a:rPr lang="en-US" dirty="0"/>
                  <a:t>), often referred to in terms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width.</a:t>
                </a:r>
              </a:p>
              <a:p>
                <a:pPr lvl="1"/>
                <a:r>
                  <a:rPr lang="en-US" dirty="0"/>
                  <a:t>For example, in a 4M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16 RAM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dirty="0"/>
                  <a:t> memory locations, each of which contains 16 bits of data (K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dirty="0"/>
                  <a:t>, M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lang="en-US" dirty="0"/>
                  <a:t>, G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If the memory word size of the machine is 16 bits, then a 4M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16 RAM chip gives us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r>
                  <a:rPr lang="en-US" dirty="0"/>
                  <a:t> 16-bit memory locations.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4246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Organization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does the computer access a memory location corresponding to a particular address?</a:t>
                </a:r>
              </a:p>
              <a:p>
                <a:r>
                  <a:rPr lang="en-US" dirty="0"/>
                  <a:t>We observe that 4M can be expressed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r>
                  <a:rPr lang="en-US" dirty="0"/>
                  <a:t> words.</a:t>
                </a:r>
              </a:p>
              <a:p>
                <a:r>
                  <a:rPr lang="en-US" dirty="0"/>
                  <a:t>The memory locations for this memory are numbered 0 through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Thus, the memory bus of this system requires at least 22 address lines.</a:t>
                </a:r>
              </a:p>
              <a:p>
                <a:pPr lvl="1"/>
                <a:r>
                  <a:rPr lang="en-US" dirty="0"/>
                  <a:t>The address lines “count” from 0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in binary. Each line is either “on” or “off” indicating the location of the desired memory element.</a:t>
                </a:r>
              </a:p>
              <a:p>
                <a:pPr lvl="1"/>
                <a:r>
                  <a:rPr lang="en-US" dirty="0"/>
                  <a:t>Memory addresses are unsigned integers.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28" r="-7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2360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Organization: Example #1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How many bits would you need to address a 2M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32 memory if the memory is byte-addressable?</a:t>
                </a:r>
              </a:p>
              <a:p>
                <a:pPr lvl="1"/>
                <a:r>
                  <a:rPr lang="en-US" dirty="0"/>
                  <a:t>2M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4 bytes of memory, which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×2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×2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dirty="0"/>
                  <a:t> bytes</a:t>
                </a:r>
              </a:p>
              <a:p>
                <a:pPr lvl="1"/>
                <a:r>
                  <a:rPr lang="en-US" dirty="0"/>
                  <a:t>Therefore, 23 bits are needed to address a particular byte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24323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Organization: Example #2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How many bits would you need to address an 8G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16 memory if the memory is byte-addressable?</a:t>
                </a:r>
              </a:p>
              <a:p>
                <a:pPr lvl="1"/>
                <a:r>
                  <a:rPr lang="en-US" dirty="0"/>
                  <a:t>We have 2 bytes per word</a:t>
                </a:r>
              </a:p>
              <a:p>
                <a:pPr lvl="1"/>
                <a:r>
                  <a:rPr lang="en-US" dirty="0"/>
                  <a:t>So, the memory is 16 GB in size</a:t>
                </a:r>
              </a:p>
              <a:p>
                <a:pPr lvl="1"/>
                <a:r>
                  <a:rPr lang="en-US" dirty="0"/>
                  <a:t>8G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 bytes of memory, which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baseline="30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×2</m:t>
                    </m:r>
                    <m:r>
                      <a:rPr lang="en-US" b="0" i="1" baseline="30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baseline="30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×2</m:t>
                    </m:r>
                    <m:r>
                      <a:rPr lang="en-US" b="0" i="1" baseline="30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34</m:t>
                        </m:r>
                      </m:sup>
                    </m:sSup>
                  </m:oMath>
                </a14:m>
                <a:r>
                  <a:rPr lang="en-US" dirty="0"/>
                  <a:t> bytes</a:t>
                </a:r>
              </a:p>
              <a:p>
                <a:pPr lvl="1"/>
                <a:r>
                  <a:rPr lang="en-US" dirty="0"/>
                  <a:t>Therefore, 34 bits are needed to address a particular byte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 r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932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Organization: Example #3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How many bits would you need to address an 8G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16 memory if the memory is word-addressable?</a:t>
                </a:r>
              </a:p>
              <a:p>
                <a:pPr lvl="1"/>
                <a:r>
                  <a:rPr lang="en-US" dirty="0"/>
                  <a:t>We figured out that 34 bits are needed if the memory is byte-addressable.</a:t>
                </a:r>
              </a:p>
              <a:p>
                <a:pPr lvl="1"/>
                <a:r>
                  <a:rPr lang="en-US" dirty="0"/>
                  <a:t>Since each word is two bytes (2</a:t>
                </a:r>
                <a:r>
                  <a:rPr lang="en-US" baseline="30000" dirty="0"/>
                  <a:t>1</a:t>
                </a:r>
                <a:r>
                  <a:rPr lang="en-US" dirty="0"/>
                  <a:t>), we will need 33 bits per memory address if the memory is word-addressable</a:t>
                </a:r>
              </a:p>
              <a:p>
                <a:pPr lvl="1"/>
                <a:r>
                  <a:rPr lang="en-US" dirty="0"/>
                  <a:t>Another way to see this is to note that 8G 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33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28" r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8917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Organization: Example #4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How many bits would you need to address a 2M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32 memory if the memory is word-addressable?</a:t>
                </a:r>
              </a:p>
              <a:p>
                <a:pPr lvl="1"/>
                <a:r>
                  <a:rPr lang="en-US" dirty="0"/>
                  <a:t>2M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4 bytes of memory, which means we have 2</a:t>
                </a:r>
                <a:r>
                  <a:rPr lang="en-US" baseline="30000" dirty="0"/>
                  <a:t>21</a:t>
                </a:r>
                <a:r>
                  <a:rPr lang="en-US" dirty="0"/>
                  <a:t> words</a:t>
                </a:r>
              </a:p>
              <a:p>
                <a:pPr lvl="1"/>
                <a:r>
                  <a:rPr lang="en-US" dirty="0"/>
                  <a:t>So, 21 bits are needed per memory address</a:t>
                </a:r>
              </a:p>
              <a:p>
                <a:pPr lvl="0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1276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Organization: Example #5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Physical memory usually consists of more than one RAM chip.</a:t>
                </a:r>
              </a:p>
              <a:p>
                <a:r>
                  <a:rPr lang="en-US" dirty="0"/>
                  <a:t>Access is more efficient when memory is organized into banks of chips with the addresses interleaved across the chips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For example, suppose we have a byte-addressable memory consisting of 16 2K </a:t>
                </a:r>
                <a:r>
                  <a:rPr lang="en-US" altLang="en-US" dirty="0">
                    <a:sym typeface="Symbol" pitchFamily="18" charset="2"/>
                  </a:rPr>
                  <a:t></a:t>
                </a:r>
                <a:r>
                  <a:rPr lang="en-US" altLang="en-US" dirty="0"/>
                  <a:t> 8 bit chips.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The memory is 16 </a:t>
                </a:r>
                <a:r>
                  <a:rPr lang="en-US" altLang="en-US" dirty="0">
                    <a:sym typeface="Symbol" pitchFamily="18" charset="2"/>
                  </a:rPr>
                  <a:t> </a:t>
                </a:r>
                <a:r>
                  <a:rPr lang="en-US" altLang="en-US" dirty="0"/>
                  <a:t>2 </a:t>
                </a:r>
                <a:r>
                  <a:rPr lang="en-US" altLang="en-US" dirty="0">
                    <a:sym typeface="Symbol" pitchFamily="18" charset="2"/>
                  </a:rPr>
                  <a:t> 2</a:t>
                </a:r>
                <a:r>
                  <a:rPr lang="en-US" altLang="en-US" baseline="30000" dirty="0">
                    <a:sym typeface="Symbol" pitchFamily="18" charset="2"/>
                  </a:rPr>
                  <a:t>10</a:t>
                </a:r>
                <a:r>
                  <a:rPr lang="en-US" altLang="en-US" dirty="0">
                    <a:sym typeface="Symbol" pitchFamily="18" charset="2"/>
                  </a:rPr>
                  <a:t>  1 byte in size = 32 KB</a:t>
                </a:r>
                <a:endParaRPr lang="en-US" altLang="en-US" dirty="0"/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Memory is </a:t>
                </a:r>
                <a14:m>
                  <m:oMath xmlns:m="http://schemas.openxmlformats.org/officeDocument/2006/math"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32 </m:t>
                    </m:r>
                    <m:r>
                      <m:rPr>
                        <m:sty m:val="p"/>
                      </m:rPr>
                      <a:rPr lang="en-US" altLang="en-US" i="0" dirty="0" smtClean="0">
                        <a:latin typeface="Cambria Math" panose="02040503050406030204" pitchFamily="18" charset="0"/>
                      </a:rPr>
                      <m:t>KB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en-US" i="1" baseline="30000" dirty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</m:t>
                    </m:r>
                    <m:r>
                      <a:rPr lang="en-US" alt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i="1" baseline="30000" dirty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en-US" i="1" dirty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en-US" i="1" baseline="30000" dirty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lang="en-US" altLang="en-US" dirty="0"/>
                  <a:t> bytes</a:t>
                </a:r>
                <a:endParaRPr lang="en-US" altLang="en-US" baseline="30000" dirty="0"/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15 bits are needed for each address.</a:t>
                </a:r>
              </a:p>
              <a:p>
                <a:pPr>
                  <a:spcBef>
                    <a:spcPts val="576"/>
                  </a:spcBef>
                </a:pPr>
                <a:r>
                  <a:rPr lang="en-US" altLang="en-US" dirty="0"/>
                  <a:t>We need 4 bits to select the chip (why?), and 11 bits for the </a:t>
                </a:r>
                <a:r>
                  <a:rPr lang="en-US" altLang="en-US" b="1" dirty="0"/>
                  <a:t>offset</a:t>
                </a:r>
                <a:r>
                  <a:rPr lang="en-US" altLang="en-US" dirty="0"/>
                  <a:t> into the chip that selects the byte.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319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Organization: Example #6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Suppose that a 2M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16 main memory is built using 256K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8 RAM chips and the memory is word-addressable.</a:t>
                </a:r>
              </a:p>
              <a:p>
                <a:pPr lvl="0"/>
                <a:r>
                  <a:rPr lang="en-US" dirty="0"/>
                  <a:t>How many RAM chips (modules) are necessary?</a:t>
                </a:r>
              </a:p>
              <a:p>
                <a:pPr lvl="1"/>
                <a:r>
                  <a:rPr lang="en-US" dirty="0"/>
                  <a:t>Main memory is 2</a:t>
                </a:r>
                <a:r>
                  <a:rPr lang="en-US" baseline="30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</a:t>
                </a:r>
                <a:r>
                  <a:rPr lang="en-US" baseline="30000" dirty="0"/>
                  <a:t>20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</a:t>
                </a:r>
                <a:r>
                  <a:rPr lang="en-US" baseline="30000" dirty="0"/>
                  <a:t>4</a:t>
                </a:r>
                <a:r>
                  <a:rPr lang="en-US" dirty="0"/>
                  <a:t> = 2</a:t>
                </a:r>
                <a:r>
                  <a:rPr lang="en-US" baseline="30000" dirty="0"/>
                  <a:t>25</a:t>
                </a:r>
                <a:r>
                  <a:rPr lang="en-US" dirty="0"/>
                  <a:t> bits in size</a:t>
                </a:r>
              </a:p>
              <a:p>
                <a:pPr lvl="1"/>
                <a:r>
                  <a:rPr lang="en-US" dirty="0"/>
                  <a:t>Each RAM module is 2</a:t>
                </a:r>
                <a:r>
                  <a:rPr lang="en-US" baseline="30000" dirty="0"/>
                  <a:t>8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</a:t>
                </a:r>
                <a:r>
                  <a:rPr lang="en-US" baseline="30000" dirty="0"/>
                  <a:t>10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2</a:t>
                </a:r>
                <a:r>
                  <a:rPr lang="en-US" baseline="30000" dirty="0"/>
                  <a:t>3</a:t>
                </a:r>
                <a:r>
                  <a:rPr lang="en-US" dirty="0"/>
                  <a:t> = 2</a:t>
                </a:r>
                <a:r>
                  <a:rPr lang="en-US" baseline="30000" dirty="0"/>
                  <a:t>21</a:t>
                </a:r>
                <a:r>
                  <a:rPr lang="en-US" dirty="0"/>
                  <a:t> bits in size</a:t>
                </a:r>
              </a:p>
              <a:p>
                <a:pPr lvl="1"/>
                <a:r>
                  <a:rPr lang="en-US" dirty="0"/>
                  <a:t>Therefore, we need 2</a:t>
                </a:r>
                <a:r>
                  <a:rPr lang="en-US" baseline="30000" dirty="0"/>
                  <a:t>25</a:t>
                </a:r>
                <a:r>
                  <a:rPr lang="en-US" dirty="0"/>
                  <a:t> / 2</a:t>
                </a:r>
                <a:r>
                  <a:rPr lang="en-US" baseline="30000" dirty="0"/>
                  <a:t>21</a:t>
                </a:r>
                <a:r>
                  <a:rPr lang="en-US" dirty="0"/>
                  <a:t> = 2</a:t>
                </a:r>
                <a:r>
                  <a:rPr lang="en-US" baseline="30000" dirty="0"/>
                  <a:t>4</a:t>
                </a:r>
                <a:r>
                  <a:rPr lang="en-US" dirty="0"/>
                  <a:t> = 16 RAM chips</a:t>
                </a:r>
              </a:p>
              <a:p>
                <a:pPr lvl="0"/>
                <a:endParaRPr lang="en-US" dirty="0"/>
              </a:p>
              <a:p>
                <a:pPr>
                  <a:spcBef>
                    <a:spcPts val="576"/>
                  </a:spcBef>
                </a:pPr>
                <a:endParaRPr lang="en-US" altLang="en-US" dirty="0"/>
              </a:p>
              <a:p>
                <a:pPr>
                  <a:spcBef>
                    <a:spcPts val="576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923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Organization: Example #7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Suppose that a 2M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16 main memory is built using 256K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8 RAM chips and the memory is word-addressable.</a:t>
                </a:r>
              </a:p>
              <a:p>
                <a:pPr lvl="0"/>
                <a:r>
                  <a:rPr lang="en-US" dirty="0"/>
                  <a:t>How many address bits are needed to access a particular memory cell in a RAM chip?</a:t>
                </a:r>
              </a:p>
              <a:p>
                <a:pPr lvl="1"/>
                <a:r>
                  <a:rPr lang="en-US" dirty="0"/>
                  <a:t>256K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lang="en-US" dirty="0"/>
                  <a:t>, so 18 bits are needed to access an individual memory cell in a chip</a:t>
                </a:r>
              </a:p>
              <a:p>
                <a:pPr marL="411480" lvl="1" indent="0">
                  <a:buNone/>
                </a:pPr>
                <a:endParaRPr lang="en-US" dirty="0"/>
              </a:p>
              <a:p>
                <a:pPr lvl="0"/>
                <a:endParaRPr lang="en-US" dirty="0"/>
              </a:p>
              <a:p>
                <a:pPr>
                  <a:spcBef>
                    <a:spcPts val="576"/>
                  </a:spcBef>
                </a:pPr>
                <a:endParaRPr lang="en-US" altLang="en-US" dirty="0"/>
              </a:p>
              <a:p>
                <a:pPr>
                  <a:spcBef>
                    <a:spcPts val="576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99044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Memory Organization: Example #8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lang="en-US" dirty="0"/>
                  <a:t>Suppose that a 2M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16 main memory is built using 256K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8 RAM chips and the memory is word-addressable.</a:t>
                </a:r>
              </a:p>
              <a:p>
                <a:pPr lvl="0"/>
                <a:r>
                  <a:rPr lang="en-US" dirty="0"/>
                  <a:t>How many address bits are needed for all of memory? Remember that the memory is word-addressable.</a:t>
                </a:r>
              </a:p>
              <a:p>
                <a:pPr lvl="0"/>
                <a:r>
                  <a:rPr lang="en-US" dirty="0"/>
                  <a:t>2M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 baseline="30000" dirty="0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lang="en-US" dirty="0"/>
                  <a:t>, so 21 bits are needed to address a word of memory</a:t>
                </a:r>
              </a:p>
              <a:p>
                <a:pPr marL="411480" lvl="1" indent="0">
                  <a:buNone/>
                </a:pPr>
                <a:endParaRPr lang="en-US" dirty="0"/>
              </a:p>
              <a:p>
                <a:pPr lvl="0"/>
                <a:endParaRPr lang="en-US" dirty="0"/>
              </a:p>
              <a:p>
                <a:pPr>
                  <a:spcBef>
                    <a:spcPts val="576"/>
                  </a:spcBef>
                </a:pPr>
                <a:endParaRPr lang="en-US" altLang="en-US" dirty="0"/>
              </a:p>
              <a:p>
                <a:pPr>
                  <a:spcBef>
                    <a:spcPts val="576"/>
                  </a:spcBef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846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AC80-27FD-4B28-8794-DEA9967A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Byte Address vs Word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B78E-2074-48F3-BC95-85EFEA88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memory cell size is 8 bits then corresponding address space is called Byte Address.</a:t>
            </a:r>
          </a:p>
          <a:p>
            <a:r>
              <a:rPr lang="en-US" dirty="0"/>
              <a:t>2x8 = address size = 1 bit</a:t>
            </a:r>
          </a:p>
          <a:p>
            <a:r>
              <a:rPr lang="en-US" dirty="0"/>
              <a:t>64x8 = address size is 6 bits = 2^6</a:t>
            </a:r>
          </a:p>
          <a:p>
            <a:r>
              <a:rPr lang="en-US" dirty="0"/>
              <a:t>256x8 = address size is 8 bits = 2^8 bits</a:t>
            </a:r>
          </a:p>
          <a:p>
            <a:r>
              <a:rPr lang="en-US" dirty="0"/>
              <a:t>4kx8 = 4 x 2^10 = 2^12 = 12 bits</a:t>
            </a:r>
          </a:p>
          <a:p>
            <a:pPr marL="0" indent="0">
              <a:buNone/>
            </a:pPr>
            <a:r>
              <a:rPr lang="en-US" dirty="0"/>
              <a:t>Where 2, 64, 256 and 4K are the number of cell.  8 is the number of bit per 1 cell.  Notice Address size is not be in 8 bits</a:t>
            </a:r>
          </a:p>
        </p:txBody>
      </p:sp>
    </p:spTree>
    <p:extLst>
      <p:ext uri="{BB962C8B-B14F-4D97-AF65-F5344CB8AC3E}">
        <p14:creationId xmlns:p14="http://schemas.microsoft.com/office/powerpoint/2010/main" val="420806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BAC80-27FD-4B28-8794-DEA9967A6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B78E-2074-48F3-BC95-85EFEA881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memory cell size is depends on word length of the process, then the corresponding address space is called word addressable memory or word address </a:t>
            </a:r>
          </a:p>
          <a:p>
            <a:r>
              <a:rPr lang="en-US" dirty="0"/>
              <a:t>2xw = word address size </a:t>
            </a:r>
          </a:p>
          <a:p>
            <a:r>
              <a:rPr lang="en-US" dirty="0"/>
              <a:t>64xw = word address size </a:t>
            </a:r>
          </a:p>
          <a:p>
            <a:r>
              <a:rPr lang="en-US" dirty="0"/>
              <a:t>256xw = word address size </a:t>
            </a:r>
          </a:p>
          <a:p>
            <a:pPr marL="0" indent="0">
              <a:buNone/>
            </a:pPr>
            <a:r>
              <a:rPr lang="en-US" dirty="0"/>
              <a:t>Where 2, 64, 256 and 4K are the number of cell.  8 is the number of bit per 1 cell.  The cell size must be equal to word length</a:t>
            </a:r>
          </a:p>
        </p:txBody>
      </p:sp>
    </p:spTree>
    <p:extLst>
      <p:ext uri="{BB962C8B-B14F-4D97-AF65-F5344CB8AC3E}">
        <p14:creationId xmlns:p14="http://schemas.microsoft.com/office/powerpoint/2010/main" val="3829637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88CDA-8FB7-4C54-B721-E4B7F6718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continue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04F3D-C222-4BF1-88BD-F089958D2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data is in binary and represented into Bit, Nibble, Byte, Words</a:t>
            </a:r>
          </a:p>
          <a:p>
            <a:r>
              <a:rPr lang="en-US" dirty="0"/>
              <a:t>So Microprocess may have same Bit, Nibble, Byte but can store more words, such as 8 bit microprocess, bit, nibble, byte size will never change, but the word length will change such as in this case is 8 bit.</a:t>
            </a:r>
          </a:p>
          <a:p>
            <a:r>
              <a:rPr lang="en-US" dirty="0"/>
              <a:t>Similarly, 64 bit microprocess, bit, nibble, byte size will never change, but the word length will change such as in this case is 64 bit.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453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now bring together many of the ideas that we have discussed to this point using a very simple model computer.</a:t>
            </a:r>
          </a:p>
          <a:p>
            <a:r>
              <a:rPr lang="en-US" dirty="0"/>
              <a:t>Our model computer, the </a:t>
            </a:r>
            <a:r>
              <a:rPr lang="en-US" i="1" dirty="0"/>
              <a:t>Machine Architecture that is Really Intuitive and Easy</a:t>
            </a:r>
            <a:r>
              <a:rPr lang="en-US" dirty="0"/>
              <a:t>, MARIE, was designed for the singular purpose of illustrating basic computer system concepts.</a:t>
            </a:r>
          </a:p>
          <a:p>
            <a:r>
              <a:rPr lang="en-US" dirty="0"/>
              <a:t>While this system is too simple to do anything useful in the real world, a deep understanding of its functions will enable you to comprehend system architectures that are much more complex.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618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MARIE architecture has the following characteristics:</a:t>
            </a:r>
          </a:p>
          <a:p>
            <a:pPr lvl="1"/>
            <a:r>
              <a:rPr lang="en-US" dirty="0"/>
              <a:t>Binary, two’s complement data representation.</a:t>
            </a:r>
          </a:p>
          <a:p>
            <a:pPr lvl="1"/>
            <a:r>
              <a:rPr lang="en-US" dirty="0"/>
              <a:t>Stored-program, fixed-word-length data and instructions.</a:t>
            </a:r>
          </a:p>
          <a:p>
            <a:pPr lvl="1"/>
            <a:r>
              <a:rPr lang="en-US" dirty="0"/>
              <a:t>4K words of word-addressable main memory.</a:t>
            </a:r>
          </a:p>
          <a:p>
            <a:pPr lvl="1"/>
            <a:r>
              <a:rPr lang="en-US" dirty="0"/>
              <a:t>16-bit data words.</a:t>
            </a:r>
          </a:p>
          <a:p>
            <a:pPr lvl="1"/>
            <a:r>
              <a:rPr lang="en-US" dirty="0"/>
              <a:t>16-bit instructions, 4 for the opcode and 12 for the address.</a:t>
            </a:r>
          </a:p>
          <a:p>
            <a:pPr lvl="1"/>
            <a:r>
              <a:rPr lang="en-US" dirty="0"/>
              <a:t>A 16-bit arithmetic logic unit (ALU).</a:t>
            </a:r>
          </a:p>
          <a:p>
            <a:pPr lvl="1"/>
            <a:r>
              <a:rPr lang="en-US" dirty="0"/>
              <a:t>Seven registers for control and data movement.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5099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MARIE’s seven registers are:</a:t>
            </a:r>
          </a:p>
          <a:p>
            <a:pPr lvl="1"/>
            <a:r>
              <a:rPr lang="en-US" b="1" dirty="0"/>
              <a:t>Accumulator</a:t>
            </a:r>
            <a:r>
              <a:rPr lang="en-US" dirty="0"/>
              <a:t>, AC, a 16-bit register that holds a conditional operator (e.g., “less than”) or one operand of a two-operand instruction (e.g., “add”).</a:t>
            </a:r>
          </a:p>
          <a:p>
            <a:pPr lvl="1"/>
            <a:r>
              <a:rPr lang="en-US" b="1" dirty="0"/>
              <a:t>Memory address register</a:t>
            </a:r>
            <a:r>
              <a:rPr lang="en-US" dirty="0"/>
              <a:t>, MAR, a 12-bit register that holds the memory address of an instruction or the operand of an instruction.  </a:t>
            </a:r>
          </a:p>
          <a:p>
            <a:pPr lvl="1"/>
            <a:r>
              <a:rPr lang="en-US" b="1" dirty="0"/>
              <a:t>Memory buffer register</a:t>
            </a:r>
            <a:r>
              <a:rPr lang="en-US" dirty="0"/>
              <a:t>, MBR, a 16-bit register that holds the data after its retrieval from, or before its placement, in memory.</a:t>
            </a:r>
          </a:p>
          <a:p>
            <a:pPr lvl="1"/>
            <a:r>
              <a:rPr lang="en-US" b="1" dirty="0"/>
              <a:t>Program counter</a:t>
            </a:r>
            <a:r>
              <a:rPr lang="en-US" dirty="0"/>
              <a:t>, PC, a 12-bit register that holds the address of the next program instruction to be executed.</a:t>
            </a:r>
          </a:p>
          <a:p>
            <a:pPr lvl="1"/>
            <a:r>
              <a:rPr lang="en-US" b="1" dirty="0"/>
              <a:t>Instruction register</a:t>
            </a:r>
            <a:r>
              <a:rPr lang="en-US" dirty="0"/>
              <a:t>, IR, which holds an instruction immediately preceding its execution.</a:t>
            </a:r>
          </a:p>
          <a:p>
            <a:pPr lvl="1"/>
            <a:r>
              <a:rPr lang="en-US" dirty="0"/>
              <a:t>Two registers for dealing with I/O, </a:t>
            </a:r>
            <a:r>
              <a:rPr lang="en-US" dirty="0" err="1"/>
              <a:t>InReg</a:t>
            </a:r>
            <a:r>
              <a:rPr lang="en-US" dirty="0"/>
              <a:t> and </a:t>
            </a:r>
            <a:r>
              <a:rPr lang="en-US" dirty="0" err="1"/>
              <a:t>OutReg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652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the MARIE architecture shown graphically:</a:t>
            </a:r>
          </a:p>
          <a:p>
            <a:endParaRPr lang="en-US" dirty="0"/>
          </a:p>
        </p:txBody>
      </p:sp>
      <p:pic>
        <p:nvPicPr>
          <p:cNvPr id="4" name="Picture 5" descr="9781284033144_CH04_FIG08.jpg">
            <a:extLst>
              <a:ext uri="{FF2B5EF4-FFF2-40B4-BE49-F238E27FC236}">
                <a16:creationId xmlns:a16="http://schemas.microsoft.com/office/drawing/2014/main" id="{22272AA3-EDE9-4157-BDF5-9CFD258D6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751422"/>
            <a:ext cx="7162800" cy="4496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7170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7086600" cy="5257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registers are interconnected, and connected with main memory through a common data bus.</a:t>
            </a:r>
          </a:p>
          <a:p>
            <a:r>
              <a:rPr lang="en-US" dirty="0"/>
              <a:t>Each device on the bus is identified by a unique number that is set on the control lines whenever that device is required to carry out an operation.</a:t>
            </a:r>
          </a:p>
          <a:p>
            <a:r>
              <a:rPr lang="en-US" dirty="0"/>
              <a:t>Separate connections are also provided between the accumulator and the memory buffer register, and the ALU and the accumulator and memory buffer register.</a:t>
            </a:r>
          </a:p>
          <a:p>
            <a:r>
              <a:rPr lang="en-US" dirty="0"/>
              <a:t>This permits data transfer between these devices without use of the main data bus.</a:t>
            </a:r>
          </a:p>
          <a:p>
            <a:endParaRPr lang="en-US" dirty="0"/>
          </a:p>
        </p:txBody>
      </p:sp>
      <p:pic>
        <p:nvPicPr>
          <p:cNvPr id="4" name="Picture 3" descr="9781284033144_CH04_FIG09.jpg">
            <a:extLst>
              <a:ext uri="{FF2B5EF4-FFF2-40B4-BE49-F238E27FC236}">
                <a16:creationId xmlns:a16="http://schemas.microsoft.com/office/drawing/2014/main" id="{C5AFC867-D3B4-45AD-B511-C2C119CC0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620093"/>
            <a:ext cx="3657600" cy="56744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16472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Modern computers have multiple </a:t>
            </a:r>
            <a:r>
              <a:rPr lang="en-US" b="1" dirty="0"/>
              <a:t>general-purpose registers</a:t>
            </a:r>
            <a:r>
              <a:rPr lang="en-US" dirty="0"/>
              <a:t> (the textbook calls them </a:t>
            </a:r>
            <a:r>
              <a:rPr lang="en-US" b="1" dirty="0"/>
              <a:t>user-visible registers</a:t>
            </a:r>
            <a:r>
              <a:rPr lang="en-US" dirty="0"/>
              <a:t>) that are available to the programmer to use in writing assembly-language programs</a:t>
            </a:r>
          </a:p>
          <a:p>
            <a:r>
              <a:rPr lang="en-US" dirty="0"/>
              <a:t>The PC, IR, MBR, etc. are not accessible by the programmer and can be used only for their very specific, intended purposes</a:t>
            </a:r>
          </a:p>
          <a:p>
            <a:r>
              <a:rPr lang="en-US" dirty="0"/>
              <a:t>A computer’s </a:t>
            </a:r>
            <a:r>
              <a:rPr lang="en-US" b="1" dirty="0"/>
              <a:t>instruction set architecture</a:t>
            </a:r>
            <a:r>
              <a:rPr lang="en-US" dirty="0"/>
              <a:t> (ISA) specifies the format of its instructions and the primitive operations that the machine can perform.</a:t>
            </a:r>
          </a:p>
          <a:p>
            <a:r>
              <a:rPr lang="en-US" dirty="0"/>
              <a:t>The ISA is an interface between a computer’s hardware and its software.</a:t>
            </a:r>
          </a:p>
          <a:p>
            <a:r>
              <a:rPr lang="en-US" dirty="0"/>
              <a:t>Some ISAs include hundreds of different instructions for processing data and controlling program execution.</a:t>
            </a:r>
          </a:p>
          <a:p>
            <a:r>
              <a:rPr lang="en-US" dirty="0"/>
              <a:t>The MARIE ISA consists of only thirteen instructions.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063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 Instruction 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This is the format of a MARIE instruction:</a:t>
            </a:r>
          </a:p>
          <a:p>
            <a:endParaRPr lang="en-US" dirty="0"/>
          </a:p>
          <a:p>
            <a:r>
              <a:rPr lang="en-US" dirty="0"/>
              <a:t>The fundamental MARIE instructions are: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Also, instruction #10 (hexadecimal A):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n-US" dirty="0"/>
              <a:t> (sets AC to 0)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4_FIG10.jpg">
            <a:extLst>
              <a:ext uri="{FF2B5EF4-FFF2-40B4-BE49-F238E27FC236}">
                <a16:creationId xmlns:a16="http://schemas.microsoft.com/office/drawing/2014/main" id="{FF011A0D-1EE5-4FF1-988E-B54E1CE340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19200"/>
            <a:ext cx="4953000" cy="840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 descr="9781284033144_CH04_TBL02.jpg">
            <a:extLst>
              <a:ext uri="{FF2B5EF4-FFF2-40B4-BE49-F238E27FC236}">
                <a16:creationId xmlns:a16="http://schemas.microsoft.com/office/drawing/2014/main" id="{EE8127A8-89F5-4351-8ACA-9288F3E72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807" y="2590800"/>
            <a:ext cx="10442160" cy="305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36001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 Instruction Set: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en-US" dirty="0"/>
              <a:t>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bit pattern for a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instruction as it would appear in the IR: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see that the opcode is 1 and the address from which to load the data is 3.</a:t>
            </a:r>
          </a:p>
          <a:p>
            <a:endParaRPr lang="en-US" dirty="0"/>
          </a:p>
        </p:txBody>
      </p:sp>
      <p:pic>
        <p:nvPicPr>
          <p:cNvPr id="4" name="Picture 4" descr="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863" y="2713373"/>
            <a:ext cx="5457825" cy="16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77830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 Instruction Set: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altLang="en-US" dirty="0"/>
              <a:t> Example</a:t>
            </a:r>
            <a:endParaRPr lang="en-US" dirty="0"/>
          </a:p>
        </p:txBody>
      </p:sp>
      <p:pic>
        <p:nvPicPr>
          <p:cNvPr id="5" name="Picture 5" descr="9781284033144_CH04_FIG0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1" y="1369692"/>
            <a:ext cx="6935128" cy="4354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Lo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852" y="1523999"/>
            <a:ext cx="5301174" cy="1603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6324600" y="3280012"/>
            <a:ext cx="5437004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1313" indent="-341313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+mj-lt"/>
              </a:rPr>
              <a:t>0000 0000 0011 is stored in the MAR.</a:t>
            </a:r>
          </a:p>
          <a:p>
            <a:pPr marL="341313" indent="-341313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+mj-lt"/>
              </a:rPr>
              <a:t>Data from that memory address is copied into the MBR.</a:t>
            </a:r>
          </a:p>
          <a:p>
            <a:pPr marL="341313" indent="-341313">
              <a:spcAft>
                <a:spcPts val="600"/>
              </a:spcAft>
              <a:buFont typeface="+mj-lt"/>
              <a:buAutoNum type="arabicPeriod"/>
            </a:pPr>
            <a:r>
              <a:rPr lang="en-US" sz="2400" dirty="0">
                <a:latin typeface="+mj-lt"/>
              </a:rPr>
              <a:t>Contents of the MBR are moved to AC.</a:t>
            </a:r>
          </a:p>
        </p:txBody>
      </p:sp>
      <p:sp>
        <p:nvSpPr>
          <p:cNvPr id="13" name="Oval 12"/>
          <p:cNvSpPr/>
          <p:nvPr/>
        </p:nvSpPr>
        <p:spPr>
          <a:xfrm>
            <a:off x="2821981" y="328001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1981200" y="3280012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981200" y="1524000"/>
            <a:ext cx="533400" cy="533400"/>
          </a:xfrm>
          <a:prstGeom prst="ellipse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21499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17F42-9E84-446F-803F-78BE133F0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SKIPCOND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EED64-42E6-47F8-AC08-833B33F7D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SKIPCOND 400     |  if AC == 0</a:t>
            </a:r>
          </a:p>
          <a:p>
            <a:r>
              <a:rPr lang="en-US" dirty="0"/>
              <a:t>SKIPCOND 800     |  if AC &gt; 0</a:t>
            </a:r>
          </a:p>
          <a:p>
            <a:r>
              <a:rPr lang="en-US" dirty="0"/>
              <a:t>SKIPCOND 000     |  if AC &lt; 0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the SKIPCOND is true, the next (one) instruction will be skipped</a:t>
            </a:r>
          </a:p>
        </p:txBody>
      </p:sp>
    </p:spTree>
    <p:extLst>
      <p:ext uri="{BB962C8B-B14F-4D97-AF65-F5344CB8AC3E}">
        <p14:creationId xmlns:p14="http://schemas.microsoft.com/office/powerpoint/2010/main" val="1259091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DE80-CB74-42DA-826A-F8FBDE23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SKIPCOND Example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08B4-9419-445E-BB38-6EFBBFED9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0">
              <a:buNone/>
            </a:pPr>
            <a:r>
              <a:rPr lang="en-US" dirty="0"/>
              <a:t>ORG 		100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LOAD		num1</a:t>
            </a:r>
          </a:p>
          <a:p>
            <a:pPr marL="457200" lvl="1" indent="0">
              <a:buNone/>
            </a:pPr>
            <a:r>
              <a:rPr lang="en-US" dirty="0"/>
              <a:t>SKIPCOND	400</a:t>
            </a:r>
          </a:p>
          <a:p>
            <a:pPr marL="457200" lvl="1" indent="0">
              <a:buNone/>
            </a:pPr>
            <a:r>
              <a:rPr lang="en-US" dirty="0"/>
              <a:t>HALT</a:t>
            </a:r>
          </a:p>
          <a:p>
            <a:pPr marL="457200" lvl="1" indent="0">
              <a:buNone/>
            </a:pPr>
            <a:r>
              <a:rPr lang="en-US" dirty="0"/>
              <a:t>ADD		num2</a:t>
            </a:r>
          </a:p>
          <a:p>
            <a:pPr marL="457200" lvl="1" indent="0">
              <a:buNone/>
            </a:pPr>
            <a:r>
              <a:rPr lang="en-US" dirty="0"/>
              <a:t>STORE		answer</a:t>
            </a:r>
          </a:p>
          <a:p>
            <a:pPr marL="457200" lvl="1" indent="0">
              <a:buNone/>
            </a:pPr>
            <a:r>
              <a:rPr lang="en-US" dirty="0"/>
              <a:t>HALT</a:t>
            </a:r>
          </a:p>
          <a:p>
            <a:pPr marL="0" indent="0">
              <a:buNone/>
            </a:pPr>
            <a:r>
              <a:rPr lang="en-US" dirty="0"/>
              <a:t>num1,	Hex 5</a:t>
            </a:r>
          </a:p>
          <a:p>
            <a:pPr marL="0" indent="0">
              <a:buNone/>
            </a:pPr>
            <a:r>
              <a:rPr lang="en-US" dirty="0"/>
              <a:t>num2, 	Hex 10</a:t>
            </a:r>
          </a:p>
          <a:p>
            <a:pPr marL="0" indent="0">
              <a:buNone/>
            </a:pPr>
            <a:r>
              <a:rPr lang="en-US" dirty="0"/>
              <a:t>Answer,	Hex 0</a:t>
            </a:r>
          </a:p>
        </p:txBody>
      </p:sp>
    </p:spTree>
    <p:extLst>
      <p:ext uri="{BB962C8B-B14F-4D97-AF65-F5344CB8AC3E}">
        <p14:creationId xmlns:p14="http://schemas.microsoft.com/office/powerpoint/2010/main" val="1219118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MARIE Instruction Set: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SKIPCOND</a:t>
            </a:r>
            <a:r>
              <a:rPr lang="en-US" altLang="en-US" dirty="0"/>
              <a:t> Example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This is a bit pattern for a SKIPCOND instruction as it would appear in the IR: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see that the opcode is 8 and bits #11 and #10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meaning that the next instruction will be skipped if the value in the AC is greater than zero.</a:t>
                </a:r>
              </a:p>
              <a:p>
                <a:r>
                  <a:rPr lang="en-US" dirty="0"/>
                  <a:t>This is called </a:t>
                </a:r>
                <a:r>
                  <a:rPr lang="en-US" b="1" dirty="0"/>
                  <a:t>conditional branching</a:t>
                </a:r>
                <a:r>
                  <a:rPr lang="en-US" dirty="0"/>
                  <a:t> (implements the logic of an if-statement in programming)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25F833-F48A-41AB-BDF3-AE0A36E8B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5593BC02-CF7E-4E11-ACF8-71DC1A995C4E}"/>
              </a:ext>
            </a:extLst>
          </p:cNvPr>
          <p:cNvGrpSpPr/>
          <p:nvPr/>
        </p:nvGrpSpPr>
        <p:grpSpPr>
          <a:xfrm>
            <a:off x="1082842" y="2358188"/>
            <a:ext cx="10270958" cy="1540043"/>
            <a:chOff x="914400" y="1600200"/>
            <a:chExt cx="10712116" cy="2213978"/>
          </a:xfrm>
        </p:grpSpPr>
        <p:pic>
          <p:nvPicPr>
            <p:cNvPr id="4" name="Picture 5" descr="Scond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600200"/>
              <a:ext cx="5429250" cy="16605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EEEAEB0-186D-4B07-9E83-826DE501CC17}"/>
                </a:ext>
              </a:extLst>
            </p:cNvPr>
            <p:cNvSpPr txBox="1"/>
            <p:nvPr/>
          </p:nvSpPr>
          <p:spPr bwMode="auto">
            <a:xfrm>
              <a:off x="6597316" y="2244518"/>
              <a:ext cx="5029200" cy="156966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rtlCol="0" anchor="ctr">
              <a:spAutoFit/>
            </a:bodyPr>
            <a:lstStyle/>
            <a:p>
              <a:pPr lvl="0">
                <a:spcBef>
                  <a:spcPct val="50000"/>
                </a:spcBef>
                <a:defRPr/>
              </a:pP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lt"/>
                </a:rPr>
                <a:t>Conditions:</a:t>
              </a:r>
              <a:b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lt"/>
                </a:rPr>
              </a:b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lt"/>
                </a:rPr>
                <a:t>   00:  skip next instruction if AC &lt; 0</a:t>
              </a:r>
              <a:b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lt"/>
                </a:rPr>
              </a:b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lt"/>
                </a:rPr>
                <a:t>   </a:t>
              </a:r>
              <a:r>
                <a:rPr lang="en-US" sz="2400" kern="0" dirty="0">
                  <a:solidFill>
                    <a:srgbClr val="C00000"/>
                  </a:solidFill>
                  <a:latin typeface="+mj-lt"/>
                </a:rPr>
                <a:t>01:  skip next instruction if AC </a:t>
              </a: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lt"/>
                </a:rPr>
                <a:t>= 0</a:t>
              </a:r>
              <a:b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lt"/>
                </a:rPr>
              </a:b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lt"/>
                </a:rPr>
                <a:t>   </a:t>
              </a:r>
              <a:r>
                <a:rPr lang="en-US" sz="2400" kern="0" dirty="0">
                  <a:solidFill>
                    <a:srgbClr val="C00000"/>
                  </a:solidFill>
                  <a:latin typeface="+mj-lt"/>
                </a:rPr>
                <a:t>10:  skip next instruction if AC </a:t>
              </a:r>
              <a:r>
                <a:rPr kumimoji="0" lang="en-US" sz="240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+mj-lt"/>
                </a:rPr>
                <a:t>&gt; 0</a:t>
              </a:r>
            </a:p>
          </p:txBody>
        </p:sp>
        <p:sp>
          <p:nvSpPr>
            <p:cNvPr id="6" name="Rectangle: Rounded Corners 3">
              <a:extLst>
                <a:ext uri="{FF2B5EF4-FFF2-40B4-BE49-F238E27FC236}">
                  <a16:creationId xmlns:a16="http://schemas.microsoft.com/office/drawing/2014/main" id="{A3E47C4F-62A4-42EB-87EF-9BEEAF2E81A6}"/>
                </a:ext>
              </a:extLst>
            </p:cNvPr>
            <p:cNvSpPr/>
            <p:nvPr/>
          </p:nvSpPr>
          <p:spPr bwMode="auto">
            <a:xfrm>
              <a:off x="2327910" y="2141925"/>
              <a:ext cx="668655" cy="1005840"/>
            </a:xfrm>
            <a:prstGeom prst="roundRect">
              <a:avLst/>
            </a:prstGeom>
            <a:noFill/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15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sng" strike="noStrike" cap="none" normalizeH="0" baseline="3000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8655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MARIE Instructions: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MARIE instruction set, decode the following MARIE machine language instruction, writing any numbers in hex:</a:t>
            </a:r>
          </a:p>
          <a:p>
            <a:pPr marL="34448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0010000000000111</a:t>
            </a:r>
          </a:p>
          <a:p>
            <a:r>
              <a:rPr lang="en-US" dirty="0"/>
              <a:t>First separate the instruction into nibbles:</a:t>
            </a:r>
          </a:p>
          <a:p>
            <a:pPr marL="34448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0010 0000 0000 0111</a:t>
            </a:r>
            <a:endParaRPr lang="en-US" dirty="0"/>
          </a:p>
          <a:p>
            <a:r>
              <a:rPr lang="en-US" dirty="0"/>
              <a:t>Opcode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0010</a:t>
            </a:r>
            <a:r>
              <a:rPr lang="en-US" dirty="0"/>
              <a:t> is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 X</a:t>
            </a:r>
            <a:r>
              <a:rPr lang="en-US" dirty="0"/>
              <a:t> (store the contents of AC at address X, where X is the 12 rightmost bits)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0000 0000 0111</a:t>
            </a:r>
          </a:p>
          <a:p>
            <a:r>
              <a:rPr lang="en-US" dirty="0">
                <a:cs typeface="Courier New" panose="02070309020205020404" pitchFamily="49" charset="0"/>
              </a:rPr>
              <a:t>So the instruction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 007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6782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Decoding MARIE Instructions: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MARIE instruction set, decode the following MARIE machine language instruction, writing any numbers in hex:</a:t>
            </a:r>
          </a:p>
          <a:p>
            <a:pPr marL="34448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1001000000001011</a:t>
            </a:r>
          </a:p>
          <a:p>
            <a:r>
              <a:rPr lang="en-US" dirty="0"/>
              <a:t>First separate the instruction into nibbles:</a:t>
            </a:r>
          </a:p>
          <a:p>
            <a:pPr marL="344488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1001 0000 0000 1011</a:t>
            </a:r>
            <a:endParaRPr lang="en-US" dirty="0"/>
          </a:p>
          <a:p>
            <a:r>
              <a:rPr lang="en-US" dirty="0"/>
              <a:t>Opcode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1001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/>
              <a:t>is for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Jump X</a:t>
            </a:r>
            <a:r>
              <a:rPr lang="en-US" dirty="0"/>
              <a:t> (load the value of X into the PC, where X is the 12 rightmost bits)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/>
              <a:t>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0000 0000 1011</a:t>
            </a:r>
          </a:p>
          <a:p>
            <a:r>
              <a:rPr lang="en-US" dirty="0">
                <a:cs typeface="Courier New" panose="02070309020205020404" pitchFamily="49" charset="0"/>
              </a:rPr>
              <a:t>So the instruction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Jump 00B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336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MARIE Register Transfer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Each of our instructions actually consists of a sequence of smaller instructions called </a:t>
            </a:r>
            <a:r>
              <a:rPr lang="en-US" b="1" dirty="0" err="1"/>
              <a:t>microoperations</a:t>
            </a:r>
            <a:r>
              <a:rPr lang="en-US" dirty="0"/>
              <a:t>.</a:t>
            </a:r>
          </a:p>
          <a:p>
            <a:r>
              <a:rPr lang="en-US" dirty="0"/>
              <a:t>The exact sequence of </a:t>
            </a:r>
            <a:r>
              <a:rPr lang="en-US" dirty="0" err="1"/>
              <a:t>microoperations</a:t>
            </a:r>
            <a:r>
              <a:rPr lang="en-US" dirty="0"/>
              <a:t> that are carried out by an instruction can be specified using </a:t>
            </a:r>
            <a:r>
              <a:rPr lang="en-US" b="1" dirty="0"/>
              <a:t>register transfer language</a:t>
            </a:r>
            <a:r>
              <a:rPr lang="en-US" dirty="0"/>
              <a:t> (RTL).</a:t>
            </a:r>
          </a:p>
          <a:p>
            <a:r>
              <a:rPr lang="en-US" dirty="0"/>
              <a:t>In the MARIE RTL, we use the notation M[X] to indicate the actual data value stored in memory location X, and </a:t>
            </a:r>
            <a:r>
              <a:rPr lang="en-US" altLang="en-US" b="1" dirty="0">
                <a:sym typeface="Symbol" pitchFamily="18" charset="2"/>
              </a:rPr>
              <a:t></a:t>
            </a:r>
            <a:r>
              <a:rPr lang="en-US" dirty="0"/>
              <a:t> to indicate the transfer of bytes to a register or memory location.</a:t>
            </a:r>
          </a:p>
          <a:p>
            <a:r>
              <a:rPr lang="en-US" dirty="0"/>
              <a:t>The RTL for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</a:t>
            </a:r>
            <a:r>
              <a:rPr lang="en-US" dirty="0"/>
              <a:t> instruction is:</a:t>
            </a:r>
          </a:p>
          <a:p>
            <a:pPr indent="-1588">
              <a:buFontTx/>
              <a:buNone/>
            </a:pPr>
            <a:r>
              <a:rPr lang="en-US" altLang="en-US" b="1" dirty="0">
                <a:latin typeface="Courier New" pitchFamily="49" charset="0"/>
              </a:rPr>
              <a:t>MAR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en-US" b="1" dirty="0">
                <a:latin typeface="Courier New" pitchFamily="49" charset="0"/>
              </a:rPr>
              <a:t> X</a:t>
            </a:r>
          </a:p>
          <a:p>
            <a:pPr indent="-1588">
              <a:buFontTx/>
              <a:buNone/>
            </a:pPr>
            <a:r>
              <a:rPr lang="en-US" altLang="en-US" b="1" dirty="0">
                <a:latin typeface="Courier New" pitchFamily="49" charset="0"/>
              </a:rPr>
              <a:t>MBR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en-US" b="1" dirty="0">
                <a:latin typeface="Courier New" pitchFamily="49" charset="0"/>
              </a:rPr>
              <a:t> M[MAR] </a:t>
            </a:r>
          </a:p>
          <a:p>
            <a:pPr indent="-1588">
              <a:buFontTx/>
              <a:buNone/>
            </a:pPr>
            <a:r>
              <a:rPr lang="en-US" altLang="en-US" b="1" dirty="0">
                <a:latin typeface="Courier New" pitchFamily="49" charset="0"/>
              </a:rPr>
              <a:t>AC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en-US" b="1" dirty="0">
                <a:latin typeface="Courier New" pitchFamily="49" charset="0"/>
              </a:rPr>
              <a:t> MBR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198799" y="3913495"/>
            <a:ext cx="51550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7013" indent="-227013">
              <a:spcBef>
                <a:spcPct val="10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j-lt"/>
              </a:rPr>
              <a:t>The RTL for the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altLang="en-US" sz="2400" dirty="0">
                <a:latin typeface="+mj-lt"/>
              </a:rPr>
              <a:t> instruction is:</a:t>
            </a:r>
          </a:p>
        </p:txBody>
      </p:sp>
      <p:sp>
        <p:nvSpPr>
          <p:cNvPr id="5" name="Rectangle 4"/>
          <p:cNvSpPr/>
          <p:nvPr/>
        </p:nvSpPr>
        <p:spPr>
          <a:xfrm>
            <a:off x="6477000" y="4343400"/>
            <a:ext cx="3276600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FontTx/>
              <a:buNone/>
            </a:pPr>
            <a:r>
              <a:rPr lang="en-US" altLang="en-US" sz="2400" b="1" dirty="0">
                <a:latin typeface="Courier New" pitchFamily="49" charset="0"/>
              </a:rPr>
              <a:t>MAR </a:t>
            </a:r>
            <a:r>
              <a:rPr lang="en-US" altLang="en-US" sz="2400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en-US" sz="2400" b="1" dirty="0">
                <a:latin typeface="Courier New" pitchFamily="49" charset="0"/>
              </a:rPr>
              <a:t> X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400" b="1" dirty="0">
                <a:latin typeface="Courier New" pitchFamily="49" charset="0"/>
              </a:rPr>
              <a:t>MBR </a:t>
            </a:r>
            <a:r>
              <a:rPr lang="en-US" altLang="en-US" sz="2400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en-US" sz="2400" b="1" dirty="0">
                <a:latin typeface="Courier New" pitchFamily="49" charset="0"/>
              </a:rPr>
              <a:t> M[MAR]</a:t>
            </a:r>
          </a:p>
          <a:p>
            <a:pPr>
              <a:spcBef>
                <a:spcPts val="600"/>
              </a:spcBef>
              <a:buFontTx/>
              <a:buNone/>
            </a:pPr>
            <a:r>
              <a:rPr lang="en-US" altLang="en-US" sz="2400" b="1" dirty="0">
                <a:latin typeface="Courier New" pitchFamily="49" charset="0"/>
              </a:rPr>
              <a:t>AC </a:t>
            </a:r>
            <a:r>
              <a:rPr lang="en-US" altLang="en-US" sz="2400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en-US" sz="2400" b="1" dirty="0">
                <a:latin typeface="Courier New" pitchFamily="49" charset="0"/>
              </a:rPr>
              <a:t> AC + MBR</a:t>
            </a:r>
          </a:p>
        </p:txBody>
      </p:sp>
    </p:spTree>
    <p:extLst>
      <p:ext uri="{BB962C8B-B14F-4D97-AF65-F5344CB8AC3E}">
        <p14:creationId xmlns:p14="http://schemas.microsoft.com/office/powerpoint/2010/main" val="215009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MARIE Register Transfer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Recall that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SKIPCOND</a:t>
            </a:r>
            <a:r>
              <a:rPr lang="en-US" dirty="0"/>
              <a:t> skips the next instruction according to the value of the AC.</a:t>
            </a:r>
          </a:p>
          <a:p>
            <a:r>
              <a:rPr lang="en-US" dirty="0"/>
              <a:t>The RTL for the this instruction is the most complex in our instruction set:</a:t>
            </a:r>
          </a:p>
          <a:p>
            <a:pPr indent="-1588">
              <a:buFontTx/>
              <a:buNone/>
            </a:pPr>
            <a:r>
              <a:rPr lang="en-US" altLang="en-US" b="1" dirty="0">
                <a:latin typeface="Courier New" pitchFamily="49" charset="0"/>
              </a:rPr>
              <a:t>If IR[11:10] = 00 then</a:t>
            </a:r>
          </a:p>
          <a:p>
            <a:pPr indent="-1588">
              <a:buFontTx/>
              <a:buNone/>
            </a:pPr>
            <a:r>
              <a:rPr lang="en-US" altLang="en-US" b="1" dirty="0">
                <a:latin typeface="Courier New" pitchFamily="49" charset="0"/>
              </a:rPr>
              <a:t>	   If AC &lt; 0 then PC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en-US" b="1" dirty="0">
                <a:latin typeface="Courier New" pitchFamily="49" charset="0"/>
              </a:rPr>
              <a:t> PC + 1</a:t>
            </a:r>
          </a:p>
          <a:p>
            <a:pPr indent="-1588">
              <a:buFontTx/>
              <a:buNone/>
            </a:pPr>
            <a:r>
              <a:rPr lang="en-US" altLang="en-US" b="1" dirty="0">
                <a:latin typeface="Courier New" pitchFamily="49" charset="0"/>
              </a:rPr>
              <a:t>else If IR[11:10] = 01 then</a:t>
            </a:r>
          </a:p>
          <a:p>
            <a:pPr indent="-1588">
              <a:buFontTx/>
              <a:buNone/>
            </a:pPr>
            <a:r>
              <a:rPr lang="en-US" altLang="en-US" b="1" dirty="0">
                <a:latin typeface="Courier New" pitchFamily="49" charset="0"/>
              </a:rPr>
              <a:t>   	If AC = 0 then PC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en-US" b="1" dirty="0">
                <a:latin typeface="Courier New" pitchFamily="49" charset="0"/>
              </a:rPr>
              <a:t> PC + 1</a:t>
            </a:r>
          </a:p>
          <a:p>
            <a:pPr indent="-1588">
              <a:buFontTx/>
              <a:buNone/>
            </a:pPr>
            <a:r>
              <a:rPr lang="en-US" altLang="en-US" b="1" dirty="0">
                <a:latin typeface="Courier New" pitchFamily="49" charset="0"/>
              </a:rPr>
              <a:t>else If IR[11:10] = 10 then</a:t>
            </a:r>
          </a:p>
          <a:p>
            <a:pPr indent="-1588">
              <a:buFontTx/>
              <a:buNone/>
            </a:pPr>
            <a:r>
              <a:rPr lang="en-US" altLang="en-US" b="1" dirty="0">
                <a:latin typeface="Courier New" pitchFamily="49" charset="0"/>
              </a:rPr>
              <a:t>	   If AC &gt; 0 then PC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altLang="en-US" b="1" dirty="0">
                <a:latin typeface="Courier New" pitchFamily="49" charset="0"/>
              </a:rPr>
              <a:t> PC + 1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1367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MARIE’s Instruction Set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9DD74C-BFE7-4B5C-81E5-35B27D2CB180}"/>
              </a:ext>
            </a:extLst>
          </p:cNvPr>
          <p:cNvGrpSpPr/>
          <p:nvPr/>
        </p:nvGrpSpPr>
        <p:grpSpPr>
          <a:xfrm>
            <a:off x="1859013" y="1965678"/>
            <a:ext cx="7626096" cy="4346222"/>
            <a:chOff x="619760" y="1158240"/>
            <a:chExt cx="7626096" cy="4346222"/>
          </a:xfrm>
        </p:grpSpPr>
        <p:pic>
          <p:nvPicPr>
            <p:cNvPr id="4" name="Picture 5" descr="9781284033144_CH04_TBL07.jp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565" b="60798"/>
            <a:stretch/>
          </p:blipFill>
          <p:spPr bwMode="auto">
            <a:xfrm>
              <a:off x="619760" y="1577012"/>
              <a:ext cx="7626096" cy="3927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4" descr="9781284033144_CH04_TBL07.jpg">
              <a:extLst>
                <a:ext uri="{FF2B5EF4-FFF2-40B4-BE49-F238E27FC236}">
                  <a16:creationId xmlns:a16="http://schemas.microsoft.com/office/drawing/2014/main" id="{43B8BC50-3653-4387-B818-9B2AEE2DDE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7346"/>
            <a:stretch/>
          </p:blipFill>
          <p:spPr bwMode="auto">
            <a:xfrm>
              <a:off x="619760" y="1158240"/>
              <a:ext cx="7623082" cy="44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045162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MARIE’s Instruction Set (continued)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812758" y="1690688"/>
            <a:ext cx="7623082" cy="4846319"/>
            <a:chOff x="4615815" y="1207806"/>
            <a:chExt cx="4084320" cy="2596577"/>
          </a:xfrm>
        </p:grpSpPr>
        <p:pic>
          <p:nvPicPr>
            <p:cNvPr id="5" name="Picture 4" descr="9781284033144_CH04_TBL07.jp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049" b="34244"/>
            <a:stretch/>
          </p:blipFill>
          <p:spPr bwMode="auto">
            <a:xfrm>
              <a:off x="4615815" y="1427695"/>
              <a:ext cx="4084320" cy="2376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5" descr="9781284033144_CH04_TBL07.jp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7346"/>
            <a:stretch/>
          </p:blipFill>
          <p:spPr bwMode="auto">
            <a:xfrm>
              <a:off x="4615815" y="1207806"/>
              <a:ext cx="4084320" cy="236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189619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MARIE </a:t>
            </a:r>
            <a:r>
              <a:rPr lang="en-US" altLang="en-US" dirty="0">
                <a:solidFill>
                  <a:schemeClr val="tx1"/>
                </a:solidFill>
              </a:rPr>
              <a:t>Instruction 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7543800" cy="5257800"/>
          </a:xfrm>
        </p:spPr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b="1" dirty="0"/>
              <a:t>fetch-decode-execute cycle</a:t>
            </a:r>
            <a:r>
              <a:rPr lang="en-US" dirty="0"/>
              <a:t> is the series of steps that a computer carries out when it runs a program.</a:t>
            </a:r>
          </a:p>
          <a:p>
            <a:r>
              <a:rPr lang="en-US" dirty="0"/>
              <a:t>We first have to </a:t>
            </a:r>
            <a:r>
              <a:rPr lang="en-US" b="1" dirty="0"/>
              <a:t>fetch</a:t>
            </a:r>
            <a:r>
              <a:rPr lang="en-US" dirty="0"/>
              <a:t> an instruction from memory, and place it into the IR. 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MAR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IR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M[MAR], PC </a:t>
            </a:r>
            <a:r>
              <a:rPr lang="en-US" altLang="en-US" b="1" dirty="0">
                <a:latin typeface="Courier New" pitchFamily="49" charset="0"/>
                <a:sym typeface="Symbol" pitchFamily="18" charset="2"/>
              </a:rPr>
              <a:t>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PC + 1</a:t>
            </a:r>
          </a:p>
          <a:p>
            <a:r>
              <a:rPr lang="en-US" dirty="0"/>
              <a:t>Once in the IR, the instruction is </a:t>
            </a:r>
            <a:r>
              <a:rPr lang="en-US" b="1" dirty="0"/>
              <a:t>decoded</a:t>
            </a:r>
            <a:r>
              <a:rPr lang="en-US" dirty="0"/>
              <a:t> to determine what needs to be done next. 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MAR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  <a:sym typeface="Symbol" pitchFamily="18" charset="2"/>
              </a:rPr>
              <a:t>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IR[11:0]</a:t>
            </a:r>
            <a:r>
              <a:rPr lang="en-US" dirty="0"/>
              <a:t>, then decode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IR[15:12]</a:t>
            </a:r>
            <a:endParaRPr lang="en-US" dirty="0"/>
          </a:p>
          <a:p>
            <a:r>
              <a:rPr lang="en-US" dirty="0"/>
              <a:t>If a memory value (operand) is involved in the operation, it is retrieved and placed into the MBR.</a:t>
            </a:r>
          </a:p>
          <a:p>
            <a:r>
              <a:rPr lang="en-US" dirty="0"/>
              <a:t>With everything in place, the instruction is </a:t>
            </a:r>
            <a:r>
              <a:rPr lang="en-US" b="1" dirty="0"/>
              <a:t>executed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4_FIG11.jpg">
            <a:extLst>
              <a:ext uri="{FF2B5EF4-FFF2-40B4-BE49-F238E27FC236}">
                <a16:creationId xmlns:a16="http://schemas.microsoft.com/office/drawing/2014/main" id="{E77CA18C-9BF8-4651-B23D-22861B3BA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3657600" cy="595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9564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Simple MARIE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the simple MARIE program given below.  We see a set of </a:t>
            </a:r>
            <a:r>
              <a:rPr lang="en-US" b="1" dirty="0"/>
              <a:t>mnemonic</a:t>
            </a:r>
            <a:r>
              <a:rPr lang="en-US" dirty="0"/>
              <a:t> instructions stored at addresses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0x100 – 0x106</a:t>
            </a:r>
            <a:r>
              <a:rPr lang="en-US" dirty="0"/>
              <a:t> (0x indicates hexadecimal)</a:t>
            </a:r>
          </a:p>
          <a:p>
            <a:r>
              <a:rPr lang="en-US" dirty="0"/>
              <a:t>The program adds the contents of the memory cells at address 0x104 and 0x105</a:t>
            </a:r>
          </a:p>
          <a:p>
            <a:endParaRPr lang="en-US" dirty="0"/>
          </a:p>
        </p:txBody>
      </p:sp>
      <p:pic>
        <p:nvPicPr>
          <p:cNvPr id="4" name="Picture 3" descr="9781284033144_CH04_TBL03.jpg">
            <a:extLst>
              <a:ext uri="{FF2B5EF4-FFF2-40B4-BE49-F238E27FC236}">
                <a16:creationId xmlns:a16="http://schemas.microsoft.com/office/drawing/2014/main" id="{07D3CF1D-AB31-4FEB-822A-64AAD47F9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641" y="3618783"/>
            <a:ext cx="8597373" cy="3147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4884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Simple MARIE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look at what happens inside the computer when our program runs. All values are hexadecimal. This is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 104</a:t>
            </a:r>
            <a:r>
              <a:rPr lang="en-US" dirty="0"/>
              <a:t> instruction:</a:t>
            </a:r>
          </a:p>
          <a:p>
            <a:endParaRPr lang="en-US" dirty="0"/>
          </a:p>
        </p:txBody>
      </p:sp>
      <p:graphicFrame>
        <p:nvGraphicFramePr>
          <p:cNvPr id="103" name="Table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19653"/>
              </p:ext>
            </p:extLst>
          </p:nvPr>
        </p:nvGraphicFramePr>
        <p:xfrm>
          <a:off x="1163052" y="2771273"/>
          <a:ext cx="8719227" cy="3870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137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RTN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MBR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282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(initial</a:t>
                      </a:r>
                    </a:p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values)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37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Fetch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PC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377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M[MAR]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377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PC + 1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37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IR[11:0]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377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(Decode IR[15:12])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37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 operand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MBR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M[MAR]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377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MBR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145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Simple MARIE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385"/>
            <a:ext cx="10515600" cy="4930578"/>
          </a:xfrm>
        </p:spPr>
        <p:txBody>
          <a:bodyPr/>
          <a:lstStyle/>
          <a:p>
            <a:r>
              <a:rPr lang="en-US" dirty="0"/>
              <a:t>Let’s look at what happens inside the computer when our program runs. All values are hexadecimal. This is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 104</a:t>
            </a:r>
            <a:r>
              <a:rPr lang="en-US" dirty="0"/>
              <a:t> instruction:</a:t>
            </a:r>
          </a:p>
          <a:p>
            <a:endParaRPr lang="en-US" dirty="0"/>
          </a:p>
        </p:txBody>
      </p:sp>
      <p:sp>
        <p:nvSpPr>
          <p:cNvPr id="6" name="AutoShape 3"/>
          <p:cNvSpPr>
            <a:spLocks noChangeAspect="1" noChangeArrowheads="1" noTextEdit="1"/>
          </p:cNvSpPr>
          <p:nvPr/>
        </p:nvSpPr>
        <p:spPr bwMode="auto">
          <a:xfrm>
            <a:off x="1066800" y="2133600"/>
            <a:ext cx="8743950" cy="400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2995613" y="2157413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5922963" y="2157413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6596063" y="2157413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7419975" y="2157413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8151813" y="2157413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8975725" y="2157413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1068388" y="2559050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Line 12"/>
          <p:cNvSpPr>
            <a:spLocks noChangeShapeType="1"/>
          </p:cNvSpPr>
          <p:nvPr/>
        </p:nvSpPr>
        <p:spPr bwMode="auto">
          <a:xfrm>
            <a:off x="1068388" y="325913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5" name="Line 13"/>
          <p:cNvSpPr>
            <a:spLocks noChangeShapeType="1"/>
          </p:cNvSpPr>
          <p:nvPr/>
        </p:nvSpPr>
        <p:spPr bwMode="auto">
          <a:xfrm>
            <a:off x="1068388" y="3656013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Line 14"/>
          <p:cNvSpPr>
            <a:spLocks noChangeShapeType="1"/>
          </p:cNvSpPr>
          <p:nvPr/>
        </p:nvSpPr>
        <p:spPr bwMode="auto">
          <a:xfrm>
            <a:off x="1068388" y="4051300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1068388" y="444658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1068388" y="4843463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1068388" y="5238750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1068388" y="563403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Line 19"/>
          <p:cNvSpPr>
            <a:spLocks noChangeShapeType="1"/>
          </p:cNvSpPr>
          <p:nvPr/>
        </p:nvSpPr>
        <p:spPr bwMode="auto">
          <a:xfrm>
            <a:off x="1073150" y="2157413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>
            <a:off x="9798050" y="2157413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Line 21"/>
          <p:cNvSpPr>
            <a:spLocks noChangeShapeType="1"/>
          </p:cNvSpPr>
          <p:nvPr/>
        </p:nvSpPr>
        <p:spPr bwMode="auto">
          <a:xfrm>
            <a:off x="1068388" y="2163763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1068388" y="6030913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Rectangle 23"/>
          <p:cNvSpPr>
            <a:spLocks noChangeArrowheads="1"/>
          </p:cNvSpPr>
          <p:nvPr/>
        </p:nvSpPr>
        <p:spPr bwMode="auto">
          <a:xfrm>
            <a:off x="1781175" y="2214563"/>
            <a:ext cx="511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Step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4213225" y="2214563"/>
            <a:ext cx="4976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RTN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6110288" y="2214563"/>
            <a:ext cx="3028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8" name="Rectangle 26"/>
          <p:cNvSpPr>
            <a:spLocks noChangeArrowheads="1"/>
          </p:cNvSpPr>
          <p:nvPr/>
        </p:nvSpPr>
        <p:spPr bwMode="auto">
          <a:xfrm>
            <a:off x="6880225" y="2214563"/>
            <a:ext cx="2596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IR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9" name="Rectangle 27"/>
          <p:cNvSpPr>
            <a:spLocks noChangeArrowheads="1"/>
          </p:cNvSpPr>
          <p:nvPr/>
        </p:nvSpPr>
        <p:spPr bwMode="auto">
          <a:xfrm>
            <a:off x="7512050" y="2214563"/>
            <a:ext cx="553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MAR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0" name="Rectangle 28"/>
          <p:cNvSpPr>
            <a:spLocks noChangeArrowheads="1"/>
          </p:cNvSpPr>
          <p:nvPr/>
        </p:nvSpPr>
        <p:spPr bwMode="auto">
          <a:xfrm>
            <a:off x="8289925" y="2214563"/>
            <a:ext cx="553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MBR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9232900" y="2214563"/>
            <a:ext cx="3088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AC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2" name="Rectangle 30"/>
          <p:cNvSpPr>
            <a:spLocks noChangeArrowheads="1"/>
          </p:cNvSpPr>
          <p:nvPr/>
        </p:nvSpPr>
        <p:spPr bwMode="auto">
          <a:xfrm>
            <a:off x="1165225" y="2616200"/>
            <a:ext cx="12311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(initial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3" name="Rectangle 31"/>
          <p:cNvSpPr>
            <a:spLocks noChangeArrowheads="1"/>
          </p:cNvSpPr>
          <p:nvPr/>
        </p:nvSpPr>
        <p:spPr bwMode="auto">
          <a:xfrm>
            <a:off x="1319213" y="2922588"/>
            <a:ext cx="1077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values)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4" name="Rectangle 32"/>
          <p:cNvSpPr>
            <a:spLocks noChangeArrowheads="1"/>
          </p:cNvSpPr>
          <p:nvPr/>
        </p:nvSpPr>
        <p:spPr bwMode="auto">
          <a:xfrm>
            <a:off x="6030913" y="27686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5" name="Rectangle 33"/>
          <p:cNvSpPr>
            <a:spLocks noChangeArrowheads="1"/>
          </p:cNvSpPr>
          <p:nvPr/>
        </p:nvSpPr>
        <p:spPr bwMode="auto">
          <a:xfrm>
            <a:off x="6780213" y="27686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6" name="Rectangle 34"/>
          <p:cNvSpPr>
            <a:spLocks noChangeArrowheads="1"/>
          </p:cNvSpPr>
          <p:nvPr/>
        </p:nvSpPr>
        <p:spPr bwMode="auto">
          <a:xfrm>
            <a:off x="7556500" y="27686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7" name="Rectangle 35"/>
          <p:cNvSpPr>
            <a:spLocks noChangeArrowheads="1"/>
          </p:cNvSpPr>
          <p:nvPr/>
        </p:nvSpPr>
        <p:spPr bwMode="auto">
          <a:xfrm>
            <a:off x="8335963" y="27686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8" name="Rectangle 36"/>
          <p:cNvSpPr>
            <a:spLocks noChangeArrowheads="1"/>
          </p:cNvSpPr>
          <p:nvPr/>
        </p:nvSpPr>
        <p:spPr bwMode="auto">
          <a:xfrm>
            <a:off x="9158288" y="27686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9" name="Rectangle 37"/>
          <p:cNvSpPr>
            <a:spLocks noChangeArrowheads="1"/>
          </p:cNvSpPr>
          <p:nvPr/>
        </p:nvSpPr>
        <p:spPr bwMode="auto">
          <a:xfrm>
            <a:off x="1165225" y="3316288"/>
            <a:ext cx="76944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Fetch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99" name="Group 98"/>
          <p:cNvGrpSpPr/>
          <p:nvPr/>
        </p:nvGrpSpPr>
        <p:grpSpPr>
          <a:xfrm>
            <a:off x="3087688" y="3308350"/>
            <a:ext cx="1320602" cy="322065"/>
            <a:chOff x="3087688" y="3308350"/>
            <a:chExt cx="1320602" cy="322065"/>
          </a:xfrm>
        </p:grpSpPr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3087688" y="3322638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MAR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3697288" y="330835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4100513" y="3322638"/>
              <a:ext cx="30777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43" name="Rectangle 41"/>
          <p:cNvSpPr>
            <a:spLocks noChangeArrowheads="1"/>
          </p:cNvSpPr>
          <p:nvPr/>
        </p:nvSpPr>
        <p:spPr bwMode="auto">
          <a:xfrm>
            <a:off x="6030913" y="33162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6780213" y="33162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auto">
          <a:xfrm>
            <a:off x="7556500" y="33162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6" name="Rectangle 44"/>
          <p:cNvSpPr>
            <a:spLocks noChangeArrowheads="1"/>
          </p:cNvSpPr>
          <p:nvPr/>
        </p:nvSpPr>
        <p:spPr bwMode="auto">
          <a:xfrm>
            <a:off x="8335963" y="33162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7" name="Rectangle 45"/>
          <p:cNvSpPr>
            <a:spLocks noChangeArrowheads="1"/>
          </p:cNvSpPr>
          <p:nvPr/>
        </p:nvSpPr>
        <p:spPr bwMode="auto">
          <a:xfrm>
            <a:off x="9158288" y="33162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0" name="Group 99"/>
          <p:cNvGrpSpPr/>
          <p:nvPr/>
        </p:nvGrpSpPr>
        <p:grpSpPr>
          <a:xfrm>
            <a:off x="3087688" y="3705225"/>
            <a:ext cx="1783755" cy="323652"/>
            <a:chOff x="3087688" y="3705225"/>
            <a:chExt cx="1783755" cy="323652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3087688" y="3721100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IR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3544888" y="3705225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0" name="Rectangle 48"/>
            <p:cNvSpPr>
              <a:spLocks noChangeArrowheads="1"/>
            </p:cNvSpPr>
            <p:nvPr/>
          </p:nvSpPr>
          <p:spPr bwMode="auto">
            <a:xfrm>
              <a:off x="3948113" y="3721100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M[MAR]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51" name="Rectangle 49"/>
          <p:cNvSpPr>
            <a:spLocks noChangeArrowheads="1"/>
          </p:cNvSpPr>
          <p:nvPr/>
        </p:nvSpPr>
        <p:spPr bwMode="auto">
          <a:xfrm>
            <a:off x="6030913" y="371475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2" name="Rectangle 50"/>
          <p:cNvSpPr>
            <a:spLocks noChangeArrowheads="1"/>
          </p:cNvSpPr>
          <p:nvPr/>
        </p:nvSpPr>
        <p:spPr bwMode="auto">
          <a:xfrm>
            <a:off x="6704013" y="371475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3" name="Rectangle 51"/>
          <p:cNvSpPr>
            <a:spLocks noChangeArrowheads="1"/>
          </p:cNvSpPr>
          <p:nvPr/>
        </p:nvSpPr>
        <p:spPr bwMode="auto">
          <a:xfrm>
            <a:off x="7556500" y="371475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4" name="Rectangle 52"/>
          <p:cNvSpPr>
            <a:spLocks noChangeArrowheads="1"/>
          </p:cNvSpPr>
          <p:nvPr/>
        </p:nvSpPr>
        <p:spPr bwMode="auto">
          <a:xfrm>
            <a:off x="8335963" y="371475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5" name="Rectangle 53"/>
          <p:cNvSpPr>
            <a:spLocks noChangeArrowheads="1"/>
          </p:cNvSpPr>
          <p:nvPr/>
        </p:nvSpPr>
        <p:spPr bwMode="auto">
          <a:xfrm>
            <a:off x="9158288" y="371475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3087688" y="4100513"/>
            <a:ext cx="1783755" cy="323652"/>
            <a:chOff x="3087688" y="4100513"/>
            <a:chExt cx="1783755" cy="323652"/>
          </a:xfrm>
        </p:grpSpPr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3087688" y="4116388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3544888" y="4100513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3948113" y="4116388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 + 1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59" name="Rectangle 57"/>
          <p:cNvSpPr>
            <a:spLocks noChangeArrowheads="1"/>
          </p:cNvSpPr>
          <p:nvPr/>
        </p:nvSpPr>
        <p:spPr bwMode="auto">
          <a:xfrm>
            <a:off x="6030913" y="41100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0" name="Rectangle 58"/>
          <p:cNvSpPr>
            <a:spLocks noChangeArrowheads="1"/>
          </p:cNvSpPr>
          <p:nvPr/>
        </p:nvSpPr>
        <p:spPr bwMode="auto">
          <a:xfrm>
            <a:off x="6704013" y="41100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1" name="Rectangle 59"/>
          <p:cNvSpPr>
            <a:spLocks noChangeArrowheads="1"/>
          </p:cNvSpPr>
          <p:nvPr/>
        </p:nvSpPr>
        <p:spPr bwMode="auto">
          <a:xfrm>
            <a:off x="7556500" y="41100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2" name="Rectangle 60"/>
          <p:cNvSpPr>
            <a:spLocks noChangeArrowheads="1"/>
          </p:cNvSpPr>
          <p:nvPr/>
        </p:nvSpPr>
        <p:spPr bwMode="auto">
          <a:xfrm>
            <a:off x="8335963" y="41100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3" name="Rectangle 61"/>
          <p:cNvSpPr>
            <a:spLocks noChangeArrowheads="1"/>
          </p:cNvSpPr>
          <p:nvPr/>
        </p:nvSpPr>
        <p:spPr bwMode="auto">
          <a:xfrm>
            <a:off x="9158288" y="41100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>
            <a:off x="1165225" y="4503738"/>
            <a:ext cx="9233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Decode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2" name="Group 101"/>
          <p:cNvGrpSpPr/>
          <p:nvPr/>
        </p:nvGrpSpPr>
        <p:grpSpPr>
          <a:xfrm>
            <a:off x="3087688" y="4495800"/>
            <a:ext cx="2243931" cy="322065"/>
            <a:chOff x="3087688" y="4495800"/>
            <a:chExt cx="2243931" cy="322065"/>
          </a:xfrm>
        </p:grpSpPr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3087688" y="4510088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MAR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66" name="Rectangle 64"/>
            <p:cNvSpPr>
              <a:spLocks noChangeArrowheads="1"/>
            </p:cNvSpPr>
            <p:nvPr/>
          </p:nvSpPr>
          <p:spPr bwMode="auto">
            <a:xfrm>
              <a:off x="3697288" y="449580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4100513" y="4510088"/>
              <a:ext cx="12311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IR[11:0]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68" name="Rectangle 66"/>
          <p:cNvSpPr>
            <a:spLocks noChangeArrowheads="1"/>
          </p:cNvSpPr>
          <p:nvPr/>
        </p:nvSpPr>
        <p:spPr bwMode="auto">
          <a:xfrm>
            <a:off x="6030913" y="45037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9" name="Rectangle 67"/>
          <p:cNvSpPr>
            <a:spLocks noChangeArrowheads="1"/>
          </p:cNvSpPr>
          <p:nvPr/>
        </p:nvSpPr>
        <p:spPr bwMode="auto">
          <a:xfrm>
            <a:off x="6704013" y="45037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0" name="Rectangle 68"/>
          <p:cNvSpPr>
            <a:spLocks noChangeArrowheads="1"/>
          </p:cNvSpPr>
          <p:nvPr/>
        </p:nvSpPr>
        <p:spPr bwMode="auto">
          <a:xfrm>
            <a:off x="7556500" y="45037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1" name="Rectangle 69"/>
          <p:cNvSpPr>
            <a:spLocks noChangeArrowheads="1"/>
          </p:cNvSpPr>
          <p:nvPr/>
        </p:nvSpPr>
        <p:spPr bwMode="auto">
          <a:xfrm>
            <a:off x="8335963" y="45037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2" name="Rectangle 70"/>
          <p:cNvSpPr>
            <a:spLocks noChangeArrowheads="1"/>
          </p:cNvSpPr>
          <p:nvPr/>
        </p:nvSpPr>
        <p:spPr bwMode="auto">
          <a:xfrm>
            <a:off x="9158288" y="45037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3" name="Rectangle 71"/>
          <p:cNvSpPr>
            <a:spLocks noChangeArrowheads="1"/>
          </p:cNvSpPr>
          <p:nvPr/>
        </p:nvSpPr>
        <p:spPr bwMode="auto">
          <a:xfrm>
            <a:off x="3087688" y="4902200"/>
            <a:ext cx="27699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(Decode IR[15:12])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4" name="Rectangle 72"/>
          <p:cNvSpPr>
            <a:spLocks noChangeArrowheads="1"/>
          </p:cNvSpPr>
          <p:nvPr/>
        </p:nvSpPr>
        <p:spPr bwMode="auto">
          <a:xfrm>
            <a:off x="6030913" y="49022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5" name="Rectangle 73"/>
          <p:cNvSpPr>
            <a:spLocks noChangeArrowheads="1"/>
          </p:cNvSpPr>
          <p:nvPr/>
        </p:nvSpPr>
        <p:spPr bwMode="auto">
          <a:xfrm>
            <a:off x="6704013" y="490220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6" name="Rectangle 74"/>
          <p:cNvSpPr>
            <a:spLocks noChangeArrowheads="1"/>
          </p:cNvSpPr>
          <p:nvPr/>
        </p:nvSpPr>
        <p:spPr bwMode="auto">
          <a:xfrm>
            <a:off x="7556500" y="49022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7" name="Rectangle 75"/>
          <p:cNvSpPr>
            <a:spLocks noChangeArrowheads="1"/>
          </p:cNvSpPr>
          <p:nvPr/>
        </p:nvSpPr>
        <p:spPr bwMode="auto">
          <a:xfrm>
            <a:off x="8335963" y="49022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8" name="Rectangle 76"/>
          <p:cNvSpPr>
            <a:spLocks noChangeArrowheads="1"/>
          </p:cNvSpPr>
          <p:nvPr/>
        </p:nvSpPr>
        <p:spPr bwMode="auto">
          <a:xfrm>
            <a:off x="9158288" y="49022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9" name="Rectangle 77"/>
          <p:cNvSpPr>
            <a:spLocks noChangeArrowheads="1"/>
          </p:cNvSpPr>
          <p:nvPr/>
        </p:nvSpPr>
        <p:spPr bwMode="auto">
          <a:xfrm>
            <a:off x="1165225" y="5297488"/>
            <a:ext cx="16927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Get operand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4" name="Group 103"/>
          <p:cNvGrpSpPr/>
          <p:nvPr/>
        </p:nvGrpSpPr>
        <p:grpSpPr>
          <a:xfrm>
            <a:off x="3087688" y="5287963"/>
            <a:ext cx="1936155" cy="323652"/>
            <a:chOff x="3087688" y="5287963"/>
            <a:chExt cx="1936155" cy="323652"/>
          </a:xfrm>
        </p:grpSpPr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3087688" y="5303838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MBR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81" name="Rectangle 79"/>
            <p:cNvSpPr>
              <a:spLocks noChangeArrowheads="1"/>
            </p:cNvSpPr>
            <p:nvPr/>
          </p:nvSpPr>
          <p:spPr bwMode="auto">
            <a:xfrm>
              <a:off x="3697288" y="5287963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82" name="Rectangle 80"/>
            <p:cNvSpPr>
              <a:spLocks noChangeArrowheads="1"/>
            </p:cNvSpPr>
            <p:nvPr/>
          </p:nvSpPr>
          <p:spPr bwMode="auto">
            <a:xfrm>
              <a:off x="4100513" y="5303838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M[MAR]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83" name="Rectangle 81"/>
          <p:cNvSpPr>
            <a:spLocks noChangeArrowheads="1"/>
          </p:cNvSpPr>
          <p:nvPr/>
        </p:nvSpPr>
        <p:spPr bwMode="auto">
          <a:xfrm>
            <a:off x="6030913" y="52974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4" name="Rectangle 82"/>
          <p:cNvSpPr>
            <a:spLocks noChangeArrowheads="1"/>
          </p:cNvSpPr>
          <p:nvPr/>
        </p:nvSpPr>
        <p:spPr bwMode="auto">
          <a:xfrm>
            <a:off x="6704013" y="52974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5" name="Rectangle 83"/>
          <p:cNvSpPr>
            <a:spLocks noChangeArrowheads="1"/>
          </p:cNvSpPr>
          <p:nvPr/>
        </p:nvSpPr>
        <p:spPr bwMode="auto">
          <a:xfrm>
            <a:off x="7556500" y="52974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6" name="Rectangle 84"/>
          <p:cNvSpPr>
            <a:spLocks noChangeArrowheads="1"/>
          </p:cNvSpPr>
          <p:nvPr/>
        </p:nvSpPr>
        <p:spPr bwMode="auto">
          <a:xfrm>
            <a:off x="8259763" y="52974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7" name="Rectangle 85"/>
          <p:cNvSpPr>
            <a:spLocks noChangeArrowheads="1"/>
          </p:cNvSpPr>
          <p:nvPr/>
        </p:nvSpPr>
        <p:spPr bwMode="auto">
          <a:xfrm>
            <a:off x="9158288" y="52974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---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8" name="Rectangle 86"/>
          <p:cNvSpPr>
            <a:spLocks noChangeArrowheads="1"/>
          </p:cNvSpPr>
          <p:nvPr/>
        </p:nvSpPr>
        <p:spPr bwMode="auto">
          <a:xfrm>
            <a:off x="1165225" y="5694363"/>
            <a:ext cx="1077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Execute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5" name="Group 104"/>
          <p:cNvGrpSpPr/>
          <p:nvPr/>
        </p:nvGrpSpPr>
        <p:grpSpPr>
          <a:xfrm>
            <a:off x="3087688" y="5683250"/>
            <a:ext cx="1322090" cy="322065"/>
            <a:chOff x="3087688" y="5683250"/>
            <a:chExt cx="1322090" cy="322065"/>
          </a:xfrm>
        </p:grpSpPr>
        <p:sp>
          <p:nvSpPr>
            <p:cNvPr id="89" name="Rectangle 87"/>
            <p:cNvSpPr>
              <a:spLocks noChangeArrowheads="1"/>
            </p:cNvSpPr>
            <p:nvPr/>
          </p:nvSpPr>
          <p:spPr bwMode="auto">
            <a:xfrm>
              <a:off x="3087688" y="5697538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AC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90" name="Rectangle 88"/>
            <p:cNvSpPr>
              <a:spLocks noChangeArrowheads="1"/>
            </p:cNvSpPr>
            <p:nvPr/>
          </p:nvSpPr>
          <p:spPr bwMode="auto">
            <a:xfrm>
              <a:off x="3544888" y="568325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91" name="Rectangle 89"/>
            <p:cNvSpPr>
              <a:spLocks noChangeArrowheads="1"/>
            </p:cNvSpPr>
            <p:nvPr/>
          </p:nvSpPr>
          <p:spPr bwMode="auto">
            <a:xfrm>
              <a:off x="3948113" y="5697538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MBR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92" name="Rectangle 90"/>
          <p:cNvSpPr>
            <a:spLocks noChangeArrowheads="1"/>
          </p:cNvSpPr>
          <p:nvPr/>
        </p:nvSpPr>
        <p:spPr bwMode="auto">
          <a:xfrm>
            <a:off x="6030913" y="569436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3" name="Rectangle 91"/>
          <p:cNvSpPr>
            <a:spLocks noChangeArrowheads="1"/>
          </p:cNvSpPr>
          <p:nvPr/>
        </p:nvSpPr>
        <p:spPr bwMode="auto">
          <a:xfrm>
            <a:off x="6704013" y="569436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4" name="Rectangle 92"/>
          <p:cNvSpPr>
            <a:spLocks noChangeArrowheads="1"/>
          </p:cNvSpPr>
          <p:nvPr/>
        </p:nvSpPr>
        <p:spPr bwMode="auto">
          <a:xfrm>
            <a:off x="7556500" y="569436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5" name="Rectangle 93"/>
          <p:cNvSpPr>
            <a:spLocks noChangeArrowheads="1"/>
          </p:cNvSpPr>
          <p:nvPr/>
        </p:nvSpPr>
        <p:spPr bwMode="auto">
          <a:xfrm>
            <a:off x="8259763" y="569436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6" name="Rectangle 94"/>
          <p:cNvSpPr>
            <a:spLocks noChangeArrowheads="1"/>
          </p:cNvSpPr>
          <p:nvPr/>
        </p:nvSpPr>
        <p:spPr bwMode="auto">
          <a:xfrm>
            <a:off x="9082088" y="569436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8598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51" grpId="0"/>
      <p:bldP spid="52" grpId="0"/>
      <p:bldP spid="53" grpId="0"/>
      <p:bldP spid="54" grpId="0"/>
      <p:bldP spid="55" grpId="0"/>
      <p:bldP spid="59" grpId="0"/>
      <p:bldP spid="60" grpId="0"/>
      <p:bldP spid="61" grpId="0"/>
      <p:bldP spid="62" grpId="0"/>
      <p:bldP spid="63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3" grpId="0"/>
      <p:bldP spid="84" grpId="0"/>
      <p:bldP spid="85" grpId="0"/>
      <p:bldP spid="86" grpId="0"/>
      <p:bldP spid="87" grpId="0"/>
      <p:bldP spid="92" grpId="0"/>
      <p:bldP spid="93" grpId="0"/>
      <p:bldP spid="94" grpId="0"/>
      <p:bldP spid="95" grpId="0"/>
      <p:bldP spid="9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Simple MARIE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second instruction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105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98890"/>
              </p:ext>
            </p:extLst>
          </p:nvPr>
        </p:nvGraphicFramePr>
        <p:xfrm>
          <a:off x="838200" y="2306003"/>
          <a:ext cx="8719227" cy="3870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RTN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MBR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(initial</a:t>
                      </a:r>
                    </a:p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values)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Fetch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PC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M[MAR]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PC + 1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IR[11:0]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(Decode IR[15:12])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 operand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MBR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M[MAR]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FFE9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AC + MBR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FFE9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6160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982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A Simple MARIE Program</a:t>
            </a:r>
            <a:br>
              <a:rPr lang="en-US" altLang="en-US" dirty="0"/>
            </a:br>
            <a:r>
              <a:rPr lang="en-US" dirty="0"/>
              <a:t>Our second instruction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ADD 105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7" name="AutoShape 3"/>
          <p:cNvSpPr>
            <a:spLocks noChangeAspect="1" noChangeArrowheads="1" noTextEdit="1"/>
          </p:cNvSpPr>
          <p:nvPr/>
        </p:nvSpPr>
        <p:spPr bwMode="auto">
          <a:xfrm>
            <a:off x="1003896" y="2469930"/>
            <a:ext cx="8743950" cy="400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995613" y="1964908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5922963" y="1964908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6596063" y="1964908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7419975" y="1964908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8151813" y="1964908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8975725" y="1964908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1068388" y="2366545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1068388" y="3066633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1068388" y="346350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1068388" y="3858795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1068388" y="4254083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1068388" y="465095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068388" y="5046245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1068388" y="5441533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1073150" y="1964908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9798050" y="1964908"/>
            <a:ext cx="0" cy="387985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1068388" y="197125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068388" y="583840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1781175" y="2022058"/>
            <a:ext cx="511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Step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4213225" y="2022058"/>
            <a:ext cx="4976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RTN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6110288" y="2022058"/>
            <a:ext cx="3028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6880225" y="2022058"/>
            <a:ext cx="2596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IR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7512050" y="2022058"/>
            <a:ext cx="553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MAR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8289925" y="2022058"/>
            <a:ext cx="553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MBR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9232900" y="2022058"/>
            <a:ext cx="3088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AC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1165225" y="2423695"/>
            <a:ext cx="12311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(initial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1319213" y="2730083"/>
            <a:ext cx="1077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6030913" y="257609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6704013" y="257609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7556500" y="257609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8259763" y="257609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9082088" y="257609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1165225" y="3123783"/>
            <a:ext cx="76944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Fetch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3087688" y="3115845"/>
            <a:ext cx="1320602" cy="322065"/>
            <a:chOff x="3087688" y="2851150"/>
            <a:chExt cx="1320602" cy="322065"/>
          </a:xfrm>
        </p:grpSpPr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>
              <a:off x="3087688" y="2865438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MAR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2" name="Rectangle 39"/>
            <p:cNvSpPr>
              <a:spLocks noChangeArrowheads="1"/>
            </p:cNvSpPr>
            <p:nvPr/>
          </p:nvSpPr>
          <p:spPr bwMode="auto">
            <a:xfrm>
              <a:off x="3697288" y="285115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3" name="Rectangle 40"/>
            <p:cNvSpPr>
              <a:spLocks noChangeArrowheads="1"/>
            </p:cNvSpPr>
            <p:nvPr/>
          </p:nvSpPr>
          <p:spPr bwMode="auto">
            <a:xfrm>
              <a:off x="4100513" y="2865438"/>
              <a:ext cx="30777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6030913" y="312378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6704013" y="312378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1104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7556500" y="312378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7" name="Rectangle 44"/>
          <p:cNvSpPr>
            <a:spLocks noChangeArrowheads="1"/>
          </p:cNvSpPr>
          <p:nvPr/>
        </p:nvSpPr>
        <p:spPr bwMode="auto">
          <a:xfrm>
            <a:off x="8259763" y="312378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9082088" y="312378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99" name="Group 98"/>
          <p:cNvGrpSpPr/>
          <p:nvPr/>
        </p:nvGrpSpPr>
        <p:grpSpPr>
          <a:xfrm>
            <a:off x="3087688" y="3512720"/>
            <a:ext cx="1783755" cy="323652"/>
            <a:chOff x="3087688" y="3248025"/>
            <a:chExt cx="1783755" cy="323652"/>
          </a:xfrm>
        </p:grpSpPr>
        <p:sp>
          <p:nvSpPr>
            <p:cNvPr id="49" name="Rectangle 46"/>
            <p:cNvSpPr>
              <a:spLocks noChangeArrowheads="1"/>
            </p:cNvSpPr>
            <p:nvPr/>
          </p:nvSpPr>
          <p:spPr bwMode="auto">
            <a:xfrm>
              <a:off x="3087688" y="3263900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IR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3544888" y="3248025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3948113" y="3263900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M[MAR]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52" name="Rectangle 49"/>
          <p:cNvSpPr>
            <a:spLocks noChangeArrowheads="1"/>
          </p:cNvSpPr>
          <p:nvPr/>
        </p:nvSpPr>
        <p:spPr bwMode="auto">
          <a:xfrm>
            <a:off x="6030913" y="352224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3" name="Rectangle 50"/>
          <p:cNvSpPr>
            <a:spLocks noChangeArrowheads="1"/>
          </p:cNvSpPr>
          <p:nvPr/>
        </p:nvSpPr>
        <p:spPr bwMode="auto">
          <a:xfrm>
            <a:off x="6704013" y="352224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4" name="Rectangle 51"/>
          <p:cNvSpPr>
            <a:spLocks noChangeArrowheads="1"/>
          </p:cNvSpPr>
          <p:nvPr/>
        </p:nvSpPr>
        <p:spPr bwMode="auto">
          <a:xfrm>
            <a:off x="7556500" y="352224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5" name="Rectangle 52"/>
          <p:cNvSpPr>
            <a:spLocks noChangeArrowheads="1"/>
          </p:cNvSpPr>
          <p:nvPr/>
        </p:nvSpPr>
        <p:spPr bwMode="auto">
          <a:xfrm>
            <a:off x="8259763" y="352224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6" name="Rectangle 53"/>
          <p:cNvSpPr>
            <a:spLocks noChangeArrowheads="1"/>
          </p:cNvSpPr>
          <p:nvPr/>
        </p:nvSpPr>
        <p:spPr bwMode="auto">
          <a:xfrm>
            <a:off x="9082088" y="352224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0" name="Group 99"/>
          <p:cNvGrpSpPr/>
          <p:nvPr/>
        </p:nvGrpSpPr>
        <p:grpSpPr>
          <a:xfrm>
            <a:off x="3087688" y="3908008"/>
            <a:ext cx="1783755" cy="323652"/>
            <a:chOff x="3087688" y="3643313"/>
            <a:chExt cx="1783755" cy="323652"/>
          </a:xfrm>
        </p:grpSpPr>
        <p:sp>
          <p:nvSpPr>
            <p:cNvPr id="57" name="Rectangle 54"/>
            <p:cNvSpPr>
              <a:spLocks noChangeArrowheads="1"/>
            </p:cNvSpPr>
            <p:nvPr/>
          </p:nvSpPr>
          <p:spPr bwMode="auto">
            <a:xfrm>
              <a:off x="3087688" y="3659188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8" name="Rectangle 55"/>
            <p:cNvSpPr>
              <a:spLocks noChangeArrowheads="1"/>
            </p:cNvSpPr>
            <p:nvPr/>
          </p:nvSpPr>
          <p:spPr bwMode="auto">
            <a:xfrm>
              <a:off x="3544888" y="3643313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9" name="Rectangle 56"/>
            <p:cNvSpPr>
              <a:spLocks noChangeArrowheads="1"/>
            </p:cNvSpPr>
            <p:nvPr/>
          </p:nvSpPr>
          <p:spPr bwMode="auto">
            <a:xfrm>
              <a:off x="3948113" y="3659188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 + 1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60" name="Rectangle 57"/>
          <p:cNvSpPr>
            <a:spLocks noChangeArrowheads="1"/>
          </p:cNvSpPr>
          <p:nvPr/>
        </p:nvSpPr>
        <p:spPr bwMode="auto">
          <a:xfrm>
            <a:off x="6030913" y="391753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1" name="Rectangle 58"/>
          <p:cNvSpPr>
            <a:spLocks noChangeArrowheads="1"/>
          </p:cNvSpPr>
          <p:nvPr/>
        </p:nvSpPr>
        <p:spPr bwMode="auto">
          <a:xfrm>
            <a:off x="6704013" y="391753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2" name="Rectangle 59"/>
          <p:cNvSpPr>
            <a:spLocks noChangeArrowheads="1"/>
          </p:cNvSpPr>
          <p:nvPr/>
        </p:nvSpPr>
        <p:spPr bwMode="auto">
          <a:xfrm>
            <a:off x="7556500" y="391753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3" name="Rectangle 60"/>
          <p:cNvSpPr>
            <a:spLocks noChangeArrowheads="1"/>
          </p:cNvSpPr>
          <p:nvPr/>
        </p:nvSpPr>
        <p:spPr bwMode="auto">
          <a:xfrm>
            <a:off x="8259763" y="391753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4" name="Rectangle 61"/>
          <p:cNvSpPr>
            <a:spLocks noChangeArrowheads="1"/>
          </p:cNvSpPr>
          <p:nvPr/>
        </p:nvSpPr>
        <p:spPr bwMode="auto">
          <a:xfrm>
            <a:off x="9082088" y="391753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5" name="Rectangle 62"/>
          <p:cNvSpPr>
            <a:spLocks noChangeArrowheads="1"/>
          </p:cNvSpPr>
          <p:nvPr/>
        </p:nvSpPr>
        <p:spPr bwMode="auto">
          <a:xfrm>
            <a:off x="1165225" y="4311233"/>
            <a:ext cx="9233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Decode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3087688" y="4303295"/>
            <a:ext cx="2243931" cy="322065"/>
            <a:chOff x="3087688" y="4038600"/>
            <a:chExt cx="2243931" cy="322065"/>
          </a:xfrm>
        </p:grpSpPr>
        <p:sp>
          <p:nvSpPr>
            <p:cNvPr id="66" name="Rectangle 63"/>
            <p:cNvSpPr>
              <a:spLocks noChangeArrowheads="1"/>
            </p:cNvSpPr>
            <p:nvPr/>
          </p:nvSpPr>
          <p:spPr bwMode="auto">
            <a:xfrm>
              <a:off x="3087688" y="4052888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MAR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67" name="Rectangle 64"/>
            <p:cNvSpPr>
              <a:spLocks noChangeArrowheads="1"/>
            </p:cNvSpPr>
            <p:nvPr/>
          </p:nvSpPr>
          <p:spPr bwMode="auto">
            <a:xfrm>
              <a:off x="3697288" y="403860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68" name="Rectangle 65"/>
            <p:cNvSpPr>
              <a:spLocks noChangeArrowheads="1"/>
            </p:cNvSpPr>
            <p:nvPr/>
          </p:nvSpPr>
          <p:spPr bwMode="auto">
            <a:xfrm>
              <a:off x="4100513" y="4052888"/>
              <a:ext cx="12311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IR[11:0]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69" name="Rectangle 66"/>
          <p:cNvSpPr>
            <a:spLocks noChangeArrowheads="1"/>
          </p:cNvSpPr>
          <p:nvPr/>
        </p:nvSpPr>
        <p:spPr bwMode="auto">
          <a:xfrm>
            <a:off x="6030913" y="431123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0" name="Rectangle 67"/>
          <p:cNvSpPr>
            <a:spLocks noChangeArrowheads="1"/>
          </p:cNvSpPr>
          <p:nvPr/>
        </p:nvSpPr>
        <p:spPr bwMode="auto">
          <a:xfrm>
            <a:off x="6704013" y="431123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1" name="Rectangle 68"/>
          <p:cNvSpPr>
            <a:spLocks noChangeArrowheads="1"/>
          </p:cNvSpPr>
          <p:nvPr/>
        </p:nvSpPr>
        <p:spPr bwMode="auto">
          <a:xfrm>
            <a:off x="7556500" y="431123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2" name="Rectangle 69"/>
          <p:cNvSpPr>
            <a:spLocks noChangeArrowheads="1"/>
          </p:cNvSpPr>
          <p:nvPr/>
        </p:nvSpPr>
        <p:spPr bwMode="auto">
          <a:xfrm>
            <a:off x="8259763" y="431123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3" name="Rectangle 70"/>
          <p:cNvSpPr>
            <a:spLocks noChangeArrowheads="1"/>
          </p:cNvSpPr>
          <p:nvPr/>
        </p:nvSpPr>
        <p:spPr bwMode="auto">
          <a:xfrm>
            <a:off x="9082088" y="431123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4" name="Rectangle 71"/>
          <p:cNvSpPr>
            <a:spLocks noChangeArrowheads="1"/>
          </p:cNvSpPr>
          <p:nvPr/>
        </p:nvSpPr>
        <p:spPr bwMode="auto">
          <a:xfrm>
            <a:off x="3087688" y="4709695"/>
            <a:ext cx="27699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(Decode IR[15:12])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5" name="Rectangle 72"/>
          <p:cNvSpPr>
            <a:spLocks noChangeArrowheads="1"/>
          </p:cNvSpPr>
          <p:nvPr/>
        </p:nvSpPr>
        <p:spPr bwMode="auto">
          <a:xfrm>
            <a:off x="6030913" y="470969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6" name="Rectangle 73"/>
          <p:cNvSpPr>
            <a:spLocks noChangeArrowheads="1"/>
          </p:cNvSpPr>
          <p:nvPr/>
        </p:nvSpPr>
        <p:spPr bwMode="auto">
          <a:xfrm>
            <a:off x="6704013" y="470969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7" name="Rectangle 74"/>
          <p:cNvSpPr>
            <a:spLocks noChangeArrowheads="1"/>
          </p:cNvSpPr>
          <p:nvPr/>
        </p:nvSpPr>
        <p:spPr bwMode="auto">
          <a:xfrm>
            <a:off x="7556500" y="470969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8" name="Rectangle 75"/>
          <p:cNvSpPr>
            <a:spLocks noChangeArrowheads="1"/>
          </p:cNvSpPr>
          <p:nvPr/>
        </p:nvSpPr>
        <p:spPr bwMode="auto">
          <a:xfrm>
            <a:off x="8259763" y="470969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9" name="Rectangle 76"/>
          <p:cNvSpPr>
            <a:spLocks noChangeArrowheads="1"/>
          </p:cNvSpPr>
          <p:nvPr/>
        </p:nvSpPr>
        <p:spPr bwMode="auto">
          <a:xfrm>
            <a:off x="9082088" y="470969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0" name="Rectangle 77"/>
          <p:cNvSpPr>
            <a:spLocks noChangeArrowheads="1"/>
          </p:cNvSpPr>
          <p:nvPr/>
        </p:nvSpPr>
        <p:spPr bwMode="auto">
          <a:xfrm>
            <a:off x="1165225" y="5104983"/>
            <a:ext cx="16927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Get operand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2" name="Group 101"/>
          <p:cNvGrpSpPr/>
          <p:nvPr/>
        </p:nvGrpSpPr>
        <p:grpSpPr>
          <a:xfrm>
            <a:off x="3087688" y="5095458"/>
            <a:ext cx="1936155" cy="323652"/>
            <a:chOff x="3087688" y="4830763"/>
            <a:chExt cx="1936155" cy="323652"/>
          </a:xfrm>
        </p:grpSpPr>
        <p:sp>
          <p:nvSpPr>
            <p:cNvPr id="81" name="Rectangle 78"/>
            <p:cNvSpPr>
              <a:spLocks noChangeArrowheads="1"/>
            </p:cNvSpPr>
            <p:nvPr/>
          </p:nvSpPr>
          <p:spPr bwMode="auto">
            <a:xfrm>
              <a:off x="3087688" y="4846638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MBR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82" name="Rectangle 79"/>
            <p:cNvSpPr>
              <a:spLocks noChangeArrowheads="1"/>
            </p:cNvSpPr>
            <p:nvPr/>
          </p:nvSpPr>
          <p:spPr bwMode="auto">
            <a:xfrm>
              <a:off x="3697288" y="4830763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83" name="Rectangle 80"/>
            <p:cNvSpPr>
              <a:spLocks noChangeArrowheads="1"/>
            </p:cNvSpPr>
            <p:nvPr/>
          </p:nvSpPr>
          <p:spPr bwMode="auto">
            <a:xfrm>
              <a:off x="4100513" y="4846638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M[MAR]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84" name="Rectangle 81"/>
          <p:cNvSpPr>
            <a:spLocks noChangeArrowheads="1"/>
          </p:cNvSpPr>
          <p:nvPr/>
        </p:nvSpPr>
        <p:spPr bwMode="auto">
          <a:xfrm>
            <a:off x="6030913" y="510498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5" name="Rectangle 82"/>
          <p:cNvSpPr>
            <a:spLocks noChangeArrowheads="1"/>
          </p:cNvSpPr>
          <p:nvPr/>
        </p:nvSpPr>
        <p:spPr bwMode="auto">
          <a:xfrm>
            <a:off x="6704013" y="510498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6" name="Rectangle 83"/>
          <p:cNvSpPr>
            <a:spLocks noChangeArrowheads="1"/>
          </p:cNvSpPr>
          <p:nvPr/>
        </p:nvSpPr>
        <p:spPr bwMode="auto">
          <a:xfrm>
            <a:off x="7556500" y="5104983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7" name="Rectangle 84"/>
          <p:cNvSpPr>
            <a:spLocks noChangeArrowheads="1"/>
          </p:cNvSpPr>
          <p:nvPr/>
        </p:nvSpPr>
        <p:spPr bwMode="auto">
          <a:xfrm>
            <a:off x="8259763" y="510498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FFE9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8" name="Rectangle 85"/>
          <p:cNvSpPr>
            <a:spLocks noChangeArrowheads="1"/>
          </p:cNvSpPr>
          <p:nvPr/>
        </p:nvSpPr>
        <p:spPr bwMode="auto">
          <a:xfrm>
            <a:off x="9082088" y="5104983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0023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9" name="Rectangle 86"/>
          <p:cNvSpPr>
            <a:spLocks noChangeArrowheads="1"/>
          </p:cNvSpPr>
          <p:nvPr/>
        </p:nvSpPr>
        <p:spPr bwMode="auto">
          <a:xfrm>
            <a:off x="1165225" y="5501858"/>
            <a:ext cx="1077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Execute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3" name="Group 102"/>
          <p:cNvGrpSpPr/>
          <p:nvPr/>
        </p:nvGrpSpPr>
        <p:grpSpPr>
          <a:xfrm>
            <a:off x="3087688" y="5490745"/>
            <a:ext cx="2091531" cy="322065"/>
            <a:chOff x="3087688" y="5226050"/>
            <a:chExt cx="2091531" cy="322065"/>
          </a:xfrm>
        </p:grpSpPr>
        <p:sp>
          <p:nvSpPr>
            <p:cNvPr id="90" name="Rectangle 87"/>
            <p:cNvSpPr>
              <a:spLocks noChangeArrowheads="1"/>
            </p:cNvSpPr>
            <p:nvPr/>
          </p:nvSpPr>
          <p:spPr bwMode="auto">
            <a:xfrm>
              <a:off x="3087688" y="5240338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AC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91" name="Rectangle 88"/>
            <p:cNvSpPr>
              <a:spLocks noChangeArrowheads="1"/>
            </p:cNvSpPr>
            <p:nvPr/>
          </p:nvSpPr>
          <p:spPr bwMode="auto">
            <a:xfrm>
              <a:off x="3544888" y="522605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92" name="Rectangle 89"/>
            <p:cNvSpPr>
              <a:spLocks noChangeArrowheads="1"/>
            </p:cNvSpPr>
            <p:nvPr/>
          </p:nvSpPr>
          <p:spPr bwMode="auto">
            <a:xfrm>
              <a:off x="3948113" y="5240338"/>
              <a:ext cx="12311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AC + MBR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93" name="Rectangle 90"/>
          <p:cNvSpPr>
            <a:spLocks noChangeArrowheads="1"/>
          </p:cNvSpPr>
          <p:nvPr/>
        </p:nvSpPr>
        <p:spPr bwMode="auto">
          <a:xfrm>
            <a:off x="6030913" y="550185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4" name="Rectangle 91"/>
          <p:cNvSpPr>
            <a:spLocks noChangeArrowheads="1"/>
          </p:cNvSpPr>
          <p:nvPr/>
        </p:nvSpPr>
        <p:spPr bwMode="auto">
          <a:xfrm>
            <a:off x="6704013" y="550185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5" name="Rectangle 92"/>
          <p:cNvSpPr>
            <a:spLocks noChangeArrowheads="1"/>
          </p:cNvSpPr>
          <p:nvPr/>
        </p:nvSpPr>
        <p:spPr bwMode="auto">
          <a:xfrm>
            <a:off x="7556500" y="550185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6" name="Rectangle 93"/>
          <p:cNvSpPr>
            <a:spLocks noChangeArrowheads="1"/>
          </p:cNvSpPr>
          <p:nvPr/>
        </p:nvSpPr>
        <p:spPr bwMode="auto">
          <a:xfrm>
            <a:off x="8259763" y="550185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FFE9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7" name="Rectangle 94"/>
          <p:cNvSpPr>
            <a:spLocks noChangeArrowheads="1"/>
          </p:cNvSpPr>
          <p:nvPr/>
        </p:nvSpPr>
        <p:spPr bwMode="auto">
          <a:xfrm>
            <a:off x="9082088" y="550185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043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52" grpId="0"/>
      <p:bldP spid="53" grpId="0"/>
      <p:bldP spid="54" grpId="0"/>
      <p:bldP spid="55" grpId="0"/>
      <p:bldP spid="56" grpId="0"/>
      <p:bldP spid="60" grpId="0"/>
      <p:bldP spid="61" grpId="0"/>
      <p:bldP spid="62" grpId="0"/>
      <p:bldP spid="63" grpId="0"/>
      <p:bldP spid="64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4" grpId="0"/>
      <p:bldP spid="85" grpId="0"/>
      <p:bldP spid="86" grpId="0"/>
      <p:bldP spid="87" grpId="0"/>
      <p:bldP spid="88" grpId="0"/>
      <p:bldP spid="93" grpId="0"/>
      <p:bldP spid="94" grpId="0"/>
      <p:bldP spid="95" grpId="0"/>
      <p:bldP spid="96" grpId="0"/>
      <p:bldP spid="9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Simple MARIE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third instruction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 106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2387985"/>
              </p:ext>
            </p:extLst>
          </p:nvPr>
        </p:nvGraphicFramePr>
        <p:xfrm>
          <a:off x="1018674" y="2402305"/>
          <a:ext cx="8719227" cy="426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5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j-lt"/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j-lt"/>
                        </a:rPr>
                        <a:t>RTN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j-lt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j-lt"/>
                        </a:rPr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j-lt"/>
                        </a:rPr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j-lt"/>
                        </a:rPr>
                        <a:t>MBR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+mj-lt"/>
                        </a:rPr>
                        <a:t>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(initial</a:t>
                      </a:r>
                    </a:p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values)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FFE9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Fetch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 </a:t>
                      </a: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PC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3105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FFE9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IR </a:t>
                      </a: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M[MAR]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FFE9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 </a:t>
                      </a: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PC + 1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FFE9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 </a:t>
                      </a: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IR[11:0]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FFE9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(Decode IR[15:12])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FFE9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 operand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(not necessary)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FFE9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MBR </a:t>
                      </a:r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AC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M[MAR]</a:t>
                      </a:r>
                      <a:r>
                        <a:rPr lang="en-US" sz="20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b="1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MBR</a:t>
                      </a:r>
                      <a:endParaRPr lang="en-US" sz="20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9757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Simple MARIE Program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639"/>
            <a:ext cx="10515600" cy="4351338"/>
          </a:xfrm>
        </p:spPr>
        <p:txBody>
          <a:bodyPr/>
          <a:lstStyle/>
          <a:p>
            <a:r>
              <a:rPr lang="en-US" dirty="0"/>
              <a:t>Our third instruction is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STORE 106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sp>
        <p:nvSpPr>
          <p:cNvPr id="7" name="AutoShape 3"/>
          <p:cNvSpPr>
            <a:spLocks noChangeAspect="1" noChangeArrowheads="1" noTextEdit="1"/>
          </p:cNvSpPr>
          <p:nvPr/>
        </p:nvSpPr>
        <p:spPr bwMode="auto">
          <a:xfrm>
            <a:off x="1066800" y="1676400"/>
            <a:ext cx="8743950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995613" y="1700213"/>
            <a:ext cx="0" cy="4275138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5922963" y="1700213"/>
            <a:ext cx="0" cy="4275138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6596063" y="1700213"/>
            <a:ext cx="0" cy="4275138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7419975" y="1700213"/>
            <a:ext cx="0" cy="4275138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8151813" y="1700213"/>
            <a:ext cx="0" cy="4275138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8975725" y="1700213"/>
            <a:ext cx="0" cy="4275138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1068388" y="2101850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1068388" y="280193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1068388" y="3197225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1068388" y="3594100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1068388" y="398938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1068388" y="4384675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1068388" y="4781550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1068388" y="5176838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1068388" y="5572125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1073150" y="1700213"/>
            <a:ext cx="0" cy="4275138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9798050" y="1700213"/>
            <a:ext cx="0" cy="4275138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1068388" y="1706563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Line 23"/>
          <p:cNvSpPr>
            <a:spLocks noChangeShapeType="1"/>
          </p:cNvSpPr>
          <p:nvPr/>
        </p:nvSpPr>
        <p:spPr bwMode="auto">
          <a:xfrm>
            <a:off x="1068388" y="5967413"/>
            <a:ext cx="8736013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1781175" y="1755775"/>
            <a:ext cx="511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Step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4213225" y="1755775"/>
            <a:ext cx="4976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RTN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6110288" y="1755775"/>
            <a:ext cx="3028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6880225" y="1755775"/>
            <a:ext cx="2596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IR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7512050" y="1755775"/>
            <a:ext cx="553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MAR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8289925" y="1755775"/>
            <a:ext cx="553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MBR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9232900" y="1755775"/>
            <a:ext cx="3088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AC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1165225" y="2160588"/>
            <a:ext cx="12311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(initial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1319213" y="2465388"/>
            <a:ext cx="1077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values)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6030913" y="23129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6704013" y="23129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7556500" y="23129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8259763" y="23129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FFE9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9082088" y="23129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>
            <a:off x="1165225" y="2859088"/>
            <a:ext cx="76944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Fetch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5" name="Group 104"/>
          <p:cNvGrpSpPr/>
          <p:nvPr/>
        </p:nvGrpSpPr>
        <p:grpSpPr>
          <a:xfrm>
            <a:off x="3087688" y="2851150"/>
            <a:ext cx="1320602" cy="323652"/>
            <a:chOff x="3087688" y="2851150"/>
            <a:chExt cx="1320602" cy="323652"/>
          </a:xfrm>
        </p:grpSpPr>
        <p:sp>
          <p:nvSpPr>
            <p:cNvPr id="42" name="Rectangle 39"/>
            <p:cNvSpPr>
              <a:spLocks noChangeArrowheads="1"/>
            </p:cNvSpPr>
            <p:nvPr/>
          </p:nvSpPr>
          <p:spPr bwMode="auto">
            <a:xfrm>
              <a:off x="3087688" y="2867025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MAR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3" name="Rectangle 40"/>
            <p:cNvSpPr>
              <a:spLocks noChangeArrowheads="1"/>
            </p:cNvSpPr>
            <p:nvPr/>
          </p:nvSpPr>
          <p:spPr bwMode="auto">
            <a:xfrm>
              <a:off x="3697288" y="285115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4" name="Rectangle 41"/>
            <p:cNvSpPr>
              <a:spLocks noChangeArrowheads="1"/>
            </p:cNvSpPr>
            <p:nvPr/>
          </p:nvSpPr>
          <p:spPr bwMode="auto">
            <a:xfrm>
              <a:off x="4100513" y="2867025"/>
              <a:ext cx="30777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6030913" y="28590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6704013" y="28590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3105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7" name="Rectangle 44"/>
          <p:cNvSpPr>
            <a:spLocks noChangeArrowheads="1"/>
          </p:cNvSpPr>
          <p:nvPr/>
        </p:nvSpPr>
        <p:spPr bwMode="auto">
          <a:xfrm>
            <a:off x="7556500" y="28590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8259763" y="28590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FFE9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9" name="Rectangle 46"/>
          <p:cNvSpPr>
            <a:spLocks noChangeArrowheads="1"/>
          </p:cNvSpPr>
          <p:nvPr/>
        </p:nvSpPr>
        <p:spPr bwMode="auto">
          <a:xfrm>
            <a:off x="9082088" y="28590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6" name="Group 105"/>
          <p:cNvGrpSpPr/>
          <p:nvPr/>
        </p:nvGrpSpPr>
        <p:grpSpPr>
          <a:xfrm>
            <a:off x="3087688" y="3246438"/>
            <a:ext cx="1783755" cy="322064"/>
            <a:chOff x="3087688" y="3246438"/>
            <a:chExt cx="1783755" cy="322064"/>
          </a:xfrm>
        </p:grpSpPr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3087688" y="3260725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IR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3544888" y="3246438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2" name="Rectangle 49"/>
            <p:cNvSpPr>
              <a:spLocks noChangeArrowheads="1"/>
            </p:cNvSpPr>
            <p:nvPr/>
          </p:nvSpPr>
          <p:spPr bwMode="auto">
            <a:xfrm>
              <a:off x="3948113" y="3260725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M[MAR]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53" name="Rectangle 50"/>
          <p:cNvSpPr>
            <a:spLocks noChangeArrowheads="1"/>
          </p:cNvSpPr>
          <p:nvPr/>
        </p:nvSpPr>
        <p:spPr bwMode="auto">
          <a:xfrm>
            <a:off x="6030913" y="325755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4" name="Rectangle 51"/>
          <p:cNvSpPr>
            <a:spLocks noChangeArrowheads="1"/>
          </p:cNvSpPr>
          <p:nvPr/>
        </p:nvSpPr>
        <p:spPr bwMode="auto">
          <a:xfrm>
            <a:off x="6704013" y="325755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5" name="Rectangle 52"/>
          <p:cNvSpPr>
            <a:spLocks noChangeArrowheads="1"/>
          </p:cNvSpPr>
          <p:nvPr/>
        </p:nvSpPr>
        <p:spPr bwMode="auto">
          <a:xfrm>
            <a:off x="7556500" y="325755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6" name="Rectangle 53"/>
          <p:cNvSpPr>
            <a:spLocks noChangeArrowheads="1"/>
          </p:cNvSpPr>
          <p:nvPr/>
        </p:nvSpPr>
        <p:spPr bwMode="auto">
          <a:xfrm>
            <a:off x="8259763" y="325755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FFE9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7" name="Rectangle 54"/>
          <p:cNvSpPr>
            <a:spLocks noChangeArrowheads="1"/>
          </p:cNvSpPr>
          <p:nvPr/>
        </p:nvSpPr>
        <p:spPr bwMode="auto">
          <a:xfrm>
            <a:off x="9082088" y="325755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7" name="Group 106"/>
          <p:cNvGrpSpPr/>
          <p:nvPr/>
        </p:nvGrpSpPr>
        <p:grpSpPr>
          <a:xfrm>
            <a:off x="3087688" y="3643313"/>
            <a:ext cx="1783755" cy="323652"/>
            <a:chOff x="3087688" y="3643313"/>
            <a:chExt cx="1783755" cy="323652"/>
          </a:xfrm>
        </p:grpSpPr>
        <p:sp>
          <p:nvSpPr>
            <p:cNvPr id="58" name="Rectangle 55"/>
            <p:cNvSpPr>
              <a:spLocks noChangeArrowheads="1"/>
            </p:cNvSpPr>
            <p:nvPr/>
          </p:nvSpPr>
          <p:spPr bwMode="auto">
            <a:xfrm>
              <a:off x="3087688" y="3659188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9" name="Rectangle 56"/>
            <p:cNvSpPr>
              <a:spLocks noChangeArrowheads="1"/>
            </p:cNvSpPr>
            <p:nvPr/>
          </p:nvSpPr>
          <p:spPr bwMode="auto">
            <a:xfrm>
              <a:off x="3544888" y="3643313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60" name="Rectangle 57"/>
            <p:cNvSpPr>
              <a:spLocks noChangeArrowheads="1"/>
            </p:cNvSpPr>
            <p:nvPr/>
          </p:nvSpPr>
          <p:spPr bwMode="auto">
            <a:xfrm>
              <a:off x="3948113" y="3659188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 + 1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61" name="Rectangle 58"/>
          <p:cNvSpPr>
            <a:spLocks noChangeArrowheads="1"/>
          </p:cNvSpPr>
          <p:nvPr/>
        </p:nvSpPr>
        <p:spPr bwMode="auto">
          <a:xfrm>
            <a:off x="6030913" y="36528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2" name="Rectangle 59"/>
          <p:cNvSpPr>
            <a:spLocks noChangeArrowheads="1"/>
          </p:cNvSpPr>
          <p:nvPr/>
        </p:nvSpPr>
        <p:spPr bwMode="auto">
          <a:xfrm>
            <a:off x="6704013" y="36528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3" name="Rectangle 60"/>
          <p:cNvSpPr>
            <a:spLocks noChangeArrowheads="1"/>
          </p:cNvSpPr>
          <p:nvPr/>
        </p:nvSpPr>
        <p:spPr bwMode="auto">
          <a:xfrm>
            <a:off x="7556500" y="36528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4" name="Rectangle 61"/>
          <p:cNvSpPr>
            <a:spLocks noChangeArrowheads="1"/>
          </p:cNvSpPr>
          <p:nvPr/>
        </p:nvSpPr>
        <p:spPr bwMode="auto">
          <a:xfrm>
            <a:off x="8259763" y="36528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FFE9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5" name="Rectangle 62"/>
          <p:cNvSpPr>
            <a:spLocks noChangeArrowheads="1"/>
          </p:cNvSpPr>
          <p:nvPr/>
        </p:nvSpPr>
        <p:spPr bwMode="auto">
          <a:xfrm>
            <a:off x="9082088" y="36528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6" name="Rectangle 63"/>
          <p:cNvSpPr>
            <a:spLocks noChangeArrowheads="1"/>
          </p:cNvSpPr>
          <p:nvPr/>
        </p:nvSpPr>
        <p:spPr bwMode="auto">
          <a:xfrm>
            <a:off x="1165225" y="4048125"/>
            <a:ext cx="9233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Decode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8" name="Group 107"/>
          <p:cNvGrpSpPr/>
          <p:nvPr/>
        </p:nvGrpSpPr>
        <p:grpSpPr>
          <a:xfrm>
            <a:off x="3087688" y="4038600"/>
            <a:ext cx="2243931" cy="323652"/>
            <a:chOff x="3087688" y="4038600"/>
            <a:chExt cx="2243931" cy="323652"/>
          </a:xfrm>
        </p:grpSpPr>
        <p:sp>
          <p:nvSpPr>
            <p:cNvPr id="67" name="Rectangle 64"/>
            <p:cNvSpPr>
              <a:spLocks noChangeArrowheads="1"/>
            </p:cNvSpPr>
            <p:nvPr/>
          </p:nvSpPr>
          <p:spPr bwMode="auto">
            <a:xfrm>
              <a:off x="3087688" y="4054475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MAR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68" name="Rectangle 65"/>
            <p:cNvSpPr>
              <a:spLocks noChangeArrowheads="1"/>
            </p:cNvSpPr>
            <p:nvPr/>
          </p:nvSpPr>
          <p:spPr bwMode="auto">
            <a:xfrm>
              <a:off x="3697288" y="403860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69" name="Rectangle 66"/>
            <p:cNvSpPr>
              <a:spLocks noChangeArrowheads="1"/>
            </p:cNvSpPr>
            <p:nvPr/>
          </p:nvSpPr>
          <p:spPr bwMode="auto">
            <a:xfrm>
              <a:off x="4100513" y="4054475"/>
              <a:ext cx="12311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IR[11:0]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70" name="Rectangle 67"/>
          <p:cNvSpPr>
            <a:spLocks noChangeArrowheads="1"/>
          </p:cNvSpPr>
          <p:nvPr/>
        </p:nvSpPr>
        <p:spPr bwMode="auto">
          <a:xfrm>
            <a:off x="6030913" y="404812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1" name="Rectangle 68"/>
          <p:cNvSpPr>
            <a:spLocks noChangeArrowheads="1"/>
          </p:cNvSpPr>
          <p:nvPr/>
        </p:nvSpPr>
        <p:spPr bwMode="auto">
          <a:xfrm>
            <a:off x="6704013" y="404812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2" name="Rectangle 69"/>
          <p:cNvSpPr>
            <a:spLocks noChangeArrowheads="1"/>
          </p:cNvSpPr>
          <p:nvPr/>
        </p:nvSpPr>
        <p:spPr bwMode="auto">
          <a:xfrm>
            <a:off x="7556500" y="404812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3" name="Rectangle 70"/>
          <p:cNvSpPr>
            <a:spLocks noChangeArrowheads="1"/>
          </p:cNvSpPr>
          <p:nvPr/>
        </p:nvSpPr>
        <p:spPr bwMode="auto">
          <a:xfrm>
            <a:off x="8259763" y="404812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FFE9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4" name="Rectangle 71"/>
          <p:cNvSpPr>
            <a:spLocks noChangeArrowheads="1"/>
          </p:cNvSpPr>
          <p:nvPr/>
        </p:nvSpPr>
        <p:spPr bwMode="auto">
          <a:xfrm>
            <a:off x="9082088" y="404812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5" name="Rectangle 72"/>
          <p:cNvSpPr>
            <a:spLocks noChangeArrowheads="1"/>
          </p:cNvSpPr>
          <p:nvPr/>
        </p:nvSpPr>
        <p:spPr bwMode="auto">
          <a:xfrm>
            <a:off x="3087688" y="4441825"/>
            <a:ext cx="27699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(Decode IR[15:12])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6" name="Rectangle 73"/>
          <p:cNvSpPr>
            <a:spLocks noChangeArrowheads="1"/>
          </p:cNvSpPr>
          <p:nvPr/>
        </p:nvSpPr>
        <p:spPr bwMode="auto">
          <a:xfrm>
            <a:off x="6030913" y="444182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7" name="Rectangle 74"/>
          <p:cNvSpPr>
            <a:spLocks noChangeArrowheads="1"/>
          </p:cNvSpPr>
          <p:nvPr/>
        </p:nvSpPr>
        <p:spPr bwMode="auto">
          <a:xfrm>
            <a:off x="6704013" y="444182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8" name="Rectangle 75"/>
          <p:cNvSpPr>
            <a:spLocks noChangeArrowheads="1"/>
          </p:cNvSpPr>
          <p:nvPr/>
        </p:nvSpPr>
        <p:spPr bwMode="auto">
          <a:xfrm>
            <a:off x="7556500" y="444182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9" name="Rectangle 76"/>
          <p:cNvSpPr>
            <a:spLocks noChangeArrowheads="1"/>
          </p:cNvSpPr>
          <p:nvPr/>
        </p:nvSpPr>
        <p:spPr bwMode="auto">
          <a:xfrm>
            <a:off x="8259763" y="444182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FFE9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0" name="Rectangle 77"/>
          <p:cNvSpPr>
            <a:spLocks noChangeArrowheads="1"/>
          </p:cNvSpPr>
          <p:nvPr/>
        </p:nvSpPr>
        <p:spPr bwMode="auto">
          <a:xfrm>
            <a:off x="9082088" y="444182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1" name="Rectangle 78"/>
          <p:cNvSpPr>
            <a:spLocks noChangeArrowheads="1"/>
          </p:cNvSpPr>
          <p:nvPr/>
        </p:nvSpPr>
        <p:spPr bwMode="auto">
          <a:xfrm>
            <a:off x="1165225" y="4840288"/>
            <a:ext cx="16927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Get operand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2" name="Rectangle 79"/>
          <p:cNvSpPr>
            <a:spLocks noChangeArrowheads="1"/>
          </p:cNvSpPr>
          <p:nvPr/>
        </p:nvSpPr>
        <p:spPr bwMode="auto">
          <a:xfrm>
            <a:off x="3087688" y="4840288"/>
            <a:ext cx="23083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(not necessary)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3" name="Rectangle 80"/>
          <p:cNvSpPr>
            <a:spLocks noChangeArrowheads="1"/>
          </p:cNvSpPr>
          <p:nvPr/>
        </p:nvSpPr>
        <p:spPr bwMode="auto">
          <a:xfrm>
            <a:off x="6030913" y="48402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4" name="Rectangle 81"/>
          <p:cNvSpPr>
            <a:spLocks noChangeArrowheads="1"/>
          </p:cNvSpPr>
          <p:nvPr/>
        </p:nvSpPr>
        <p:spPr bwMode="auto">
          <a:xfrm>
            <a:off x="6704013" y="48402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5" name="Rectangle 82"/>
          <p:cNvSpPr>
            <a:spLocks noChangeArrowheads="1"/>
          </p:cNvSpPr>
          <p:nvPr/>
        </p:nvSpPr>
        <p:spPr bwMode="auto">
          <a:xfrm>
            <a:off x="7556500" y="48402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6" name="Rectangle 83"/>
          <p:cNvSpPr>
            <a:spLocks noChangeArrowheads="1"/>
          </p:cNvSpPr>
          <p:nvPr/>
        </p:nvSpPr>
        <p:spPr bwMode="auto">
          <a:xfrm>
            <a:off x="8259763" y="48402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FFE9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7" name="Rectangle 84"/>
          <p:cNvSpPr>
            <a:spLocks noChangeArrowheads="1"/>
          </p:cNvSpPr>
          <p:nvPr/>
        </p:nvSpPr>
        <p:spPr bwMode="auto">
          <a:xfrm>
            <a:off x="9082088" y="48402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8" name="Rectangle 85"/>
          <p:cNvSpPr>
            <a:spLocks noChangeArrowheads="1"/>
          </p:cNvSpPr>
          <p:nvPr/>
        </p:nvSpPr>
        <p:spPr bwMode="auto">
          <a:xfrm>
            <a:off x="1165225" y="5235575"/>
            <a:ext cx="1077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Execute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9" name="Group 108"/>
          <p:cNvGrpSpPr/>
          <p:nvPr/>
        </p:nvGrpSpPr>
        <p:grpSpPr>
          <a:xfrm>
            <a:off x="3087688" y="5226050"/>
            <a:ext cx="1320602" cy="323652"/>
            <a:chOff x="3087688" y="5226050"/>
            <a:chExt cx="1320602" cy="323652"/>
          </a:xfrm>
        </p:grpSpPr>
        <p:sp>
          <p:nvSpPr>
            <p:cNvPr id="89" name="Rectangle 86"/>
            <p:cNvSpPr>
              <a:spLocks noChangeArrowheads="1"/>
            </p:cNvSpPr>
            <p:nvPr/>
          </p:nvSpPr>
          <p:spPr bwMode="auto">
            <a:xfrm>
              <a:off x="3087688" y="5241925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MBR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90" name="Rectangle 87"/>
            <p:cNvSpPr>
              <a:spLocks noChangeArrowheads="1"/>
            </p:cNvSpPr>
            <p:nvPr/>
          </p:nvSpPr>
          <p:spPr bwMode="auto">
            <a:xfrm>
              <a:off x="3697288" y="522605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91" name="Rectangle 88"/>
            <p:cNvSpPr>
              <a:spLocks noChangeArrowheads="1"/>
            </p:cNvSpPr>
            <p:nvPr/>
          </p:nvSpPr>
          <p:spPr bwMode="auto">
            <a:xfrm>
              <a:off x="4100513" y="5241925"/>
              <a:ext cx="30777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AC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92" name="Rectangle 89"/>
          <p:cNvSpPr>
            <a:spLocks noChangeArrowheads="1"/>
          </p:cNvSpPr>
          <p:nvPr/>
        </p:nvSpPr>
        <p:spPr bwMode="auto">
          <a:xfrm>
            <a:off x="6030913" y="523557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3" name="Rectangle 90"/>
          <p:cNvSpPr>
            <a:spLocks noChangeArrowheads="1"/>
          </p:cNvSpPr>
          <p:nvPr/>
        </p:nvSpPr>
        <p:spPr bwMode="auto">
          <a:xfrm>
            <a:off x="6704013" y="523557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4" name="Rectangle 91"/>
          <p:cNvSpPr>
            <a:spLocks noChangeArrowheads="1"/>
          </p:cNvSpPr>
          <p:nvPr/>
        </p:nvSpPr>
        <p:spPr bwMode="auto">
          <a:xfrm>
            <a:off x="7556500" y="523557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5" name="Rectangle 92"/>
          <p:cNvSpPr>
            <a:spLocks noChangeArrowheads="1"/>
          </p:cNvSpPr>
          <p:nvPr/>
        </p:nvSpPr>
        <p:spPr bwMode="auto">
          <a:xfrm>
            <a:off x="8259763" y="523557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6" name="Rectangle 93"/>
          <p:cNvSpPr>
            <a:spLocks noChangeArrowheads="1"/>
          </p:cNvSpPr>
          <p:nvPr/>
        </p:nvSpPr>
        <p:spPr bwMode="auto">
          <a:xfrm>
            <a:off x="9082088" y="523557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10" name="Group 109"/>
          <p:cNvGrpSpPr/>
          <p:nvPr/>
        </p:nvGrpSpPr>
        <p:grpSpPr>
          <a:xfrm>
            <a:off x="3087688" y="5621338"/>
            <a:ext cx="1931690" cy="323652"/>
            <a:chOff x="3087688" y="5621338"/>
            <a:chExt cx="1931690" cy="323652"/>
          </a:xfrm>
        </p:grpSpPr>
        <p:sp>
          <p:nvSpPr>
            <p:cNvPr id="97" name="Rectangle 94"/>
            <p:cNvSpPr>
              <a:spLocks noChangeArrowheads="1"/>
            </p:cNvSpPr>
            <p:nvPr/>
          </p:nvSpPr>
          <p:spPr bwMode="auto">
            <a:xfrm>
              <a:off x="3087688" y="5637213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M[MAR]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98" name="Rectangle 95"/>
            <p:cNvSpPr>
              <a:spLocks noChangeArrowheads="1"/>
            </p:cNvSpPr>
            <p:nvPr/>
          </p:nvSpPr>
          <p:spPr bwMode="auto">
            <a:xfrm>
              <a:off x="4154488" y="5621338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99" name="Rectangle 96"/>
            <p:cNvSpPr>
              <a:spLocks noChangeArrowheads="1"/>
            </p:cNvSpPr>
            <p:nvPr/>
          </p:nvSpPr>
          <p:spPr bwMode="auto">
            <a:xfrm>
              <a:off x="4557713" y="5637213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MBR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100" name="Rectangle 97"/>
          <p:cNvSpPr>
            <a:spLocks noChangeArrowheads="1"/>
          </p:cNvSpPr>
          <p:nvPr/>
        </p:nvSpPr>
        <p:spPr bwMode="auto">
          <a:xfrm>
            <a:off x="6030913" y="562927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101" name="Rectangle 98"/>
          <p:cNvSpPr>
            <a:spLocks noChangeArrowheads="1"/>
          </p:cNvSpPr>
          <p:nvPr/>
        </p:nvSpPr>
        <p:spPr bwMode="auto">
          <a:xfrm>
            <a:off x="6704013" y="562927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102" name="Rectangle 99"/>
          <p:cNvSpPr>
            <a:spLocks noChangeArrowheads="1"/>
          </p:cNvSpPr>
          <p:nvPr/>
        </p:nvSpPr>
        <p:spPr bwMode="auto">
          <a:xfrm>
            <a:off x="7556500" y="562927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103" name="Rectangle 100"/>
          <p:cNvSpPr>
            <a:spLocks noChangeArrowheads="1"/>
          </p:cNvSpPr>
          <p:nvPr/>
        </p:nvSpPr>
        <p:spPr bwMode="auto">
          <a:xfrm>
            <a:off x="8259763" y="562927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104" name="Rectangle 101"/>
          <p:cNvSpPr>
            <a:spLocks noChangeArrowheads="1"/>
          </p:cNvSpPr>
          <p:nvPr/>
        </p:nvSpPr>
        <p:spPr bwMode="auto">
          <a:xfrm>
            <a:off x="9082088" y="562927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000C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6943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8" grpId="0"/>
      <p:bldP spid="49" grpId="0"/>
      <p:bldP spid="53" grpId="0"/>
      <p:bldP spid="54" grpId="0"/>
      <p:bldP spid="55" grpId="0"/>
      <p:bldP spid="56" grpId="0"/>
      <p:bldP spid="57" grpId="0"/>
      <p:bldP spid="61" grpId="0"/>
      <p:bldP spid="62" grpId="0"/>
      <p:bldP spid="63" grpId="0"/>
      <p:bldP spid="64" grpId="0"/>
      <p:bldP spid="65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2" grpId="0"/>
      <p:bldP spid="83" grpId="0"/>
      <p:bldP spid="84" grpId="0"/>
      <p:bldP spid="85" grpId="0"/>
      <p:bldP spid="86" grpId="0"/>
      <p:bldP spid="87" grpId="0"/>
      <p:bldP spid="92" grpId="0"/>
      <p:bldP spid="93" grpId="0"/>
      <p:bldP spid="94" grpId="0"/>
      <p:bldP spid="95" grpId="0"/>
      <p:bldP spid="96" grpId="0"/>
      <p:bldP spid="100" grpId="0"/>
      <p:bldP spid="101" grpId="0"/>
      <p:bldP spid="102" grpId="0"/>
      <p:bldP spid="103" grpId="0"/>
      <p:bldP spid="10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Instruction Execution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latin typeface="Courier New" pitchFamily="49" charset="0"/>
              </a:rPr>
              <a:t>SKIPCOND 400 (400</a:t>
            </a:r>
            <a:r>
              <a:rPr lang="en-US" altLang="en-US" b="1" baseline="-25000" dirty="0">
                <a:latin typeface="Courier New" pitchFamily="49" charset="0"/>
              </a:rPr>
              <a:t>16</a:t>
            </a:r>
            <a:r>
              <a:rPr lang="en-US" altLang="en-US" b="1" dirty="0">
                <a:latin typeface="Courier New" pitchFamily="49" charset="0"/>
              </a:rPr>
              <a:t> = 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01</a:t>
            </a:r>
            <a:r>
              <a:rPr lang="en-US" altLang="en-US" b="1" dirty="0">
                <a:latin typeface="Courier New" pitchFamily="49" charset="0"/>
              </a:rPr>
              <a:t>00 0000 0000</a:t>
            </a:r>
            <a:r>
              <a:rPr lang="en-US" altLang="en-US" b="1" baseline="-25000" dirty="0">
                <a:latin typeface="Courier New" pitchFamily="49" charset="0"/>
              </a:rPr>
              <a:t>2</a:t>
            </a:r>
            <a:r>
              <a:rPr lang="en-US" altLang="en-US" b="1" dirty="0">
                <a:latin typeface="Courier New" pitchFamily="49" charset="0"/>
              </a:rPr>
              <a:t>)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kern="0" dirty="0">
                <a:solidFill>
                  <a:srgbClr val="C00000"/>
                </a:solidFill>
                <a:latin typeface="Courier New" pitchFamily="49" charset="0"/>
              </a:rPr>
              <a:t>01</a:t>
            </a:r>
            <a:r>
              <a:rPr lang="en-US" altLang="en-US" kern="0" dirty="0">
                <a:solidFill>
                  <a:srgbClr val="C00000"/>
                </a:solidFill>
              </a:rPr>
              <a:t> </a:t>
            </a:r>
            <a:r>
              <a:rPr lang="en-US" altLang="en-US" kern="0" dirty="0"/>
              <a:t>indicates that we will perform the test (AC = 0)</a:t>
            </a:r>
            <a:endParaRPr lang="en-US" dirty="0"/>
          </a:p>
          <a:p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160144"/>
              </p:ext>
            </p:extLst>
          </p:nvPr>
        </p:nvGraphicFramePr>
        <p:xfrm>
          <a:off x="838200" y="2811379"/>
          <a:ext cx="8869680" cy="3870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RTN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MBR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j-lt"/>
                        </a:rPr>
                        <a:t>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(initial</a:t>
                      </a:r>
                    </a:p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values)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410D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Fetch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PC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410D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M[MAR]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PC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PC + 1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MAR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Wingdings" panose="05000000000000000000" pitchFamily="2" charset="2"/>
                        </a:rPr>
                        <a:t> IR[11:0]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(Decode IR[15:12])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 operand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(not necessary)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</a:t>
                      </a:r>
                      <a:r>
                        <a:rPr lang="en-US" sz="2000" b="1" baseline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nothing (AC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≠</a:t>
                      </a:r>
                      <a:r>
                        <a:rPr lang="en-US" sz="2000" b="1" baseline="0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0)</a:t>
                      </a:r>
                      <a:endParaRPr lang="en-US" sz="2000" b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FFF8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906000" y="3849231"/>
            <a:ext cx="2057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dirty="0">
                <a:solidFill>
                  <a:srgbClr val="000000"/>
                </a:solidFill>
                <a:latin typeface="+mj-lt"/>
              </a:rPr>
              <a:t>IR becomes 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8400</a:t>
            </a:r>
            <a:r>
              <a:rPr lang="en-US" sz="2000" dirty="0">
                <a:solidFill>
                  <a:srgbClr val="000000"/>
                </a:solidFill>
                <a:latin typeface="+mj-lt"/>
              </a:rPr>
              <a:t> because 8 is the opcode for SKIPCOND and 0x400 is the given operand to the instruction.</a:t>
            </a:r>
          </a:p>
        </p:txBody>
      </p:sp>
    </p:spTree>
    <p:extLst>
      <p:ext uri="{BB962C8B-B14F-4D97-AF65-F5344CB8AC3E}">
        <p14:creationId xmlns:p14="http://schemas.microsoft.com/office/powerpoint/2010/main" val="10444621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Instruction Execution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3961"/>
            <a:ext cx="10515600" cy="4953002"/>
          </a:xfrm>
        </p:spPr>
        <p:txBody>
          <a:bodyPr/>
          <a:lstStyle/>
          <a:p>
            <a:r>
              <a:rPr lang="en-US" altLang="en-US" b="1" dirty="0">
                <a:latin typeface="Courier New" pitchFamily="49" charset="0"/>
              </a:rPr>
              <a:t>SKIPCOND 400 (400</a:t>
            </a:r>
            <a:r>
              <a:rPr lang="en-US" altLang="en-US" b="1" baseline="-25000" dirty="0">
                <a:latin typeface="Courier New" pitchFamily="49" charset="0"/>
              </a:rPr>
              <a:t>16</a:t>
            </a:r>
            <a:r>
              <a:rPr lang="en-US" altLang="en-US" b="1" dirty="0">
                <a:latin typeface="Courier New" pitchFamily="49" charset="0"/>
              </a:rPr>
              <a:t> = 0100 0000 0000</a:t>
            </a:r>
            <a:r>
              <a:rPr lang="en-US" altLang="en-US" b="1" baseline="-25000" dirty="0">
                <a:latin typeface="Courier New" pitchFamily="49" charset="0"/>
              </a:rPr>
              <a:t>2</a:t>
            </a:r>
            <a:r>
              <a:rPr lang="en-US" altLang="en-US" b="1" dirty="0">
                <a:latin typeface="Courier New" pitchFamily="49" charset="0"/>
              </a:rPr>
              <a:t>)</a:t>
            </a: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b="1" kern="0" dirty="0">
                <a:latin typeface="Courier New" pitchFamily="49" charset="0"/>
              </a:rPr>
              <a:t>01</a:t>
            </a:r>
            <a:r>
              <a:rPr lang="en-US" altLang="en-US" kern="0" dirty="0"/>
              <a:t> indicates that we will perform the test (AC = 0)</a:t>
            </a:r>
            <a:endParaRPr lang="en-US" dirty="0"/>
          </a:p>
          <a:p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7" name="AutoShape 3"/>
          <p:cNvSpPr>
            <a:spLocks noChangeAspect="1" noChangeArrowheads="1" noTextEdit="1"/>
          </p:cNvSpPr>
          <p:nvPr/>
        </p:nvSpPr>
        <p:spPr bwMode="auto">
          <a:xfrm>
            <a:off x="990600" y="2133600"/>
            <a:ext cx="8894763" cy="40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919413" y="2157413"/>
            <a:ext cx="0" cy="3878263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6029325" y="2157413"/>
            <a:ext cx="0" cy="3878263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6670675" y="2157413"/>
            <a:ext cx="0" cy="3878263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7493000" y="2157413"/>
            <a:ext cx="0" cy="3878263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8226425" y="2157413"/>
            <a:ext cx="0" cy="3878263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9048750" y="2157413"/>
            <a:ext cx="0" cy="3878263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992188" y="2559050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992188" y="3259138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992188" y="3654425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992188" y="4051300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992188" y="4446588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992188" y="4841875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992188" y="5238750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992188" y="5634038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996950" y="2157413"/>
            <a:ext cx="0" cy="3878263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9872663" y="2157413"/>
            <a:ext cx="0" cy="3878263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Line 21"/>
          <p:cNvSpPr>
            <a:spLocks noChangeShapeType="1"/>
          </p:cNvSpPr>
          <p:nvPr/>
        </p:nvSpPr>
        <p:spPr bwMode="auto">
          <a:xfrm>
            <a:off x="992188" y="2163763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992822" y="6031032"/>
            <a:ext cx="8886825" cy="0"/>
          </a:xfrm>
          <a:prstGeom prst="line">
            <a:avLst/>
          </a:prstGeom>
          <a:noFill/>
          <a:ln w="12700" cap="flat">
            <a:solidFill>
              <a:srgbClr val="2F2B2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1704975" y="2212975"/>
            <a:ext cx="511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Step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4227513" y="2212975"/>
            <a:ext cx="4976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RTN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6199188" y="2212975"/>
            <a:ext cx="30284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PC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6954838" y="2212975"/>
            <a:ext cx="2596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IR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7586663" y="2212975"/>
            <a:ext cx="553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MAR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8364538" y="2212975"/>
            <a:ext cx="55303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MBR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9307513" y="2212975"/>
            <a:ext cx="3088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mbria" panose="02040503050406030204" pitchFamily="18" charset="0"/>
              </a:rPr>
              <a:t>AC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1089025" y="2616200"/>
            <a:ext cx="12311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(initial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1243013" y="2922588"/>
            <a:ext cx="1077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values)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6121400" y="27701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6778625" y="27701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410D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7631113" y="27701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8332788" y="27701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9156700" y="27701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1089025" y="3316288"/>
            <a:ext cx="76944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Fetch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97" name="Group 96"/>
          <p:cNvGrpSpPr/>
          <p:nvPr/>
        </p:nvGrpSpPr>
        <p:grpSpPr>
          <a:xfrm>
            <a:off x="3011488" y="3308350"/>
            <a:ext cx="1320602" cy="323652"/>
            <a:chOff x="3011488" y="3308350"/>
            <a:chExt cx="1320602" cy="323652"/>
          </a:xfrm>
        </p:grpSpPr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>
              <a:off x="3011488" y="3324225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MAR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2" name="Rectangle 39"/>
            <p:cNvSpPr>
              <a:spLocks noChangeArrowheads="1"/>
            </p:cNvSpPr>
            <p:nvPr/>
          </p:nvSpPr>
          <p:spPr bwMode="auto">
            <a:xfrm>
              <a:off x="3621088" y="330835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43" name="Rectangle 40"/>
            <p:cNvSpPr>
              <a:spLocks noChangeArrowheads="1"/>
            </p:cNvSpPr>
            <p:nvPr/>
          </p:nvSpPr>
          <p:spPr bwMode="auto">
            <a:xfrm>
              <a:off x="4024313" y="3324225"/>
              <a:ext cx="30777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6121400" y="33162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6778625" y="33162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410D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7631113" y="33162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7" name="Rectangle 44"/>
          <p:cNvSpPr>
            <a:spLocks noChangeArrowheads="1"/>
          </p:cNvSpPr>
          <p:nvPr/>
        </p:nvSpPr>
        <p:spPr bwMode="auto">
          <a:xfrm>
            <a:off x="8332788" y="33162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48" name="Rectangle 45"/>
          <p:cNvSpPr>
            <a:spLocks noChangeArrowheads="1"/>
          </p:cNvSpPr>
          <p:nvPr/>
        </p:nvSpPr>
        <p:spPr bwMode="auto">
          <a:xfrm>
            <a:off x="9156700" y="33162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98" name="Group 97"/>
          <p:cNvGrpSpPr/>
          <p:nvPr/>
        </p:nvGrpSpPr>
        <p:grpSpPr>
          <a:xfrm>
            <a:off x="3011488" y="3703638"/>
            <a:ext cx="1783755" cy="322064"/>
            <a:chOff x="3011488" y="3703638"/>
            <a:chExt cx="1783755" cy="322064"/>
          </a:xfrm>
        </p:grpSpPr>
        <p:sp>
          <p:nvSpPr>
            <p:cNvPr id="49" name="Rectangle 46"/>
            <p:cNvSpPr>
              <a:spLocks noChangeArrowheads="1"/>
            </p:cNvSpPr>
            <p:nvPr/>
          </p:nvSpPr>
          <p:spPr bwMode="auto">
            <a:xfrm>
              <a:off x="3011488" y="3717925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IR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3468688" y="3703638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3871913" y="3717925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M[MAR]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52" name="Rectangle 49"/>
          <p:cNvSpPr>
            <a:spLocks noChangeArrowheads="1"/>
          </p:cNvSpPr>
          <p:nvPr/>
        </p:nvSpPr>
        <p:spPr bwMode="auto">
          <a:xfrm>
            <a:off x="6121400" y="371475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3" name="Rectangle 50"/>
          <p:cNvSpPr>
            <a:spLocks noChangeArrowheads="1"/>
          </p:cNvSpPr>
          <p:nvPr/>
        </p:nvSpPr>
        <p:spPr bwMode="auto">
          <a:xfrm>
            <a:off x="6778625" y="371475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8400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4" name="Rectangle 51"/>
          <p:cNvSpPr>
            <a:spLocks noChangeArrowheads="1"/>
          </p:cNvSpPr>
          <p:nvPr/>
        </p:nvSpPr>
        <p:spPr bwMode="auto">
          <a:xfrm>
            <a:off x="7631113" y="371475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5" name="Rectangle 52"/>
          <p:cNvSpPr>
            <a:spLocks noChangeArrowheads="1"/>
          </p:cNvSpPr>
          <p:nvPr/>
        </p:nvSpPr>
        <p:spPr bwMode="auto">
          <a:xfrm>
            <a:off x="8332788" y="371475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56" name="Rectangle 53"/>
          <p:cNvSpPr>
            <a:spLocks noChangeArrowheads="1"/>
          </p:cNvSpPr>
          <p:nvPr/>
        </p:nvSpPr>
        <p:spPr bwMode="auto">
          <a:xfrm>
            <a:off x="9156700" y="371475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99" name="Group 98"/>
          <p:cNvGrpSpPr/>
          <p:nvPr/>
        </p:nvGrpSpPr>
        <p:grpSpPr>
          <a:xfrm>
            <a:off x="3011488" y="4100513"/>
            <a:ext cx="1783755" cy="323652"/>
            <a:chOff x="3011488" y="4100513"/>
            <a:chExt cx="1783755" cy="323652"/>
          </a:xfrm>
        </p:grpSpPr>
        <p:sp>
          <p:nvSpPr>
            <p:cNvPr id="57" name="Rectangle 54"/>
            <p:cNvSpPr>
              <a:spLocks noChangeArrowheads="1"/>
            </p:cNvSpPr>
            <p:nvPr/>
          </p:nvSpPr>
          <p:spPr bwMode="auto">
            <a:xfrm>
              <a:off x="3011488" y="4116388"/>
              <a:ext cx="461665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8" name="Rectangle 55"/>
            <p:cNvSpPr>
              <a:spLocks noChangeArrowheads="1"/>
            </p:cNvSpPr>
            <p:nvPr/>
          </p:nvSpPr>
          <p:spPr bwMode="auto">
            <a:xfrm>
              <a:off x="3468688" y="4100513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59" name="Rectangle 56"/>
            <p:cNvSpPr>
              <a:spLocks noChangeArrowheads="1"/>
            </p:cNvSpPr>
            <p:nvPr/>
          </p:nvSpPr>
          <p:spPr bwMode="auto">
            <a:xfrm>
              <a:off x="3871913" y="4116388"/>
              <a:ext cx="92333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PC + 1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60" name="Rectangle 57"/>
          <p:cNvSpPr>
            <a:spLocks noChangeArrowheads="1"/>
          </p:cNvSpPr>
          <p:nvPr/>
        </p:nvSpPr>
        <p:spPr bwMode="auto">
          <a:xfrm>
            <a:off x="6121400" y="41100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1" name="Rectangle 58"/>
          <p:cNvSpPr>
            <a:spLocks noChangeArrowheads="1"/>
          </p:cNvSpPr>
          <p:nvPr/>
        </p:nvSpPr>
        <p:spPr bwMode="auto">
          <a:xfrm>
            <a:off x="6778625" y="41100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8400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2" name="Rectangle 59"/>
          <p:cNvSpPr>
            <a:spLocks noChangeArrowheads="1"/>
          </p:cNvSpPr>
          <p:nvPr/>
        </p:nvSpPr>
        <p:spPr bwMode="auto">
          <a:xfrm>
            <a:off x="7631113" y="41100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3" name="Rectangle 60"/>
          <p:cNvSpPr>
            <a:spLocks noChangeArrowheads="1"/>
          </p:cNvSpPr>
          <p:nvPr/>
        </p:nvSpPr>
        <p:spPr bwMode="auto">
          <a:xfrm>
            <a:off x="8332788" y="41100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4" name="Rectangle 61"/>
          <p:cNvSpPr>
            <a:spLocks noChangeArrowheads="1"/>
          </p:cNvSpPr>
          <p:nvPr/>
        </p:nvSpPr>
        <p:spPr bwMode="auto">
          <a:xfrm>
            <a:off x="9156700" y="41100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65" name="Rectangle 62"/>
          <p:cNvSpPr>
            <a:spLocks noChangeArrowheads="1"/>
          </p:cNvSpPr>
          <p:nvPr/>
        </p:nvSpPr>
        <p:spPr bwMode="auto">
          <a:xfrm>
            <a:off x="1089025" y="4503738"/>
            <a:ext cx="9233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Decode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0" name="Group 99"/>
          <p:cNvGrpSpPr/>
          <p:nvPr/>
        </p:nvGrpSpPr>
        <p:grpSpPr>
          <a:xfrm>
            <a:off x="3011488" y="4495800"/>
            <a:ext cx="2243931" cy="323652"/>
            <a:chOff x="3011488" y="4495800"/>
            <a:chExt cx="2243931" cy="323652"/>
          </a:xfrm>
        </p:grpSpPr>
        <p:sp>
          <p:nvSpPr>
            <p:cNvPr id="66" name="Rectangle 63"/>
            <p:cNvSpPr>
              <a:spLocks noChangeArrowheads="1"/>
            </p:cNvSpPr>
            <p:nvPr/>
          </p:nvSpPr>
          <p:spPr bwMode="auto">
            <a:xfrm>
              <a:off x="3011488" y="4511675"/>
              <a:ext cx="6155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MAR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67" name="Rectangle 64"/>
            <p:cNvSpPr>
              <a:spLocks noChangeArrowheads="1"/>
            </p:cNvSpPr>
            <p:nvPr/>
          </p:nvSpPr>
          <p:spPr bwMode="auto">
            <a:xfrm>
              <a:off x="3621088" y="4495800"/>
              <a:ext cx="25167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Wingdings" panose="05000000000000000000" pitchFamily="2" charset="2"/>
                </a:rPr>
                <a:t>ß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sp>
          <p:nvSpPr>
            <p:cNvPr id="68" name="Rectangle 65"/>
            <p:cNvSpPr>
              <a:spLocks noChangeArrowheads="1"/>
            </p:cNvSpPr>
            <p:nvPr/>
          </p:nvSpPr>
          <p:spPr bwMode="auto">
            <a:xfrm>
              <a:off x="4024313" y="4511675"/>
              <a:ext cx="12311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20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ourier New" panose="02070309020205020404" pitchFamily="49" charset="0"/>
                </a:rPr>
                <a:t>IR[11:0]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</p:grpSp>
      <p:sp>
        <p:nvSpPr>
          <p:cNvPr id="69" name="Rectangle 66"/>
          <p:cNvSpPr>
            <a:spLocks noChangeArrowheads="1"/>
          </p:cNvSpPr>
          <p:nvPr/>
        </p:nvSpPr>
        <p:spPr bwMode="auto">
          <a:xfrm>
            <a:off x="6121400" y="45037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0" name="Rectangle 67"/>
          <p:cNvSpPr>
            <a:spLocks noChangeArrowheads="1"/>
          </p:cNvSpPr>
          <p:nvPr/>
        </p:nvSpPr>
        <p:spPr bwMode="auto">
          <a:xfrm>
            <a:off x="6778625" y="45037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8400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1" name="Rectangle 68"/>
          <p:cNvSpPr>
            <a:spLocks noChangeArrowheads="1"/>
          </p:cNvSpPr>
          <p:nvPr/>
        </p:nvSpPr>
        <p:spPr bwMode="auto">
          <a:xfrm>
            <a:off x="7631113" y="450373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2" name="Rectangle 69"/>
          <p:cNvSpPr>
            <a:spLocks noChangeArrowheads="1"/>
          </p:cNvSpPr>
          <p:nvPr/>
        </p:nvSpPr>
        <p:spPr bwMode="auto">
          <a:xfrm>
            <a:off x="8332788" y="45037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3" name="Rectangle 70"/>
          <p:cNvSpPr>
            <a:spLocks noChangeArrowheads="1"/>
          </p:cNvSpPr>
          <p:nvPr/>
        </p:nvSpPr>
        <p:spPr bwMode="auto">
          <a:xfrm>
            <a:off x="9156700" y="450373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4" name="Rectangle 71"/>
          <p:cNvSpPr>
            <a:spLocks noChangeArrowheads="1"/>
          </p:cNvSpPr>
          <p:nvPr/>
        </p:nvSpPr>
        <p:spPr bwMode="auto">
          <a:xfrm>
            <a:off x="3011488" y="4902200"/>
            <a:ext cx="276998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(Decode IR[15:12])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5" name="Rectangle 72"/>
          <p:cNvSpPr>
            <a:spLocks noChangeArrowheads="1"/>
          </p:cNvSpPr>
          <p:nvPr/>
        </p:nvSpPr>
        <p:spPr bwMode="auto">
          <a:xfrm>
            <a:off x="6121400" y="49022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6" name="Rectangle 73"/>
          <p:cNvSpPr>
            <a:spLocks noChangeArrowheads="1"/>
          </p:cNvSpPr>
          <p:nvPr/>
        </p:nvSpPr>
        <p:spPr bwMode="auto">
          <a:xfrm>
            <a:off x="6778625" y="490220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8400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7" name="Rectangle 74"/>
          <p:cNvSpPr>
            <a:spLocks noChangeArrowheads="1"/>
          </p:cNvSpPr>
          <p:nvPr/>
        </p:nvSpPr>
        <p:spPr bwMode="auto">
          <a:xfrm>
            <a:off x="7631113" y="4902200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8" name="Rectangle 75"/>
          <p:cNvSpPr>
            <a:spLocks noChangeArrowheads="1"/>
          </p:cNvSpPr>
          <p:nvPr/>
        </p:nvSpPr>
        <p:spPr bwMode="auto">
          <a:xfrm>
            <a:off x="8332788" y="490220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79" name="Rectangle 76"/>
          <p:cNvSpPr>
            <a:spLocks noChangeArrowheads="1"/>
          </p:cNvSpPr>
          <p:nvPr/>
        </p:nvSpPr>
        <p:spPr bwMode="auto">
          <a:xfrm>
            <a:off x="9156700" y="4902200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0" name="Rectangle 77"/>
          <p:cNvSpPr>
            <a:spLocks noChangeArrowheads="1"/>
          </p:cNvSpPr>
          <p:nvPr/>
        </p:nvSpPr>
        <p:spPr bwMode="auto">
          <a:xfrm>
            <a:off x="1089025" y="5297488"/>
            <a:ext cx="16927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Get operand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1" name="Rectangle 78"/>
          <p:cNvSpPr>
            <a:spLocks noChangeArrowheads="1"/>
          </p:cNvSpPr>
          <p:nvPr/>
        </p:nvSpPr>
        <p:spPr bwMode="auto">
          <a:xfrm>
            <a:off x="3011488" y="5297488"/>
            <a:ext cx="23083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(not necessary)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2" name="Rectangle 79"/>
          <p:cNvSpPr>
            <a:spLocks noChangeArrowheads="1"/>
          </p:cNvSpPr>
          <p:nvPr/>
        </p:nvSpPr>
        <p:spPr bwMode="auto">
          <a:xfrm>
            <a:off x="6121400" y="52974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3" name="Rectangle 80"/>
          <p:cNvSpPr>
            <a:spLocks noChangeArrowheads="1"/>
          </p:cNvSpPr>
          <p:nvPr/>
        </p:nvSpPr>
        <p:spPr bwMode="auto">
          <a:xfrm>
            <a:off x="6778625" y="52974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8400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4" name="Rectangle 81"/>
          <p:cNvSpPr>
            <a:spLocks noChangeArrowheads="1"/>
          </p:cNvSpPr>
          <p:nvPr/>
        </p:nvSpPr>
        <p:spPr bwMode="auto">
          <a:xfrm>
            <a:off x="7631113" y="5297488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5" name="Rectangle 82"/>
          <p:cNvSpPr>
            <a:spLocks noChangeArrowheads="1"/>
          </p:cNvSpPr>
          <p:nvPr/>
        </p:nvSpPr>
        <p:spPr bwMode="auto">
          <a:xfrm>
            <a:off x="8332788" y="52974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6" name="Rectangle 83"/>
          <p:cNvSpPr>
            <a:spLocks noChangeArrowheads="1"/>
          </p:cNvSpPr>
          <p:nvPr/>
        </p:nvSpPr>
        <p:spPr bwMode="auto">
          <a:xfrm>
            <a:off x="9156700" y="5297488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87" name="Rectangle 84"/>
          <p:cNvSpPr>
            <a:spLocks noChangeArrowheads="1"/>
          </p:cNvSpPr>
          <p:nvPr/>
        </p:nvSpPr>
        <p:spPr bwMode="auto">
          <a:xfrm>
            <a:off x="1089025" y="5692775"/>
            <a:ext cx="107721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Execute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grpSp>
        <p:nvGrpSpPr>
          <p:cNvPr id="103" name="Group 102"/>
          <p:cNvGrpSpPr/>
          <p:nvPr/>
        </p:nvGrpSpPr>
        <p:grpSpPr>
          <a:xfrm>
            <a:off x="3011488" y="5692775"/>
            <a:ext cx="2900164" cy="307777"/>
            <a:chOff x="3011488" y="5692775"/>
            <a:chExt cx="2900164" cy="307777"/>
          </a:xfrm>
        </p:grpSpPr>
        <p:sp>
          <p:nvSpPr>
            <p:cNvPr id="90" name="Rectangle 87"/>
            <p:cNvSpPr>
              <a:spLocks noChangeArrowheads="1"/>
            </p:cNvSpPr>
            <p:nvPr/>
          </p:nvSpPr>
          <p:spPr bwMode="auto">
            <a:xfrm>
              <a:off x="5299075" y="5692775"/>
              <a:ext cx="153888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2000" b="1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≠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</p:txBody>
        </p:sp>
        <p:grpSp>
          <p:nvGrpSpPr>
            <p:cNvPr id="102" name="Group 101"/>
            <p:cNvGrpSpPr/>
            <p:nvPr/>
          </p:nvGrpSpPr>
          <p:grpSpPr>
            <a:xfrm>
              <a:off x="3011488" y="5692775"/>
              <a:ext cx="2900164" cy="307777"/>
              <a:chOff x="3011488" y="5692775"/>
              <a:chExt cx="2900164" cy="307777"/>
            </a:xfrm>
          </p:grpSpPr>
          <p:sp>
            <p:nvSpPr>
              <p:cNvPr id="88" name="Rectangle 85"/>
              <p:cNvSpPr>
                <a:spLocks noChangeArrowheads="1"/>
              </p:cNvSpPr>
              <p:nvPr/>
            </p:nvSpPr>
            <p:spPr bwMode="auto">
              <a:xfrm>
                <a:off x="3011488" y="5692775"/>
                <a:ext cx="30777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</a:rPr>
                  <a:t>do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endParaRPr>
              </a:p>
            </p:txBody>
          </p:sp>
          <p:sp>
            <p:nvSpPr>
              <p:cNvPr id="89" name="Rectangle 86"/>
              <p:cNvSpPr>
                <a:spLocks noChangeArrowheads="1"/>
              </p:cNvSpPr>
              <p:nvPr/>
            </p:nvSpPr>
            <p:spPr bwMode="auto">
              <a:xfrm>
                <a:off x="3468688" y="5692775"/>
                <a:ext cx="1846659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</a:rPr>
                  <a:t>nothing (AC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endParaRPr>
              </a:p>
            </p:txBody>
          </p:sp>
          <p:sp>
            <p:nvSpPr>
              <p:cNvPr id="91" name="Rectangle 88"/>
              <p:cNvSpPr>
                <a:spLocks noChangeArrowheads="1"/>
              </p:cNvSpPr>
              <p:nvPr/>
            </p:nvSpPr>
            <p:spPr bwMode="auto">
              <a:xfrm>
                <a:off x="5603875" y="5692775"/>
                <a:ext cx="307777" cy="3077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</a:rPr>
                  <a:t>0)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endParaRPr>
              </a:p>
            </p:txBody>
          </p:sp>
        </p:grpSp>
      </p:grpSp>
      <p:sp>
        <p:nvSpPr>
          <p:cNvPr id="92" name="Rectangle 89"/>
          <p:cNvSpPr>
            <a:spLocks noChangeArrowheads="1"/>
          </p:cNvSpPr>
          <p:nvPr/>
        </p:nvSpPr>
        <p:spPr bwMode="auto">
          <a:xfrm>
            <a:off x="6121400" y="569277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103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3" name="Rectangle 90"/>
          <p:cNvSpPr>
            <a:spLocks noChangeArrowheads="1"/>
          </p:cNvSpPr>
          <p:nvPr/>
        </p:nvSpPr>
        <p:spPr bwMode="auto">
          <a:xfrm>
            <a:off x="6778625" y="569277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8400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4" name="Rectangle 91"/>
          <p:cNvSpPr>
            <a:spLocks noChangeArrowheads="1"/>
          </p:cNvSpPr>
          <p:nvPr/>
        </p:nvSpPr>
        <p:spPr bwMode="auto">
          <a:xfrm>
            <a:off x="7631113" y="5692775"/>
            <a:ext cx="46166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400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5" name="Rectangle 92"/>
          <p:cNvSpPr>
            <a:spLocks noChangeArrowheads="1"/>
          </p:cNvSpPr>
          <p:nvPr/>
        </p:nvSpPr>
        <p:spPr bwMode="auto">
          <a:xfrm>
            <a:off x="8332788" y="569277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0014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6" name="Rectangle 93"/>
          <p:cNvSpPr>
            <a:spLocks noChangeArrowheads="1"/>
          </p:cNvSpPr>
          <p:nvPr/>
        </p:nvSpPr>
        <p:spPr bwMode="auto">
          <a:xfrm>
            <a:off x="9156700" y="5692775"/>
            <a:ext cx="61555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FFF8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9906000" y="3696831"/>
            <a:ext cx="2057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dirty="0">
                <a:solidFill>
                  <a:srgbClr val="000000"/>
                </a:solidFill>
                <a:latin typeface="+mj-lt"/>
              </a:rPr>
              <a:t>IR becomes </a:t>
            </a:r>
            <a:r>
              <a:rPr lang="en-US" sz="20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8400</a:t>
            </a:r>
            <a:r>
              <a:rPr lang="en-US" sz="2000" dirty="0">
                <a:solidFill>
                  <a:srgbClr val="000000"/>
                </a:solidFill>
                <a:latin typeface="+mj-lt"/>
              </a:rPr>
              <a:t> because 8 is the opcode for SKIPCOND and 0x400 is the given operand to the instruction.</a:t>
            </a:r>
          </a:p>
        </p:txBody>
      </p:sp>
    </p:spTree>
    <p:extLst>
      <p:ext uri="{BB962C8B-B14F-4D97-AF65-F5344CB8AC3E}">
        <p14:creationId xmlns:p14="http://schemas.microsoft.com/office/powerpoint/2010/main" val="287434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52" grpId="0"/>
      <p:bldP spid="53" grpId="0"/>
      <p:bldP spid="54" grpId="0"/>
      <p:bldP spid="55" grpId="0"/>
      <p:bldP spid="56" grpId="0"/>
      <p:bldP spid="60" grpId="0"/>
      <p:bldP spid="61" grpId="0"/>
      <p:bldP spid="62" grpId="0"/>
      <p:bldP spid="63" grpId="0"/>
      <p:bldP spid="64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1" grpId="0"/>
      <p:bldP spid="82" grpId="0"/>
      <p:bldP spid="83" grpId="0"/>
      <p:bldP spid="84" grpId="0"/>
      <p:bldP spid="85" grpId="0"/>
      <p:bldP spid="86" grpId="0"/>
      <p:bldP spid="92" grpId="0"/>
      <p:bldP spid="93" grpId="0"/>
      <p:bldP spid="94" grpId="0"/>
      <p:bldP spid="95" grpId="0"/>
      <p:bldP spid="96" grpId="0"/>
      <p:bldP spid="10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Discussion on Assemblers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Mnemonic instructions, such as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LOAD 104</a:t>
            </a:r>
            <a:r>
              <a:rPr lang="en-US" dirty="0"/>
              <a:t>, are easy for humans to write and understand.</a:t>
            </a:r>
          </a:p>
          <a:p>
            <a:r>
              <a:rPr lang="en-US" dirty="0"/>
              <a:t>They are impossible for computers to understand.</a:t>
            </a:r>
          </a:p>
          <a:p>
            <a:r>
              <a:rPr lang="en-US" b="1" dirty="0"/>
              <a:t>Assemblers</a:t>
            </a:r>
            <a:r>
              <a:rPr lang="en-US" dirty="0"/>
              <a:t> translate instructions that are comprehensible to humans into the machine language that is comprehensible to computers</a:t>
            </a:r>
          </a:p>
          <a:p>
            <a:r>
              <a:rPr lang="en-US" dirty="0"/>
              <a:t>There is often a one-to-one correspondence between assembly language instructions and machine language instructions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98086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Discussion on Assemblers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6096000" cy="5257800"/>
          </a:xfrm>
        </p:spPr>
        <p:txBody>
          <a:bodyPr/>
          <a:lstStyle/>
          <a:p>
            <a:r>
              <a:rPr lang="en-US" dirty="0"/>
              <a:t>Assemblers create an </a:t>
            </a:r>
            <a:r>
              <a:rPr lang="en-US" b="1" dirty="0"/>
              <a:t>object program file</a:t>
            </a:r>
            <a:r>
              <a:rPr lang="en-US" dirty="0"/>
              <a:t> from mnemonic </a:t>
            </a:r>
            <a:r>
              <a:rPr lang="en-US" b="1" dirty="0"/>
              <a:t>source code</a:t>
            </a:r>
            <a:r>
              <a:rPr lang="en-US" dirty="0"/>
              <a:t> in two passes.</a:t>
            </a:r>
          </a:p>
          <a:p>
            <a:r>
              <a:rPr lang="en-US" dirty="0"/>
              <a:t>During the first pass, the assembler assembles as much of the program as it can, while it builds a symbol table that contains memory references for all symbols in the program.</a:t>
            </a:r>
          </a:p>
          <a:p>
            <a:r>
              <a:rPr lang="en-US" dirty="0"/>
              <a:t>During the second pass, the instructions are completed using the values from the symbol table.</a:t>
            </a:r>
          </a:p>
          <a:p>
            <a:endParaRPr lang="en-US" dirty="0"/>
          </a:p>
        </p:txBody>
      </p:sp>
      <p:pic>
        <p:nvPicPr>
          <p:cNvPr id="4" name="Picture 5" descr="9781284033144_CH04_TBL04.jpg">
            <a:extLst>
              <a:ext uri="{FF2B5EF4-FFF2-40B4-BE49-F238E27FC236}">
                <a16:creationId xmlns:a16="http://schemas.microsoft.com/office/drawing/2014/main" id="{086AE726-75A7-4702-A0AB-49F6B3D94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2617" y="1219200"/>
            <a:ext cx="486641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53892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Discussion on Assemblers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5867400" cy="5257800"/>
          </a:xfrm>
        </p:spPr>
        <p:txBody>
          <a:bodyPr/>
          <a:lstStyle/>
          <a:p>
            <a:r>
              <a:rPr lang="en-US" dirty="0"/>
              <a:t>Consider our example program at the right. </a:t>
            </a:r>
          </a:p>
          <a:p>
            <a:r>
              <a:rPr lang="en-US" dirty="0"/>
              <a:t>Note that we have included two </a:t>
            </a:r>
            <a:r>
              <a:rPr lang="en-US" b="1" dirty="0"/>
              <a:t>directives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HEX</a:t>
            </a:r>
            <a:r>
              <a:rPr lang="en-US" dirty="0"/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DEC</a:t>
            </a:r>
            <a:r>
              <a:rPr lang="en-US" dirty="0"/>
              <a:t>, that specify the radix of the constants.</a:t>
            </a:r>
          </a:p>
          <a:p>
            <a:r>
              <a:rPr lang="en-US" dirty="0"/>
              <a:t>It can be more convenient at times to provide values in base 10. The assembler takes care of the base conversion for us.</a:t>
            </a:r>
          </a:p>
          <a:p>
            <a:endParaRPr lang="en-US" dirty="0"/>
          </a:p>
        </p:txBody>
      </p:sp>
      <p:pic>
        <p:nvPicPr>
          <p:cNvPr id="4" name="Picture 5" descr="9781284033144_CH04_TBL05.jpg">
            <a:extLst>
              <a:ext uri="{FF2B5EF4-FFF2-40B4-BE49-F238E27FC236}">
                <a16:creationId xmlns:a16="http://schemas.microsoft.com/office/drawing/2014/main" id="{11274D40-0443-4B4B-90A8-9639B7C7FB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1219201"/>
            <a:ext cx="4876800" cy="3436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07180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normal execution of a program is altered when an event of higher-priority occurs. The CPU is alerted to such an event through an </a:t>
            </a:r>
            <a:r>
              <a:rPr lang="en-US" b="1" dirty="0"/>
              <a:t>interrupt</a:t>
            </a:r>
            <a:r>
              <a:rPr lang="en-US" dirty="0"/>
              <a:t>.</a:t>
            </a:r>
          </a:p>
          <a:p>
            <a:r>
              <a:rPr lang="en-US" dirty="0"/>
              <a:t>Interrupts can be triggered by special events of some kind</a:t>
            </a:r>
          </a:p>
          <a:p>
            <a:pPr lvl="1"/>
            <a:r>
              <a:rPr lang="en-US" dirty="0"/>
              <a:t>A user break (e.g., </a:t>
            </a:r>
            <a:r>
              <a:rPr lang="en-US" dirty="0" err="1"/>
              <a:t>Control+C</a:t>
            </a:r>
            <a:r>
              <a:rPr lang="en-US" dirty="0"/>
              <a:t>) is issued</a:t>
            </a:r>
          </a:p>
          <a:p>
            <a:pPr lvl="1"/>
            <a:r>
              <a:rPr lang="en-US" dirty="0"/>
              <a:t>I/O is requested by the user or a program</a:t>
            </a:r>
          </a:p>
          <a:p>
            <a:pPr lvl="1"/>
            <a:r>
              <a:rPr lang="en-US" dirty="0"/>
              <a:t>A critical error occurs</a:t>
            </a:r>
          </a:p>
          <a:p>
            <a:pPr lvl="1"/>
            <a:r>
              <a:rPr lang="en-US" dirty="0"/>
              <a:t>A mathematical error occurs (e.g., division by 0)</a:t>
            </a:r>
          </a:p>
          <a:p>
            <a:pPr lvl="1"/>
            <a:r>
              <a:rPr lang="en-US" dirty="0"/>
              <a:t>Software interrupts are also called </a:t>
            </a:r>
            <a:r>
              <a:rPr lang="en-US" b="1" dirty="0"/>
              <a:t>traps</a:t>
            </a:r>
            <a:r>
              <a:rPr lang="en-US" dirty="0"/>
              <a:t>.</a:t>
            </a:r>
          </a:p>
          <a:p>
            <a:r>
              <a:rPr lang="en-US" dirty="0"/>
              <a:t>Each interrupt is associated with a procedure that directs the actions of the CPU when an interrupt occurs.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586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4343400" cy="5257800"/>
          </a:xfrm>
        </p:spPr>
        <p:txBody>
          <a:bodyPr/>
          <a:lstStyle/>
          <a:p>
            <a:r>
              <a:rPr lang="en-US" dirty="0"/>
              <a:t>All computers provide a way of interrupting the fetch-decode-execute cycle.</a:t>
            </a:r>
          </a:p>
          <a:p>
            <a:r>
              <a:rPr lang="en-US" dirty="0"/>
              <a:t>Interrupt processing involves adding another step to the fetch-decode-execute cycle as shown on the right.</a:t>
            </a:r>
          </a:p>
          <a:p>
            <a:endParaRPr lang="en-US" dirty="0"/>
          </a:p>
        </p:txBody>
      </p:sp>
      <p:pic>
        <p:nvPicPr>
          <p:cNvPr id="4" name="Picture 5" descr="9781284033144_CH04_FIG12.jpg">
            <a:extLst>
              <a:ext uri="{FF2B5EF4-FFF2-40B4-BE49-F238E27FC236}">
                <a16:creationId xmlns:a16="http://schemas.microsoft.com/office/drawing/2014/main" id="{B2002E76-A52C-4FBC-AE68-4AF290BF5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339" y="838200"/>
            <a:ext cx="6477000" cy="4143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22303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0"/>
            <a:ext cx="7391400" cy="5257800"/>
          </a:xfrm>
        </p:spPr>
        <p:txBody>
          <a:bodyPr/>
          <a:lstStyle/>
          <a:p>
            <a:r>
              <a:rPr lang="en-US" dirty="0"/>
              <a:t>ISR is </a:t>
            </a:r>
            <a:r>
              <a:rPr lang="en-US" b="1" dirty="0"/>
              <a:t>Interrupt Service Routine</a:t>
            </a:r>
            <a:r>
              <a:rPr lang="en-US" dirty="0"/>
              <a:t>, which is a short program of sorts that handles a particular kind of interrupt</a:t>
            </a:r>
          </a:p>
          <a:p>
            <a:r>
              <a:rPr lang="en-US" dirty="0"/>
              <a:t>For general-purpose systems, it is common to disable all interrupts during the time in which an interrupt is being processed.</a:t>
            </a:r>
          </a:p>
          <a:p>
            <a:r>
              <a:rPr lang="en-US" dirty="0"/>
              <a:t>Interrupts that are ignored in this case are called </a:t>
            </a:r>
            <a:r>
              <a:rPr lang="en-US" b="1" dirty="0" err="1"/>
              <a:t>maskable</a:t>
            </a:r>
            <a:r>
              <a:rPr lang="en-US" dirty="0"/>
              <a:t>.</a:t>
            </a:r>
          </a:p>
          <a:p>
            <a:r>
              <a:rPr lang="en-US" b="1" dirty="0" err="1"/>
              <a:t>Nonmaskable</a:t>
            </a:r>
            <a:r>
              <a:rPr lang="en-US" dirty="0"/>
              <a:t> interrupts are those interrupts that must be processed in order to keep the system in a stable condition.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5" descr="9781284033144_CH04_FIG13.jpg">
            <a:extLst>
              <a:ext uri="{FF2B5EF4-FFF2-40B4-BE49-F238E27FC236}">
                <a16:creationId xmlns:a16="http://schemas.microsoft.com/office/drawing/2014/main" id="{8C3A01A0-64C3-407E-8D92-794489E7D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381000"/>
            <a:ext cx="2819400" cy="610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67201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Interrupts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Interrupts are very useful in processing I/O.</a:t>
            </a:r>
          </a:p>
          <a:p>
            <a:r>
              <a:rPr lang="en-US" dirty="0"/>
              <a:t>The I/O device interrupts the CPU when input is ready to be processed by the CPU </a:t>
            </a:r>
          </a:p>
          <a:p>
            <a:r>
              <a:rPr lang="en-US" dirty="0"/>
              <a:t>MARIE, being the simplest of simple systems, uses a modified form of programmed I/O, also called </a:t>
            </a:r>
            <a:r>
              <a:rPr lang="en-US" b="1" dirty="0"/>
              <a:t>polling</a:t>
            </a:r>
          </a:p>
          <a:p>
            <a:r>
              <a:rPr lang="en-US" dirty="0"/>
              <a:t>All output is placed in an output register, </a:t>
            </a:r>
            <a:r>
              <a:rPr lang="en-US" dirty="0" err="1"/>
              <a:t>OutREG</a:t>
            </a:r>
            <a:endParaRPr lang="en-US" dirty="0"/>
          </a:p>
          <a:p>
            <a:r>
              <a:rPr lang="en-US" dirty="0"/>
              <a:t>The CPU </a:t>
            </a:r>
            <a:r>
              <a:rPr lang="en-US" b="1" dirty="0"/>
              <a:t>polls</a:t>
            </a:r>
            <a:r>
              <a:rPr lang="en-US" dirty="0"/>
              <a:t> the input register, </a:t>
            </a:r>
            <a:r>
              <a:rPr lang="en-US" dirty="0" err="1"/>
              <a:t>InREG</a:t>
            </a:r>
            <a:r>
              <a:rPr lang="en-US" dirty="0"/>
              <a:t>, until input is sensed, at which time the value is copied into the accumulator.</a:t>
            </a:r>
          </a:p>
          <a:p>
            <a:r>
              <a:rPr lang="en-US" dirty="0"/>
              <a:t>Polling wastes time that interrupt-driven I/O avoids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9236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Real-world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MARIE shares many features with modern architectures but it is not an accurate depiction of them.</a:t>
            </a:r>
          </a:p>
          <a:p>
            <a:r>
              <a:rPr lang="en-US" dirty="0"/>
              <a:t>In the following slides, we briefly examine two machine architectures.  </a:t>
            </a:r>
          </a:p>
          <a:p>
            <a:r>
              <a:rPr lang="en-US" dirty="0"/>
              <a:t>We will look at an Intel architecture, which is a CISC machine and MIPS, which is a RISC machine.</a:t>
            </a:r>
          </a:p>
          <a:p>
            <a:pPr lvl="1"/>
            <a:r>
              <a:rPr lang="en-US" dirty="0"/>
              <a:t>CISC is an acronym for </a:t>
            </a:r>
            <a:r>
              <a:rPr lang="en-US" b="1" dirty="0"/>
              <a:t>complex instruction set computer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RISC stands for </a:t>
            </a:r>
            <a:r>
              <a:rPr lang="en-US" b="1" dirty="0"/>
              <a:t>reduced instruction set computer</a:t>
            </a:r>
            <a:r>
              <a:rPr lang="en-US" dirty="0"/>
              <a:t>.</a:t>
            </a:r>
          </a:p>
          <a:p>
            <a:r>
              <a:rPr lang="en-US" dirty="0"/>
              <a:t>CISC architectures feature a large variety of instructions, whereas RISC architectures provide a comparatively smaller set of much simpler instructions</a:t>
            </a:r>
          </a:p>
          <a:p>
            <a:r>
              <a:rPr lang="en-US" dirty="0"/>
              <a:t>CISC CPUs require much more complex circuitry.</a:t>
            </a:r>
          </a:p>
          <a:p>
            <a:r>
              <a:rPr lang="en-US" dirty="0"/>
              <a:t>Programs created for RISC CPUs tend to be significantly longer than those created for CISC CPUs.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537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Real-world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classic Intel architecture, the 8086, was released in 1979. It is a CISC architecture.</a:t>
            </a:r>
          </a:p>
          <a:p>
            <a:r>
              <a:rPr lang="en-US" dirty="0"/>
              <a:t>It was adopted by IBM for its famed PC, which was released in 1981.  </a:t>
            </a:r>
          </a:p>
          <a:p>
            <a:r>
              <a:rPr lang="en-US" dirty="0"/>
              <a:t>The 8086 operated on 16-bit data words and supported 20-bit memory addresses.</a:t>
            </a:r>
          </a:p>
          <a:p>
            <a:r>
              <a:rPr lang="en-US" dirty="0"/>
              <a:t>Later, to lower costs, the 8-bit 8088 was introduced. Like the 8086, it used 20-bit memory addresses.</a:t>
            </a:r>
          </a:p>
          <a:p>
            <a:r>
              <a:rPr lang="en-US" dirty="0"/>
              <a:t>So the maximum memory size for these machines was about 1 MB only!</a:t>
            </a:r>
          </a:p>
          <a:p>
            <a:r>
              <a:rPr lang="en-US" dirty="0"/>
              <a:t>The 8086 had four 16-bit general-purpose registers </a:t>
            </a:r>
          </a:p>
          <a:p>
            <a:r>
              <a:rPr lang="en-US" dirty="0"/>
              <a:t>The 8086 had no built in floating-point processing.</a:t>
            </a:r>
          </a:p>
          <a:p>
            <a:r>
              <a:rPr lang="en-US" dirty="0"/>
              <a:t>In 1980, Intel released the 8087 numeric coprocessor, but few users elected to install them because of their high cost.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4639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Real-world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1985, Intel introduced the 32-bit 80386.</a:t>
            </a:r>
          </a:p>
          <a:p>
            <a:r>
              <a:rPr lang="en-US" dirty="0"/>
              <a:t>It also had no built-in floating-point unit.</a:t>
            </a:r>
          </a:p>
          <a:p>
            <a:r>
              <a:rPr lang="en-US" dirty="0"/>
              <a:t>The 80486, introduced in 1989, was an 80386 that had built-in floating-point processing and cache memory.</a:t>
            </a:r>
          </a:p>
          <a:p>
            <a:r>
              <a:rPr lang="en-US" dirty="0"/>
              <a:t>The 80386 and 80486 offered downward compatibility with the 8086 and 8088.</a:t>
            </a:r>
          </a:p>
          <a:p>
            <a:r>
              <a:rPr lang="en-US" dirty="0"/>
              <a:t>Software written for the smaller-word systems was directed to use the lower 16 bits of the 32-bit registers.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6994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Real-world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Intel’s Pentium 4 introduced a brand new </a:t>
            </a:r>
            <a:r>
              <a:rPr lang="en-US" dirty="0" err="1"/>
              <a:t>NetBurst</a:t>
            </a:r>
            <a:r>
              <a:rPr lang="en-US" dirty="0"/>
              <a:t> architecture.</a:t>
            </a:r>
          </a:p>
          <a:p>
            <a:r>
              <a:rPr lang="en-US" dirty="0"/>
              <a:t>Speed enhancing features include:</a:t>
            </a:r>
          </a:p>
          <a:p>
            <a:pPr lvl="1"/>
            <a:r>
              <a:rPr lang="en-US" dirty="0"/>
              <a:t>Hyperthreading (a single physical CPU core has two </a:t>
            </a:r>
            <a:r>
              <a:rPr lang="en-US" i="1" dirty="0"/>
              <a:t>logical</a:t>
            </a:r>
            <a:r>
              <a:rPr lang="en-US" dirty="0"/>
              <a:t> cores that can be independently scheduled)</a:t>
            </a:r>
          </a:p>
          <a:p>
            <a:pPr lvl="1"/>
            <a:r>
              <a:rPr lang="en-US" dirty="0"/>
              <a:t>Improved pipelining, to execute multiple instructions simultaneously</a:t>
            </a:r>
          </a:p>
          <a:p>
            <a:pPr lvl="1"/>
            <a:r>
              <a:rPr lang="en-US" dirty="0"/>
              <a:t>Execution trace cache (holds decoded instructions for possible reuse)</a:t>
            </a:r>
          </a:p>
          <a:p>
            <a:pPr lvl="1"/>
            <a:r>
              <a:rPr lang="en-US" dirty="0"/>
              <a:t>Faster system bus</a:t>
            </a:r>
          </a:p>
          <a:p>
            <a:r>
              <a:rPr lang="en-US" dirty="0"/>
              <a:t>Intel these days marries many of the ideas of RISC architectures with CISC microprocessors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83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AE2E-C992-4FD9-B4E4-017D8317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Real-world Architectures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F833-F48A-41AB-BDF3-AE0A36E8B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MIPS family of CPUs has been one of the most successful in its class.</a:t>
            </a:r>
          </a:p>
          <a:p>
            <a:r>
              <a:rPr lang="en-US" dirty="0"/>
              <a:t>In 1986 the first MIPS CPU was announced.</a:t>
            </a:r>
          </a:p>
          <a:p>
            <a:r>
              <a:rPr lang="en-US" dirty="0"/>
              <a:t>It had a 32-bit word size and could address 4GB of memory.</a:t>
            </a:r>
          </a:p>
          <a:p>
            <a:r>
              <a:rPr lang="en-US" dirty="0"/>
              <a:t>Over the years, MIPS processors have been used in general-purpose computers, game consoles and networking equipment (e.g., network routers).</a:t>
            </a:r>
          </a:p>
          <a:p>
            <a:r>
              <a:rPr lang="en-US" dirty="0"/>
              <a:t>The MIPS architecture now offers 32-bit and 64-bit versions.</a:t>
            </a:r>
          </a:p>
          <a:p>
            <a:r>
              <a:rPr lang="en-US" dirty="0"/>
              <a:t>The original MIPS architecture had only 55 different instructions, as compared with the 8086 which had over 100.</a:t>
            </a:r>
          </a:p>
          <a:p>
            <a:r>
              <a:rPr lang="en-US" dirty="0"/>
              <a:t>MIPS was designed with performance in mind: it is a </a:t>
            </a:r>
            <a:r>
              <a:rPr lang="en-US" b="1" dirty="0"/>
              <a:t>load/store architecture</a:t>
            </a:r>
            <a:r>
              <a:rPr lang="en-US" dirty="0"/>
              <a:t>, meaning that only the </a:t>
            </a:r>
            <a:r>
              <a:rPr lang="en-US" i="1" dirty="0"/>
              <a:t>load</a:t>
            </a:r>
            <a:r>
              <a:rPr lang="en-US" dirty="0"/>
              <a:t> and </a:t>
            </a:r>
            <a:r>
              <a:rPr lang="en-US" i="1" dirty="0"/>
              <a:t>store</a:t>
            </a:r>
            <a:r>
              <a:rPr lang="en-US" dirty="0"/>
              <a:t> instructions can access memory.</a:t>
            </a:r>
          </a:p>
          <a:p>
            <a:r>
              <a:rPr lang="en-US" dirty="0"/>
              <a:t>The large number of registers in the MIPS architecture keeps bus traffic to a minimum.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744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396D4F3FBE81459556FDCA3F477A03" ma:contentTypeVersion="4" ma:contentTypeDescription="Create a new document." ma:contentTypeScope="" ma:versionID="b755ac89c73d1625610c43508c66eda4">
  <xsd:schema xmlns:xsd="http://www.w3.org/2001/XMLSchema" xmlns:xs="http://www.w3.org/2001/XMLSchema" xmlns:p="http://schemas.microsoft.com/office/2006/metadata/properties" xmlns:ns2="1a22e323-47b0-4d47-8cfa-1000afc68f2b" targetNamespace="http://schemas.microsoft.com/office/2006/metadata/properties" ma:root="true" ma:fieldsID="58f068782b86ca64c32db991266d7ab4" ns2:_="">
    <xsd:import namespace="1a22e323-47b0-4d47-8cfa-1000afc68f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2e323-47b0-4d47-8cfa-1000afc68f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37FD26-A6B7-4DA0-8D5D-4FE7BEE66B68}"/>
</file>

<file path=customXml/itemProps2.xml><?xml version="1.0" encoding="utf-8"?>
<ds:datastoreItem xmlns:ds="http://schemas.openxmlformats.org/officeDocument/2006/customXml" ds:itemID="{39A9ACA4-4775-4ECF-A0A2-E772B2DF18B8}"/>
</file>

<file path=customXml/itemProps3.xml><?xml version="1.0" encoding="utf-8"?>
<ds:datastoreItem xmlns:ds="http://schemas.openxmlformats.org/officeDocument/2006/customXml" ds:itemID="{0472ED41-67C7-485D-AF51-A24D990A7285}"/>
</file>

<file path=docProps/app.xml><?xml version="1.0" encoding="utf-8"?>
<Properties xmlns="http://schemas.openxmlformats.org/officeDocument/2006/extended-properties" xmlns:vt="http://schemas.openxmlformats.org/officeDocument/2006/docPropsVTypes">
  <TotalTime>11298</TotalTime>
  <Words>5359</Words>
  <Application>Microsoft Office PowerPoint</Application>
  <PresentationFormat>Widescreen</PresentationFormat>
  <Paragraphs>930</Paragraphs>
  <Slides>66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6" baseType="lpstr">
      <vt:lpstr>Arial</vt:lpstr>
      <vt:lpstr>Calibri</vt:lpstr>
      <vt:lpstr>Calibri Light</vt:lpstr>
      <vt:lpstr>Cambria</vt:lpstr>
      <vt:lpstr>Cambria Math</vt:lpstr>
      <vt:lpstr>Courier New</vt:lpstr>
      <vt:lpstr>Symbol</vt:lpstr>
      <vt:lpstr>Times New Roman</vt:lpstr>
      <vt:lpstr>Wingdings</vt:lpstr>
      <vt:lpstr>Office Theme</vt:lpstr>
      <vt:lpstr>ISE 218: Fundamentals of Information Technology Unit 3: Basics of Computer Architecture</vt:lpstr>
      <vt:lpstr>Objectives</vt:lpstr>
      <vt:lpstr>CPU Basics</vt:lpstr>
      <vt:lpstr>CPU Basics</vt:lpstr>
      <vt:lpstr>The System Bus</vt:lpstr>
      <vt:lpstr>The System Bus</vt:lpstr>
      <vt:lpstr>The System Bus</vt:lpstr>
      <vt:lpstr>The System Bus</vt:lpstr>
      <vt:lpstr>The System Bus</vt:lpstr>
      <vt:lpstr>Clocks</vt:lpstr>
      <vt:lpstr>Clocks</vt:lpstr>
      <vt:lpstr>What is Overclocking?</vt:lpstr>
      <vt:lpstr>The Input/Output Subsystem</vt:lpstr>
      <vt:lpstr>Memory Organization</vt:lpstr>
      <vt:lpstr>Memory Organization</vt:lpstr>
      <vt:lpstr>Memory Organization: Example #1</vt:lpstr>
      <vt:lpstr>Memory Organization: Example #2</vt:lpstr>
      <vt:lpstr>Memory Organization: Example #3</vt:lpstr>
      <vt:lpstr>Memory Organization: Example #4</vt:lpstr>
      <vt:lpstr>Memory Organization: Example #5</vt:lpstr>
      <vt:lpstr>Memory Organization: Example #6</vt:lpstr>
      <vt:lpstr>Memory Organization: Example #7</vt:lpstr>
      <vt:lpstr>Memory Organization: Example #8</vt:lpstr>
      <vt:lpstr>Byte Address vs Word Address</vt:lpstr>
      <vt:lpstr>Word Address</vt:lpstr>
      <vt:lpstr>Address continue</vt:lpstr>
      <vt:lpstr>MARIE</vt:lpstr>
      <vt:lpstr>MARIE</vt:lpstr>
      <vt:lpstr>MARIE</vt:lpstr>
      <vt:lpstr>MARIE</vt:lpstr>
      <vt:lpstr>MARIE</vt:lpstr>
      <vt:lpstr>MARIE</vt:lpstr>
      <vt:lpstr>MARIE Instruction Set</vt:lpstr>
      <vt:lpstr>MARIE Instruction Set: LOAD Example</vt:lpstr>
      <vt:lpstr>MARIE Instruction Set: LOAD Example</vt:lpstr>
      <vt:lpstr>SKIPCOND</vt:lpstr>
      <vt:lpstr>SKIPCOND Example </vt:lpstr>
      <vt:lpstr>MARIE Instruction Set: SKIPCOND Example</vt:lpstr>
      <vt:lpstr>Decoding MARIE Instructions: Example #1</vt:lpstr>
      <vt:lpstr>Decoding MARIE Instructions: Example #2</vt:lpstr>
      <vt:lpstr>MARIE Register Transfer Language</vt:lpstr>
      <vt:lpstr>MARIE Register Transfer Language</vt:lpstr>
      <vt:lpstr>MARIE’s Instruction Set</vt:lpstr>
      <vt:lpstr>MARIE’s Instruction Set (continued)</vt:lpstr>
      <vt:lpstr>MARIE Instruction Processing</vt:lpstr>
      <vt:lpstr>A Simple MARIE Program</vt:lpstr>
      <vt:lpstr>A Simple MARIE Program</vt:lpstr>
      <vt:lpstr>A Simple MARIE Program</vt:lpstr>
      <vt:lpstr>A Simple MARIE Program</vt:lpstr>
      <vt:lpstr>A Simple MARIE Program Our second instruction is ADD 105: </vt:lpstr>
      <vt:lpstr>A Simple MARIE Program</vt:lpstr>
      <vt:lpstr>A Simple MARIE Program</vt:lpstr>
      <vt:lpstr>Instruction Execution Example</vt:lpstr>
      <vt:lpstr>Instruction Execution Example</vt:lpstr>
      <vt:lpstr>A Discussion on Assemblers</vt:lpstr>
      <vt:lpstr>A Discussion on Assemblers</vt:lpstr>
      <vt:lpstr>A Discussion on Assemblers</vt:lpstr>
      <vt:lpstr>Interrupts</vt:lpstr>
      <vt:lpstr>Interrupts</vt:lpstr>
      <vt:lpstr>Interrupts</vt:lpstr>
      <vt:lpstr>Interrupts</vt:lpstr>
      <vt:lpstr>Real-world Architectures</vt:lpstr>
      <vt:lpstr>Real-world Architectures</vt:lpstr>
      <vt:lpstr>Real-world Architectures</vt:lpstr>
      <vt:lpstr>Real-world Architectures</vt:lpstr>
      <vt:lpstr>Real-world Architectures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Raza, Ali x58396</dc:creator>
  <cp:lastModifiedBy>XINRUI YU</cp:lastModifiedBy>
  <cp:revision>37</cp:revision>
  <dcterms:created xsi:type="dcterms:W3CDTF">2019-09-11T14:18:50Z</dcterms:created>
  <dcterms:modified xsi:type="dcterms:W3CDTF">2025-02-27T08:56:34Z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0x010100AC396D4F3FBE81459556FDCA3F477A03</vt:lpwstr>
  </property>
</Properties>
</file>